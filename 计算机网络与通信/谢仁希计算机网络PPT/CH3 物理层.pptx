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Default Extension="vml" ContentType="application/vnd.openxmlformats-officedocument.vmlDrawing"/>
  <Override PartName="/ppt/notesSlides/notesSlide31.xml" ContentType="application/vnd.openxmlformats-officedocument.presentationml.notesSlide+xml"/>
  <Override PartName="/ppt/slides/slide89.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8"/>
  </p:notesMasterIdLst>
  <p:sldIdLst>
    <p:sldId id="281" r:id="rId2"/>
    <p:sldId id="257" r:id="rId3"/>
    <p:sldId id="258" r:id="rId4"/>
    <p:sldId id="259" r:id="rId5"/>
    <p:sldId id="261" r:id="rId6"/>
    <p:sldId id="283" r:id="rId7"/>
    <p:sldId id="329" r:id="rId8"/>
    <p:sldId id="330" r:id="rId9"/>
    <p:sldId id="331" r:id="rId10"/>
    <p:sldId id="262" r:id="rId11"/>
    <p:sldId id="263" r:id="rId12"/>
    <p:sldId id="264" r:id="rId13"/>
    <p:sldId id="362" r:id="rId14"/>
    <p:sldId id="363" r:id="rId15"/>
    <p:sldId id="364" r:id="rId16"/>
    <p:sldId id="365" r:id="rId17"/>
    <p:sldId id="276" r:id="rId18"/>
    <p:sldId id="277" r:id="rId19"/>
    <p:sldId id="275" r:id="rId20"/>
    <p:sldId id="366" r:id="rId21"/>
    <p:sldId id="419" r:id="rId22"/>
    <p:sldId id="420" r:id="rId23"/>
    <p:sldId id="421" r:id="rId24"/>
    <p:sldId id="422" r:id="rId25"/>
    <p:sldId id="423" r:id="rId26"/>
    <p:sldId id="424" r:id="rId27"/>
    <p:sldId id="425" r:id="rId28"/>
    <p:sldId id="268" r:id="rId29"/>
    <p:sldId id="284" r:id="rId30"/>
    <p:sldId id="427" r:id="rId31"/>
    <p:sldId id="428" r:id="rId32"/>
    <p:sldId id="429" r:id="rId33"/>
    <p:sldId id="430" r:id="rId34"/>
    <p:sldId id="379" r:id="rId35"/>
    <p:sldId id="380" r:id="rId36"/>
    <p:sldId id="382" r:id="rId37"/>
    <p:sldId id="383" r:id="rId38"/>
    <p:sldId id="431" r:id="rId39"/>
    <p:sldId id="384" r:id="rId40"/>
    <p:sldId id="269" r:id="rId41"/>
    <p:sldId id="285" r:id="rId42"/>
    <p:sldId id="279" r:id="rId43"/>
    <p:sldId id="271" r:id="rId44"/>
    <p:sldId id="371" r:id="rId45"/>
    <p:sldId id="372" r:id="rId46"/>
    <p:sldId id="373" r:id="rId47"/>
    <p:sldId id="374" r:id="rId48"/>
    <p:sldId id="375" r:id="rId49"/>
    <p:sldId id="376" r:id="rId50"/>
    <p:sldId id="377" r:id="rId51"/>
    <p:sldId id="286" r:id="rId52"/>
    <p:sldId id="333" r:id="rId53"/>
    <p:sldId id="334" r:id="rId54"/>
    <p:sldId id="335" r:id="rId55"/>
    <p:sldId id="336" r:id="rId56"/>
    <p:sldId id="337" r:id="rId57"/>
    <p:sldId id="338" r:id="rId58"/>
    <p:sldId id="339" r:id="rId59"/>
    <p:sldId id="309" r:id="rId60"/>
    <p:sldId id="310" r:id="rId61"/>
    <p:sldId id="302" r:id="rId62"/>
    <p:sldId id="311" r:id="rId63"/>
    <p:sldId id="312" r:id="rId64"/>
    <p:sldId id="313" r:id="rId65"/>
    <p:sldId id="315" r:id="rId66"/>
    <p:sldId id="316" r:id="rId67"/>
    <p:sldId id="340" r:id="rId68"/>
    <p:sldId id="318" r:id="rId69"/>
    <p:sldId id="317" r:id="rId70"/>
    <p:sldId id="319" r:id="rId71"/>
    <p:sldId id="320" r:id="rId72"/>
    <p:sldId id="341" r:id="rId73"/>
    <p:sldId id="344" r:id="rId74"/>
    <p:sldId id="357" r:id="rId75"/>
    <p:sldId id="358" r:id="rId76"/>
    <p:sldId id="360" r:id="rId77"/>
    <p:sldId id="345" r:id="rId78"/>
    <p:sldId id="359" r:id="rId79"/>
    <p:sldId id="348" r:id="rId80"/>
    <p:sldId id="361" r:id="rId81"/>
    <p:sldId id="349" r:id="rId82"/>
    <p:sldId id="350" r:id="rId83"/>
    <p:sldId id="351" r:id="rId84"/>
    <p:sldId id="352" r:id="rId85"/>
    <p:sldId id="353" r:id="rId86"/>
    <p:sldId id="354" r:id="rId87"/>
    <p:sldId id="355" r:id="rId88"/>
    <p:sldId id="356" r:id="rId89"/>
    <p:sldId id="386" r:id="rId90"/>
    <p:sldId id="387" r:id="rId91"/>
    <p:sldId id="426" r:id="rId92"/>
    <p:sldId id="400" r:id="rId93"/>
    <p:sldId id="402" r:id="rId94"/>
    <p:sldId id="403" r:id="rId95"/>
    <p:sldId id="404" r:id="rId96"/>
    <p:sldId id="405" r:id="rId97"/>
    <p:sldId id="406" r:id="rId98"/>
    <p:sldId id="407" r:id="rId99"/>
    <p:sldId id="408" r:id="rId100"/>
    <p:sldId id="416" r:id="rId101"/>
    <p:sldId id="417" r:id="rId102"/>
    <p:sldId id="413" r:id="rId103"/>
    <p:sldId id="414" r:id="rId104"/>
    <p:sldId id="415" r:id="rId105"/>
    <p:sldId id="410" r:id="rId106"/>
    <p:sldId id="411" r:id="rId107"/>
  </p:sldIdLst>
  <p:sldSz cx="9144000" cy="6858000" type="screen4x3"/>
  <p:notesSz cx="6858000" cy="9144000"/>
  <p:defaultTextStyle>
    <a:defPPr>
      <a:defRPr lang="zh-CN"/>
    </a:defPPr>
    <a:lvl1pPr algn="ctr" rtl="0" fontAlgn="base">
      <a:spcBef>
        <a:spcPct val="0"/>
      </a:spcBef>
      <a:spcAft>
        <a:spcPct val="0"/>
      </a:spcAft>
      <a:defRPr sz="2400" kern="1200">
        <a:solidFill>
          <a:schemeClr val="tx1"/>
        </a:solidFill>
        <a:latin typeface="Tahoma" pitchFamily="34" charset="0"/>
        <a:ea typeface="宋体" pitchFamily="2" charset="-122"/>
        <a:cs typeface="+mn-cs"/>
      </a:defRPr>
    </a:lvl1pPr>
    <a:lvl2pPr marL="457200" algn="ctr" rtl="0" fontAlgn="base">
      <a:spcBef>
        <a:spcPct val="0"/>
      </a:spcBef>
      <a:spcAft>
        <a:spcPct val="0"/>
      </a:spcAft>
      <a:defRPr sz="2400" kern="1200">
        <a:solidFill>
          <a:schemeClr val="tx1"/>
        </a:solidFill>
        <a:latin typeface="Tahoma" pitchFamily="34" charset="0"/>
        <a:ea typeface="宋体" pitchFamily="2" charset="-122"/>
        <a:cs typeface="+mn-cs"/>
      </a:defRPr>
    </a:lvl2pPr>
    <a:lvl3pPr marL="914400" algn="ctr" rtl="0" fontAlgn="base">
      <a:spcBef>
        <a:spcPct val="0"/>
      </a:spcBef>
      <a:spcAft>
        <a:spcPct val="0"/>
      </a:spcAft>
      <a:defRPr sz="2400" kern="1200">
        <a:solidFill>
          <a:schemeClr val="tx1"/>
        </a:solidFill>
        <a:latin typeface="Tahoma" pitchFamily="34" charset="0"/>
        <a:ea typeface="宋体" pitchFamily="2" charset="-122"/>
        <a:cs typeface="+mn-cs"/>
      </a:defRPr>
    </a:lvl3pPr>
    <a:lvl4pPr marL="1371600" algn="ctr" rtl="0" fontAlgn="base">
      <a:spcBef>
        <a:spcPct val="0"/>
      </a:spcBef>
      <a:spcAft>
        <a:spcPct val="0"/>
      </a:spcAft>
      <a:defRPr sz="2400" kern="1200">
        <a:solidFill>
          <a:schemeClr val="tx1"/>
        </a:solidFill>
        <a:latin typeface="Tahoma" pitchFamily="34" charset="0"/>
        <a:ea typeface="宋体" pitchFamily="2" charset="-122"/>
        <a:cs typeface="+mn-cs"/>
      </a:defRPr>
    </a:lvl4pPr>
    <a:lvl5pPr marL="1828800" algn="ctr" rtl="0" fontAlgn="base">
      <a:spcBef>
        <a:spcPct val="0"/>
      </a:spcBef>
      <a:spcAft>
        <a:spcPct val="0"/>
      </a:spcAft>
      <a:defRPr sz="2400" kern="1200">
        <a:solidFill>
          <a:schemeClr val="tx1"/>
        </a:solidFill>
        <a:latin typeface="Tahoma" pitchFamily="34" charset="0"/>
        <a:ea typeface="宋体" pitchFamily="2" charset="-122"/>
        <a:cs typeface="+mn-cs"/>
      </a:defRPr>
    </a:lvl5pPr>
    <a:lvl6pPr marL="2286000" algn="l" defTabSz="914400" rtl="0" eaLnBrk="1" latinLnBrk="0" hangingPunct="1">
      <a:defRPr sz="2400" kern="1200">
        <a:solidFill>
          <a:schemeClr val="tx1"/>
        </a:solidFill>
        <a:latin typeface="Tahoma" pitchFamily="34" charset="0"/>
        <a:ea typeface="宋体" pitchFamily="2" charset="-122"/>
        <a:cs typeface="+mn-cs"/>
      </a:defRPr>
    </a:lvl6pPr>
    <a:lvl7pPr marL="2743200" algn="l" defTabSz="914400" rtl="0" eaLnBrk="1" latinLnBrk="0" hangingPunct="1">
      <a:defRPr sz="2400" kern="1200">
        <a:solidFill>
          <a:schemeClr val="tx1"/>
        </a:solidFill>
        <a:latin typeface="Tahoma" pitchFamily="34" charset="0"/>
        <a:ea typeface="宋体" pitchFamily="2" charset="-122"/>
        <a:cs typeface="+mn-cs"/>
      </a:defRPr>
    </a:lvl7pPr>
    <a:lvl8pPr marL="3200400" algn="l" defTabSz="914400" rtl="0" eaLnBrk="1" latinLnBrk="0" hangingPunct="1">
      <a:defRPr sz="2400" kern="1200">
        <a:solidFill>
          <a:schemeClr val="tx1"/>
        </a:solidFill>
        <a:latin typeface="Tahoma" pitchFamily="34" charset="0"/>
        <a:ea typeface="宋体" pitchFamily="2" charset="-122"/>
        <a:cs typeface="+mn-cs"/>
      </a:defRPr>
    </a:lvl8pPr>
    <a:lvl9pPr marL="3657600" algn="l" defTabSz="914400" rtl="0" eaLnBrk="1" latinLnBrk="0" hangingPunct="1">
      <a:defRPr sz="2400" kern="1200">
        <a:solidFill>
          <a:schemeClr val="tx1"/>
        </a:solidFill>
        <a:latin typeface="Tahoma"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CCECFF"/>
    <a:srgbClr val="66FF99"/>
    <a:srgbClr val="66FF66"/>
    <a:srgbClr val="FFFF66"/>
    <a:srgbClr val="333399"/>
    <a:srgbClr val="CC9900"/>
    <a:srgbClr val="FF99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3300" autoAdjust="0"/>
    <p:restoredTop sz="94635" autoAdjust="0"/>
  </p:normalViewPr>
  <p:slideViewPr>
    <p:cSldViewPr>
      <p:cViewPr>
        <p:scale>
          <a:sx n="66" d="100"/>
          <a:sy n="66" d="100"/>
        </p:scale>
        <p:origin x="-2208" y="-486"/>
      </p:cViewPr>
      <p:guideLst>
        <p:guide orient="horz" pos="2160"/>
        <p:guide pos="2880"/>
      </p:guideLst>
    </p:cSldViewPr>
  </p:slideViewPr>
  <p:outlineViewPr>
    <p:cViewPr>
      <p:scale>
        <a:sx n="33" d="100"/>
        <a:sy n="33" d="100"/>
      </p:scale>
      <p:origin x="0" y="17058"/>
    </p:cViewPr>
  </p:outlineViewPr>
  <p:notesTextViewPr>
    <p:cViewPr>
      <p:scale>
        <a:sx n="100" d="100"/>
        <a:sy n="100" d="100"/>
      </p:scale>
      <p:origin x="0" y="0"/>
    </p:cViewPr>
  </p:notesTextViewPr>
  <p:sorterViewPr>
    <p:cViewPr>
      <p:scale>
        <a:sx n="100" d="100"/>
        <a:sy n="100" d="100"/>
      </p:scale>
      <p:origin x="0" y="19416"/>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ea typeface="宋体" pitchFamily="2" charset="-122"/>
              </a:defRPr>
            </a:lvl1pPr>
          </a:lstStyle>
          <a:p>
            <a:pPr>
              <a:defRPr/>
            </a:pPr>
            <a:endParaRPr lang="en-US" altLang="zh-CN"/>
          </a:p>
        </p:txBody>
      </p:sp>
      <p:sp>
        <p:nvSpPr>
          <p:cNvPr id="1771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849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771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71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ea typeface="宋体" pitchFamily="2" charset="-122"/>
              </a:defRPr>
            </a:lvl1pPr>
          </a:lstStyle>
          <a:p>
            <a:pPr>
              <a:defRPr/>
            </a:pPr>
            <a:endParaRPr lang="en-US" altLang="zh-CN"/>
          </a:p>
        </p:txBody>
      </p:sp>
      <p:sp>
        <p:nvSpPr>
          <p:cNvPr id="177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C01AEA58-A0C7-4C2A-9BE7-3E85C97B5D7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DED69560-C8E9-4729-9E70-A4A28A95F6BE}" type="slidenum">
              <a:rPr lang="en-US" altLang="zh-CN" smtClean="0">
                <a:latin typeface="Arial" pitchFamily="34" charset="0"/>
              </a:rPr>
              <a:pPr/>
              <a:t>1</a:t>
            </a:fld>
            <a:endParaRPr lang="en-US" altLang="zh-CN" smtClean="0">
              <a:latin typeface="Arial" pitchFamily="34"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3570CA6C-AB91-4C27-8A9B-2867E25C0DB7}" type="slidenum">
              <a:rPr lang="en-US" altLang="zh-CN" smtClean="0">
                <a:latin typeface="Arial" pitchFamily="34" charset="0"/>
              </a:rPr>
              <a:pPr/>
              <a:t>2</a:t>
            </a:fld>
            <a:endParaRPr lang="en-US" altLang="zh-CN" smtClean="0">
              <a:latin typeface="Arial"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E8F575DA-C622-41AD-8BE3-6DF83A7709F4}" type="slidenum">
              <a:rPr lang="en-US" altLang="zh-CN" smtClean="0">
                <a:latin typeface="Arial" pitchFamily="34" charset="0"/>
              </a:rPr>
              <a:pPr/>
              <a:t>3</a:t>
            </a:fld>
            <a:endParaRPr lang="en-US" altLang="zh-CN" smtClean="0">
              <a:latin typeface="Arial"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87549B78-09FE-41B9-A3AF-435E9378CAE1}" type="slidenum">
              <a:rPr lang="en-US" altLang="zh-CN" smtClean="0">
                <a:latin typeface="Arial" pitchFamily="34" charset="0"/>
              </a:rPr>
              <a:pPr/>
              <a:t>4</a:t>
            </a:fld>
            <a:endParaRPr lang="en-US" altLang="zh-CN" smtClean="0">
              <a:latin typeface="Arial"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D97E18CD-F36D-49DD-B99E-D05C4497B168}" type="slidenum">
              <a:rPr lang="en-US" altLang="zh-CN" smtClean="0">
                <a:latin typeface="Arial" pitchFamily="34" charset="0"/>
              </a:rPr>
              <a:pPr/>
              <a:t>5</a:t>
            </a:fld>
            <a:endParaRPr lang="en-US" altLang="zh-CN" smtClean="0">
              <a:latin typeface="Arial" pitchFamily="34"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0F7F1039-6A10-470F-A0E1-0084607E2C3C}" type="slidenum">
              <a:rPr lang="en-US" altLang="zh-CN" smtClean="0">
                <a:latin typeface="Arial" pitchFamily="34" charset="0"/>
              </a:rPr>
              <a:pPr/>
              <a:t>6</a:t>
            </a:fld>
            <a:endParaRPr lang="en-US" altLang="zh-CN" smtClean="0">
              <a:latin typeface="Arial"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AE149E8A-6F04-49B0-AB39-E5B13E5A7980}" type="slidenum">
              <a:rPr lang="en-US" altLang="zh-CN" smtClean="0">
                <a:latin typeface="Arial" pitchFamily="34" charset="0"/>
              </a:rPr>
              <a:pPr/>
              <a:t>7</a:t>
            </a:fld>
            <a:endParaRPr lang="en-US" altLang="zh-CN" smtClean="0">
              <a:latin typeface="Arial" pitchFamily="34"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23F91A7A-EEF6-4CD5-A79A-7D6DD78F19B7}" type="slidenum">
              <a:rPr lang="en-US" altLang="zh-CN" smtClean="0">
                <a:latin typeface="Arial" pitchFamily="34" charset="0"/>
              </a:rPr>
              <a:pPr/>
              <a:t>8</a:t>
            </a:fld>
            <a:endParaRPr lang="en-US" altLang="zh-CN" smtClean="0">
              <a:latin typeface="Arial"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774376B1-4B01-4D38-BBCC-D344E88DCB14}" type="slidenum">
              <a:rPr lang="en-US" altLang="zh-CN" smtClean="0">
                <a:latin typeface="Arial" pitchFamily="34" charset="0"/>
              </a:rPr>
              <a:pPr/>
              <a:t>9</a:t>
            </a:fld>
            <a:endParaRPr lang="en-US" altLang="zh-CN" smtClean="0">
              <a:latin typeface="Arial" pitchFamily="34"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7074B72F-D427-4822-BBE8-2B3C2C8AB370}" type="slidenum">
              <a:rPr lang="en-US" altLang="zh-CN" smtClean="0">
                <a:latin typeface="Arial" pitchFamily="34" charset="0"/>
              </a:rPr>
              <a:pPr/>
              <a:t>10</a:t>
            </a:fld>
            <a:endParaRPr lang="en-US" altLang="zh-CN" smtClean="0">
              <a:latin typeface="Arial" pitchFamily="34"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4B3865F3-2D47-46CC-92C0-BFE7000BB837}" type="slidenum">
              <a:rPr lang="en-US" altLang="zh-CN" smtClean="0">
                <a:latin typeface="Arial" pitchFamily="34" charset="0"/>
              </a:rPr>
              <a:pPr/>
              <a:t>11</a:t>
            </a:fld>
            <a:endParaRPr lang="en-US" altLang="zh-CN" smtClean="0">
              <a:latin typeface="Arial"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DE8B79DA-69A8-40B0-B79A-548EA1A397C7}" type="slidenum">
              <a:rPr lang="en-US" altLang="zh-CN" smtClean="0">
                <a:latin typeface="Arial" pitchFamily="34" charset="0"/>
              </a:rPr>
              <a:pPr/>
              <a:t>12</a:t>
            </a:fld>
            <a:endParaRPr lang="en-US" altLang="zh-CN" smtClean="0">
              <a:latin typeface="Arial"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9C745139-A14D-4A04-8BD2-9A688A2ECA8A}" type="slidenum">
              <a:rPr lang="en-US" altLang="zh-CN" smtClean="0">
                <a:latin typeface="Arial" pitchFamily="34" charset="0"/>
              </a:rPr>
              <a:pPr/>
              <a:t>17</a:t>
            </a:fld>
            <a:endParaRPr lang="en-US" altLang="zh-CN" smtClean="0">
              <a:latin typeface="Arial" pitchFamily="3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0ACCB7BE-AF4E-48D1-A28D-7BF9163BEE03}" type="slidenum">
              <a:rPr lang="en-US" altLang="zh-CN" smtClean="0">
                <a:latin typeface="Arial" pitchFamily="34" charset="0"/>
              </a:rPr>
              <a:pPr/>
              <a:t>18</a:t>
            </a:fld>
            <a:endParaRPr lang="en-US" altLang="zh-CN" smtClean="0">
              <a:latin typeface="Arial" pitchFamily="34"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4FFE1211-120A-4382-96CF-E93E5CEB85E3}" type="slidenum">
              <a:rPr lang="en-US" altLang="zh-CN" smtClean="0">
                <a:latin typeface="Arial" pitchFamily="34" charset="0"/>
              </a:rPr>
              <a:pPr/>
              <a:t>19</a:t>
            </a:fld>
            <a:endParaRPr lang="en-US" altLang="zh-CN" smtClean="0">
              <a:latin typeface="Arial" pitchFamily="3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EDCD905F-3DA2-442C-99B9-F121695D4060}" type="slidenum">
              <a:rPr lang="en-US" altLang="zh-CN" smtClean="0">
                <a:latin typeface="Arial" pitchFamily="34" charset="0"/>
              </a:rPr>
              <a:pPr/>
              <a:t>28</a:t>
            </a:fld>
            <a:endParaRPr lang="en-US" altLang="zh-CN" smtClean="0">
              <a:latin typeface="Arial" pitchFamily="34"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09AA1B76-533D-403D-967A-F1D5116B72D3}" type="slidenum">
              <a:rPr lang="en-US" altLang="zh-CN" smtClean="0">
                <a:latin typeface="Arial" pitchFamily="34" charset="0"/>
              </a:rPr>
              <a:pPr/>
              <a:t>29</a:t>
            </a:fld>
            <a:endParaRPr lang="en-US" altLang="zh-CN" smtClean="0">
              <a:latin typeface="Arial"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8D7352-1087-4547-8209-684C891F31A9}" type="slidenum">
              <a:rPr lang="en-US" altLang="zh-CN"/>
              <a:pPr/>
              <a:t>34</a:t>
            </a:fld>
            <a:endParaRPr lang="en-US" altLang="zh-CN"/>
          </a:p>
        </p:txBody>
      </p:sp>
      <p:sp>
        <p:nvSpPr>
          <p:cNvPr id="52226" name="Rectangle 2"/>
          <p:cNvSpPr>
            <a:spLocks noGrp="1" noRot="1" noChangeAspect="1" noChangeArrowheads="1"/>
          </p:cNvSpPr>
          <p:nvPr>
            <p:ph type="sldImg"/>
          </p:nvPr>
        </p:nvSpPr>
        <p:spPr bwMode="auto">
          <a:xfrm>
            <a:off x="1090613" y="306388"/>
            <a:ext cx="4703762" cy="3527425"/>
          </a:xfrm>
          <a:prstGeom prst="rect">
            <a:avLst/>
          </a:prstGeom>
          <a:noFill/>
        </p:spPr>
      </p:sp>
      <p:sp>
        <p:nvSpPr>
          <p:cNvPr id="52227" name="Rectangle 3"/>
          <p:cNvSpPr>
            <a:spLocks noGrp="1" noChangeArrowheads="1"/>
          </p:cNvSpPr>
          <p:nvPr>
            <p:ph type="body" idx="1"/>
          </p:nvPr>
        </p:nvSpPr>
        <p:spPr bwMode="auto">
          <a:xfrm>
            <a:off x="523875" y="4052888"/>
            <a:ext cx="5835650" cy="4579937"/>
          </a:xfrm>
          <a:prstGeom prst="rect">
            <a:avLst/>
          </a:prstGeom>
          <a:solidFill>
            <a:srgbClr val="FFFFFF"/>
          </a:solidFill>
          <a:ln>
            <a:solidFill>
              <a:srgbClr val="000000"/>
            </a:solidFill>
            <a:miter lim="800000"/>
            <a:headEnd/>
            <a:tailEnd/>
          </a:ln>
        </p:spPr>
        <p:txBody>
          <a:bodyPr lIns="86493" tIns="43247" rIns="86493" bIns="43247"/>
          <a:lstStyle/>
          <a:p>
            <a:r>
              <a:rPr lang="en-US" altLang="zh-CN" b="1"/>
              <a:t>Purpose:</a:t>
            </a:r>
            <a:r>
              <a:rPr lang="en-US" altLang="zh-CN"/>
              <a:t> This figure illustrates an unshielded twisted-pair RJ-45 connector.</a:t>
            </a:r>
          </a:p>
          <a:p>
            <a:r>
              <a:rPr lang="en-US" altLang="zh-CN" b="1"/>
              <a:t>Emphasize:</a:t>
            </a:r>
            <a:r>
              <a:rPr lang="en-US" altLang="zh-CN"/>
              <a:t> the RJ-45 has eight pins. Some are for tip (T) and some for ring(R).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D6FFE8-6B11-4159-8E14-EEA237A08E8D}" type="slidenum">
              <a:rPr lang="en-US" altLang="zh-CN"/>
              <a:pPr/>
              <a:t>36</a:t>
            </a:fld>
            <a:endParaRPr lang="en-US" altLang="zh-CN"/>
          </a:p>
        </p:txBody>
      </p:sp>
      <p:sp>
        <p:nvSpPr>
          <p:cNvPr id="63490" name="Rectangle 2"/>
          <p:cNvSpPr>
            <a:spLocks noGrp="1" noRot="1" noChangeAspect="1" noChangeArrowheads="1"/>
          </p:cNvSpPr>
          <p:nvPr>
            <p:ph type="sldImg"/>
          </p:nvPr>
        </p:nvSpPr>
        <p:spPr bwMode="auto">
          <a:xfrm>
            <a:off x="1101725" y="306388"/>
            <a:ext cx="4703763" cy="3527425"/>
          </a:xfrm>
          <a:prstGeom prst="rect">
            <a:avLst/>
          </a:prstGeom>
          <a:noFill/>
        </p:spPr>
      </p:sp>
      <p:sp>
        <p:nvSpPr>
          <p:cNvPr id="63491" name="Rectangle 3"/>
          <p:cNvSpPr>
            <a:spLocks noGrp="1" noChangeArrowheads="1"/>
          </p:cNvSpPr>
          <p:nvPr>
            <p:ph type="body" idx="1"/>
          </p:nvPr>
        </p:nvSpPr>
        <p:spPr bwMode="auto">
          <a:xfrm>
            <a:off x="523875" y="4052888"/>
            <a:ext cx="5835650" cy="4579937"/>
          </a:xfrm>
          <a:prstGeom prst="rect">
            <a:avLst/>
          </a:prstGeom>
          <a:solidFill>
            <a:srgbClr val="FFFFFF"/>
          </a:solidFill>
          <a:ln>
            <a:solidFill>
              <a:srgbClr val="000000"/>
            </a:solidFill>
            <a:miter lim="800000"/>
            <a:headEnd/>
            <a:tailEnd/>
          </a:ln>
        </p:spPr>
        <p:txBody>
          <a:bodyPr lIns="86493" tIns="43247" rIns="86493" bIns="43247"/>
          <a:lstStyle/>
          <a:p>
            <a:r>
              <a:rPr lang="en-US" altLang="zh-CN" b="1"/>
              <a:t>Emphasize:</a:t>
            </a:r>
            <a:r>
              <a:rPr lang="en-US" altLang="zh-CN"/>
              <a:t> Make sure each student has seen a Cat 5 cable. Describe the test for straight through cable determination. If you hold the two ends of an RJ-45 cable side by side, you'll see eight colored strips, or pins, at each end. </a:t>
            </a:r>
          </a:p>
          <a:p>
            <a:pPr lvl="1"/>
            <a:r>
              <a:rPr lang="en-US" altLang="zh-CN"/>
              <a:t>If the order of the colored pins is the same at each end, then the cable is straight through. </a:t>
            </a:r>
          </a:p>
          <a:p>
            <a:pPr lvl="1"/>
            <a:r>
              <a:rPr lang="en-US" altLang="zh-CN"/>
              <a:t>If the order of the colors is reversed at each end, then the cable is crossed over or rolled.</a:t>
            </a:r>
          </a:p>
          <a:p>
            <a:r>
              <a:rPr lang="en-US" altLang="zh-CN"/>
              <a:t>Straight-thru Ethernet uses pins 1, 2, 3, and 6.</a:t>
            </a:r>
          </a:p>
          <a:p>
            <a:r>
              <a:rPr lang="en-US" altLang="zh-CN"/>
              <a:t>Straight-thru cables are used for switch to router cabling, switch to PC or server cabling, or hub to PC or server cabling.  </a:t>
            </a:r>
          </a:p>
          <a:p>
            <a:endParaRPr lang="en-US" altLang="zh-CN"/>
          </a:p>
          <a:p>
            <a:pPr algn="ctr"/>
            <a:endParaRPr lang="en-US" altLang="zh-CN"/>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FA4DED-C4D6-45A0-BC4E-D562114778E7}" type="slidenum">
              <a:rPr lang="en-US" altLang="zh-CN"/>
              <a:pPr/>
              <a:t>37</a:t>
            </a:fld>
            <a:endParaRPr lang="en-US" altLang="zh-CN"/>
          </a:p>
        </p:txBody>
      </p:sp>
      <p:sp>
        <p:nvSpPr>
          <p:cNvPr id="65538" name="Rectangle 2"/>
          <p:cNvSpPr>
            <a:spLocks noGrp="1" noRot="1" noChangeAspect="1" noChangeArrowheads="1"/>
          </p:cNvSpPr>
          <p:nvPr>
            <p:ph type="sldImg"/>
          </p:nvPr>
        </p:nvSpPr>
        <p:spPr bwMode="auto">
          <a:xfrm>
            <a:off x="1101725" y="306388"/>
            <a:ext cx="4703763" cy="3527425"/>
          </a:xfrm>
          <a:prstGeom prst="rect">
            <a:avLst/>
          </a:prstGeom>
          <a:noFill/>
        </p:spPr>
      </p:sp>
      <p:sp>
        <p:nvSpPr>
          <p:cNvPr id="65539" name="Rectangle 3"/>
          <p:cNvSpPr>
            <a:spLocks noGrp="1" noChangeArrowheads="1"/>
          </p:cNvSpPr>
          <p:nvPr>
            <p:ph type="body" idx="1"/>
          </p:nvPr>
        </p:nvSpPr>
        <p:spPr bwMode="auto">
          <a:xfrm>
            <a:off x="523875" y="4052888"/>
            <a:ext cx="5835650" cy="4579937"/>
          </a:xfrm>
          <a:prstGeom prst="rect">
            <a:avLst/>
          </a:prstGeom>
          <a:solidFill>
            <a:srgbClr val="FFFFFF"/>
          </a:solidFill>
          <a:ln>
            <a:solidFill>
              <a:srgbClr val="000000"/>
            </a:solidFill>
            <a:miter lim="800000"/>
            <a:headEnd/>
            <a:tailEnd/>
          </a:ln>
        </p:spPr>
        <p:txBody>
          <a:bodyPr lIns="86493" tIns="43247" rIns="86493" bIns="43247"/>
          <a:lstStyle/>
          <a:p>
            <a:r>
              <a:rPr lang="en-US" altLang="zh-CN" b="1"/>
              <a:t>Emphasize:</a:t>
            </a:r>
            <a:r>
              <a:rPr lang="en-US" altLang="zh-CN"/>
              <a:t> Make sure each student has seen a Cat 5 cable. Describe the test for crossover cable determination. If you hold the two ends of an RJ-45 cable side by side, you'll see eight colored strips, or pins, at each end. </a:t>
            </a:r>
          </a:p>
          <a:p>
            <a:pPr lvl="1"/>
            <a:r>
              <a:rPr lang="en-US" altLang="zh-CN"/>
              <a:t>If the order of the colored pins is the same at each end, then the cable is straight through. </a:t>
            </a:r>
          </a:p>
          <a:p>
            <a:pPr lvl="1"/>
            <a:r>
              <a:rPr lang="en-US" altLang="zh-CN"/>
              <a:t>If the order of the colors is reversed at each end, then the cable is crossed over or rolled.</a:t>
            </a:r>
          </a:p>
          <a:p>
            <a:r>
              <a:rPr lang="en-US" altLang="zh-CN"/>
              <a:t>Ethernet uses pins 1, 2, 3, and 6. For crossover, pin 1 is connected to 3, and oin 2 is connected to 6.</a:t>
            </a:r>
          </a:p>
          <a:p>
            <a:r>
              <a:rPr lang="en-US" altLang="zh-CN"/>
              <a:t>Crossover cables are used for switch to switch cabling, PC to PC cabling, switch to hub cabling, hub to hub cabling, or router to router cabling.</a:t>
            </a:r>
          </a:p>
          <a:p>
            <a:pPr algn="ctr"/>
            <a:endParaRPr lang="en-US" altLang="zh-CN"/>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2F20B1D6-0CC3-4F55-B6DF-1B72030DDF45}" type="slidenum">
              <a:rPr lang="en-US" altLang="zh-CN" smtClean="0">
                <a:latin typeface="Arial" pitchFamily="34" charset="0"/>
              </a:rPr>
              <a:pPr/>
              <a:t>40</a:t>
            </a:fld>
            <a:endParaRPr lang="en-US" altLang="zh-CN" smtClean="0">
              <a:latin typeface="Arial" pitchFamily="34"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4D4F9753-A645-4B48-932A-13F4986DEC87}" type="slidenum">
              <a:rPr lang="en-US" altLang="zh-CN" smtClean="0">
                <a:latin typeface="Arial" pitchFamily="34" charset="0"/>
              </a:rPr>
              <a:pPr/>
              <a:t>41</a:t>
            </a:fld>
            <a:endParaRPr lang="en-US" altLang="zh-CN" smtClean="0">
              <a:latin typeface="Arial" pitchFamily="34"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3705B843-C07F-4331-8F59-1B1969D0E137}" type="slidenum">
              <a:rPr lang="en-US" altLang="zh-CN" smtClean="0">
                <a:latin typeface="Arial" pitchFamily="34" charset="0"/>
              </a:rPr>
              <a:pPr/>
              <a:t>42</a:t>
            </a:fld>
            <a:endParaRPr lang="en-US" altLang="zh-CN" smtClean="0">
              <a:latin typeface="Arial" pitchFamily="34"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A9EEA7DE-861E-4237-AF5B-10E952A2A676}" type="slidenum">
              <a:rPr lang="en-US" altLang="zh-CN" smtClean="0">
                <a:latin typeface="Arial" pitchFamily="34" charset="0"/>
              </a:rPr>
              <a:pPr/>
              <a:t>43</a:t>
            </a:fld>
            <a:endParaRPr lang="en-US" altLang="zh-CN" smtClean="0">
              <a:latin typeface="Arial" pitchFamily="34"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FE83EF55-12AA-45E8-82F4-36960DFB5928}" type="slidenum">
              <a:rPr lang="en-US" altLang="zh-CN" smtClean="0">
                <a:latin typeface="Arial" pitchFamily="34" charset="0"/>
              </a:rPr>
              <a:pPr/>
              <a:t>51</a:t>
            </a:fld>
            <a:endParaRPr lang="en-US" altLang="zh-CN" smtClean="0">
              <a:latin typeface="Arial"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A234226B-EFAA-43CB-8A7D-8315B5AD5A3E}" type="slidenum">
              <a:rPr lang="en-US" altLang="zh-CN" smtClean="0">
                <a:latin typeface="Arial" pitchFamily="34" charset="0"/>
              </a:rPr>
              <a:pPr/>
              <a:t>52</a:t>
            </a:fld>
            <a:endParaRPr lang="en-US" altLang="zh-CN" smtClean="0">
              <a:latin typeface="Arial" pitchFamily="34"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0341D55A-9550-4432-B354-F256D7AC49D4}" type="slidenum">
              <a:rPr lang="en-US" altLang="zh-CN" smtClean="0">
                <a:latin typeface="Arial" pitchFamily="34" charset="0"/>
              </a:rPr>
              <a:pPr/>
              <a:t>53</a:t>
            </a:fld>
            <a:endParaRPr lang="en-US" altLang="zh-CN" smtClean="0">
              <a:latin typeface="Arial" pitchFamily="34"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37646F96-A746-488D-8224-60530D647034}" type="slidenum">
              <a:rPr lang="en-US" altLang="zh-CN" smtClean="0">
                <a:latin typeface="Arial" pitchFamily="34" charset="0"/>
              </a:rPr>
              <a:pPr/>
              <a:t>54</a:t>
            </a:fld>
            <a:endParaRPr lang="en-US" altLang="zh-CN" smtClean="0">
              <a:latin typeface="Arial" pitchFamily="34"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0D804A67-860F-481F-9445-2E2136A3AE47}" type="slidenum">
              <a:rPr lang="en-US" altLang="zh-CN" smtClean="0">
                <a:latin typeface="Arial" pitchFamily="34" charset="0"/>
              </a:rPr>
              <a:pPr/>
              <a:t>55</a:t>
            </a:fld>
            <a:endParaRPr lang="en-US" altLang="zh-CN" smtClean="0">
              <a:latin typeface="Arial"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7D7B178F-2EEC-4820-8CB9-661C3F319DFB}" type="slidenum">
              <a:rPr lang="en-US" altLang="zh-CN" smtClean="0">
                <a:latin typeface="Arial" pitchFamily="34" charset="0"/>
              </a:rPr>
              <a:pPr/>
              <a:t>56</a:t>
            </a:fld>
            <a:endParaRPr lang="en-US" altLang="zh-CN" smtClean="0">
              <a:latin typeface="Arial" pitchFamily="34"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2197772F-2CAC-4C94-89E3-E508419BB5C1}" type="slidenum">
              <a:rPr lang="en-US" altLang="zh-CN" smtClean="0">
                <a:latin typeface="Arial" pitchFamily="34" charset="0"/>
              </a:rPr>
              <a:pPr/>
              <a:t>57</a:t>
            </a:fld>
            <a:endParaRPr lang="en-US" altLang="zh-CN" smtClean="0">
              <a:latin typeface="Arial"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D0D64781-9865-4223-9F4E-7FE50E56F555}" type="slidenum">
              <a:rPr lang="en-US" altLang="zh-CN" smtClean="0">
                <a:latin typeface="Arial" pitchFamily="34" charset="0"/>
              </a:rPr>
              <a:pPr/>
              <a:t>58</a:t>
            </a:fld>
            <a:endParaRPr lang="en-US" altLang="zh-CN" smtClean="0">
              <a:latin typeface="Arial" pitchFamily="34"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21A25B02-E70A-4B4D-81D2-3B102332A9B9}" type="slidenum">
              <a:rPr lang="en-US" altLang="zh-CN" smtClean="0">
                <a:latin typeface="Arial" pitchFamily="34" charset="0"/>
              </a:rPr>
              <a:pPr/>
              <a:t>59</a:t>
            </a:fld>
            <a:endParaRPr lang="en-US" altLang="zh-CN" smtClean="0">
              <a:latin typeface="Arial" pitchFamily="34"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1AE2A332-D204-4175-A492-C85836A78034}" type="slidenum">
              <a:rPr lang="en-US" altLang="zh-CN" smtClean="0">
                <a:latin typeface="Arial" pitchFamily="34" charset="0"/>
              </a:rPr>
              <a:pPr/>
              <a:t>60</a:t>
            </a:fld>
            <a:endParaRPr lang="en-US" altLang="zh-CN" smtClean="0">
              <a:latin typeface="Arial" pitchFamily="34"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771F8508-E1DF-4D25-A954-D43BE9F2A390}" type="slidenum">
              <a:rPr lang="en-US" altLang="zh-CN" smtClean="0">
                <a:latin typeface="Arial" pitchFamily="34" charset="0"/>
              </a:rPr>
              <a:pPr/>
              <a:t>61</a:t>
            </a:fld>
            <a:endParaRPr lang="en-US" altLang="zh-CN" smtClean="0">
              <a:latin typeface="Arial" pitchFamily="34"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15E88277-E89F-4C82-9494-CA2B015578CE}" type="slidenum">
              <a:rPr lang="en-US" altLang="zh-CN" smtClean="0">
                <a:latin typeface="Arial" pitchFamily="34" charset="0"/>
              </a:rPr>
              <a:pPr/>
              <a:t>62</a:t>
            </a:fld>
            <a:endParaRPr lang="en-US" altLang="zh-CN" smtClean="0">
              <a:latin typeface="Arial" pitchFamily="34"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B6E4B524-602A-4ACF-9D6E-1A04CF76683D}" type="slidenum">
              <a:rPr lang="en-US" altLang="zh-CN" smtClean="0">
                <a:latin typeface="Arial" pitchFamily="34" charset="0"/>
              </a:rPr>
              <a:pPr/>
              <a:t>63</a:t>
            </a:fld>
            <a:endParaRPr lang="en-US" altLang="zh-CN" smtClean="0">
              <a:latin typeface="Arial" pitchFamily="34"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2EDEEA24-06AF-430A-9543-EE74F37BB4A2}" type="slidenum">
              <a:rPr lang="en-US" altLang="zh-CN" smtClean="0">
                <a:latin typeface="Arial" pitchFamily="34" charset="0"/>
              </a:rPr>
              <a:pPr/>
              <a:t>64</a:t>
            </a:fld>
            <a:endParaRPr lang="en-US" altLang="zh-CN" smtClean="0">
              <a:latin typeface="Arial" pitchFamily="34"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3F8BDA2E-DA16-4E19-B816-AAC04B103CCF}" type="slidenum">
              <a:rPr lang="en-US" altLang="zh-CN" smtClean="0">
                <a:latin typeface="Arial" pitchFamily="34" charset="0"/>
              </a:rPr>
              <a:pPr/>
              <a:t>65</a:t>
            </a:fld>
            <a:endParaRPr lang="en-US" altLang="zh-CN" smtClean="0">
              <a:latin typeface="Arial" pitchFamily="34"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B82ECD86-AD79-4A76-9938-E4A3BA8C5ADA}" type="slidenum">
              <a:rPr lang="en-US" altLang="zh-CN" smtClean="0">
                <a:latin typeface="Arial" pitchFamily="34" charset="0"/>
              </a:rPr>
              <a:pPr/>
              <a:t>66</a:t>
            </a:fld>
            <a:endParaRPr lang="en-US" altLang="zh-CN" smtClean="0">
              <a:latin typeface="Arial" pitchFamily="34"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8AC4564D-A331-4C86-AB7B-7A26E0E01172}" type="slidenum">
              <a:rPr lang="en-US" altLang="zh-CN" smtClean="0">
                <a:latin typeface="Arial" pitchFamily="34" charset="0"/>
              </a:rPr>
              <a:pPr/>
              <a:t>67</a:t>
            </a:fld>
            <a:endParaRPr lang="en-US" altLang="zh-CN" smtClean="0">
              <a:latin typeface="Arial" pitchFamily="34"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761AB047-12D6-42B1-BAD6-179B6BDE1BD7}" type="slidenum">
              <a:rPr lang="en-US" altLang="zh-CN" smtClean="0">
                <a:latin typeface="Arial" pitchFamily="34" charset="0"/>
              </a:rPr>
              <a:pPr/>
              <a:t>68</a:t>
            </a:fld>
            <a:endParaRPr lang="en-US" altLang="zh-CN" smtClean="0">
              <a:latin typeface="Arial" pitchFamily="34"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47CA9D1C-90AC-4F58-9DA0-91C82454EFD6}" type="slidenum">
              <a:rPr lang="en-US" altLang="zh-CN" smtClean="0">
                <a:latin typeface="Arial" pitchFamily="34" charset="0"/>
              </a:rPr>
              <a:pPr/>
              <a:t>69</a:t>
            </a:fld>
            <a:endParaRPr lang="en-US" altLang="zh-CN" smtClean="0">
              <a:latin typeface="Arial" pitchFamily="3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8C2BB51F-71A7-4A7C-9077-17212D2ED8AC}" type="slidenum">
              <a:rPr lang="en-US" altLang="zh-CN" smtClean="0">
                <a:latin typeface="Arial" pitchFamily="34" charset="0"/>
              </a:rPr>
              <a:pPr/>
              <a:t>70</a:t>
            </a:fld>
            <a:endParaRPr lang="en-US" altLang="zh-CN" smtClean="0">
              <a:latin typeface="Arial" pitchFamily="34"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514447EA-3ECB-4BFC-8214-E56B50D7826A}" type="slidenum">
              <a:rPr lang="en-US" altLang="zh-CN" smtClean="0">
                <a:latin typeface="Arial" pitchFamily="34" charset="0"/>
              </a:rPr>
              <a:pPr/>
              <a:t>71</a:t>
            </a:fld>
            <a:endParaRPr lang="en-US" altLang="zh-CN" smtClean="0">
              <a:latin typeface="Arial" pitchFamily="3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C1E5F2A9-E77F-4A4A-A190-C4D324EC6C19}" type="slidenum">
              <a:rPr lang="en-US" altLang="zh-CN" smtClean="0">
                <a:latin typeface="Arial" pitchFamily="34" charset="0"/>
              </a:rPr>
              <a:pPr/>
              <a:t>72</a:t>
            </a:fld>
            <a:endParaRPr lang="en-US" altLang="zh-CN" smtClean="0">
              <a:latin typeface="Arial" pitchFamily="3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9E6F2029-75B9-46BF-9652-034663F59EE8}" type="slidenum">
              <a:rPr lang="en-US" altLang="zh-CN" smtClean="0">
                <a:latin typeface="Arial" pitchFamily="34" charset="0"/>
              </a:rPr>
              <a:pPr/>
              <a:t>73</a:t>
            </a:fld>
            <a:endParaRPr lang="en-US" altLang="zh-CN" smtClean="0">
              <a:latin typeface="Arial" pitchFamily="34"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14151C08-B96D-4C54-BAC3-2A3E9435D1AE}" type="slidenum">
              <a:rPr lang="en-US" altLang="zh-CN" smtClean="0">
                <a:latin typeface="Arial" pitchFamily="34" charset="0"/>
              </a:rPr>
              <a:pPr/>
              <a:t>74</a:t>
            </a:fld>
            <a:endParaRPr lang="en-US" altLang="zh-CN" smtClean="0">
              <a:latin typeface="Arial"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238B3F50-D9D0-4EFC-84E3-98E463205215}" type="slidenum">
              <a:rPr lang="en-US" altLang="zh-CN" smtClean="0">
                <a:latin typeface="Arial" pitchFamily="34" charset="0"/>
              </a:rPr>
              <a:pPr/>
              <a:t>75</a:t>
            </a:fld>
            <a:endParaRPr lang="en-US" altLang="zh-CN" smtClean="0">
              <a:latin typeface="Arial"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5F15B620-2481-4F8D-B890-8E89591F6001}" type="slidenum">
              <a:rPr lang="en-US" altLang="zh-CN" smtClean="0">
                <a:latin typeface="Arial" pitchFamily="34" charset="0"/>
              </a:rPr>
              <a:pPr/>
              <a:t>76</a:t>
            </a:fld>
            <a:endParaRPr lang="en-US" altLang="zh-CN" smtClean="0">
              <a:latin typeface="Arial" pitchFamily="34"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79AD52E3-060D-4283-A8C5-6F0F0456D5B7}" type="slidenum">
              <a:rPr lang="en-US" altLang="zh-CN" smtClean="0">
                <a:latin typeface="Arial" pitchFamily="34" charset="0"/>
              </a:rPr>
              <a:pPr/>
              <a:t>77</a:t>
            </a:fld>
            <a:endParaRPr lang="en-US" altLang="zh-CN" smtClean="0">
              <a:latin typeface="Arial" pitchFamily="34"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E8A07B02-FD21-422C-819E-C92B668193A4}" type="slidenum">
              <a:rPr lang="en-US" altLang="zh-CN" smtClean="0">
                <a:latin typeface="Arial" pitchFamily="34" charset="0"/>
              </a:rPr>
              <a:pPr/>
              <a:t>78</a:t>
            </a:fld>
            <a:endParaRPr lang="en-US" altLang="zh-CN" smtClean="0">
              <a:latin typeface="Arial" pitchFamily="3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46A55871-D911-4DFC-869E-E77ED56EEC43}" type="slidenum">
              <a:rPr lang="en-US" altLang="zh-CN" smtClean="0">
                <a:latin typeface="Arial" pitchFamily="34" charset="0"/>
              </a:rPr>
              <a:pPr/>
              <a:t>79</a:t>
            </a:fld>
            <a:endParaRPr lang="en-US" altLang="zh-CN" smtClean="0">
              <a:latin typeface="Arial" pitchFamily="34"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A875CB3E-0526-41FD-B050-3F937D92DAF0}" type="slidenum">
              <a:rPr lang="en-US" altLang="zh-CN" smtClean="0">
                <a:latin typeface="Arial" pitchFamily="34" charset="0"/>
              </a:rPr>
              <a:pPr/>
              <a:t>80</a:t>
            </a:fld>
            <a:endParaRPr lang="en-US" altLang="zh-CN" smtClean="0">
              <a:latin typeface="Arial" pitchFamily="3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BF700E49-3297-4AF3-9391-54A30F0E2F91}" type="slidenum">
              <a:rPr lang="en-US" altLang="zh-CN" smtClean="0">
                <a:latin typeface="Arial" pitchFamily="34" charset="0"/>
              </a:rPr>
              <a:pPr/>
              <a:t>81</a:t>
            </a:fld>
            <a:endParaRPr lang="en-US" altLang="zh-CN" smtClean="0">
              <a:latin typeface="Arial" pitchFamily="34" charset="0"/>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6E4E759A-92C1-4189-8953-B949716C9982}" type="slidenum">
              <a:rPr lang="en-US" altLang="zh-CN" smtClean="0">
                <a:latin typeface="Arial" pitchFamily="34" charset="0"/>
              </a:rPr>
              <a:pPr/>
              <a:t>82</a:t>
            </a:fld>
            <a:endParaRPr lang="en-US" altLang="zh-CN" smtClean="0">
              <a:latin typeface="Arial" pitchFamily="34"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193008CC-A708-4908-9153-00007014D507}" type="slidenum">
              <a:rPr lang="en-US" altLang="zh-CN" smtClean="0">
                <a:latin typeface="Arial" pitchFamily="34" charset="0"/>
              </a:rPr>
              <a:pPr/>
              <a:t>83</a:t>
            </a:fld>
            <a:endParaRPr lang="en-US" altLang="zh-CN" smtClean="0">
              <a:latin typeface="Arial" pitchFamily="34"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BDEC9C52-1E46-455D-AC56-2F03513A3167}" type="slidenum">
              <a:rPr lang="en-US" altLang="zh-CN" smtClean="0">
                <a:latin typeface="Arial" pitchFamily="34" charset="0"/>
              </a:rPr>
              <a:pPr/>
              <a:t>84</a:t>
            </a:fld>
            <a:endParaRPr lang="en-US" altLang="zh-CN" smtClean="0">
              <a:latin typeface="Arial" pitchFamily="34"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097F5562-AF37-456B-BE12-D0F0D787B71F}" type="slidenum">
              <a:rPr lang="en-US" altLang="zh-CN" smtClean="0">
                <a:latin typeface="Arial" pitchFamily="34" charset="0"/>
              </a:rPr>
              <a:pPr/>
              <a:t>85</a:t>
            </a:fld>
            <a:endParaRPr lang="en-US" altLang="zh-CN" smtClean="0">
              <a:latin typeface="Arial" pitchFamily="34" charset="0"/>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0FACF942-2D34-4F22-81BE-5FA14F2CDE52}" type="slidenum">
              <a:rPr lang="en-US" altLang="zh-CN" smtClean="0">
                <a:latin typeface="Arial" pitchFamily="34" charset="0"/>
              </a:rPr>
              <a:pPr/>
              <a:t>86</a:t>
            </a:fld>
            <a:endParaRPr lang="en-US" altLang="zh-CN" smtClean="0">
              <a:latin typeface="Arial" pitchFamily="34" charset="0"/>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299163D2-0790-4440-A762-2ABF70F7E3A6}" type="slidenum">
              <a:rPr lang="en-US" altLang="zh-CN" smtClean="0">
                <a:latin typeface="Arial" pitchFamily="34" charset="0"/>
              </a:rPr>
              <a:pPr/>
              <a:t>87</a:t>
            </a:fld>
            <a:endParaRPr lang="en-US" altLang="zh-CN" smtClean="0">
              <a:latin typeface="Arial" pitchFamily="34" charset="0"/>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CD7857FF-8A30-4BB2-BCBB-5402F6643862}" type="slidenum">
              <a:rPr lang="en-US" altLang="zh-CN" smtClean="0">
                <a:latin typeface="Arial" pitchFamily="34" charset="0"/>
              </a:rPr>
              <a:pPr/>
              <a:t>88</a:t>
            </a:fld>
            <a:endParaRPr lang="en-US" altLang="zh-CN" smtClean="0">
              <a:latin typeface="Arial" pitchFamily="34"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2AD04E-34DF-4D93-BEF2-65A82631BBE3}" type="slidenum">
              <a:rPr lang="en-US" altLang="zh-CN"/>
              <a:pPr/>
              <a:t>105</a:t>
            </a:fld>
            <a:endParaRPr lang="en-US" altLang="zh-CN"/>
          </a:p>
        </p:txBody>
      </p:sp>
      <p:sp>
        <p:nvSpPr>
          <p:cNvPr id="92162" name="Rectangle 2"/>
          <p:cNvSpPr>
            <a:spLocks noGrp="1" noRot="1" noChangeAspect="1" noChangeArrowheads="1"/>
          </p:cNvSpPr>
          <p:nvPr>
            <p:ph type="sldImg"/>
          </p:nvPr>
        </p:nvSpPr>
        <p:spPr bwMode="auto">
          <a:xfrm>
            <a:off x="1090613" y="306388"/>
            <a:ext cx="4703762" cy="3527425"/>
          </a:xfrm>
          <a:prstGeom prst="rect">
            <a:avLst/>
          </a:prstGeom>
          <a:noFill/>
        </p:spPr>
      </p:sp>
      <p:sp>
        <p:nvSpPr>
          <p:cNvPr id="92163" name="Rectangle 3"/>
          <p:cNvSpPr>
            <a:spLocks noGrp="1" noChangeArrowheads="1"/>
          </p:cNvSpPr>
          <p:nvPr>
            <p:ph type="body" idx="1"/>
          </p:nvPr>
        </p:nvSpPr>
        <p:spPr bwMode="auto">
          <a:xfrm>
            <a:off x="523875" y="4052888"/>
            <a:ext cx="5835650" cy="4579937"/>
          </a:xfrm>
          <a:prstGeom prst="rect">
            <a:avLst/>
          </a:prstGeom>
          <a:solidFill>
            <a:srgbClr val="FFFFFF"/>
          </a:solidFill>
          <a:ln>
            <a:solidFill>
              <a:srgbClr val="000000"/>
            </a:solidFill>
            <a:miter lim="800000"/>
            <a:headEnd/>
            <a:tailEnd/>
          </a:ln>
        </p:spPr>
        <p:txBody>
          <a:bodyPr lIns="86493" tIns="43247" rIns="86493" bIns="43247"/>
          <a:lstStyle/>
          <a:p>
            <a:r>
              <a:rPr lang="en-US" altLang="zh-CN" b="1"/>
              <a:t>Purpose:</a:t>
            </a:r>
            <a:r>
              <a:rPr lang="en-US" altLang="zh-CN"/>
              <a:t> This figure shows fixed interface router such as a 2500.</a:t>
            </a:r>
          </a:p>
          <a:p>
            <a:r>
              <a:rPr lang="en-US" altLang="zh-CN" b="1"/>
              <a:t>Emphasize:</a:t>
            </a:r>
            <a:r>
              <a:rPr lang="en-US" altLang="zh-CN"/>
              <a:t> The router in the figure is a Cisco 2500 router with Ethernet, serial, and ISDN interfaces..</a:t>
            </a:r>
          </a:p>
          <a:p>
            <a:r>
              <a:rPr lang="en-US" altLang="zh-CN"/>
              <a:t>A fixed interface router requires no additional hardware interfaces to operate. However, once you acquire a fixed component router such as a 2500, you cannot change interfaces.</a:t>
            </a:r>
          </a:p>
          <a:p>
            <a:r>
              <a:rPr lang="en-US" altLang="zh-CN" b="1"/>
              <a:t>Note:</a:t>
            </a:r>
            <a:r>
              <a:rPr lang="en-US" altLang="zh-CN"/>
              <a:t> Show students the physical router used in the laboratory exercise.</a:t>
            </a:r>
          </a:p>
          <a:p>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A02A4E-8DBE-409B-85FE-D6DF53B641A7}" type="slidenum">
              <a:rPr lang="en-US" altLang="zh-CN"/>
              <a:pPr/>
              <a:t>106</a:t>
            </a:fld>
            <a:endParaRPr lang="en-US" altLang="zh-CN"/>
          </a:p>
        </p:txBody>
      </p:sp>
      <p:sp>
        <p:nvSpPr>
          <p:cNvPr id="94210" name="Rectangle 2"/>
          <p:cNvSpPr>
            <a:spLocks noGrp="1" noRot="1" noChangeAspect="1" noChangeArrowheads="1"/>
          </p:cNvSpPr>
          <p:nvPr>
            <p:ph type="sldImg"/>
          </p:nvPr>
        </p:nvSpPr>
        <p:spPr bwMode="auto">
          <a:xfrm>
            <a:off x="1090613" y="306388"/>
            <a:ext cx="4703762" cy="3527425"/>
          </a:xfrm>
          <a:prstGeom prst="rect">
            <a:avLst/>
          </a:prstGeom>
          <a:noFill/>
        </p:spPr>
      </p:sp>
      <p:sp>
        <p:nvSpPr>
          <p:cNvPr id="94211" name="Rectangle 3"/>
          <p:cNvSpPr>
            <a:spLocks noGrp="1" noChangeArrowheads="1"/>
          </p:cNvSpPr>
          <p:nvPr>
            <p:ph type="body" idx="1"/>
          </p:nvPr>
        </p:nvSpPr>
        <p:spPr bwMode="auto">
          <a:xfrm>
            <a:off x="523875" y="4052888"/>
            <a:ext cx="5835650" cy="4579937"/>
          </a:xfrm>
          <a:prstGeom prst="rect">
            <a:avLst/>
          </a:prstGeom>
          <a:solidFill>
            <a:srgbClr val="FFFFFF"/>
          </a:solidFill>
          <a:ln>
            <a:solidFill>
              <a:srgbClr val="000000"/>
            </a:solidFill>
            <a:miter lim="800000"/>
            <a:headEnd/>
            <a:tailEnd/>
          </a:ln>
        </p:spPr>
        <p:txBody>
          <a:bodyPr lIns="86493" tIns="43247" rIns="86493" bIns="43247"/>
          <a:lstStyle/>
          <a:p>
            <a:r>
              <a:rPr lang="en-US" altLang="zh-CN" b="1"/>
              <a:t>Purpose:</a:t>
            </a:r>
            <a:r>
              <a:rPr lang="en-US" altLang="zh-CN"/>
              <a:t> This figure shows modular interface routers.</a:t>
            </a:r>
          </a:p>
          <a:p>
            <a:r>
              <a:rPr lang="en-US" altLang="zh-CN" b="1"/>
              <a:t>Emphasize: </a:t>
            </a:r>
            <a:r>
              <a:rPr lang="en-US" altLang="zh-CN"/>
              <a:t>A modular interface router requires additional hardware network modules and/or  WAN interface cards. This generally costs more than a fixed interface router. However, you have the flexibility to change the interface components as your network scales.</a:t>
            </a:r>
          </a:p>
          <a:p>
            <a:r>
              <a:rPr lang="en-US" altLang="zh-CN"/>
              <a:t>When configuring an interface on a fixed configuration router, some interfaces must be called out with the slot and port.</a:t>
            </a:r>
          </a:p>
          <a:p>
            <a:r>
              <a:rPr lang="en-US" altLang="zh-CN" b="1"/>
              <a:t>Note:</a:t>
            </a:r>
            <a:r>
              <a:rPr lang="en-US" altLang="zh-CN"/>
              <a:t> </a:t>
            </a:r>
          </a:p>
          <a:p>
            <a:r>
              <a:rPr lang="en-US" altLang="zh-CN"/>
              <a:t>The figure displays a 1603 router with a 60-pin WAN interface card. It also displays a 3640 with an 8 port serial network module.</a:t>
            </a:r>
          </a:p>
          <a:p>
            <a:r>
              <a:rPr lang="en-US" altLang="zh-CN"/>
              <a:t>The laboratory exercise suggests the use of a 3640 as the core router. If you use this router, show the students the various network modules you have installed.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25612"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5853113" y="6248400"/>
            <a:ext cx="2895600" cy="457200"/>
          </a:xfrm>
        </p:spPr>
        <p:txBody>
          <a:bodyPr/>
          <a:lstStyle>
            <a:lvl1pPr>
              <a:defRPr>
                <a:solidFill>
                  <a:schemeClr val="bg2"/>
                </a:solidFill>
              </a:defRPr>
            </a:lvl1pPr>
          </a:lstStyle>
          <a:p>
            <a:pPr>
              <a:defRPr/>
            </a:pPr>
            <a:r>
              <a:rPr lang="zh-CN" altLang="en-US"/>
              <a:t>课件制作人：谢希仁</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60D001A6-3D28-4B9C-8A3B-18B428EA0398}"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6" name="Rectangle 13"/>
          <p:cNvSpPr>
            <a:spLocks noGrp="1" noChangeArrowheads="1"/>
          </p:cNvSpPr>
          <p:nvPr>
            <p:ph type="sldNum" sz="quarter" idx="12"/>
          </p:nvPr>
        </p:nvSpPr>
        <p:spPr>
          <a:ln/>
        </p:spPr>
        <p:txBody>
          <a:bodyPr/>
          <a:lstStyle>
            <a:lvl1pPr>
              <a:defRPr/>
            </a:lvl1pPr>
          </a:lstStyle>
          <a:p>
            <a:pPr>
              <a:defRPr/>
            </a:pPr>
            <a:fld id="{2862EB20-F988-4196-B55B-1F6B3775826D}"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6" name="Rectangle 13"/>
          <p:cNvSpPr>
            <a:spLocks noGrp="1" noChangeArrowheads="1"/>
          </p:cNvSpPr>
          <p:nvPr>
            <p:ph type="sldNum" sz="quarter" idx="12"/>
          </p:nvPr>
        </p:nvSpPr>
        <p:spPr>
          <a:ln/>
        </p:spPr>
        <p:txBody>
          <a:bodyPr/>
          <a:lstStyle>
            <a:lvl1pPr>
              <a:defRPr/>
            </a:lvl1pPr>
          </a:lstStyle>
          <a:p>
            <a:pPr>
              <a:defRPr/>
            </a:pPr>
            <a:fld id="{D41DA832-C683-43FF-845B-5BC73C755EC3}"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0429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053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7" name="Rectangle 13"/>
          <p:cNvSpPr>
            <a:spLocks noGrp="1" noChangeArrowheads="1"/>
          </p:cNvSpPr>
          <p:nvPr>
            <p:ph type="sldNum" sz="quarter" idx="12"/>
          </p:nvPr>
        </p:nvSpPr>
        <p:spPr>
          <a:ln/>
        </p:spPr>
        <p:txBody>
          <a:bodyPr/>
          <a:lstStyle>
            <a:lvl1pPr>
              <a:defRPr/>
            </a:lvl1pPr>
          </a:lstStyle>
          <a:p>
            <a:pPr>
              <a:defRPr/>
            </a:pPr>
            <a:fld id="{849BAEEE-8C42-46B2-BCBD-695D8257EB1F}"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9" name="Rectangle 13"/>
          <p:cNvSpPr>
            <a:spLocks noGrp="1" noChangeArrowheads="1"/>
          </p:cNvSpPr>
          <p:nvPr>
            <p:ph type="sldNum" sz="quarter" idx="12"/>
          </p:nvPr>
        </p:nvSpPr>
        <p:spPr>
          <a:ln/>
        </p:spPr>
        <p:txBody>
          <a:bodyPr/>
          <a:lstStyle>
            <a:lvl1pPr>
              <a:defRPr/>
            </a:lvl1pPr>
          </a:lstStyle>
          <a:p>
            <a:pPr>
              <a:defRPr/>
            </a:pPr>
            <a:fld id="{79DFB609-391D-4C13-A50C-520EE22F953F}"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5" name="Rectangle 13"/>
          <p:cNvSpPr>
            <a:spLocks noGrp="1" noChangeArrowheads="1"/>
          </p:cNvSpPr>
          <p:nvPr>
            <p:ph type="sldNum" sz="quarter" idx="12"/>
          </p:nvPr>
        </p:nvSpPr>
        <p:spPr>
          <a:ln/>
        </p:spPr>
        <p:txBody>
          <a:bodyPr/>
          <a:lstStyle>
            <a:lvl1pPr>
              <a:defRPr/>
            </a:lvl1pPr>
          </a:lstStyle>
          <a:p>
            <a:pPr>
              <a:defRPr/>
            </a:pPr>
            <a:fld id="{7233AF9D-C4FA-4593-A70C-43FE8C6A9922}"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4" name="Rectangle 13"/>
          <p:cNvSpPr>
            <a:spLocks noGrp="1" noChangeArrowheads="1"/>
          </p:cNvSpPr>
          <p:nvPr>
            <p:ph type="sldNum" sz="quarter" idx="12"/>
          </p:nvPr>
        </p:nvSpPr>
        <p:spPr>
          <a:ln/>
        </p:spPr>
        <p:txBody>
          <a:bodyPr/>
          <a:lstStyle>
            <a:lvl1pPr>
              <a:defRPr/>
            </a:lvl1pPr>
          </a:lstStyle>
          <a:p>
            <a:pPr>
              <a:defRPr/>
            </a:pPr>
            <a:fld id="{BB5B24B3-D592-4D62-92D0-3245D980D567}"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7" name="Rectangle 13"/>
          <p:cNvSpPr>
            <a:spLocks noGrp="1" noChangeArrowheads="1"/>
          </p:cNvSpPr>
          <p:nvPr>
            <p:ph type="sldNum" sz="quarter" idx="12"/>
          </p:nvPr>
        </p:nvSpPr>
        <p:spPr>
          <a:ln/>
        </p:spPr>
        <p:txBody>
          <a:bodyPr/>
          <a:lstStyle>
            <a:lvl1pPr>
              <a:defRPr/>
            </a:lvl1pPr>
          </a:lstStyle>
          <a:p>
            <a:pPr>
              <a:defRPr/>
            </a:pPr>
            <a:fld id="{39EBF2C0-4ED8-45EF-AF25-F30A21230C7B}"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7" name="Rectangle 13"/>
          <p:cNvSpPr>
            <a:spLocks noGrp="1" noChangeArrowheads="1"/>
          </p:cNvSpPr>
          <p:nvPr>
            <p:ph type="sldNum" sz="quarter" idx="12"/>
          </p:nvPr>
        </p:nvSpPr>
        <p:spPr>
          <a:ln/>
        </p:spPr>
        <p:txBody>
          <a:bodyPr/>
          <a:lstStyle>
            <a:lvl1pPr>
              <a:defRPr/>
            </a:lvl1pPr>
          </a:lstStyle>
          <a:p>
            <a:pPr>
              <a:defRPr/>
            </a:pPr>
            <a:fld id="{FB86C9A8-4D41-4520-8028-933FC173955D}"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6" name="Rectangle 13"/>
          <p:cNvSpPr>
            <a:spLocks noGrp="1" noChangeArrowheads="1"/>
          </p:cNvSpPr>
          <p:nvPr>
            <p:ph type="sldNum" sz="quarter" idx="12"/>
          </p:nvPr>
        </p:nvSpPr>
        <p:spPr>
          <a:ln/>
        </p:spPr>
        <p:txBody>
          <a:bodyPr/>
          <a:lstStyle>
            <a:lvl1pPr>
              <a:defRPr/>
            </a:lvl1pPr>
          </a:lstStyle>
          <a:p>
            <a:pPr>
              <a:defRPr/>
            </a:pPr>
            <a:fld id="{5680BD2E-2647-4D0B-BE2C-506FB7377CCB}"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214313"/>
            <a:ext cx="1974850" cy="567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042988" y="214313"/>
            <a:ext cx="5773737" cy="56737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zh-CN" altLang="en-US"/>
              <a:t>课件制作人：谢希仁</a:t>
            </a:r>
          </a:p>
        </p:txBody>
      </p:sp>
      <p:sp>
        <p:nvSpPr>
          <p:cNvPr id="6" name="Rectangle 13"/>
          <p:cNvSpPr>
            <a:spLocks noGrp="1" noChangeArrowheads="1"/>
          </p:cNvSpPr>
          <p:nvPr>
            <p:ph type="sldNum" sz="quarter" idx="12"/>
          </p:nvPr>
        </p:nvSpPr>
        <p:spPr>
          <a:ln/>
        </p:spPr>
        <p:txBody>
          <a:bodyPr/>
          <a:lstStyle>
            <a:lvl1pPr>
              <a:defRPr/>
            </a:lvl1pPr>
          </a:lstStyle>
          <a:p>
            <a:pPr>
              <a:defRPr/>
            </a:pPr>
            <a:fld id="{A5765F54-1DD1-4C41-94B8-56BEB13CB503}"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ChangeArrowheads="1"/>
          </p:cNvSpPr>
          <p:nvPr/>
        </p:nvSpPr>
        <p:spPr bwMode="ltGray">
          <a:xfrm>
            <a:off x="417513" y="1098550"/>
            <a:ext cx="438150" cy="474663"/>
          </a:xfrm>
          <a:prstGeom prst="rect">
            <a:avLst/>
          </a:prstGeom>
          <a:solidFill>
            <a:schemeClr val="accent2"/>
          </a:solidFill>
          <a:ln w="9525">
            <a:noFill/>
            <a:miter lim="800000"/>
            <a:headEnd/>
            <a:tailEnd/>
          </a:ln>
          <a:effectLst/>
        </p:spPr>
        <p:txBody>
          <a:bodyPr wrap="none" anchor="ctr"/>
          <a:lstStyle/>
          <a:p>
            <a:pPr>
              <a:defRPr/>
            </a:pPr>
            <a:endParaRPr kumimoji="1" lang="zh-CN" altLang="zh-CN"/>
          </a:p>
        </p:txBody>
      </p:sp>
      <p:sp>
        <p:nvSpPr>
          <p:cNvPr id="24579"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kumimoji="1" lang="zh-CN" altLang="zh-CN"/>
          </a:p>
        </p:txBody>
      </p:sp>
      <p:sp>
        <p:nvSpPr>
          <p:cNvPr id="24580" name="Rectangle 4"/>
          <p:cNvSpPr>
            <a:spLocks noChangeArrowheads="1"/>
          </p:cNvSpPr>
          <p:nvPr/>
        </p:nvSpPr>
        <p:spPr bwMode="ltGray">
          <a:xfrm>
            <a:off x="541338" y="1520825"/>
            <a:ext cx="422275" cy="474663"/>
          </a:xfrm>
          <a:prstGeom prst="rect">
            <a:avLst/>
          </a:prstGeom>
          <a:solidFill>
            <a:schemeClr val="folHlink"/>
          </a:solidFill>
          <a:ln w="9525">
            <a:noFill/>
            <a:miter lim="800000"/>
            <a:headEnd/>
            <a:tailEnd/>
          </a:ln>
          <a:effectLst/>
        </p:spPr>
        <p:txBody>
          <a:bodyPr wrap="none" anchor="ctr"/>
          <a:lstStyle/>
          <a:p>
            <a:pPr>
              <a:defRPr/>
            </a:pPr>
            <a:endParaRPr kumimoji="1" lang="zh-CN" altLang="zh-CN"/>
          </a:p>
        </p:txBody>
      </p:sp>
      <p:sp>
        <p:nvSpPr>
          <p:cNvPr id="24581"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kumimoji="1" lang="zh-CN" altLang="zh-CN"/>
          </a:p>
        </p:txBody>
      </p:sp>
      <p:sp>
        <p:nvSpPr>
          <p:cNvPr id="24582"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kumimoji="1" lang="zh-CN" altLang="zh-CN"/>
          </a:p>
        </p:txBody>
      </p:sp>
      <p:sp>
        <p:nvSpPr>
          <p:cNvPr id="24583" name="Rectangle 7"/>
          <p:cNvSpPr>
            <a:spLocks noChangeArrowheads="1"/>
          </p:cNvSpPr>
          <p:nvPr/>
        </p:nvSpPr>
        <p:spPr bwMode="gray">
          <a:xfrm>
            <a:off x="762000" y="990600"/>
            <a:ext cx="31750" cy="1052513"/>
          </a:xfrm>
          <a:prstGeom prst="rect">
            <a:avLst/>
          </a:prstGeom>
          <a:solidFill>
            <a:schemeClr val="bg2"/>
          </a:solidFill>
          <a:ln w="9525">
            <a:noFill/>
            <a:miter lim="800000"/>
            <a:headEnd/>
            <a:tailEnd/>
          </a:ln>
          <a:effectLst/>
        </p:spPr>
        <p:txBody>
          <a:bodyPr wrap="none" anchor="ctr"/>
          <a:lstStyle/>
          <a:p>
            <a:pPr>
              <a:defRPr/>
            </a:pPr>
            <a:endParaRPr kumimoji="1" lang="zh-CN" altLang="zh-CN"/>
          </a:p>
        </p:txBody>
      </p:sp>
      <p:sp>
        <p:nvSpPr>
          <p:cNvPr id="24584"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kumimoji="1" lang="zh-CN" altLang="zh-CN"/>
          </a:p>
        </p:txBody>
      </p:sp>
      <p:sp>
        <p:nvSpPr>
          <p:cNvPr id="3081" name="Rectangle 9"/>
          <p:cNvSpPr>
            <a:spLocks noGrp="1" noChangeArrowheads="1"/>
          </p:cNvSpPr>
          <p:nvPr>
            <p:ph type="title"/>
          </p:nvPr>
        </p:nvSpPr>
        <p:spPr bwMode="auto">
          <a:xfrm>
            <a:off x="1150938" y="214313"/>
            <a:ext cx="7793037" cy="14620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082" name="Rectangle 10"/>
          <p:cNvSpPr>
            <a:spLocks noGrp="1" noChangeArrowheads="1"/>
          </p:cNvSpPr>
          <p:nvPr>
            <p:ph type="body" idx="1"/>
          </p:nvPr>
        </p:nvSpPr>
        <p:spPr bwMode="auto">
          <a:xfrm>
            <a:off x="1042988" y="1773238"/>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4587"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400">
                <a:ea typeface="宋体" pitchFamily="2" charset="-122"/>
              </a:defRPr>
            </a:lvl1pPr>
          </a:lstStyle>
          <a:p>
            <a:pPr>
              <a:defRPr/>
            </a:pPr>
            <a:endParaRPr lang="en-US" altLang="zh-CN"/>
          </a:p>
        </p:txBody>
      </p:sp>
      <p:sp>
        <p:nvSpPr>
          <p:cNvPr id="24588" name="Rectangle 12"/>
          <p:cNvSpPr>
            <a:spLocks noGrp="1" noChangeArrowheads="1"/>
          </p:cNvSpPr>
          <p:nvPr>
            <p:ph type="ftr" sz="quarter" idx="3"/>
          </p:nvPr>
        </p:nvSpPr>
        <p:spPr bwMode="auto">
          <a:xfrm>
            <a:off x="6248400" y="623728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a typeface="宋体" pitchFamily="2" charset="-122"/>
              </a:defRPr>
            </a:lvl1pPr>
          </a:lstStyle>
          <a:p>
            <a:pPr>
              <a:defRPr/>
            </a:pPr>
            <a:r>
              <a:rPr lang="zh-CN" altLang="en-US"/>
              <a:t>课件制作人：谢希仁</a:t>
            </a:r>
          </a:p>
        </p:txBody>
      </p:sp>
      <p:sp>
        <p:nvSpPr>
          <p:cNvPr id="24589"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a typeface="宋体" pitchFamily="2" charset="-122"/>
              </a:defRPr>
            </a:lvl1pPr>
          </a:lstStyle>
          <a:p>
            <a:pPr>
              <a:defRPr/>
            </a:pPr>
            <a:fld id="{70752534-0E39-442B-A81B-026FE74D8D8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dt="0"/>
  <p:txStyles>
    <p:title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charset="0"/>
          <a:ea typeface="黑体" pitchFamily="2" charset="-122"/>
        </a:defRPr>
      </a:lvl2pPr>
      <a:lvl3pPr algn="l" rtl="0" eaLnBrk="0" fontAlgn="base" hangingPunct="0">
        <a:spcBef>
          <a:spcPct val="0"/>
        </a:spcBef>
        <a:spcAft>
          <a:spcPct val="0"/>
        </a:spcAft>
        <a:defRPr sz="4400">
          <a:solidFill>
            <a:srgbClr val="333399"/>
          </a:solidFill>
          <a:latin typeface="Arial" charset="0"/>
          <a:ea typeface="黑体" pitchFamily="2" charset="-122"/>
        </a:defRPr>
      </a:lvl3pPr>
      <a:lvl4pPr algn="l" rtl="0" eaLnBrk="0" fontAlgn="base" hangingPunct="0">
        <a:spcBef>
          <a:spcPct val="0"/>
        </a:spcBef>
        <a:spcAft>
          <a:spcPct val="0"/>
        </a:spcAft>
        <a:defRPr sz="4400">
          <a:solidFill>
            <a:srgbClr val="333399"/>
          </a:solidFill>
          <a:latin typeface="Arial" charset="0"/>
          <a:ea typeface="黑体" pitchFamily="2" charset="-122"/>
        </a:defRPr>
      </a:lvl4pPr>
      <a:lvl5pPr algn="l" rtl="0" eaLnBrk="0" fontAlgn="base" hangingPunct="0">
        <a:spcBef>
          <a:spcPct val="0"/>
        </a:spcBef>
        <a:spcAft>
          <a:spcPct val="0"/>
        </a:spcAft>
        <a:defRPr sz="4400">
          <a:solidFill>
            <a:srgbClr val="333399"/>
          </a:solidFill>
          <a:latin typeface="Arial" charset="0"/>
          <a:ea typeface="黑体" pitchFamily="2" charset="-122"/>
        </a:defRPr>
      </a:lvl5pPr>
      <a:lvl6pPr marL="457200" algn="l" rtl="0" fontAlgn="base">
        <a:spcBef>
          <a:spcPct val="0"/>
        </a:spcBef>
        <a:spcAft>
          <a:spcPct val="0"/>
        </a:spcAft>
        <a:defRPr sz="4400">
          <a:solidFill>
            <a:srgbClr val="333399"/>
          </a:solidFill>
          <a:latin typeface="Arial" charset="0"/>
          <a:ea typeface="黑体" pitchFamily="2" charset="-122"/>
        </a:defRPr>
      </a:lvl6pPr>
      <a:lvl7pPr marL="914400" algn="l" rtl="0" fontAlgn="base">
        <a:spcBef>
          <a:spcPct val="0"/>
        </a:spcBef>
        <a:spcAft>
          <a:spcPct val="0"/>
        </a:spcAft>
        <a:defRPr sz="4400">
          <a:solidFill>
            <a:srgbClr val="333399"/>
          </a:solidFill>
          <a:latin typeface="Arial" charset="0"/>
          <a:ea typeface="黑体" pitchFamily="2" charset="-122"/>
        </a:defRPr>
      </a:lvl7pPr>
      <a:lvl8pPr marL="1371600" algn="l" rtl="0" fontAlgn="base">
        <a:spcBef>
          <a:spcPct val="0"/>
        </a:spcBef>
        <a:spcAft>
          <a:spcPct val="0"/>
        </a:spcAft>
        <a:defRPr sz="4400">
          <a:solidFill>
            <a:srgbClr val="333399"/>
          </a:solidFill>
          <a:latin typeface="Arial" charset="0"/>
          <a:ea typeface="黑体" pitchFamily="2" charset="-122"/>
        </a:defRPr>
      </a:lvl8pPr>
      <a:lvl9pPr marL="1828800" algn="l" rtl="0" fontAlgn="base">
        <a:spcBef>
          <a:spcPct val="0"/>
        </a:spcBef>
        <a:spcAft>
          <a:spcPct val="0"/>
        </a:spcAft>
        <a:defRPr sz="4400">
          <a:solidFill>
            <a:srgbClr val="333399"/>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333399"/>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9.wmf"/><Relationship Id="rId4" Type="http://schemas.openxmlformats.org/officeDocument/2006/relationships/image" Target="../media/image8.wmf"/></Relationships>
</file>

<file path=ppt/slides/_rels/slide3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4.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00138" y="931863"/>
            <a:ext cx="6856412" cy="768350"/>
          </a:xfrm>
        </p:spPr>
        <p:txBody>
          <a:bodyPr/>
          <a:lstStyle/>
          <a:p>
            <a:pPr algn="ctr" eaLnBrk="1" hangingPunct="1"/>
            <a:r>
              <a:rPr lang="zh-CN" altLang="en-US" b="1" dirty="0" smtClean="0">
                <a:ea typeface="Arial Unicode MS" pitchFamily="34" charset="-122"/>
                <a:cs typeface="Arial Unicode MS" pitchFamily="34" charset="-122"/>
              </a:rPr>
              <a:t>第 </a:t>
            </a:r>
            <a:r>
              <a:rPr lang="en-US" altLang="zh-CN" b="1" dirty="0" smtClean="0">
                <a:ea typeface="Arial Unicode MS" pitchFamily="34" charset="-122"/>
                <a:cs typeface="Arial Unicode MS" pitchFamily="34" charset="-122"/>
              </a:rPr>
              <a:t>3</a:t>
            </a:r>
            <a:r>
              <a:rPr lang="zh-CN" altLang="en-US" b="1" dirty="0" smtClean="0">
                <a:ea typeface="Arial Unicode MS" pitchFamily="34" charset="-122"/>
                <a:cs typeface="Arial Unicode MS" pitchFamily="34" charset="-122"/>
              </a:rPr>
              <a:t>章  </a:t>
            </a:r>
            <a:r>
              <a:rPr lang="zh-CN" altLang="en-US" b="1" dirty="0" smtClean="0"/>
              <a:t>物理层</a:t>
            </a:r>
          </a:p>
        </p:txBody>
      </p:sp>
      <p:sp>
        <p:nvSpPr>
          <p:cNvPr id="5123" name="Rectangle 3"/>
          <p:cNvSpPr>
            <a:spLocks noGrp="1" noChangeArrowheads="1"/>
          </p:cNvSpPr>
          <p:nvPr>
            <p:ph type="body" idx="1"/>
          </p:nvPr>
        </p:nvSpPr>
        <p:spPr>
          <a:xfrm>
            <a:off x="827584" y="1772816"/>
            <a:ext cx="7772400" cy="4506912"/>
          </a:xfrm>
        </p:spPr>
        <p:txBody>
          <a:bodyPr/>
          <a:lstStyle/>
          <a:p>
            <a:pPr marL="514350" indent="-514350" eaLnBrk="1" hangingPunct="1">
              <a:lnSpc>
                <a:spcPct val="80000"/>
              </a:lnSpc>
              <a:buFont typeface="+mj-lt"/>
              <a:buAutoNum type="arabicPeriod"/>
            </a:pPr>
            <a:r>
              <a:rPr lang="zh-CN" altLang="en-US" sz="2800" dirty="0" smtClean="0"/>
              <a:t>物理层的基本概念</a:t>
            </a:r>
          </a:p>
          <a:p>
            <a:pPr marL="514350" indent="-514350" eaLnBrk="1" hangingPunct="1">
              <a:lnSpc>
                <a:spcPct val="80000"/>
              </a:lnSpc>
              <a:buFont typeface="+mj-lt"/>
              <a:buAutoNum type="arabicPeriod"/>
            </a:pPr>
            <a:r>
              <a:rPr lang="zh-CN" altLang="en-US" sz="2800" dirty="0" smtClean="0"/>
              <a:t>数据通信的基础知识</a:t>
            </a:r>
          </a:p>
          <a:p>
            <a:pPr marL="514350" indent="-514350" eaLnBrk="1" hangingPunct="1">
              <a:lnSpc>
                <a:spcPct val="80000"/>
              </a:lnSpc>
              <a:buFont typeface="+mj-lt"/>
              <a:buAutoNum type="arabicPeriod" startAt="3"/>
            </a:pPr>
            <a:r>
              <a:rPr lang="zh-CN" altLang="en-US" sz="2800" dirty="0" smtClean="0"/>
              <a:t>物理层下面的传输媒体</a:t>
            </a:r>
            <a:endParaRPr lang="en-US" altLang="zh-CN" sz="2800" dirty="0" smtClean="0"/>
          </a:p>
          <a:p>
            <a:pPr lvl="1" eaLnBrk="1" hangingPunct="1">
              <a:lnSpc>
                <a:spcPct val="80000"/>
              </a:lnSpc>
            </a:pPr>
            <a:r>
              <a:rPr lang="zh-CN" altLang="en-US" dirty="0" smtClean="0">
                <a:latin typeface="+mn-ea"/>
              </a:rPr>
              <a:t>导向传输媒体</a:t>
            </a:r>
          </a:p>
          <a:p>
            <a:pPr lvl="1" eaLnBrk="1" hangingPunct="1">
              <a:lnSpc>
                <a:spcPct val="80000"/>
              </a:lnSpc>
            </a:pPr>
            <a:r>
              <a:rPr lang="zh-CN" altLang="en-US" dirty="0" smtClean="0">
                <a:latin typeface="+mn-ea"/>
              </a:rPr>
              <a:t>非导向传输媒体</a:t>
            </a:r>
          </a:p>
          <a:p>
            <a:pPr marL="514350" indent="-514350" eaLnBrk="1" hangingPunct="1">
              <a:lnSpc>
                <a:spcPct val="80000"/>
              </a:lnSpc>
              <a:buFont typeface="+mj-lt"/>
              <a:buAutoNum type="arabicPeriod" startAt="3"/>
            </a:pPr>
            <a:r>
              <a:rPr lang="zh-CN" altLang="en-US" sz="2800" dirty="0" smtClean="0"/>
              <a:t>信道复用技术</a:t>
            </a:r>
            <a:endParaRPr lang="en-US" altLang="zh-CN" sz="2800" dirty="0" smtClean="0"/>
          </a:p>
          <a:p>
            <a:pPr marL="514350" indent="-514350" eaLnBrk="1" hangingPunct="1">
              <a:lnSpc>
                <a:spcPct val="80000"/>
              </a:lnSpc>
              <a:buFont typeface="+mj-lt"/>
              <a:buAutoNum type="arabicPeriod" startAt="3"/>
            </a:pPr>
            <a:r>
              <a:rPr lang="zh-CN" altLang="en-US" sz="2800" dirty="0" smtClean="0"/>
              <a:t>数字传输系统</a:t>
            </a:r>
            <a:endParaRPr lang="en-US" altLang="zh-CN" sz="2800" dirty="0" smtClean="0"/>
          </a:p>
          <a:p>
            <a:pPr marL="514350" indent="-514350" eaLnBrk="1" hangingPunct="1">
              <a:lnSpc>
                <a:spcPct val="80000"/>
              </a:lnSpc>
              <a:buFont typeface="+mj-lt"/>
              <a:buAutoNum type="arabicPeriod" startAt="3"/>
            </a:pPr>
            <a:r>
              <a:rPr lang="zh-CN" altLang="en-US" sz="2800" dirty="0" smtClean="0"/>
              <a:t>宽带接入技术</a:t>
            </a:r>
            <a:endParaRPr lang="en-US" altLang="zh-CN" sz="2800" dirty="0" smtClean="0"/>
          </a:p>
          <a:p>
            <a:pPr marL="514350" indent="-514350" eaLnBrk="1" hangingPunct="1">
              <a:lnSpc>
                <a:spcPct val="80000"/>
              </a:lnSpc>
              <a:buFont typeface="+mj-lt"/>
              <a:buAutoNum type="arabicPeriod" startAt="3"/>
            </a:pPr>
            <a:r>
              <a:rPr lang="zh-CN" altLang="en-US" sz="2800" dirty="0" smtClean="0"/>
              <a:t>物理层标准举例</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100138" y="931863"/>
            <a:ext cx="6856412" cy="768350"/>
          </a:xfrm>
        </p:spPr>
        <p:txBody>
          <a:bodyPr/>
          <a:lstStyle/>
          <a:p>
            <a:pPr algn="ctr" eaLnBrk="1" hangingPunct="1"/>
            <a:r>
              <a:rPr lang="en-US" altLang="zh-CN" dirty="0" smtClean="0">
                <a:ea typeface="Arial Unicode MS" pitchFamily="34" charset="-122"/>
                <a:cs typeface="Arial Unicode MS" pitchFamily="34" charset="-122"/>
              </a:rPr>
              <a:t>1.  </a:t>
            </a:r>
            <a:r>
              <a:rPr lang="zh-CN" altLang="en-US" dirty="0" smtClean="0"/>
              <a:t>物理层的基本概念</a:t>
            </a:r>
          </a:p>
        </p:txBody>
      </p:sp>
      <p:sp>
        <p:nvSpPr>
          <p:cNvPr id="7171" name="Rectangle 3"/>
          <p:cNvSpPr>
            <a:spLocks noGrp="1" noChangeArrowheads="1"/>
          </p:cNvSpPr>
          <p:nvPr>
            <p:ph type="body" idx="1"/>
          </p:nvPr>
        </p:nvSpPr>
        <p:spPr>
          <a:xfrm>
            <a:off x="755650" y="1844675"/>
            <a:ext cx="7848600" cy="4752975"/>
          </a:xfrm>
        </p:spPr>
        <p:txBody>
          <a:bodyPr/>
          <a:lstStyle/>
          <a:p>
            <a:pPr eaLnBrk="1" hangingPunct="1">
              <a:buFont typeface="Wingdings" pitchFamily="2" charset="2"/>
              <a:buNone/>
            </a:pPr>
            <a:r>
              <a:rPr lang="en-US" altLang="zh-CN" sz="2800" smtClean="0"/>
              <a:t>   </a:t>
            </a:r>
            <a:r>
              <a:rPr lang="zh-CN" altLang="en-US" sz="2800" smtClean="0"/>
              <a:t>物理层的主要任务描述为确定与传输媒体的接口的一些特性，即： </a:t>
            </a:r>
          </a:p>
          <a:p>
            <a:pPr eaLnBrk="1" hangingPunct="1"/>
            <a:r>
              <a:rPr lang="zh-CN" altLang="en-US" sz="2800" smtClean="0">
                <a:solidFill>
                  <a:schemeClr val="hlink"/>
                </a:solidFill>
              </a:rPr>
              <a:t>机械特性</a:t>
            </a:r>
            <a:r>
              <a:rPr lang="zh-CN" altLang="en-US" sz="2800" smtClean="0"/>
              <a:t>    指明接口所用接线器的形状和尺寸、引线数目和排列、固定和锁定装置等等。</a:t>
            </a:r>
          </a:p>
          <a:p>
            <a:pPr eaLnBrk="1" hangingPunct="1"/>
            <a:r>
              <a:rPr lang="zh-CN" altLang="en-US" sz="2800" smtClean="0">
                <a:solidFill>
                  <a:schemeClr val="hlink"/>
                </a:solidFill>
              </a:rPr>
              <a:t>电气特性</a:t>
            </a:r>
            <a:r>
              <a:rPr lang="zh-CN" altLang="en-US" sz="2800" smtClean="0"/>
              <a:t>    指明在接口电缆的各条线上出现的电压的范围。</a:t>
            </a:r>
          </a:p>
          <a:p>
            <a:pPr eaLnBrk="1" hangingPunct="1"/>
            <a:r>
              <a:rPr lang="zh-CN" altLang="en-US" sz="2800" smtClean="0">
                <a:solidFill>
                  <a:schemeClr val="hlink"/>
                </a:solidFill>
              </a:rPr>
              <a:t>功能特性</a:t>
            </a:r>
            <a:r>
              <a:rPr lang="zh-CN" altLang="en-US" sz="2800" smtClean="0"/>
              <a:t>    指明某条线上出现的某一电平的电压表示何种意义。</a:t>
            </a:r>
          </a:p>
          <a:p>
            <a:pPr eaLnBrk="1" hangingPunct="1"/>
            <a:r>
              <a:rPr lang="zh-CN" altLang="en-US" sz="2800" smtClean="0">
                <a:solidFill>
                  <a:schemeClr val="hlink"/>
                </a:solidFill>
              </a:rPr>
              <a:t>过程特性</a:t>
            </a:r>
            <a:r>
              <a:rPr lang="zh-CN" altLang="en-US" sz="2800" smtClean="0"/>
              <a:t>    指明对于不同功能的各种可能事件的出现顺序。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150938" y="692696"/>
            <a:ext cx="7793037" cy="983704"/>
          </a:xfrm>
        </p:spPr>
        <p:txBody>
          <a:bodyPr/>
          <a:lstStyle/>
          <a:p>
            <a:pPr algn="ctr" eaLnBrk="1" hangingPunct="1"/>
            <a:r>
              <a:rPr lang="en-US" altLang="zh-CN" dirty="0" smtClean="0"/>
              <a:t>2.  </a:t>
            </a:r>
            <a:r>
              <a:rPr lang="zh-CN" altLang="en-US" dirty="0" smtClean="0"/>
              <a:t>数据通信的基础知识</a:t>
            </a:r>
          </a:p>
        </p:txBody>
      </p:sp>
      <p:grpSp>
        <p:nvGrpSpPr>
          <p:cNvPr id="2" name="Group 107"/>
          <p:cNvGrpSpPr>
            <a:grpSpLocks/>
          </p:cNvGrpSpPr>
          <p:nvPr/>
        </p:nvGrpSpPr>
        <p:grpSpPr bwMode="auto">
          <a:xfrm>
            <a:off x="3910013" y="4652963"/>
            <a:ext cx="1025525" cy="727075"/>
            <a:chOff x="2463" y="2931"/>
            <a:chExt cx="646" cy="458"/>
          </a:xfrm>
        </p:grpSpPr>
        <p:sp>
          <p:nvSpPr>
            <p:cNvPr id="8289" name="AutoShape 13"/>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p:spPr>
          <p:txBody>
            <a:bodyPr wrap="none" anchor="ctr"/>
            <a:lstStyle/>
            <a:p>
              <a:endParaRPr lang="zh-CN" altLang="en-US"/>
            </a:p>
          </p:txBody>
        </p:sp>
        <p:sp>
          <p:nvSpPr>
            <p:cNvPr id="8290" name="Rectangle 16"/>
            <p:cNvSpPr>
              <a:spLocks noChangeArrowheads="1"/>
            </p:cNvSpPr>
            <p:nvPr/>
          </p:nvSpPr>
          <p:spPr bwMode="auto">
            <a:xfrm>
              <a:off x="2546" y="2985"/>
              <a:ext cx="508" cy="402"/>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传输</a:t>
              </a:r>
            </a:p>
            <a:p>
              <a:pPr algn="l" defTabSz="762000" eaLnBrk="0" hangingPunct="0"/>
              <a:r>
                <a:rPr kumimoji="1" lang="zh-CN" altLang="en-US" sz="1800">
                  <a:solidFill>
                    <a:srgbClr val="333399"/>
                  </a:solidFill>
                  <a:latin typeface="Times New Roman" pitchFamily="18" charset="0"/>
                  <a:ea typeface="黑体" pitchFamily="49" charset="-122"/>
                </a:rPr>
                <a:t>系统</a:t>
              </a:r>
            </a:p>
          </p:txBody>
        </p:sp>
      </p:grpSp>
      <p:grpSp>
        <p:nvGrpSpPr>
          <p:cNvPr id="3" name="Group 102"/>
          <p:cNvGrpSpPr>
            <a:grpSpLocks/>
          </p:cNvGrpSpPr>
          <p:nvPr/>
        </p:nvGrpSpPr>
        <p:grpSpPr bwMode="auto">
          <a:xfrm>
            <a:off x="109538" y="5016500"/>
            <a:ext cx="566737" cy="1233488"/>
            <a:chOff x="69" y="3160"/>
            <a:chExt cx="357" cy="777"/>
          </a:xfrm>
        </p:grpSpPr>
        <p:sp>
          <p:nvSpPr>
            <p:cNvPr id="8287" name="Rectangle 5"/>
            <p:cNvSpPr>
              <a:spLocks noChangeArrowheads="1"/>
            </p:cNvSpPr>
            <p:nvPr/>
          </p:nvSpPr>
          <p:spPr bwMode="auto">
            <a:xfrm>
              <a:off x="69" y="3189"/>
              <a:ext cx="357" cy="748"/>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输入信息</a:t>
              </a:r>
            </a:p>
          </p:txBody>
        </p:sp>
        <p:sp>
          <p:nvSpPr>
            <p:cNvPr id="8288" name="Line 17"/>
            <p:cNvSpPr>
              <a:spLocks noChangeShapeType="1"/>
            </p:cNvSpPr>
            <p:nvPr/>
          </p:nvSpPr>
          <p:spPr bwMode="auto">
            <a:xfrm>
              <a:off x="94" y="3160"/>
              <a:ext cx="313" cy="0"/>
            </a:xfrm>
            <a:prstGeom prst="line">
              <a:avLst/>
            </a:prstGeom>
            <a:noFill/>
            <a:ln w="38100">
              <a:solidFill>
                <a:srgbClr val="333399"/>
              </a:solidFill>
              <a:round/>
              <a:headEnd/>
              <a:tailEnd type="triangle" w="med" len="lg"/>
            </a:ln>
          </p:spPr>
          <p:txBody>
            <a:bodyPr/>
            <a:lstStyle/>
            <a:p>
              <a:endParaRPr lang="zh-CN" altLang="en-US"/>
            </a:p>
          </p:txBody>
        </p:sp>
      </p:grpSp>
      <p:grpSp>
        <p:nvGrpSpPr>
          <p:cNvPr id="4" name="Group 104"/>
          <p:cNvGrpSpPr>
            <a:grpSpLocks/>
          </p:cNvGrpSpPr>
          <p:nvPr/>
        </p:nvGrpSpPr>
        <p:grpSpPr bwMode="auto">
          <a:xfrm>
            <a:off x="1444625" y="5016500"/>
            <a:ext cx="627063" cy="1189038"/>
            <a:chOff x="910" y="3160"/>
            <a:chExt cx="395" cy="749"/>
          </a:xfrm>
        </p:grpSpPr>
        <p:sp>
          <p:nvSpPr>
            <p:cNvPr id="8285" name="Rectangle 7"/>
            <p:cNvSpPr>
              <a:spLocks noChangeArrowheads="1"/>
            </p:cNvSpPr>
            <p:nvPr/>
          </p:nvSpPr>
          <p:spPr bwMode="auto">
            <a:xfrm>
              <a:off x="948" y="3161"/>
              <a:ext cx="357" cy="748"/>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输入数据</a:t>
              </a:r>
            </a:p>
          </p:txBody>
        </p:sp>
        <p:sp>
          <p:nvSpPr>
            <p:cNvPr id="8286" name="Line 18"/>
            <p:cNvSpPr>
              <a:spLocks noChangeShapeType="1"/>
            </p:cNvSpPr>
            <p:nvPr/>
          </p:nvSpPr>
          <p:spPr bwMode="auto">
            <a:xfrm>
              <a:off x="910" y="3160"/>
              <a:ext cx="346" cy="0"/>
            </a:xfrm>
            <a:prstGeom prst="line">
              <a:avLst/>
            </a:prstGeom>
            <a:noFill/>
            <a:ln w="38100">
              <a:solidFill>
                <a:srgbClr val="333399"/>
              </a:solidFill>
              <a:round/>
              <a:headEnd/>
              <a:tailEnd type="triangle" w="med" len="lg"/>
            </a:ln>
          </p:spPr>
          <p:txBody>
            <a:bodyPr/>
            <a:lstStyle/>
            <a:p>
              <a:endParaRPr lang="zh-CN" altLang="en-US"/>
            </a:p>
          </p:txBody>
        </p:sp>
      </p:grpSp>
      <p:grpSp>
        <p:nvGrpSpPr>
          <p:cNvPr id="5" name="Group 106"/>
          <p:cNvGrpSpPr>
            <a:grpSpLocks/>
          </p:cNvGrpSpPr>
          <p:nvPr/>
        </p:nvGrpSpPr>
        <p:grpSpPr bwMode="auto">
          <a:xfrm>
            <a:off x="2824163" y="5010150"/>
            <a:ext cx="1177925" cy="712788"/>
            <a:chOff x="1779" y="3156"/>
            <a:chExt cx="742" cy="449"/>
          </a:xfrm>
        </p:grpSpPr>
        <p:sp>
          <p:nvSpPr>
            <p:cNvPr id="8283" name="Rectangle 9"/>
            <p:cNvSpPr>
              <a:spLocks noChangeArrowheads="1"/>
            </p:cNvSpPr>
            <p:nvPr/>
          </p:nvSpPr>
          <p:spPr bwMode="auto">
            <a:xfrm>
              <a:off x="1791" y="3203"/>
              <a:ext cx="730" cy="402"/>
            </a:xfrm>
            <a:prstGeom prst="rect">
              <a:avLst/>
            </a:prstGeom>
            <a:noFill/>
            <a:ln w="12700">
              <a:noFill/>
              <a:miter lim="800000"/>
              <a:headEnd/>
              <a:tailEnd/>
            </a:ln>
          </p:spPr>
          <p:txBody>
            <a:bodyPr lIns="90488" tIns="44450" rIns="90488" bIns="44450">
              <a:spAutoFit/>
            </a:bodyPr>
            <a:lstStyle/>
            <a:p>
              <a:pPr defTabSz="762000" eaLnBrk="0" hangingPunct="0"/>
              <a:r>
                <a:rPr kumimoji="1" lang="zh-CN" altLang="en-US" sz="1800">
                  <a:solidFill>
                    <a:srgbClr val="333399"/>
                  </a:solidFill>
                  <a:latin typeface="Times New Roman" pitchFamily="18" charset="0"/>
                  <a:ea typeface="黑体" pitchFamily="49" charset="-122"/>
                </a:rPr>
                <a:t>发送</a:t>
              </a:r>
            </a:p>
            <a:p>
              <a:pPr defTabSz="762000" eaLnBrk="0" hangingPunct="0"/>
              <a:r>
                <a:rPr kumimoji="1" lang="zh-CN" altLang="en-US" sz="1800">
                  <a:solidFill>
                    <a:srgbClr val="333399"/>
                  </a:solidFill>
                  <a:latin typeface="Times New Roman" pitchFamily="18" charset="0"/>
                  <a:ea typeface="黑体" pitchFamily="49" charset="-122"/>
                </a:rPr>
                <a:t>的信号</a:t>
              </a:r>
            </a:p>
          </p:txBody>
        </p:sp>
        <p:sp>
          <p:nvSpPr>
            <p:cNvPr id="8284" name="Line 19"/>
            <p:cNvSpPr>
              <a:spLocks noChangeShapeType="1"/>
            </p:cNvSpPr>
            <p:nvPr/>
          </p:nvSpPr>
          <p:spPr bwMode="auto">
            <a:xfrm>
              <a:off x="1779" y="3156"/>
              <a:ext cx="684" cy="4"/>
            </a:xfrm>
            <a:prstGeom prst="line">
              <a:avLst/>
            </a:prstGeom>
            <a:noFill/>
            <a:ln w="38100">
              <a:solidFill>
                <a:srgbClr val="333399"/>
              </a:solidFill>
              <a:round/>
              <a:headEnd/>
              <a:tailEnd type="triangle" w="med" len="lg"/>
            </a:ln>
          </p:spPr>
          <p:txBody>
            <a:bodyPr/>
            <a:lstStyle/>
            <a:p>
              <a:endParaRPr lang="zh-CN" altLang="en-US"/>
            </a:p>
          </p:txBody>
        </p:sp>
      </p:grpSp>
      <p:grpSp>
        <p:nvGrpSpPr>
          <p:cNvPr id="6" name="Group 108"/>
          <p:cNvGrpSpPr>
            <a:grpSpLocks/>
          </p:cNvGrpSpPr>
          <p:nvPr/>
        </p:nvGrpSpPr>
        <p:grpSpPr bwMode="auto">
          <a:xfrm>
            <a:off x="4906963" y="5016500"/>
            <a:ext cx="1157287" cy="673100"/>
            <a:chOff x="3091" y="3160"/>
            <a:chExt cx="729" cy="424"/>
          </a:xfrm>
        </p:grpSpPr>
        <p:sp>
          <p:nvSpPr>
            <p:cNvPr id="8281" name="Rectangle 10"/>
            <p:cNvSpPr>
              <a:spLocks noChangeArrowheads="1"/>
            </p:cNvSpPr>
            <p:nvPr/>
          </p:nvSpPr>
          <p:spPr bwMode="auto">
            <a:xfrm>
              <a:off x="3111" y="3182"/>
              <a:ext cx="709" cy="402"/>
            </a:xfrm>
            <a:prstGeom prst="rect">
              <a:avLst/>
            </a:prstGeom>
            <a:noFill/>
            <a:ln w="12700">
              <a:noFill/>
              <a:miter lim="800000"/>
              <a:headEnd/>
              <a:tailEnd/>
            </a:ln>
          </p:spPr>
          <p:txBody>
            <a:bodyPr lIns="90488" tIns="44450" rIns="90488" bIns="44450">
              <a:spAutoFit/>
            </a:bodyPr>
            <a:lstStyle/>
            <a:p>
              <a:pPr defTabSz="762000" eaLnBrk="0" hangingPunct="0"/>
              <a:r>
                <a:rPr kumimoji="1" lang="zh-CN" altLang="en-US" sz="1800">
                  <a:solidFill>
                    <a:srgbClr val="333399"/>
                  </a:solidFill>
                  <a:latin typeface="Times New Roman" pitchFamily="18" charset="0"/>
                  <a:ea typeface="黑体" pitchFamily="49" charset="-122"/>
                </a:rPr>
                <a:t>接收</a:t>
              </a:r>
            </a:p>
            <a:p>
              <a:pPr defTabSz="762000" eaLnBrk="0" hangingPunct="0"/>
              <a:r>
                <a:rPr kumimoji="1" lang="zh-CN" altLang="en-US" sz="1800">
                  <a:solidFill>
                    <a:srgbClr val="333399"/>
                  </a:solidFill>
                  <a:latin typeface="Times New Roman" pitchFamily="18" charset="0"/>
                  <a:ea typeface="黑体" pitchFamily="49" charset="-122"/>
                </a:rPr>
                <a:t>的信号</a:t>
              </a:r>
            </a:p>
          </p:txBody>
        </p:sp>
        <p:sp>
          <p:nvSpPr>
            <p:cNvPr id="8282"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p:spPr>
          <p:txBody>
            <a:bodyPr/>
            <a:lstStyle/>
            <a:p>
              <a:endParaRPr lang="zh-CN" altLang="en-US"/>
            </a:p>
          </p:txBody>
        </p:sp>
      </p:grpSp>
      <p:grpSp>
        <p:nvGrpSpPr>
          <p:cNvPr id="7" name="Group 110"/>
          <p:cNvGrpSpPr>
            <a:grpSpLocks/>
          </p:cNvGrpSpPr>
          <p:nvPr/>
        </p:nvGrpSpPr>
        <p:grpSpPr bwMode="auto">
          <a:xfrm>
            <a:off x="6854825" y="5016500"/>
            <a:ext cx="592138" cy="1262063"/>
            <a:chOff x="4318" y="3160"/>
            <a:chExt cx="373" cy="795"/>
          </a:xfrm>
        </p:grpSpPr>
        <p:sp>
          <p:nvSpPr>
            <p:cNvPr id="8279" name="Rectangle 8"/>
            <p:cNvSpPr>
              <a:spLocks noChangeArrowheads="1"/>
            </p:cNvSpPr>
            <p:nvPr/>
          </p:nvSpPr>
          <p:spPr bwMode="auto">
            <a:xfrm>
              <a:off x="4334" y="3207"/>
              <a:ext cx="357" cy="748"/>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输出数据</a:t>
              </a:r>
            </a:p>
          </p:txBody>
        </p:sp>
        <p:sp>
          <p:nvSpPr>
            <p:cNvPr id="8280" name="Line 21"/>
            <p:cNvSpPr>
              <a:spLocks noChangeShapeType="1"/>
            </p:cNvSpPr>
            <p:nvPr/>
          </p:nvSpPr>
          <p:spPr bwMode="auto">
            <a:xfrm>
              <a:off x="4318" y="3160"/>
              <a:ext cx="336" cy="0"/>
            </a:xfrm>
            <a:prstGeom prst="line">
              <a:avLst/>
            </a:prstGeom>
            <a:noFill/>
            <a:ln w="38100">
              <a:solidFill>
                <a:srgbClr val="333399"/>
              </a:solidFill>
              <a:round/>
              <a:headEnd/>
              <a:tailEnd type="triangle" w="med" len="lg"/>
            </a:ln>
          </p:spPr>
          <p:txBody>
            <a:bodyPr/>
            <a:lstStyle/>
            <a:p>
              <a:endParaRPr lang="zh-CN" altLang="en-US"/>
            </a:p>
          </p:txBody>
        </p:sp>
      </p:grpSp>
      <p:grpSp>
        <p:nvGrpSpPr>
          <p:cNvPr id="8" name="Group 103"/>
          <p:cNvGrpSpPr>
            <a:grpSpLocks/>
          </p:cNvGrpSpPr>
          <p:nvPr/>
        </p:nvGrpSpPr>
        <p:grpSpPr bwMode="auto">
          <a:xfrm>
            <a:off x="646113" y="4652963"/>
            <a:ext cx="850900" cy="727075"/>
            <a:chOff x="407" y="2931"/>
            <a:chExt cx="536" cy="458"/>
          </a:xfrm>
        </p:grpSpPr>
        <p:sp>
          <p:nvSpPr>
            <p:cNvPr id="8277" name="AutoShape 11"/>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p:spPr>
          <p:txBody>
            <a:bodyPr wrap="none" anchor="ctr"/>
            <a:lstStyle/>
            <a:p>
              <a:endParaRPr lang="zh-CN" altLang="en-US"/>
            </a:p>
          </p:txBody>
        </p:sp>
        <p:sp>
          <p:nvSpPr>
            <p:cNvPr id="8278" name="Rectangle 22"/>
            <p:cNvSpPr>
              <a:spLocks noChangeArrowheads="1"/>
            </p:cNvSpPr>
            <p:nvPr/>
          </p:nvSpPr>
          <p:spPr bwMode="auto">
            <a:xfrm>
              <a:off x="449" y="3059"/>
              <a:ext cx="447" cy="229"/>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源点</a:t>
              </a:r>
            </a:p>
          </p:txBody>
        </p:sp>
      </p:grpSp>
      <p:grpSp>
        <p:nvGrpSpPr>
          <p:cNvPr id="9" name="Group 111"/>
          <p:cNvGrpSpPr>
            <a:grpSpLocks/>
          </p:cNvGrpSpPr>
          <p:nvPr/>
        </p:nvGrpSpPr>
        <p:grpSpPr bwMode="auto">
          <a:xfrm>
            <a:off x="7388225" y="4652963"/>
            <a:ext cx="850900" cy="727075"/>
            <a:chOff x="4654" y="2931"/>
            <a:chExt cx="536" cy="458"/>
          </a:xfrm>
        </p:grpSpPr>
        <p:sp>
          <p:nvSpPr>
            <p:cNvPr id="8275" name="AutoShape 15"/>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p:spPr>
          <p:txBody>
            <a:bodyPr wrap="none" anchor="ctr"/>
            <a:lstStyle/>
            <a:p>
              <a:endParaRPr lang="zh-CN" altLang="en-US"/>
            </a:p>
          </p:txBody>
        </p:sp>
        <p:sp>
          <p:nvSpPr>
            <p:cNvPr id="8276" name="Rectangle 23"/>
            <p:cNvSpPr>
              <a:spLocks noChangeArrowheads="1"/>
            </p:cNvSpPr>
            <p:nvPr/>
          </p:nvSpPr>
          <p:spPr bwMode="auto">
            <a:xfrm>
              <a:off x="4699" y="3068"/>
              <a:ext cx="446" cy="229"/>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终点</a:t>
              </a:r>
            </a:p>
          </p:txBody>
        </p:sp>
      </p:grpSp>
      <p:grpSp>
        <p:nvGrpSpPr>
          <p:cNvPr id="10" name="Group 105"/>
          <p:cNvGrpSpPr>
            <a:grpSpLocks/>
          </p:cNvGrpSpPr>
          <p:nvPr/>
        </p:nvGrpSpPr>
        <p:grpSpPr bwMode="auto">
          <a:xfrm>
            <a:off x="1949450" y="4652963"/>
            <a:ext cx="922338" cy="727075"/>
            <a:chOff x="1228" y="2931"/>
            <a:chExt cx="581" cy="458"/>
          </a:xfrm>
        </p:grpSpPr>
        <p:sp>
          <p:nvSpPr>
            <p:cNvPr id="8273" name="AutoShape 12"/>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p:spPr>
          <p:txBody>
            <a:bodyPr wrap="none" anchor="ctr"/>
            <a:lstStyle/>
            <a:p>
              <a:endParaRPr lang="zh-CN" altLang="en-US"/>
            </a:p>
          </p:txBody>
        </p:sp>
        <p:sp>
          <p:nvSpPr>
            <p:cNvPr id="8274" name="Rectangle 24"/>
            <p:cNvSpPr>
              <a:spLocks noChangeArrowheads="1"/>
            </p:cNvSpPr>
            <p:nvPr/>
          </p:nvSpPr>
          <p:spPr bwMode="auto">
            <a:xfrm>
              <a:off x="1228" y="3068"/>
              <a:ext cx="581" cy="229"/>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发送器</a:t>
              </a:r>
            </a:p>
          </p:txBody>
        </p:sp>
      </p:grpSp>
      <p:grpSp>
        <p:nvGrpSpPr>
          <p:cNvPr id="11" name="Group 109"/>
          <p:cNvGrpSpPr>
            <a:grpSpLocks/>
          </p:cNvGrpSpPr>
          <p:nvPr/>
        </p:nvGrpSpPr>
        <p:grpSpPr bwMode="auto">
          <a:xfrm>
            <a:off x="5997575" y="4652963"/>
            <a:ext cx="922338" cy="727075"/>
            <a:chOff x="3778" y="2931"/>
            <a:chExt cx="581" cy="458"/>
          </a:xfrm>
        </p:grpSpPr>
        <p:sp>
          <p:nvSpPr>
            <p:cNvPr id="8271" name="AutoShape 14"/>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p:spPr>
          <p:txBody>
            <a:bodyPr wrap="none" anchor="ctr"/>
            <a:lstStyle/>
            <a:p>
              <a:endParaRPr lang="zh-CN" altLang="en-US"/>
            </a:p>
          </p:txBody>
        </p:sp>
        <p:sp>
          <p:nvSpPr>
            <p:cNvPr id="8272" name="Rectangle 25"/>
            <p:cNvSpPr>
              <a:spLocks noChangeArrowheads="1"/>
            </p:cNvSpPr>
            <p:nvPr/>
          </p:nvSpPr>
          <p:spPr bwMode="auto">
            <a:xfrm>
              <a:off x="3778" y="3059"/>
              <a:ext cx="581" cy="229"/>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接收器</a:t>
              </a:r>
            </a:p>
          </p:txBody>
        </p:sp>
      </p:grpSp>
      <p:sp>
        <p:nvSpPr>
          <p:cNvPr id="8205" name="Line 26"/>
          <p:cNvSpPr>
            <a:spLocks noChangeShapeType="1"/>
          </p:cNvSpPr>
          <p:nvPr/>
        </p:nvSpPr>
        <p:spPr bwMode="auto">
          <a:xfrm>
            <a:off x="2560638" y="3240088"/>
            <a:ext cx="3479800" cy="0"/>
          </a:xfrm>
          <a:prstGeom prst="line">
            <a:avLst/>
          </a:prstGeom>
          <a:noFill/>
          <a:ln w="28575">
            <a:solidFill>
              <a:srgbClr val="333399"/>
            </a:solidFill>
            <a:round/>
            <a:headEnd/>
            <a:tailEnd/>
          </a:ln>
        </p:spPr>
        <p:txBody>
          <a:bodyPr wrap="none" anchor="ctr"/>
          <a:lstStyle/>
          <a:p>
            <a:endParaRPr lang="zh-CN" altLang="en-US"/>
          </a:p>
        </p:txBody>
      </p:sp>
      <p:sp>
        <p:nvSpPr>
          <p:cNvPr id="8206" name="Line 27"/>
          <p:cNvSpPr>
            <a:spLocks noChangeShapeType="1"/>
          </p:cNvSpPr>
          <p:nvPr/>
        </p:nvSpPr>
        <p:spPr bwMode="auto">
          <a:xfrm>
            <a:off x="1355725" y="3240088"/>
            <a:ext cx="847725" cy="3175"/>
          </a:xfrm>
          <a:prstGeom prst="line">
            <a:avLst/>
          </a:prstGeom>
          <a:noFill/>
          <a:ln w="76200" cmpd="tri">
            <a:solidFill>
              <a:srgbClr val="333399"/>
            </a:solidFill>
            <a:round/>
            <a:headEnd/>
            <a:tailEnd/>
          </a:ln>
        </p:spPr>
        <p:txBody>
          <a:bodyPr wrap="none" anchor="ctr"/>
          <a:lstStyle/>
          <a:p>
            <a:endParaRPr lang="zh-CN" altLang="en-US"/>
          </a:p>
        </p:txBody>
      </p:sp>
      <p:sp>
        <p:nvSpPr>
          <p:cNvPr id="8207" name="Rectangle 28"/>
          <p:cNvSpPr>
            <a:spLocks noChangeArrowheads="1"/>
          </p:cNvSpPr>
          <p:nvPr/>
        </p:nvSpPr>
        <p:spPr bwMode="auto">
          <a:xfrm>
            <a:off x="1692275" y="3457575"/>
            <a:ext cx="1354138" cy="363538"/>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调制解调器</a:t>
            </a:r>
          </a:p>
        </p:txBody>
      </p:sp>
      <p:sp>
        <p:nvSpPr>
          <p:cNvPr id="8208" name="Line 29"/>
          <p:cNvSpPr>
            <a:spLocks noChangeShapeType="1"/>
          </p:cNvSpPr>
          <p:nvPr/>
        </p:nvSpPr>
        <p:spPr bwMode="auto">
          <a:xfrm>
            <a:off x="6607175" y="3240088"/>
            <a:ext cx="922338" cy="0"/>
          </a:xfrm>
          <a:prstGeom prst="line">
            <a:avLst/>
          </a:prstGeom>
          <a:noFill/>
          <a:ln w="76200" cmpd="tri">
            <a:solidFill>
              <a:srgbClr val="333399"/>
            </a:solidFill>
            <a:round/>
            <a:headEnd/>
            <a:tailEnd/>
          </a:ln>
        </p:spPr>
        <p:txBody>
          <a:bodyPr wrap="none" anchor="ctr"/>
          <a:lstStyle/>
          <a:p>
            <a:endParaRPr lang="zh-CN" altLang="en-US"/>
          </a:p>
        </p:txBody>
      </p:sp>
      <p:grpSp>
        <p:nvGrpSpPr>
          <p:cNvPr id="8209" name="Group 80"/>
          <p:cNvGrpSpPr>
            <a:grpSpLocks/>
          </p:cNvGrpSpPr>
          <p:nvPr/>
        </p:nvGrpSpPr>
        <p:grpSpPr bwMode="auto">
          <a:xfrm>
            <a:off x="3635375" y="2708275"/>
            <a:ext cx="1582738" cy="1009650"/>
            <a:chOff x="385" y="2795"/>
            <a:chExt cx="1769" cy="816"/>
          </a:xfrm>
        </p:grpSpPr>
        <p:sp>
          <p:nvSpPr>
            <p:cNvPr id="27729" name="Oval 81"/>
            <p:cNvSpPr>
              <a:spLocks noChangeArrowheads="1"/>
            </p:cNvSpPr>
            <p:nvPr/>
          </p:nvSpPr>
          <p:spPr bwMode="auto">
            <a:xfrm>
              <a:off x="1590" y="3061"/>
              <a:ext cx="554" cy="249"/>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0" name="Oval 82"/>
            <p:cNvSpPr>
              <a:spLocks noChangeArrowheads="1"/>
            </p:cNvSpPr>
            <p:nvPr/>
          </p:nvSpPr>
          <p:spPr bwMode="auto">
            <a:xfrm>
              <a:off x="928" y="3274"/>
              <a:ext cx="884" cy="337"/>
            </a:xfrm>
            <a:prstGeom prst="ellipse">
              <a:avLst/>
            </a:prstGeom>
            <a:solidFill>
              <a:srgbClr val="DDDDDD"/>
            </a:solidFill>
            <a:ln w="9525">
              <a:noFill/>
              <a:round/>
              <a:headEnd/>
              <a:tailEnd/>
            </a:ln>
            <a:effectLst>
              <a:outerShdw dist="35921" dir="2700000" algn="ctr" rotWithShape="0">
                <a:schemeClr val="tx1"/>
              </a:outerShdw>
            </a:effectLst>
          </p:spPr>
          <p:txBody>
            <a:bodyPr/>
            <a:lstStyle/>
            <a:p>
              <a:pPr>
                <a:defRPr/>
              </a:pPr>
              <a:endParaRPr lang="zh-CN" altLang="en-US"/>
            </a:p>
          </p:txBody>
        </p:sp>
        <p:sp>
          <p:nvSpPr>
            <p:cNvPr id="27731" name="Oval 83"/>
            <p:cNvSpPr>
              <a:spLocks noChangeArrowheads="1"/>
            </p:cNvSpPr>
            <p:nvPr/>
          </p:nvSpPr>
          <p:spPr bwMode="auto">
            <a:xfrm>
              <a:off x="502" y="3204"/>
              <a:ext cx="586" cy="281"/>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2" name="Oval 84"/>
            <p:cNvSpPr>
              <a:spLocks noChangeArrowheads="1"/>
            </p:cNvSpPr>
            <p:nvPr/>
          </p:nvSpPr>
          <p:spPr bwMode="auto">
            <a:xfrm>
              <a:off x="385" y="3084"/>
              <a:ext cx="383" cy="258"/>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3" name="Oval 85"/>
            <p:cNvSpPr>
              <a:spLocks noChangeArrowheads="1"/>
            </p:cNvSpPr>
            <p:nvPr/>
          </p:nvSpPr>
          <p:spPr bwMode="auto">
            <a:xfrm>
              <a:off x="566" y="2884"/>
              <a:ext cx="577" cy="322"/>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4" name="Oval 86"/>
            <p:cNvSpPr>
              <a:spLocks noChangeArrowheads="1"/>
            </p:cNvSpPr>
            <p:nvPr/>
          </p:nvSpPr>
          <p:spPr bwMode="auto">
            <a:xfrm>
              <a:off x="992" y="2795"/>
              <a:ext cx="758" cy="321"/>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5" name="Oval 87"/>
            <p:cNvSpPr>
              <a:spLocks noChangeArrowheads="1"/>
            </p:cNvSpPr>
            <p:nvPr/>
          </p:nvSpPr>
          <p:spPr bwMode="auto">
            <a:xfrm>
              <a:off x="1505" y="2891"/>
              <a:ext cx="554" cy="248"/>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6" name="Oval 88"/>
            <p:cNvSpPr>
              <a:spLocks noChangeArrowheads="1"/>
            </p:cNvSpPr>
            <p:nvPr/>
          </p:nvSpPr>
          <p:spPr bwMode="auto">
            <a:xfrm>
              <a:off x="704" y="2987"/>
              <a:ext cx="1141" cy="417"/>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7" name="Oval 89"/>
            <p:cNvSpPr>
              <a:spLocks noChangeArrowheads="1"/>
            </p:cNvSpPr>
            <p:nvPr/>
          </p:nvSpPr>
          <p:spPr bwMode="auto">
            <a:xfrm rot="1336630">
              <a:off x="1474" y="3067"/>
              <a:ext cx="555" cy="417"/>
            </a:xfrm>
            <a:prstGeom prst="ellipse">
              <a:avLst/>
            </a:prstGeom>
            <a:solidFill>
              <a:srgbClr val="DDDDDD"/>
            </a:solidFill>
            <a:ln w="9525">
              <a:noFill/>
              <a:round/>
              <a:headEnd/>
              <a:tailEnd/>
            </a:ln>
            <a:effectLst>
              <a:outerShdw dist="40161" dir="4293903" algn="ctr" rotWithShape="0">
                <a:schemeClr val="tx1"/>
              </a:outerShdw>
            </a:effectLst>
          </p:spPr>
          <p:txBody>
            <a:bodyPr/>
            <a:lstStyle/>
            <a:p>
              <a:pPr>
                <a:defRPr/>
              </a:pPr>
              <a:endParaRPr lang="zh-CN" altLang="en-US"/>
            </a:p>
          </p:txBody>
        </p:sp>
        <p:sp>
          <p:nvSpPr>
            <p:cNvPr id="27738" name="Oval 90"/>
            <p:cNvSpPr>
              <a:spLocks noChangeArrowheads="1"/>
            </p:cNvSpPr>
            <p:nvPr/>
          </p:nvSpPr>
          <p:spPr bwMode="auto">
            <a:xfrm>
              <a:off x="1004" y="2810"/>
              <a:ext cx="756" cy="322"/>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39" name="Oval 91"/>
            <p:cNvSpPr>
              <a:spLocks noChangeArrowheads="1"/>
            </p:cNvSpPr>
            <p:nvPr/>
          </p:nvSpPr>
          <p:spPr bwMode="auto">
            <a:xfrm>
              <a:off x="577" y="2899"/>
              <a:ext cx="575" cy="319"/>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40" name="Oval 92"/>
            <p:cNvSpPr>
              <a:spLocks noChangeArrowheads="1"/>
            </p:cNvSpPr>
            <p:nvPr/>
          </p:nvSpPr>
          <p:spPr bwMode="auto">
            <a:xfrm>
              <a:off x="396" y="3100"/>
              <a:ext cx="383" cy="254"/>
            </a:xfrm>
            <a:prstGeom prst="ellipse">
              <a:avLst/>
            </a:prstGeom>
            <a:solidFill>
              <a:srgbClr val="DDDDDD"/>
            </a:solidFill>
            <a:ln w="9525">
              <a:noFill/>
              <a:round/>
              <a:headEnd/>
              <a:tailEnd/>
            </a:ln>
            <a:effectLst>
              <a:outerShdw dist="63500" dir="3187806" algn="ctr" rotWithShape="0">
                <a:schemeClr val="tx1"/>
              </a:outerShdw>
            </a:effectLst>
          </p:spPr>
          <p:txBody>
            <a:bodyPr/>
            <a:lstStyle/>
            <a:p>
              <a:pPr>
                <a:defRPr/>
              </a:pPr>
              <a:endParaRPr lang="zh-CN" altLang="en-US"/>
            </a:p>
          </p:txBody>
        </p:sp>
        <p:sp>
          <p:nvSpPr>
            <p:cNvPr id="27741" name="Oval 93"/>
            <p:cNvSpPr>
              <a:spLocks noChangeArrowheads="1"/>
            </p:cNvSpPr>
            <p:nvPr/>
          </p:nvSpPr>
          <p:spPr bwMode="auto">
            <a:xfrm>
              <a:off x="1515" y="2908"/>
              <a:ext cx="554" cy="248"/>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42" name="Oval 94"/>
            <p:cNvSpPr>
              <a:spLocks noChangeArrowheads="1"/>
            </p:cNvSpPr>
            <p:nvPr/>
          </p:nvSpPr>
          <p:spPr bwMode="auto">
            <a:xfrm>
              <a:off x="1599" y="3075"/>
              <a:ext cx="555" cy="249"/>
            </a:xfrm>
            <a:prstGeom prst="ellipse">
              <a:avLst/>
            </a:prstGeom>
            <a:solidFill>
              <a:srgbClr val="DDDDDD"/>
            </a:solidFill>
            <a:ln w="9525">
              <a:noFill/>
              <a:round/>
              <a:headEnd/>
              <a:tailEnd/>
            </a:ln>
            <a:effectLst>
              <a:outerShdw dist="35921" dir="2700000" algn="ctr" rotWithShape="0">
                <a:schemeClr val="tx1"/>
              </a:outerShdw>
            </a:effectLst>
          </p:spPr>
          <p:txBody>
            <a:bodyPr/>
            <a:lstStyle/>
            <a:p>
              <a:pPr>
                <a:defRPr/>
              </a:pPr>
              <a:endParaRPr lang="zh-CN" altLang="en-US"/>
            </a:p>
          </p:txBody>
        </p:sp>
        <p:sp>
          <p:nvSpPr>
            <p:cNvPr id="27743" name="Oval 95"/>
            <p:cNvSpPr>
              <a:spLocks noChangeArrowheads="1"/>
            </p:cNvSpPr>
            <p:nvPr/>
          </p:nvSpPr>
          <p:spPr bwMode="auto">
            <a:xfrm>
              <a:off x="715" y="3003"/>
              <a:ext cx="1141" cy="417"/>
            </a:xfrm>
            <a:prstGeom prst="ellipse">
              <a:avLst/>
            </a:prstGeom>
            <a:solidFill>
              <a:srgbClr val="DDDDDD"/>
            </a:solidFill>
            <a:ln w="9525">
              <a:noFill/>
              <a:round/>
              <a:headEnd/>
              <a:tailEnd/>
            </a:ln>
            <a:effectLst>
              <a:outerShdw dist="68392" dir="4091915" algn="ctr" rotWithShape="0">
                <a:schemeClr val="tx1"/>
              </a:outerShdw>
            </a:effectLst>
          </p:spPr>
          <p:txBody>
            <a:bodyPr/>
            <a:lstStyle/>
            <a:p>
              <a:pPr>
                <a:defRPr/>
              </a:pPr>
              <a:endParaRPr lang="zh-CN" altLang="en-US"/>
            </a:p>
          </p:txBody>
        </p:sp>
        <p:sp>
          <p:nvSpPr>
            <p:cNvPr id="27744" name="Oval 96"/>
            <p:cNvSpPr>
              <a:spLocks noChangeArrowheads="1"/>
            </p:cNvSpPr>
            <p:nvPr/>
          </p:nvSpPr>
          <p:spPr bwMode="auto">
            <a:xfrm>
              <a:off x="513" y="3218"/>
              <a:ext cx="586" cy="281"/>
            </a:xfrm>
            <a:prstGeom prst="ellipse">
              <a:avLst/>
            </a:prstGeom>
            <a:solidFill>
              <a:srgbClr val="DDDDDD"/>
            </a:solidFill>
            <a:ln w="9525">
              <a:noFill/>
              <a:round/>
              <a:headEnd/>
              <a:tailEnd/>
            </a:ln>
            <a:effectLst>
              <a:outerShdw dist="113592" dir="20006097" algn="ctr" rotWithShape="0">
                <a:schemeClr val="tx1"/>
              </a:outerShdw>
            </a:effectLst>
          </p:spPr>
          <p:txBody>
            <a:bodyPr/>
            <a:lstStyle/>
            <a:p>
              <a:pPr>
                <a:defRPr/>
              </a:pPr>
              <a:endParaRPr lang="zh-CN" altLang="en-US"/>
            </a:p>
          </p:txBody>
        </p:sp>
        <p:sp>
          <p:nvSpPr>
            <p:cNvPr id="8270" name="Freeform 97"/>
            <p:cNvSpPr>
              <a:spLocks/>
            </p:cNvSpPr>
            <p:nvPr/>
          </p:nvSpPr>
          <p:spPr bwMode="auto">
            <a:xfrm>
              <a:off x="567" y="2924"/>
              <a:ext cx="1451" cy="597"/>
            </a:xfrm>
            <a:custGeom>
              <a:avLst/>
              <a:gdLst>
                <a:gd name="T0" fmla="*/ 0 w 1447"/>
                <a:gd name="T1" fmla="*/ 73 h 1128"/>
                <a:gd name="T2" fmla="*/ 80 w 1447"/>
                <a:gd name="T3" fmla="*/ 58 h 1128"/>
                <a:gd name="T4" fmla="*/ 56 w 1447"/>
                <a:gd name="T5" fmla="*/ 57 h 1128"/>
                <a:gd name="T6" fmla="*/ 24 w 1447"/>
                <a:gd name="T7" fmla="*/ 59 h 1128"/>
                <a:gd name="T8" fmla="*/ 40 w 1447"/>
                <a:gd name="T9" fmla="*/ 56 h 1128"/>
                <a:gd name="T10" fmla="*/ 64 w 1447"/>
                <a:gd name="T11" fmla="*/ 52 h 1128"/>
                <a:gd name="T12" fmla="*/ 96 w 1447"/>
                <a:gd name="T13" fmla="*/ 45 h 1128"/>
                <a:gd name="T14" fmla="*/ 104 w 1447"/>
                <a:gd name="T15" fmla="*/ 41 h 1128"/>
                <a:gd name="T16" fmla="*/ 152 w 1447"/>
                <a:gd name="T17" fmla="*/ 31 h 1128"/>
                <a:gd name="T18" fmla="*/ 168 w 1447"/>
                <a:gd name="T19" fmla="*/ 27 h 1128"/>
                <a:gd name="T20" fmla="*/ 203 w 1447"/>
                <a:gd name="T21" fmla="*/ 26 h 1128"/>
                <a:gd name="T22" fmla="*/ 291 w 1447"/>
                <a:gd name="T23" fmla="*/ 16 h 1128"/>
                <a:gd name="T24" fmla="*/ 331 w 1447"/>
                <a:gd name="T25" fmla="*/ 12 h 1128"/>
                <a:gd name="T26" fmla="*/ 355 w 1447"/>
                <a:gd name="T27" fmla="*/ 8 h 1128"/>
                <a:gd name="T28" fmla="*/ 427 w 1447"/>
                <a:gd name="T29" fmla="*/ 6 h 1128"/>
                <a:gd name="T30" fmla="*/ 507 w 1447"/>
                <a:gd name="T31" fmla="*/ 0 h 1128"/>
                <a:gd name="T32" fmla="*/ 814 w 1447"/>
                <a:gd name="T33" fmla="*/ 6 h 1128"/>
                <a:gd name="T34" fmla="*/ 1065 w 1447"/>
                <a:gd name="T35" fmla="*/ 26 h 1128"/>
                <a:gd name="T36" fmla="*/ 1089 w 1447"/>
                <a:gd name="T37" fmla="*/ 30 h 1128"/>
                <a:gd name="T38" fmla="*/ 1113 w 1447"/>
                <a:gd name="T39" fmla="*/ 32 h 1128"/>
                <a:gd name="T40" fmla="*/ 1233 w 1447"/>
                <a:gd name="T41" fmla="*/ 45 h 1128"/>
                <a:gd name="T42" fmla="*/ 1308 w 1447"/>
                <a:gd name="T43" fmla="*/ 55 h 1128"/>
                <a:gd name="T44" fmla="*/ 1356 w 1447"/>
                <a:gd name="T45" fmla="*/ 65 h 1128"/>
                <a:gd name="T46" fmla="*/ 1372 w 1447"/>
                <a:gd name="T47" fmla="*/ 73 h 1128"/>
                <a:gd name="T48" fmla="*/ 1404 w 1447"/>
                <a:gd name="T49" fmla="*/ 79 h 1128"/>
                <a:gd name="T50" fmla="*/ 1428 w 1447"/>
                <a:gd name="T51" fmla="*/ 90 h 1128"/>
                <a:gd name="T52" fmla="*/ 1444 w 1447"/>
                <a:gd name="T53" fmla="*/ 97 h 1128"/>
                <a:gd name="T54" fmla="*/ 1444 w 1447"/>
                <a:gd name="T55" fmla="*/ 127 h 1128"/>
                <a:gd name="T56" fmla="*/ 1428 w 1447"/>
                <a:gd name="T57" fmla="*/ 134 h 1128"/>
                <a:gd name="T58" fmla="*/ 1380 w 1447"/>
                <a:gd name="T59" fmla="*/ 137 h 1128"/>
                <a:gd name="T60" fmla="*/ 1364 w 1447"/>
                <a:gd name="T61" fmla="*/ 140 h 1128"/>
                <a:gd name="T62" fmla="*/ 1316 w 1447"/>
                <a:gd name="T63" fmla="*/ 145 h 1128"/>
                <a:gd name="T64" fmla="*/ 1225 w 1447"/>
                <a:gd name="T65" fmla="*/ 154 h 1128"/>
                <a:gd name="T66" fmla="*/ 1177 w 1447"/>
                <a:gd name="T67" fmla="*/ 159 h 1128"/>
                <a:gd name="T68" fmla="*/ 1121 w 1447"/>
                <a:gd name="T69" fmla="*/ 167 h 1128"/>
                <a:gd name="T70" fmla="*/ 443 w 1447"/>
                <a:gd name="T71" fmla="*/ 162 h 1128"/>
                <a:gd name="T72" fmla="*/ 363 w 1447"/>
                <a:gd name="T73" fmla="*/ 159 h 1128"/>
                <a:gd name="T74" fmla="*/ 307 w 1447"/>
                <a:gd name="T75" fmla="*/ 145 h 1128"/>
                <a:gd name="T76" fmla="*/ 243 w 1447"/>
                <a:gd name="T77" fmla="*/ 131 h 1128"/>
                <a:gd name="T78" fmla="*/ 203 w 1447"/>
                <a:gd name="T79" fmla="*/ 119 h 1128"/>
                <a:gd name="T80" fmla="*/ 120 w 1447"/>
                <a:gd name="T81" fmla="*/ 104 h 1128"/>
                <a:gd name="T82" fmla="*/ 56 w 1447"/>
                <a:gd name="T83" fmla="*/ 93 h 1128"/>
                <a:gd name="T84" fmla="*/ 16 w 1447"/>
                <a:gd name="T85" fmla="*/ 80 h 1128"/>
                <a:gd name="T86" fmla="*/ 8 w 1447"/>
                <a:gd name="T87" fmla="*/ 76 h 1128"/>
                <a:gd name="T88" fmla="*/ 0 w 1447"/>
                <a:gd name="T89" fmla="*/ 73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w="12700">
              <a:noFill/>
              <a:round/>
              <a:headEnd/>
              <a:tailEnd/>
            </a:ln>
          </p:spPr>
          <p:txBody>
            <a:bodyPr/>
            <a:lstStyle/>
            <a:p>
              <a:endParaRPr lang="zh-CN" altLang="en-US"/>
            </a:p>
          </p:txBody>
        </p:sp>
      </p:grpSp>
      <p:sp>
        <p:nvSpPr>
          <p:cNvPr id="8210" name="Rectangle 42"/>
          <p:cNvSpPr>
            <a:spLocks noChangeArrowheads="1"/>
          </p:cNvSpPr>
          <p:nvPr/>
        </p:nvSpPr>
        <p:spPr bwMode="auto">
          <a:xfrm>
            <a:off x="684213" y="3530600"/>
            <a:ext cx="869950" cy="363538"/>
          </a:xfrm>
          <a:prstGeom prst="rect">
            <a:avLst/>
          </a:prstGeom>
          <a:noFill/>
          <a:ln w="12700">
            <a:noFill/>
            <a:miter lim="800000"/>
            <a:headEnd/>
            <a:tailEnd/>
          </a:ln>
        </p:spPr>
        <p:txBody>
          <a:bodyPr lIns="90488" tIns="44450" rIns="90488" bIns="44450">
            <a:spAutoFit/>
          </a:bodyPr>
          <a:lstStyle/>
          <a:p>
            <a:pPr algn="l" defTabSz="762000" eaLnBrk="0" hangingPunct="0"/>
            <a:r>
              <a:rPr kumimoji="1" lang="en-US" altLang="zh-CN" sz="1800">
                <a:solidFill>
                  <a:srgbClr val="333399"/>
                </a:solidFill>
                <a:latin typeface="Arial" pitchFamily="34" charset="0"/>
                <a:ea typeface="黑体" pitchFamily="49" charset="-122"/>
              </a:rPr>
              <a:t>PC </a:t>
            </a:r>
            <a:r>
              <a:rPr kumimoji="1" lang="zh-CN" altLang="en-US" sz="1800">
                <a:solidFill>
                  <a:srgbClr val="333399"/>
                </a:solidFill>
                <a:latin typeface="Arial" pitchFamily="34" charset="0"/>
                <a:ea typeface="黑体" pitchFamily="49" charset="-122"/>
              </a:rPr>
              <a:t>机</a:t>
            </a:r>
          </a:p>
        </p:txBody>
      </p:sp>
      <p:sp>
        <p:nvSpPr>
          <p:cNvPr id="8211" name="Rectangle 43"/>
          <p:cNvSpPr>
            <a:spLocks noChangeArrowheads="1"/>
          </p:cNvSpPr>
          <p:nvPr/>
        </p:nvSpPr>
        <p:spPr bwMode="auto">
          <a:xfrm>
            <a:off x="3811588" y="3065463"/>
            <a:ext cx="1323975" cy="363537"/>
          </a:xfrm>
          <a:prstGeom prst="rect">
            <a:avLst/>
          </a:prstGeom>
          <a:noFill/>
          <a:ln w="12700">
            <a:noFill/>
            <a:miter lim="800000"/>
            <a:headEnd/>
            <a:tailEnd/>
          </a:ln>
        </p:spPr>
        <p:txBody>
          <a:bodyPr wrap="none"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公用电话网</a:t>
            </a:r>
          </a:p>
        </p:txBody>
      </p:sp>
      <p:pic>
        <p:nvPicPr>
          <p:cNvPr id="8212" name="Picture 44"/>
          <p:cNvPicPr>
            <a:picLocks noChangeArrowheads="1"/>
          </p:cNvPicPr>
          <p:nvPr/>
        </p:nvPicPr>
        <p:blipFill>
          <a:blip r:embed="rId3" cstate="print"/>
          <a:srcRect/>
          <a:stretch>
            <a:fillRect/>
          </a:stretch>
        </p:blipFill>
        <p:spPr bwMode="auto">
          <a:xfrm>
            <a:off x="1993900" y="3001963"/>
            <a:ext cx="852488" cy="528637"/>
          </a:xfrm>
          <a:prstGeom prst="rect">
            <a:avLst/>
          </a:prstGeom>
          <a:noFill/>
          <a:ln w="9525">
            <a:noFill/>
            <a:miter lim="800000"/>
            <a:headEnd/>
            <a:tailEnd/>
          </a:ln>
        </p:spPr>
      </p:pic>
      <p:pic>
        <p:nvPicPr>
          <p:cNvPr id="8213" name="Picture 45"/>
          <p:cNvPicPr>
            <a:picLocks noChangeArrowheads="1"/>
          </p:cNvPicPr>
          <p:nvPr/>
        </p:nvPicPr>
        <p:blipFill>
          <a:blip r:embed="rId4" cstate="print"/>
          <a:srcRect/>
          <a:stretch>
            <a:fillRect/>
          </a:stretch>
        </p:blipFill>
        <p:spPr bwMode="auto">
          <a:xfrm>
            <a:off x="788988" y="2855913"/>
            <a:ext cx="708025" cy="669925"/>
          </a:xfrm>
          <a:prstGeom prst="rect">
            <a:avLst/>
          </a:prstGeom>
          <a:noFill/>
          <a:ln w="12699">
            <a:noFill/>
            <a:miter lim="800000"/>
            <a:headEnd/>
            <a:tailEnd/>
          </a:ln>
        </p:spPr>
      </p:pic>
      <p:sp>
        <p:nvSpPr>
          <p:cNvPr id="8214" name="Rectangle 46"/>
          <p:cNvSpPr>
            <a:spLocks noChangeArrowheads="1"/>
          </p:cNvSpPr>
          <p:nvPr/>
        </p:nvSpPr>
        <p:spPr bwMode="auto">
          <a:xfrm>
            <a:off x="5684838" y="3486150"/>
            <a:ext cx="1347787" cy="363538"/>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调制解调器</a:t>
            </a:r>
          </a:p>
        </p:txBody>
      </p:sp>
      <p:grpSp>
        <p:nvGrpSpPr>
          <p:cNvPr id="8215" name="Group 47"/>
          <p:cNvGrpSpPr>
            <a:grpSpLocks/>
          </p:cNvGrpSpPr>
          <p:nvPr/>
        </p:nvGrpSpPr>
        <p:grpSpPr bwMode="auto">
          <a:xfrm>
            <a:off x="2774950" y="2806700"/>
            <a:ext cx="652463" cy="339725"/>
            <a:chOff x="2315" y="3965"/>
            <a:chExt cx="496" cy="254"/>
          </a:xfrm>
        </p:grpSpPr>
        <p:sp>
          <p:nvSpPr>
            <p:cNvPr id="8250" name="Freeform 48"/>
            <p:cNvSpPr>
              <a:spLocks/>
            </p:cNvSpPr>
            <p:nvPr/>
          </p:nvSpPr>
          <p:spPr bwMode="auto">
            <a:xfrm>
              <a:off x="2315" y="4051"/>
              <a:ext cx="92" cy="89"/>
            </a:xfrm>
            <a:custGeom>
              <a:avLst/>
              <a:gdLst>
                <a:gd name="T0" fmla="*/ 0 w 552"/>
                <a:gd name="T1" fmla="*/ 1 h 535"/>
                <a:gd name="T2" fmla="*/ 0 w 552"/>
                <a:gd name="T3" fmla="*/ 1 h 535"/>
                <a:gd name="T4" fmla="*/ 0 w 552"/>
                <a:gd name="T5" fmla="*/ 1 h 535"/>
                <a:gd name="T6" fmla="*/ 0 w 552"/>
                <a:gd name="T7" fmla="*/ 1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1 h 535"/>
                <a:gd name="T20" fmla="*/ 0 w 552"/>
                <a:gd name="T21" fmla="*/ 1 h 535"/>
                <a:gd name="T22" fmla="*/ 1 w 552"/>
                <a:gd name="T23" fmla="*/ 1 h 535"/>
                <a:gd name="T24" fmla="*/ 1 w 552"/>
                <a:gd name="T25" fmla="*/ 2 h 535"/>
                <a:gd name="T26" fmla="*/ 1 w 552"/>
                <a:gd name="T27" fmla="*/ 2 h 535"/>
                <a:gd name="T28" fmla="*/ 1 w 552"/>
                <a:gd name="T29" fmla="*/ 2 h 535"/>
                <a:gd name="T30" fmla="*/ 1 w 552"/>
                <a:gd name="T31" fmla="*/ 2 h 535"/>
                <a:gd name="T32" fmla="*/ 1 w 552"/>
                <a:gd name="T33" fmla="*/ 2 h 535"/>
                <a:gd name="T34" fmla="*/ 1 w 552"/>
                <a:gd name="T35" fmla="*/ 2 h 535"/>
                <a:gd name="T36" fmla="*/ 1 w 552"/>
                <a:gd name="T37" fmla="*/ 1 h 535"/>
                <a:gd name="T38" fmla="*/ 1 w 552"/>
                <a:gd name="T39" fmla="*/ 0 h 535"/>
                <a:gd name="T40" fmla="*/ 1 w 552"/>
                <a:gd name="T41" fmla="*/ 0 h 535"/>
                <a:gd name="T42" fmla="*/ 1 w 552"/>
                <a:gd name="T43" fmla="*/ 0 h 535"/>
                <a:gd name="T44" fmla="*/ 1 w 552"/>
                <a:gd name="T45" fmla="*/ 0 h 535"/>
                <a:gd name="T46" fmla="*/ 1 w 552"/>
                <a:gd name="T47" fmla="*/ 0 h 535"/>
                <a:gd name="T48" fmla="*/ 1 w 552"/>
                <a:gd name="T49" fmla="*/ 0 h 535"/>
                <a:gd name="T50" fmla="*/ 1 w 552"/>
                <a:gd name="T51" fmla="*/ 0 h 535"/>
                <a:gd name="T52" fmla="*/ 1 w 552"/>
                <a:gd name="T53" fmla="*/ 0 h 535"/>
                <a:gd name="T54" fmla="*/ 2 w 552"/>
                <a:gd name="T55" fmla="*/ 0 h 535"/>
                <a:gd name="T56" fmla="*/ 2 w 552"/>
                <a:gd name="T57" fmla="*/ 0 h 535"/>
                <a:gd name="T58" fmla="*/ 2 w 552"/>
                <a:gd name="T59" fmla="*/ 2 h 535"/>
                <a:gd name="T60" fmla="*/ 2 w 552"/>
                <a:gd name="T61" fmla="*/ 2 h 535"/>
                <a:gd name="T62" fmla="*/ 2 w 552"/>
                <a:gd name="T63" fmla="*/ 2 h 535"/>
                <a:gd name="T64" fmla="*/ 2 w 552"/>
                <a:gd name="T65" fmla="*/ 2 h 535"/>
                <a:gd name="T66" fmla="*/ 2 w 552"/>
                <a:gd name="T67" fmla="*/ 2 h 535"/>
                <a:gd name="T68" fmla="*/ 2 w 552"/>
                <a:gd name="T69" fmla="*/ 2 h 535"/>
                <a:gd name="T70" fmla="*/ 2 w 552"/>
                <a:gd name="T71" fmla="*/ 2 h 535"/>
                <a:gd name="T72" fmla="*/ 2 w 552"/>
                <a:gd name="T73" fmla="*/ 2 h 535"/>
                <a:gd name="T74" fmla="*/ 2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2"/>
                <a:gd name="T115" fmla="*/ 0 h 535"/>
                <a:gd name="T116" fmla="*/ 552 w 552"/>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a:solidFill>
                <a:srgbClr val="333399"/>
              </a:solidFill>
              <a:round/>
              <a:headEnd/>
              <a:tailEnd/>
            </a:ln>
          </p:spPr>
          <p:txBody>
            <a:bodyPr/>
            <a:lstStyle/>
            <a:p>
              <a:endParaRPr lang="zh-CN" altLang="en-US"/>
            </a:p>
          </p:txBody>
        </p:sp>
        <p:sp>
          <p:nvSpPr>
            <p:cNvPr id="8251" name="Freeform 49"/>
            <p:cNvSpPr>
              <a:spLocks/>
            </p:cNvSpPr>
            <p:nvPr/>
          </p:nvSpPr>
          <p:spPr bwMode="auto">
            <a:xfrm>
              <a:off x="2407" y="3965"/>
              <a:ext cx="157" cy="254"/>
            </a:xfrm>
            <a:custGeom>
              <a:avLst/>
              <a:gdLst>
                <a:gd name="T0" fmla="*/ 0 w 943"/>
                <a:gd name="T1" fmla="*/ 3 h 1524"/>
                <a:gd name="T2" fmla="*/ 0 w 943"/>
                <a:gd name="T3" fmla="*/ 2 h 1524"/>
                <a:gd name="T4" fmla="*/ 0 w 943"/>
                <a:gd name="T5" fmla="*/ 2 h 1524"/>
                <a:gd name="T6" fmla="*/ 0 w 943"/>
                <a:gd name="T7" fmla="*/ 1 h 1524"/>
                <a:gd name="T8" fmla="*/ 0 w 943"/>
                <a:gd name="T9" fmla="*/ 1 h 1524"/>
                <a:gd name="T10" fmla="*/ 0 w 943"/>
                <a:gd name="T11" fmla="*/ 1 h 1524"/>
                <a:gd name="T12" fmla="*/ 0 w 943"/>
                <a:gd name="T13" fmla="*/ 2 h 1524"/>
                <a:gd name="T14" fmla="*/ 0 w 943"/>
                <a:gd name="T15" fmla="*/ 2 h 1524"/>
                <a:gd name="T16" fmla="*/ 1 w 943"/>
                <a:gd name="T17" fmla="*/ 5 h 1524"/>
                <a:gd name="T18" fmla="*/ 1 w 943"/>
                <a:gd name="T19" fmla="*/ 6 h 1524"/>
                <a:gd name="T20" fmla="*/ 1 w 943"/>
                <a:gd name="T21" fmla="*/ 6 h 1524"/>
                <a:gd name="T22" fmla="*/ 1 w 943"/>
                <a:gd name="T23" fmla="*/ 6 h 1524"/>
                <a:gd name="T24" fmla="*/ 1 w 943"/>
                <a:gd name="T25" fmla="*/ 6 h 1524"/>
                <a:gd name="T26" fmla="*/ 1 w 943"/>
                <a:gd name="T27" fmla="*/ 6 h 1524"/>
                <a:gd name="T28" fmla="*/ 1 w 943"/>
                <a:gd name="T29" fmla="*/ 6 h 1524"/>
                <a:gd name="T30" fmla="*/ 1 w 943"/>
                <a:gd name="T31" fmla="*/ 5 h 1524"/>
                <a:gd name="T32" fmla="*/ 2 w 943"/>
                <a:gd name="T33" fmla="*/ 1 h 1524"/>
                <a:gd name="T34" fmla="*/ 2 w 943"/>
                <a:gd name="T35" fmla="*/ 1 h 1524"/>
                <a:gd name="T36" fmla="*/ 2 w 943"/>
                <a:gd name="T37" fmla="*/ 1 h 1524"/>
                <a:gd name="T38" fmla="*/ 2 w 943"/>
                <a:gd name="T39" fmla="*/ 1 h 1524"/>
                <a:gd name="T40" fmla="*/ 2 w 943"/>
                <a:gd name="T41" fmla="*/ 0 h 1524"/>
                <a:gd name="T42" fmla="*/ 2 w 943"/>
                <a:gd name="T43" fmla="*/ 0 h 1524"/>
                <a:gd name="T44" fmla="*/ 2 w 943"/>
                <a:gd name="T45" fmla="*/ 0 h 1524"/>
                <a:gd name="T46" fmla="*/ 2 w 943"/>
                <a:gd name="T47" fmla="*/ 1 h 1524"/>
                <a:gd name="T48" fmla="*/ 2 w 943"/>
                <a:gd name="T49" fmla="*/ 1 h 1524"/>
                <a:gd name="T50" fmla="*/ 2 w 943"/>
                <a:gd name="T51" fmla="*/ 1 h 1524"/>
                <a:gd name="T52" fmla="*/ 2 w 943"/>
                <a:gd name="T53" fmla="*/ 1 h 1524"/>
                <a:gd name="T54" fmla="*/ 3 w 943"/>
                <a:gd name="T55" fmla="*/ 7 h 1524"/>
                <a:gd name="T56" fmla="*/ 3 w 943"/>
                <a:gd name="T57" fmla="*/ 7 h 1524"/>
                <a:gd name="T58" fmla="*/ 3 w 943"/>
                <a:gd name="T59" fmla="*/ 7 h 1524"/>
                <a:gd name="T60" fmla="*/ 3 w 943"/>
                <a:gd name="T61" fmla="*/ 7 h 1524"/>
                <a:gd name="T62" fmla="*/ 3 w 943"/>
                <a:gd name="T63" fmla="*/ 7 h 1524"/>
                <a:gd name="T64" fmla="*/ 3 w 943"/>
                <a:gd name="T65" fmla="*/ 7 h 1524"/>
                <a:gd name="T66" fmla="*/ 3 w 943"/>
                <a:gd name="T67" fmla="*/ 7 h 1524"/>
                <a:gd name="T68" fmla="*/ 3 w 943"/>
                <a:gd name="T69" fmla="*/ 7 h 1524"/>
                <a:gd name="T70" fmla="*/ 3 w 943"/>
                <a:gd name="T71" fmla="*/ 7 h 1524"/>
                <a:gd name="T72" fmla="*/ 4 w 943"/>
                <a:gd name="T73" fmla="*/ 0 h 1524"/>
                <a:gd name="T74" fmla="*/ 4 w 943"/>
                <a:gd name="T75" fmla="*/ 0 h 1524"/>
                <a:gd name="T76" fmla="*/ 4 w 943"/>
                <a:gd name="T77" fmla="*/ 0 h 1524"/>
                <a:gd name="T78" fmla="*/ 4 w 943"/>
                <a:gd name="T79" fmla="*/ 0 h 1524"/>
                <a:gd name="T80" fmla="*/ 4 w 943"/>
                <a:gd name="T81" fmla="*/ 0 h 1524"/>
                <a:gd name="T82" fmla="*/ 4 w 943"/>
                <a:gd name="T83" fmla="*/ 0 h 1524"/>
                <a:gd name="T84" fmla="*/ 4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a:solidFill>
                <a:srgbClr val="333399"/>
              </a:solidFill>
              <a:round/>
              <a:headEnd/>
              <a:tailEnd/>
            </a:ln>
          </p:spPr>
          <p:txBody>
            <a:bodyPr/>
            <a:lstStyle/>
            <a:p>
              <a:endParaRPr lang="zh-CN" altLang="en-US"/>
            </a:p>
          </p:txBody>
        </p:sp>
        <p:sp>
          <p:nvSpPr>
            <p:cNvPr id="8252" name="Freeform 50"/>
            <p:cNvSpPr>
              <a:spLocks/>
            </p:cNvSpPr>
            <p:nvPr/>
          </p:nvSpPr>
          <p:spPr bwMode="auto">
            <a:xfrm>
              <a:off x="2719" y="4051"/>
              <a:ext cx="92" cy="89"/>
            </a:xfrm>
            <a:custGeom>
              <a:avLst/>
              <a:gdLst>
                <a:gd name="T0" fmla="*/ 3 w 551"/>
                <a:gd name="T1" fmla="*/ 1 h 535"/>
                <a:gd name="T2" fmla="*/ 3 w 551"/>
                <a:gd name="T3" fmla="*/ 1 h 535"/>
                <a:gd name="T4" fmla="*/ 3 w 551"/>
                <a:gd name="T5" fmla="*/ 1 h 535"/>
                <a:gd name="T6" fmla="*/ 3 w 551"/>
                <a:gd name="T7" fmla="*/ 1 h 535"/>
                <a:gd name="T8" fmla="*/ 2 w 551"/>
                <a:gd name="T9" fmla="*/ 0 h 535"/>
                <a:gd name="T10" fmla="*/ 2 w 551"/>
                <a:gd name="T11" fmla="*/ 0 h 535"/>
                <a:gd name="T12" fmla="*/ 2 w 551"/>
                <a:gd name="T13" fmla="*/ 0 h 535"/>
                <a:gd name="T14" fmla="*/ 2 w 551"/>
                <a:gd name="T15" fmla="*/ 0 h 535"/>
                <a:gd name="T16" fmla="*/ 2 w 551"/>
                <a:gd name="T17" fmla="*/ 0 h 535"/>
                <a:gd name="T18" fmla="*/ 2 w 551"/>
                <a:gd name="T19" fmla="*/ 1 h 535"/>
                <a:gd name="T20" fmla="*/ 2 w 551"/>
                <a:gd name="T21" fmla="*/ 1 h 535"/>
                <a:gd name="T22" fmla="*/ 2 w 551"/>
                <a:gd name="T23" fmla="*/ 1 h 535"/>
                <a:gd name="T24" fmla="*/ 2 w 551"/>
                <a:gd name="T25" fmla="*/ 2 h 535"/>
                <a:gd name="T26" fmla="*/ 2 w 551"/>
                <a:gd name="T27" fmla="*/ 2 h 535"/>
                <a:gd name="T28" fmla="*/ 2 w 551"/>
                <a:gd name="T29" fmla="*/ 2 h 535"/>
                <a:gd name="T30" fmla="*/ 2 w 551"/>
                <a:gd name="T31" fmla="*/ 2 h 535"/>
                <a:gd name="T32" fmla="*/ 2 w 551"/>
                <a:gd name="T33" fmla="*/ 2 h 535"/>
                <a:gd name="T34" fmla="*/ 2 w 551"/>
                <a:gd name="T35" fmla="*/ 2 h 535"/>
                <a:gd name="T36" fmla="*/ 2 w 551"/>
                <a:gd name="T37" fmla="*/ 1 h 535"/>
                <a:gd name="T38" fmla="*/ 1 w 551"/>
                <a:gd name="T39" fmla="*/ 0 h 535"/>
                <a:gd name="T40" fmla="*/ 1 w 551"/>
                <a:gd name="T41" fmla="*/ 0 h 535"/>
                <a:gd name="T42" fmla="*/ 1 w 551"/>
                <a:gd name="T43" fmla="*/ 0 h 535"/>
                <a:gd name="T44" fmla="*/ 1 w 551"/>
                <a:gd name="T45" fmla="*/ 0 h 535"/>
                <a:gd name="T46" fmla="*/ 1 w 551"/>
                <a:gd name="T47" fmla="*/ 0 h 535"/>
                <a:gd name="T48" fmla="*/ 1 w 551"/>
                <a:gd name="T49" fmla="*/ 0 h 535"/>
                <a:gd name="T50" fmla="*/ 1 w 551"/>
                <a:gd name="T51" fmla="*/ 0 h 535"/>
                <a:gd name="T52" fmla="*/ 1 w 551"/>
                <a:gd name="T53" fmla="*/ 0 h 535"/>
                <a:gd name="T54" fmla="*/ 1 w 551"/>
                <a:gd name="T55" fmla="*/ 0 h 535"/>
                <a:gd name="T56" fmla="*/ 1 w 551"/>
                <a:gd name="T57" fmla="*/ 0 h 535"/>
                <a:gd name="T58" fmla="*/ 1 w 551"/>
                <a:gd name="T59" fmla="*/ 2 h 535"/>
                <a:gd name="T60" fmla="*/ 1 w 551"/>
                <a:gd name="T61" fmla="*/ 2 h 535"/>
                <a:gd name="T62" fmla="*/ 1 w 551"/>
                <a:gd name="T63" fmla="*/ 2 h 535"/>
                <a:gd name="T64" fmla="*/ 1 w 551"/>
                <a:gd name="T65" fmla="*/ 2 h 535"/>
                <a:gd name="T66" fmla="*/ 1 w 551"/>
                <a:gd name="T67" fmla="*/ 2 h 535"/>
                <a:gd name="T68" fmla="*/ 0 w 551"/>
                <a:gd name="T69" fmla="*/ 2 h 535"/>
                <a:gd name="T70" fmla="*/ 0 w 551"/>
                <a:gd name="T71" fmla="*/ 2 h 535"/>
                <a:gd name="T72" fmla="*/ 0 w 551"/>
                <a:gd name="T73" fmla="*/ 2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1"/>
                <a:gd name="T115" fmla="*/ 0 h 535"/>
                <a:gd name="T116" fmla="*/ 551 w 551"/>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a:solidFill>
                <a:srgbClr val="333399"/>
              </a:solidFill>
              <a:round/>
              <a:headEnd/>
              <a:tailEnd/>
            </a:ln>
          </p:spPr>
          <p:txBody>
            <a:bodyPr/>
            <a:lstStyle/>
            <a:p>
              <a:endParaRPr lang="zh-CN" altLang="en-US"/>
            </a:p>
          </p:txBody>
        </p:sp>
        <p:sp>
          <p:nvSpPr>
            <p:cNvPr id="8253" name="Freeform 51"/>
            <p:cNvSpPr>
              <a:spLocks/>
            </p:cNvSpPr>
            <p:nvPr/>
          </p:nvSpPr>
          <p:spPr bwMode="auto">
            <a:xfrm>
              <a:off x="2562" y="3965"/>
              <a:ext cx="157" cy="254"/>
            </a:xfrm>
            <a:custGeom>
              <a:avLst/>
              <a:gdLst>
                <a:gd name="T0" fmla="*/ 4 w 943"/>
                <a:gd name="T1" fmla="*/ 3 h 1524"/>
                <a:gd name="T2" fmla="*/ 4 w 943"/>
                <a:gd name="T3" fmla="*/ 2 h 1524"/>
                <a:gd name="T4" fmla="*/ 4 w 943"/>
                <a:gd name="T5" fmla="*/ 2 h 1524"/>
                <a:gd name="T6" fmla="*/ 4 w 943"/>
                <a:gd name="T7" fmla="*/ 1 h 1524"/>
                <a:gd name="T8" fmla="*/ 4 w 943"/>
                <a:gd name="T9" fmla="*/ 1 h 1524"/>
                <a:gd name="T10" fmla="*/ 4 w 943"/>
                <a:gd name="T11" fmla="*/ 1 h 1524"/>
                <a:gd name="T12" fmla="*/ 4 w 943"/>
                <a:gd name="T13" fmla="*/ 2 h 1524"/>
                <a:gd name="T14" fmla="*/ 4 w 943"/>
                <a:gd name="T15" fmla="*/ 2 h 1524"/>
                <a:gd name="T16" fmla="*/ 3 w 943"/>
                <a:gd name="T17" fmla="*/ 5 h 1524"/>
                <a:gd name="T18" fmla="*/ 3 w 943"/>
                <a:gd name="T19" fmla="*/ 6 h 1524"/>
                <a:gd name="T20" fmla="*/ 3 w 943"/>
                <a:gd name="T21" fmla="*/ 6 h 1524"/>
                <a:gd name="T22" fmla="*/ 3 w 943"/>
                <a:gd name="T23" fmla="*/ 6 h 1524"/>
                <a:gd name="T24" fmla="*/ 3 w 943"/>
                <a:gd name="T25" fmla="*/ 6 h 1524"/>
                <a:gd name="T26" fmla="*/ 3 w 943"/>
                <a:gd name="T27" fmla="*/ 6 h 1524"/>
                <a:gd name="T28" fmla="*/ 3 w 943"/>
                <a:gd name="T29" fmla="*/ 6 h 1524"/>
                <a:gd name="T30" fmla="*/ 3 w 943"/>
                <a:gd name="T31" fmla="*/ 5 h 1524"/>
                <a:gd name="T32" fmla="*/ 2 w 943"/>
                <a:gd name="T33" fmla="*/ 1 h 1524"/>
                <a:gd name="T34" fmla="*/ 2 w 943"/>
                <a:gd name="T35" fmla="*/ 1 h 1524"/>
                <a:gd name="T36" fmla="*/ 2 w 943"/>
                <a:gd name="T37" fmla="*/ 1 h 1524"/>
                <a:gd name="T38" fmla="*/ 2 w 943"/>
                <a:gd name="T39" fmla="*/ 1 h 1524"/>
                <a:gd name="T40" fmla="*/ 2 w 943"/>
                <a:gd name="T41" fmla="*/ 0 h 1524"/>
                <a:gd name="T42" fmla="*/ 2 w 943"/>
                <a:gd name="T43" fmla="*/ 0 h 1524"/>
                <a:gd name="T44" fmla="*/ 2 w 943"/>
                <a:gd name="T45" fmla="*/ 0 h 1524"/>
                <a:gd name="T46" fmla="*/ 2 w 943"/>
                <a:gd name="T47" fmla="*/ 1 h 1524"/>
                <a:gd name="T48" fmla="*/ 2 w 943"/>
                <a:gd name="T49" fmla="*/ 1 h 1524"/>
                <a:gd name="T50" fmla="*/ 2 w 943"/>
                <a:gd name="T51" fmla="*/ 1 h 1524"/>
                <a:gd name="T52" fmla="*/ 2 w 943"/>
                <a:gd name="T53" fmla="*/ 1 h 1524"/>
                <a:gd name="T54" fmla="*/ 1 w 943"/>
                <a:gd name="T55" fmla="*/ 7 h 1524"/>
                <a:gd name="T56" fmla="*/ 1 w 943"/>
                <a:gd name="T57" fmla="*/ 7 h 1524"/>
                <a:gd name="T58" fmla="*/ 1 w 943"/>
                <a:gd name="T59" fmla="*/ 7 h 1524"/>
                <a:gd name="T60" fmla="*/ 1 w 943"/>
                <a:gd name="T61" fmla="*/ 7 h 1524"/>
                <a:gd name="T62" fmla="*/ 1 w 943"/>
                <a:gd name="T63" fmla="*/ 7 h 1524"/>
                <a:gd name="T64" fmla="*/ 1 w 943"/>
                <a:gd name="T65" fmla="*/ 7 h 1524"/>
                <a:gd name="T66" fmla="*/ 1 w 943"/>
                <a:gd name="T67" fmla="*/ 7 h 1524"/>
                <a:gd name="T68" fmla="*/ 1 w 943"/>
                <a:gd name="T69" fmla="*/ 7 h 1524"/>
                <a:gd name="T70" fmla="*/ 1 w 943"/>
                <a:gd name="T71" fmla="*/ 7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a:solidFill>
                <a:srgbClr val="333399"/>
              </a:solidFill>
              <a:round/>
              <a:headEnd/>
              <a:tailEnd/>
            </a:ln>
          </p:spPr>
          <p:txBody>
            <a:bodyPr/>
            <a:lstStyle/>
            <a:p>
              <a:endParaRPr lang="zh-CN" altLang="en-US"/>
            </a:p>
          </p:txBody>
        </p:sp>
      </p:grpSp>
      <p:sp>
        <p:nvSpPr>
          <p:cNvPr id="8216" name="Freeform 52"/>
          <p:cNvSpPr>
            <a:spLocks/>
          </p:cNvSpPr>
          <p:nvPr/>
        </p:nvSpPr>
        <p:spPr bwMode="auto">
          <a:xfrm>
            <a:off x="1465263" y="2908300"/>
            <a:ext cx="741362" cy="165100"/>
          </a:xfrm>
          <a:custGeom>
            <a:avLst/>
            <a:gdLst>
              <a:gd name="T0" fmla="*/ 0 w 672"/>
              <a:gd name="T1" fmla="*/ 2147483647 h 288"/>
              <a:gd name="T2" fmla="*/ 2147483647 w 672"/>
              <a:gd name="T3" fmla="*/ 2147483647 h 288"/>
              <a:gd name="T4" fmla="*/ 2147483647 w 672"/>
              <a:gd name="T5" fmla="*/ 0 h 288"/>
              <a:gd name="T6" fmla="*/ 2147483647 w 672"/>
              <a:gd name="T7" fmla="*/ 0 h 288"/>
              <a:gd name="T8" fmla="*/ 2147483647 w 672"/>
              <a:gd name="T9" fmla="*/ 2147483647 h 288"/>
              <a:gd name="T10" fmla="*/ 2147483647 w 672"/>
              <a:gd name="T11" fmla="*/ 2147483647 h 288"/>
              <a:gd name="T12" fmla="*/ 2147483647 w 672"/>
              <a:gd name="T13" fmla="*/ 0 h 288"/>
              <a:gd name="T14" fmla="*/ 2147483647 w 672"/>
              <a:gd name="T15" fmla="*/ 0 h 288"/>
              <a:gd name="T16" fmla="*/ 2147483647 w 672"/>
              <a:gd name="T17" fmla="*/ 2147483647 h 288"/>
              <a:gd name="T18" fmla="*/ 2147483647 w 672"/>
              <a:gd name="T19" fmla="*/ 2147483647 h 288"/>
              <a:gd name="T20" fmla="*/ 2147483647 w 672"/>
              <a:gd name="T21" fmla="*/ 0 h 288"/>
              <a:gd name="T22" fmla="*/ 2147483647 w 672"/>
              <a:gd name="T23" fmla="*/ 0 h 288"/>
              <a:gd name="T24" fmla="*/ 2147483647 w 672"/>
              <a:gd name="T25" fmla="*/ 2147483647 h 288"/>
              <a:gd name="T26" fmla="*/ 2147483647 w 672"/>
              <a:gd name="T27" fmla="*/ 2147483647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2"/>
              <a:gd name="T43" fmla="*/ 0 h 288"/>
              <a:gd name="T44" fmla="*/ 672 w 672"/>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a:solidFill>
              <a:srgbClr val="333399"/>
            </a:solidFill>
            <a:round/>
            <a:headEnd/>
            <a:tailEnd/>
          </a:ln>
        </p:spPr>
        <p:txBody>
          <a:bodyPr/>
          <a:lstStyle/>
          <a:p>
            <a:endParaRPr lang="zh-CN" altLang="en-US"/>
          </a:p>
        </p:txBody>
      </p:sp>
      <p:sp>
        <p:nvSpPr>
          <p:cNvPr id="8217" name="Rectangle 53"/>
          <p:cNvSpPr>
            <a:spLocks noChangeArrowheads="1"/>
          </p:cNvSpPr>
          <p:nvPr/>
        </p:nvSpPr>
        <p:spPr bwMode="auto">
          <a:xfrm>
            <a:off x="1187450" y="2420938"/>
            <a:ext cx="1450975" cy="363537"/>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数字比特流</a:t>
            </a:r>
          </a:p>
        </p:txBody>
      </p:sp>
      <p:sp>
        <p:nvSpPr>
          <p:cNvPr id="8218" name="Rectangle 54"/>
          <p:cNvSpPr>
            <a:spLocks noChangeArrowheads="1"/>
          </p:cNvSpPr>
          <p:nvPr/>
        </p:nvSpPr>
        <p:spPr bwMode="auto">
          <a:xfrm>
            <a:off x="6464300" y="2420938"/>
            <a:ext cx="1420813" cy="363537"/>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数字比特流</a:t>
            </a:r>
          </a:p>
        </p:txBody>
      </p:sp>
      <p:sp>
        <p:nvSpPr>
          <p:cNvPr id="8219" name="Rectangle 55"/>
          <p:cNvSpPr>
            <a:spLocks noChangeArrowheads="1"/>
          </p:cNvSpPr>
          <p:nvPr/>
        </p:nvSpPr>
        <p:spPr bwMode="auto">
          <a:xfrm>
            <a:off x="2627313" y="2420938"/>
            <a:ext cx="1204912" cy="363537"/>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模拟信号</a:t>
            </a:r>
          </a:p>
        </p:txBody>
      </p:sp>
      <p:sp>
        <p:nvSpPr>
          <p:cNvPr id="8220" name="Rectangle 56"/>
          <p:cNvSpPr>
            <a:spLocks noChangeArrowheads="1"/>
          </p:cNvSpPr>
          <p:nvPr/>
        </p:nvSpPr>
        <p:spPr bwMode="auto">
          <a:xfrm>
            <a:off x="5224463" y="2420938"/>
            <a:ext cx="1219200" cy="363537"/>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模拟信号 </a:t>
            </a:r>
          </a:p>
        </p:txBody>
      </p:sp>
      <p:sp>
        <p:nvSpPr>
          <p:cNvPr id="8221" name="Rectangle 57"/>
          <p:cNvSpPr>
            <a:spLocks noChangeArrowheads="1"/>
          </p:cNvSpPr>
          <p:nvPr/>
        </p:nvSpPr>
        <p:spPr bwMode="auto">
          <a:xfrm>
            <a:off x="292100" y="2420938"/>
            <a:ext cx="709613" cy="638175"/>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输入</a:t>
            </a:r>
          </a:p>
          <a:p>
            <a:pPr algn="l" defTabSz="762000" eaLnBrk="0" hangingPunct="0"/>
            <a:r>
              <a:rPr kumimoji="1" lang="zh-CN" altLang="en-US" sz="1800">
                <a:solidFill>
                  <a:srgbClr val="333399"/>
                </a:solidFill>
                <a:latin typeface="Arial" pitchFamily="34" charset="0"/>
                <a:ea typeface="黑体" pitchFamily="49" charset="-122"/>
              </a:rPr>
              <a:t>汉字</a:t>
            </a:r>
          </a:p>
        </p:txBody>
      </p:sp>
      <p:sp>
        <p:nvSpPr>
          <p:cNvPr id="8222" name="Rectangle 58"/>
          <p:cNvSpPr>
            <a:spLocks noChangeArrowheads="1"/>
          </p:cNvSpPr>
          <p:nvPr/>
        </p:nvSpPr>
        <p:spPr bwMode="auto">
          <a:xfrm>
            <a:off x="8026400" y="2420938"/>
            <a:ext cx="709613" cy="638175"/>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显示</a:t>
            </a:r>
          </a:p>
          <a:p>
            <a:pPr algn="l" defTabSz="762000" eaLnBrk="0" hangingPunct="0"/>
            <a:r>
              <a:rPr kumimoji="1" lang="zh-CN" altLang="en-US" sz="1800">
                <a:solidFill>
                  <a:srgbClr val="333399"/>
                </a:solidFill>
                <a:latin typeface="Arial" pitchFamily="34" charset="0"/>
                <a:ea typeface="黑体" pitchFamily="49" charset="-122"/>
              </a:rPr>
              <a:t>汉字</a:t>
            </a:r>
          </a:p>
        </p:txBody>
      </p:sp>
      <p:sp>
        <p:nvSpPr>
          <p:cNvPr id="8223" name="Freeform 59"/>
          <p:cNvSpPr>
            <a:spLocks/>
          </p:cNvSpPr>
          <p:nvPr/>
        </p:nvSpPr>
        <p:spPr bwMode="auto">
          <a:xfrm>
            <a:off x="6645275" y="2928938"/>
            <a:ext cx="742950" cy="165100"/>
          </a:xfrm>
          <a:custGeom>
            <a:avLst/>
            <a:gdLst>
              <a:gd name="T0" fmla="*/ 0 w 672"/>
              <a:gd name="T1" fmla="*/ 2147483647 h 288"/>
              <a:gd name="T2" fmla="*/ 2147483647 w 672"/>
              <a:gd name="T3" fmla="*/ 2147483647 h 288"/>
              <a:gd name="T4" fmla="*/ 2147483647 w 672"/>
              <a:gd name="T5" fmla="*/ 0 h 288"/>
              <a:gd name="T6" fmla="*/ 2147483647 w 672"/>
              <a:gd name="T7" fmla="*/ 0 h 288"/>
              <a:gd name="T8" fmla="*/ 2147483647 w 672"/>
              <a:gd name="T9" fmla="*/ 2147483647 h 288"/>
              <a:gd name="T10" fmla="*/ 2147483647 w 672"/>
              <a:gd name="T11" fmla="*/ 2147483647 h 288"/>
              <a:gd name="T12" fmla="*/ 2147483647 w 672"/>
              <a:gd name="T13" fmla="*/ 0 h 288"/>
              <a:gd name="T14" fmla="*/ 2147483647 w 672"/>
              <a:gd name="T15" fmla="*/ 0 h 288"/>
              <a:gd name="T16" fmla="*/ 2147483647 w 672"/>
              <a:gd name="T17" fmla="*/ 2147483647 h 288"/>
              <a:gd name="T18" fmla="*/ 2147483647 w 672"/>
              <a:gd name="T19" fmla="*/ 2147483647 h 288"/>
              <a:gd name="T20" fmla="*/ 2147483647 w 672"/>
              <a:gd name="T21" fmla="*/ 0 h 288"/>
              <a:gd name="T22" fmla="*/ 2147483647 w 672"/>
              <a:gd name="T23" fmla="*/ 0 h 288"/>
              <a:gd name="T24" fmla="*/ 2147483647 w 672"/>
              <a:gd name="T25" fmla="*/ 2147483647 h 288"/>
              <a:gd name="T26" fmla="*/ 2147483647 w 672"/>
              <a:gd name="T27" fmla="*/ 2147483647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2"/>
              <a:gd name="T43" fmla="*/ 0 h 288"/>
              <a:gd name="T44" fmla="*/ 672 w 672"/>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a:solidFill>
              <a:srgbClr val="333399"/>
            </a:solidFill>
            <a:round/>
            <a:headEnd/>
            <a:tailEnd/>
          </a:ln>
        </p:spPr>
        <p:txBody>
          <a:bodyPr/>
          <a:lstStyle/>
          <a:p>
            <a:endParaRPr lang="zh-CN" altLang="en-US"/>
          </a:p>
        </p:txBody>
      </p:sp>
      <p:grpSp>
        <p:nvGrpSpPr>
          <p:cNvPr id="8224" name="Group 60"/>
          <p:cNvGrpSpPr>
            <a:grpSpLocks/>
          </p:cNvGrpSpPr>
          <p:nvPr/>
        </p:nvGrpSpPr>
        <p:grpSpPr bwMode="auto">
          <a:xfrm>
            <a:off x="5386388" y="2806700"/>
            <a:ext cx="654050" cy="339725"/>
            <a:chOff x="2315" y="3965"/>
            <a:chExt cx="496" cy="254"/>
          </a:xfrm>
        </p:grpSpPr>
        <p:sp>
          <p:nvSpPr>
            <p:cNvPr id="8246" name="Freeform 61"/>
            <p:cNvSpPr>
              <a:spLocks/>
            </p:cNvSpPr>
            <p:nvPr/>
          </p:nvSpPr>
          <p:spPr bwMode="auto">
            <a:xfrm>
              <a:off x="2315" y="4051"/>
              <a:ext cx="92" cy="89"/>
            </a:xfrm>
            <a:custGeom>
              <a:avLst/>
              <a:gdLst>
                <a:gd name="T0" fmla="*/ 0 w 552"/>
                <a:gd name="T1" fmla="*/ 1 h 535"/>
                <a:gd name="T2" fmla="*/ 0 w 552"/>
                <a:gd name="T3" fmla="*/ 1 h 535"/>
                <a:gd name="T4" fmla="*/ 0 w 552"/>
                <a:gd name="T5" fmla="*/ 1 h 535"/>
                <a:gd name="T6" fmla="*/ 0 w 552"/>
                <a:gd name="T7" fmla="*/ 1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1 h 535"/>
                <a:gd name="T20" fmla="*/ 0 w 552"/>
                <a:gd name="T21" fmla="*/ 1 h 535"/>
                <a:gd name="T22" fmla="*/ 1 w 552"/>
                <a:gd name="T23" fmla="*/ 1 h 535"/>
                <a:gd name="T24" fmla="*/ 1 w 552"/>
                <a:gd name="T25" fmla="*/ 2 h 535"/>
                <a:gd name="T26" fmla="*/ 1 w 552"/>
                <a:gd name="T27" fmla="*/ 2 h 535"/>
                <a:gd name="T28" fmla="*/ 1 w 552"/>
                <a:gd name="T29" fmla="*/ 2 h 535"/>
                <a:gd name="T30" fmla="*/ 1 w 552"/>
                <a:gd name="T31" fmla="*/ 2 h 535"/>
                <a:gd name="T32" fmla="*/ 1 w 552"/>
                <a:gd name="T33" fmla="*/ 2 h 535"/>
                <a:gd name="T34" fmla="*/ 1 w 552"/>
                <a:gd name="T35" fmla="*/ 2 h 535"/>
                <a:gd name="T36" fmla="*/ 1 w 552"/>
                <a:gd name="T37" fmla="*/ 1 h 535"/>
                <a:gd name="T38" fmla="*/ 1 w 552"/>
                <a:gd name="T39" fmla="*/ 0 h 535"/>
                <a:gd name="T40" fmla="*/ 1 w 552"/>
                <a:gd name="T41" fmla="*/ 0 h 535"/>
                <a:gd name="T42" fmla="*/ 1 w 552"/>
                <a:gd name="T43" fmla="*/ 0 h 535"/>
                <a:gd name="T44" fmla="*/ 1 w 552"/>
                <a:gd name="T45" fmla="*/ 0 h 535"/>
                <a:gd name="T46" fmla="*/ 1 w 552"/>
                <a:gd name="T47" fmla="*/ 0 h 535"/>
                <a:gd name="T48" fmla="*/ 1 w 552"/>
                <a:gd name="T49" fmla="*/ 0 h 535"/>
                <a:gd name="T50" fmla="*/ 1 w 552"/>
                <a:gd name="T51" fmla="*/ 0 h 535"/>
                <a:gd name="T52" fmla="*/ 1 w 552"/>
                <a:gd name="T53" fmla="*/ 0 h 535"/>
                <a:gd name="T54" fmla="*/ 2 w 552"/>
                <a:gd name="T55" fmla="*/ 0 h 535"/>
                <a:gd name="T56" fmla="*/ 2 w 552"/>
                <a:gd name="T57" fmla="*/ 0 h 535"/>
                <a:gd name="T58" fmla="*/ 2 w 552"/>
                <a:gd name="T59" fmla="*/ 2 h 535"/>
                <a:gd name="T60" fmla="*/ 2 w 552"/>
                <a:gd name="T61" fmla="*/ 2 h 535"/>
                <a:gd name="T62" fmla="*/ 2 w 552"/>
                <a:gd name="T63" fmla="*/ 2 h 535"/>
                <a:gd name="T64" fmla="*/ 2 w 552"/>
                <a:gd name="T65" fmla="*/ 2 h 535"/>
                <a:gd name="T66" fmla="*/ 2 w 552"/>
                <a:gd name="T67" fmla="*/ 2 h 535"/>
                <a:gd name="T68" fmla="*/ 2 w 552"/>
                <a:gd name="T69" fmla="*/ 2 h 535"/>
                <a:gd name="T70" fmla="*/ 2 w 552"/>
                <a:gd name="T71" fmla="*/ 2 h 535"/>
                <a:gd name="T72" fmla="*/ 2 w 552"/>
                <a:gd name="T73" fmla="*/ 2 h 535"/>
                <a:gd name="T74" fmla="*/ 2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2"/>
                <a:gd name="T115" fmla="*/ 0 h 535"/>
                <a:gd name="T116" fmla="*/ 552 w 552"/>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a:solidFill>
                <a:srgbClr val="333399"/>
              </a:solidFill>
              <a:round/>
              <a:headEnd/>
              <a:tailEnd/>
            </a:ln>
          </p:spPr>
          <p:txBody>
            <a:bodyPr/>
            <a:lstStyle/>
            <a:p>
              <a:endParaRPr lang="zh-CN" altLang="en-US"/>
            </a:p>
          </p:txBody>
        </p:sp>
        <p:sp>
          <p:nvSpPr>
            <p:cNvPr id="8247" name="Freeform 62"/>
            <p:cNvSpPr>
              <a:spLocks/>
            </p:cNvSpPr>
            <p:nvPr/>
          </p:nvSpPr>
          <p:spPr bwMode="auto">
            <a:xfrm>
              <a:off x="2407" y="3965"/>
              <a:ext cx="157" cy="254"/>
            </a:xfrm>
            <a:custGeom>
              <a:avLst/>
              <a:gdLst>
                <a:gd name="T0" fmla="*/ 0 w 943"/>
                <a:gd name="T1" fmla="*/ 3 h 1524"/>
                <a:gd name="T2" fmla="*/ 0 w 943"/>
                <a:gd name="T3" fmla="*/ 2 h 1524"/>
                <a:gd name="T4" fmla="*/ 0 w 943"/>
                <a:gd name="T5" fmla="*/ 2 h 1524"/>
                <a:gd name="T6" fmla="*/ 0 w 943"/>
                <a:gd name="T7" fmla="*/ 1 h 1524"/>
                <a:gd name="T8" fmla="*/ 0 w 943"/>
                <a:gd name="T9" fmla="*/ 1 h 1524"/>
                <a:gd name="T10" fmla="*/ 0 w 943"/>
                <a:gd name="T11" fmla="*/ 1 h 1524"/>
                <a:gd name="T12" fmla="*/ 0 w 943"/>
                <a:gd name="T13" fmla="*/ 2 h 1524"/>
                <a:gd name="T14" fmla="*/ 0 w 943"/>
                <a:gd name="T15" fmla="*/ 2 h 1524"/>
                <a:gd name="T16" fmla="*/ 1 w 943"/>
                <a:gd name="T17" fmla="*/ 5 h 1524"/>
                <a:gd name="T18" fmla="*/ 1 w 943"/>
                <a:gd name="T19" fmla="*/ 6 h 1524"/>
                <a:gd name="T20" fmla="*/ 1 w 943"/>
                <a:gd name="T21" fmla="*/ 6 h 1524"/>
                <a:gd name="T22" fmla="*/ 1 w 943"/>
                <a:gd name="T23" fmla="*/ 6 h 1524"/>
                <a:gd name="T24" fmla="*/ 1 w 943"/>
                <a:gd name="T25" fmla="*/ 6 h 1524"/>
                <a:gd name="T26" fmla="*/ 1 w 943"/>
                <a:gd name="T27" fmla="*/ 6 h 1524"/>
                <a:gd name="T28" fmla="*/ 1 w 943"/>
                <a:gd name="T29" fmla="*/ 6 h 1524"/>
                <a:gd name="T30" fmla="*/ 1 w 943"/>
                <a:gd name="T31" fmla="*/ 5 h 1524"/>
                <a:gd name="T32" fmla="*/ 2 w 943"/>
                <a:gd name="T33" fmla="*/ 1 h 1524"/>
                <a:gd name="T34" fmla="*/ 2 w 943"/>
                <a:gd name="T35" fmla="*/ 1 h 1524"/>
                <a:gd name="T36" fmla="*/ 2 w 943"/>
                <a:gd name="T37" fmla="*/ 1 h 1524"/>
                <a:gd name="T38" fmla="*/ 2 w 943"/>
                <a:gd name="T39" fmla="*/ 1 h 1524"/>
                <a:gd name="T40" fmla="*/ 2 w 943"/>
                <a:gd name="T41" fmla="*/ 0 h 1524"/>
                <a:gd name="T42" fmla="*/ 2 w 943"/>
                <a:gd name="T43" fmla="*/ 0 h 1524"/>
                <a:gd name="T44" fmla="*/ 2 w 943"/>
                <a:gd name="T45" fmla="*/ 0 h 1524"/>
                <a:gd name="T46" fmla="*/ 2 w 943"/>
                <a:gd name="T47" fmla="*/ 1 h 1524"/>
                <a:gd name="T48" fmla="*/ 2 w 943"/>
                <a:gd name="T49" fmla="*/ 1 h 1524"/>
                <a:gd name="T50" fmla="*/ 2 w 943"/>
                <a:gd name="T51" fmla="*/ 1 h 1524"/>
                <a:gd name="T52" fmla="*/ 2 w 943"/>
                <a:gd name="T53" fmla="*/ 1 h 1524"/>
                <a:gd name="T54" fmla="*/ 3 w 943"/>
                <a:gd name="T55" fmla="*/ 7 h 1524"/>
                <a:gd name="T56" fmla="*/ 3 w 943"/>
                <a:gd name="T57" fmla="*/ 7 h 1524"/>
                <a:gd name="T58" fmla="*/ 3 w 943"/>
                <a:gd name="T59" fmla="*/ 7 h 1524"/>
                <a:gd name="T60" fmla="*/ 3 w 943"/>
                <a:gd name="T61" fmla="*/ 7 h 1524"/>
                <a:gd name="T62" fmla="*/ 3 w 943"/>
                <a:gd name="T63" fmla="*/ 7 h 1524"/>
                <a:gd name="T64" fmla="*/ 3 w 943"/>
                <a:gd name="T65" fmla="*/ 7 h 1524"/>
                <a:gd name="T66" fmla="*/ 3 w 943"/>
                <a:gd name="T67" fmla="*/ 7 h 1524"/>
                <a:gd name="T68" fmla="*/ 3 w 943"/>
                <a:gd name="T69" fmla="*/ 7 h 1524"/>
                <a:gd name="T70" fmla="*/ 3 w 943"/>
                <a:gd name="T71" fmla="*/ 7 h 1524"/>
                <a:gd name="T72" fmla="*/ 4 w 943"/>
                <a:gd name="T73" fmla="*/ 0 h 1524"/>
                <a:gd name="T74" fmla="*/ 4 w 943"/>
                <a:gd name="T75" fmla="*/ 0 h 1524"/>
                <a:gd name="T76" fmla="*/ 4 w 943"/>
                <a:gd name="T77" fmla="*/ 0 h 1524"/>
                <a:gd name="T78" fmla="*/ 4 w 943"/>
                <a:gd name="T79" fmla="*/ 0 h 1524"/>
                <a:gd name="T80" fmla="*/ 4 w 943"/>
                <a:gd name="T81" fmla="*/ 0 h 1524"/>
                <a:gd name="T82" fmla="*/ 4 w 943"/>
                <a:gd name="T83" fmla="*/ 0 h 1524"/>
                <a:gd name="T84" fmla="*/ 4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a:solidFill>
                <a:srgbClr val="333399"/>
              </a:solidFill>
              <a:round/>
              <a:headEnd/>
              <a:tailEnd/>
            </a:ln>
          </p:spPr>
          <p:txBody>
            <a:bodyPr/>
            <a:lstStyle/>
            <a:p>
              <a:endParaRPr lang="zh-CN" altLang="en-US"/>
            </a:p>
          </p:txBody>
        </p:sp>
        <p:sp>
          <p:nvSpPr>
            <p:cNvPr id="8248" name="Freeform 63"/>
            <p:cNvSpPr>
              <a:spLocks/>
            </p:cNvSpPr>
            <p:nvPr/>
          </p:nvSpPr>
          <p:spPr bwMode="auto">
            <a:xfrm>
              <a:off x="2719" y="4051"/>
              <a:ext cx="92" cy="89"/>
            </a:xfrm>
            <a:custGeom>
              <a:avLst/>
              <a:gdLst>
                <a:gd name="T0" fmla="*/ 3 w 551"/>
                <a:gd name="T1" fmla="*/ 1 h 535"/>
                <a:gd name="T2" fmla="*/ 3 w 551"/>
                <a:gd name="T3" fmla="*/ 1 h 535"/>
                <a:gd name="T4" fmla="*/ 3 w 551"/>
                <a:gd name="T5" fmla="*/ 1 h 535"/>
                <a:gd name="T6" fmla="*/ 3 w 551"/>
                <a:gd name="T7" fmla="*/ 1 h 535"/>
                <a:gd name="T8" fmla="*/ 2 w 551"/>
                <a:gd name="T9" fmla="*/ 0 h 535"/>
                <a:gd name="T10" fmla="*/ 2 w 551"/>
                <a:gd name="T11" fmla="*/ 0 h 535"/>
                <a:gd name="T12" fmla="*/ 2 w 551"/>
                <a:gd name="T13" fmla="*/ 0 h 535"/>
                <a:gd name="T14" fmla="*/ 2 w 551"/>
                <a:gd name="T15" fmla="*/ 0 h 535"/>
                <a:gd name="T16" fmla="*/ 2 w 551"/>
                <a:gd name="T17" fmla="*/ 0 h 535"/>
                <a:gd name="T18" fmla="*/ 2 w 551"/>
                <a:gd name="T19" fmla="*/ 1 h 535"/>
                <a:gd name="T20" fmla="*/ 2 w 551"/>
                <a:gd name="T21" fmla="*/ 1 h 535"/>
                <a:gd name="T22" fmla="*/ 2 w 551"/>
                <a:gd name="T23" fmla="*/ 1 h 535"/>
                <a:gd name="T24" fmla="*/ 2 w 551"/>
                <a:gd name="T25" fmla="*/ 2 h 535"/>
                <a:gd name="T26" fmla="*/ 2 w 551"/>
                <a:gd name="T27" fmla="*/ 2 h 535"/>
                <a:gd name="T28" fmla="*/ 2 w 551"/>
                <a:gd name="T29" fmla="*/ 2 h 535"/>
                <a:gd name="T30" fmla="*/ 2 w 551"/>
                <a:gd name="T31" fmla="*/ 2 h 535"/>
                <a:gd name="T32" fmla="*/ 2 w 551"/>
                <a:gd name="T33" fmla="*/ 2 h 535"/>
                <a:gd name="T34" fmla="*/ 2 w 551"/>
                <a:gd name="T35" fmla="*/ 2 h 535"/>
                <a:gd name="T36" fmla="*/ 2 w 551"/>
                <a:gd name="T37" fmla="*/ 1 h 535"/>
                <a:gd name="T38" fmla="*/ 1 w 551"/>
                <a:gd name="T39" fmla="*/ 0 h 535"/>
                <a:gd name="T40" fmla="*/ 1 w 551"/>
                <a:gd name="T41" fmla="*/ 0 h 535"/>
                <a:gd name="T42" fmla="*/ 1 w 551"/>
                <a:gd name="T43" fmla="*/ 0 h 535"/>
                <a:gd name="T44" fmla="*/ 1 w 551"/>
                <a:gd name="T45" fmla="*/ 0 h 535"/>
                <a:gd name="T46" fmla="*/ 1 w 551"/>
                <a:gd name="T47" fmla="*/ 0 h 535"/>
                <a:gd name="T48" fmla="*/ 1 w 551"/>
                <a:gd name="T49" fmla="*/ 0 h 535"/>
                <a:gd name="T50" fmla="*/ 1 w 551"/>
                <a:gd name="T51" fmla="*/ 0 h 535"/>
                <a:gd name="T52" fmla="*/ 1 w 551"/>
                <a:gd name="T53" fmla="*/ 0 h 535"/>
                <a:gd name="T54" fmla="*/ 1 w 551"/>
                <a:gd name="T55" fmla="*/ 0 h 535"/>
                <a:gd name="T56" fmla="*/ 1 w 551"/>
                <a:gd name="T57" fmla="*/ 0 h 535"/>
                <a:gd name="T58" fmla="*/ 1 w 551"/>
                <a:gd name="T59" fmla="*/ 2 h 535"/>
                <a:gd name="T60" fmla="*/ 1 w 551"/>
                <a:gd name="T61" fmla="*/ 2 h 535"/>
                <a:gd name="T62" fmla="*/ 1 w 551"/>
                <a:gd name="T63" fmla="*/ 2 h 535"/>
                <a:gd name="T64" fmla="*/ 1 w 551"/>
                <a:gd name="T65" fmla="*/ 2 h 535"/>
                <a:gd name="T66" fmla="*/ 1 w 551"/>
                <a:gd name="T67" fmla="*/ 2 h 535"/>
                <a:gd name="T68" fmla="*/ 0 w 551"/>
                <a:gd name="T69" fmla="*/ 2 h 535"/>
                <a:gd name="T70" fmla="*/ 0 w 551"/>
                <a:gd name="T71" fmla="*/ 2 h 535"/>
                <a:gd name="T72" fmla="*/ 0 w 551"/>
                <a:gd name="T73" fmla="*/ 2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1"/>
                <a:gd name="T115" fmla="*/ 0 h 535"/>
                <a:gd name="T116" fmla="*/ 551 w 551"/>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a:solidFill>
                <a:srgbClr val="333399"/>
              </a:solidFill>
              <a:round/>
              <a:headEnd/>
              <a:tailEnd/>
            </a:ln>
          </p:spPr>
          <p:txBody>
            <a:bodyPr/>
            <a:lstStyle/>
            <a:p>
              <a:endParaRPr lang="zh-CN" altLang="en-US"/>
            </a:p>
          </p:txBody>
        </p:sp>
        <p:sp>
          <p:nvSpPr>
            <p:cNvPr id="8249" name="Freeform 64"/>
            <p:cNvSpPr>
              <a:spLocks/>
            </p:cNvSpPr>
            <p:nvPr/>
          </p:nvSpPr>
          <p:spPr bwMode="auto">
            <a:xfrm>
              <a:off x="2562" y="3965"/>
              <a:ext cx="157" cy="254"/>
            </a:xfrm>
            <a:custGeom>
              <a:avLst/>
              <a:gdLst>
                <a:gd name="T0" fmla="*/ 4 w 943"/>
                <a:gd name="T1" fmla="*/ 3 h 1524"/>
                <a:gd name="T2" fmla="*/ 4 w 943"/>
                <a:gd name="T3" fmla="*/ 2 h 1524"/>
                <a:gd name="T4" fmla="*/ 4 w 943"/>
                <a:gd name="T5" fmla="*/ 2 h 1524"/>
                <a:gd name="T6" fmla="*/ 4 w 943"/>
                <a:gd name="T7" fmla="*/ 1 h 1524"/>
                <a:gd name="T8" fmla="*/ 4 w 943"/>
                <a:gd name="T9" fmla="*/ 1 h 1524"/>
                <a:gd name="T10" fmla="*/ 4 w 943"/>
                <a:gd name="T11" fmla="*/ 1 h 1524"/>
                <a:gd name="T12" fmla="*/ 4 w 943"/>
                <a:gd name="T13" fmla="*/ 2 h 1524"/>
                <a:gd name="T14" fmla="*/ 4 w 943"/>
                <a:gd name="T15" fmla="*/ 2 h 1524"/>
                <a:gd name="T16" fmla="*/ 3 w 943"/>
                <a:gd name="T17" fmla="*/ 5 h 1524"/>
                <a:gd name="T18" fmla="*/ 3 w 943"/>
                <a:gd name="T19" fmla="*/ 6 h 1524"/>
                <a:gd name="T20" fmla="*/ 3 w 943"/>
                <a:gd name="T21" fmla="*/ 6 h 1524"/>
                <a:gd name="T22" fmla="*/ 3 w 943"/>
                <a:gd name="T23" fmla="*/ 6 h 1524"/>
                <a:gd name="T24" fmla="*/ 3 w 943"/>
                <a:gd name="T25" fmla="*/ 6 h 1524"/>
                <a:gd name="T26" fmla="*/ 3 w 943"/>
                <a:gd name="T27" fmla="*/ 6 h 1524"/>
                <a:gd name="T28" fmla="*/ 3 w 943"/>
                <a:gd name="T29" fmla="*/ 6 h 1524"/>
                <a:gd name="T30" fmla="*/ 3 w 943"/>
                <a:gd name="T31" fmla="*/ 5 h 1524"/>
                <a:gd name="T32" fmla="*/ 2 w 943"/>
                <a:gd name="T33" fmla="*/ 1 h 1524"/>
                <a:gd name="T34" fmla="*/ 2 w 943"/>
                <a:gd name="T35" fmla="*/ 1 h 1524"/>
                <a:gd name="T36" fmla="*/ 2 w 943"/>
                <a:gd name="T37" fmla="*/ 1 h 1524"/>
                <a:gd name="T38" fmla="*/ 2 w 943"/>
                <a:gd name="T39" fmla="*/ 1 h 1524"/>
                <a:gd name="T40" fmla="*/ 2 w 943"/>
                <a:gd name="T41" fmla="*/ 0 h 1524"/>
                <a:gd name="T42" fmla="*/ 2 w 943"/>
                <a:gd name="T43" fmla="*/ 0 h 1524"/>
                <a:gd name="T44" fmla="*/ 2 w 943"/>
                <a:gd name="T45" fmla="*/ 0 h 1524"/>
                <a:gd name="T46" fmla="*/ 2 w 943"/>
                <a:gd name="T47" fmla="*/ 1 h 1524"/>
                <a:gd name="T48" fmla="*/ 2 w 943"/>
                <a:gd name="T49" fmla="*/ 1 h 1524"/>
                <a:gd name="T50" fmla="*/ 2 w 943"/>
                <a:gd name="T51" fmla="*/ 1 h 1524"/>
                <a:gd name="T52" fmla="*/ 2 w 943"/>
                <a:gd name="T53" fmla="*/ 1 h 1524"/>
                <a:gd name="T54" fmla="*/ 1 w 943"/>
                <a:gd name="T55" fmla="*/ 7 h 1524"/>
                <a:gd name="T56" fmla="*/ 1 w 943"/>
                <a:gd name="T57" fmla="*/ 7 h 1524"/>
                <a:gd name="T58" fmla="*/ 1 w 943"/>
                <a:gd name="T59" fmla="*/ 7 h 1524"/>
                <a:gd name="T60" fmla="*/ 1 w 943"/>
                <a:gd name="T61" fmla="*/ 7 h 1524"/>
                <a:gd name="T62" fmla="*/ 1 w 943"/>
                <a:gd name="T63" fmla="*/ 7 h 1524"/>
                <a:gd name="T64" fmla="*/ 1 w 943"/>
                <a:gd name="T65" fmla="*/ 7 h 1524"/>
                <a:gd name="T66" fmla="*/ 1 w 943"/>
                <a:gd name="T67" fmla="*/ 7 h 1524"/>
                <a:gd name="T68" fmla="*/ 1 w 943"/>
                <a:gd name="T69" fmla="*/ 7 h 1524"/>
                <a:gd name="T70" fmla="*/ 1 w 943"/>
                <a:gd name="T71" fmla="*/ 7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a:solidFill>
                <a:srgbClr val="333399"/>
              </a:solidFill>
              <a:round/>
              <a:headEnd/>
              <a:tailEnd/>
            </a:ln>
          </p:spPr>
          <p:txBody>
            <a:bodyPr/>
            <a:lstStyle/>
            <a:p>
              <a:endParaRPr lang="zh-CN" altLang="en-US"/>
            </a:p>
          </p:txBody>
        </p:sp>
      </p:grpSp>
      <p:grpSp>
        <p:nvGrpSpPr>
          <p:cNvPr id="15" name="Group 113"/>
          <p:cNvGrpSpPr>
            <a:grpSpLocks/>
          </p:cNvGrpSpPr>
          <p:nvPr/>
        </p:nvGrpSpPr>
        <p:grpSpPr bwMode="auto">
          <a:xfrm>
            <a:off x="503238" y="2000250"/>
            <a:ext cx="7735887" cy="363538"/>
            <a:chOff x="317" y="1260"/>
            <a:chExt cx="4873" cy="229"/>
          </a:xfrm>
        </p:grpSpPr>
        <p:sp>
          <p:nvSpPr>
            <p:cNvPr id="8244" name="Line 65"/>
            <p:cNvSpPr>
              <a:spLocks noChangeShapeType="1"/>
            </p:cNvSpPr>
            <p:nvPr/>
          </p:nvSpPr>
          <p:spPr bwMode="auto">
            <a:xfrm>
              <a:off x="317" y="1373"/>
              <a:ext cx="4873" cy="0"/>
            </a:xfrm>
            <a:prstGeom prst="line">
              <a:avLst/>
            </a:prstGeom>
            <a:noFill/>
            <a:ln w="28575">
              <a:solidFill>
                <a:schemeClr val="hlink"/>
              </a:solidFill>
              <a:round/>
              <a:headEnd type="triangle" w="med" len="med"/>
              <a:tailEnd type="triangle" w="med" len="med"/>
            </a:ln>
          </p:spPr>
          <p:txBody>
            <a:bodyPr/>
            <a:lstStyle/>
            <a:p>
              <a:endParaRPr lang="zh-CN" altLang="en-US"/>
            </a:p>
          </p:txBody>
        </p:sp>
        <p:sp>
          <p:nvSpPr>
            <p:cNvPr id="8245" name="Rectangle 66"/>
            <p:cNvSpPr>
              <a:spLocks noChangeArrowheads="1"/>
            </p:cNvSpPr>
            <p:nvPr/>
          </p:nvSpPr>
          <p:spPr bwMode="auto">
            <a:xfrm>
              <a:off x="2294" y="1260"/>
              <a:ext cx="994" cy="229"/>
            </a:xfrm>
            <a:prstGeom prst="rect">
              <a:avLst/>
            </a:prstGeom>
            <a:solidFill>
              <a:schemeClr val="bg1"/>
            </a:solidFill>
            <a:ln w="12700">
              <a:noFill/>
              <a:miter lim="800000"/>
              <a:headEnd/>
              <a:tailEnd/>
            </a:ln>
          </p:spPr>
          <p:txBody>
            <a:bodyPr lIns="90488" tIns="44450" rIns="90488" bIns="44450">
              <a:spAutoFit/>
            </a:bodyPr>
            <a:lstStyle/>
            <a:p>
              <a:pPr algn="l" defTabSz="762000" eaLnBrk="0" hangingPunct="0"/>
              <a:r>
                <a:rPr kumimoji="1" lang="zh-CN" altLang="en-US" sz="1800">
                  <a:solidFill>
                    <a:schemeClr val="hlink"/>
                  </a:solidFill>
                  <a:latin typeface="Arial" pitchFamily="34" charset="0"/>
                  <a:ea typeface="黑体" pitchFamily="49" charset="-122"/>
                </a:rPr>
                <a:t>数据通信系统</a:t>
              </a:r>
            </a:p>
          </p:txBody>
        </p:sp>
      </p:grpSp>
      <p:grpSp>
        <p:nvGrpSpPr>
          <p:cNvPr id="16" name="Group 99"/>
          <p:cNvGrpSpPr>
            <a:grpSpLocks/>
          </p:cNvGrpSpPr>
          <p:nvPr/>
        </p:nvGrpSpPr>
        <p:grpSpPr bwMode="auto">
          <a:xfrm>
            <a:off x="433388" y="3319463"/>
            <a:ext cx="2838450" cy="1660525"/>
            <a:chOff x="273" y="2091"/>
            <a:chExt cx="1788" cy="1046"/>
          </a:xfrm>
        </p:grpSpPr>
        <p:sp>
          <p:nvSpPr>
            <p:cNvPr id="8240" name="Line 68"/>
            <p:cNvSpPr>
              <a:spLocks noChangeShapeType="1"/>
            </p:cNvSpPr>
            <p:nvPr/>
          </p:nvSpPr>
          <p:spPr bwMode="auto">
            <a:xfrm>
              <a:off x="2061" y="2091"/>
              <a:ext cx="0" cy="1046"/>
            </a:xfrm>
            <a:prstGeom prst="line">
              <a:avLst/>
            </a:prstGeom>
            <a:noFill/>
            <a:ln w="19050">
              <a:solidFill>
                <a:srgbClr val="333399"/>
              </a:solidFill>
              <a:prstDash val="dash"/>
              <a:round/>
              <a:headEnd type="none" w="sm" len="med"/>
              <a:tailEnd type="none" w="sm" len="med"/>
            </a:ln>
          </p:spPr>
          <p:txBody>
            <a:bodyPr/>
            <a:lstStyle/>
            <a:p>
              <a:endParaRPr lang="zh-CN" altLang="en-US"/>
            </a:p>
          </p:txBody>
        </p:sp>
        <p:grpSp>
          <p:nvGrpSpPr>
            <p:cNvPr id="8241" name="Group 98"/>
            <p:cNvGrpSpPr>
              <a:grpSpLocks/>
            </p:cNvGrpSpPr>
            <p:nvPr/>
          </p:nvGrpSpPr>
          <p:grpSpPr bwMode="auto">
            <a:xfrm>
              <a:off x="273" y="2523"/>
              <a:ext cx="1788" cy="237"/>
              <a:chOff x="273" y="2523"/>
              <a:chExt cx="1788" cy="237"/>
            </a:xfrm>
          </p:grpSpPr>
          <p:sp>
            <p:nvSpPr>
              <p:cNvPr id="8242"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p:spPr>
            <p:txBody>
              <a:bodyPr/>
              <a:lstStyle/>
              <a:p>
                <a:endParaRPr lang="zh-CN" altLang="en-US"/>
              </a:p>
            </p:txBody>
          </p:sp>
          <p:sp>
            <p:nvSpPr>
              <p:cNvPr id="8243" name="Rectangle 71"/>
              <p:cNvSpPr>
                <a:spLocks noChangeArrowheads="1"/>
              </p:cNvSpPr>
              <p:nvPr/>
            </p:nvSpPr>
            <p:spPr bwMode="auto">
              <a:xfrm>
                <a:off x="854" y="2523"/>
                <a:ext cx="620" cy="237"/>
              </a:xfrm>
              <a:prstGeom prst="rect">
                <a:avLst/>
              </a:prstGeom>
              <a:solidFill>
                <a:srgbClr val="FFFF66"/>
              </a:solidFill>
              <a:ln w="12700">
                <a:solidFill>
                  <a:srgbClr val="333399"/>
                </a:solid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源系统</a:t>
                </a:r>
              </a:p>
            </p:txBody>
          </p:sp>
        </p:grpSp>
      </p:grpSp>
      <p:grpSp>
        <p:nvGrpSpPr>
          <p:cNvPr id="18" name="Group 101"/>
          <p:cNvGrpSpPr>
            <a:grpSpLocks/>
          </p:cNvGrpSpPr>
          <p:nvPr/>
        </p:nvGrpSpPr>
        <p:grpSpPr bwMode="auto">
          <a:xfrm>
            <a:off x="5541963" y="4021138"/>
            <a:ext cx="2840037" cy="376237"/>
            <a:chOff x="3491" y="2533"/>
            <a:chExt cx="1789" cy="237"/>
          </a:xfrm>
        </p:grpSpPr>
        <p:sp>
          <p:nvSpPr>
            <p:cNvPr id="8238"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p:spPr>
          <p:txBody>
            <a:bodyPr/>
            <a:lstStyle/>
            <a:p>
              <a:endParaRPr lang="zh-CN" altLang="en-US"/>
            </a:p>
          </p:txBody>
        </p:sp>
        <p:sp>
          <p:nvSpPr>
            <p:cNvPr id="8239" name="Rectangle 73"/>
            <p:cNvSpPr>
              <a:spLocks noChangeArrowheads="1"/>
            </p:cNvSpPr>
            <p:nvPr/>
          </p:nvSpPr>
          <p:spPr bwMode="auto">
            <a:xfrm>
              <a:off x="4028" y="2533"/>
              <a:ext cx="712" cy="237"/>
            </a:xfrm>
            <a:prstGeom prst="rect">
              <a:avLst/>
            </a:prstGeom>
            <a:solidFill>
              <a:srgbClr val="FFCCFF"/>
            </a:solidFill>
            <a:ln w="12700">
              <a:solidFill>
                <a:srgbClr val="333399"/>
              </a:solid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目的系统</a:t>
              </a:r>
            </a:p>
          </p:txBody>
        </p:sp>
      </p:grpSp>
      <p:grpSp>
        <p:nvGrpSpPr>
          <p:cNvPr id="19" name="Group 100"/>
          <p:cNvGrpSpPr>
            <a:grpSpLocks/>
          </p:cNvGrpSpPr>
          <p:nvPr/>
        </p:nvGrpSpPr>
        <p:grpSpPr bwMode="auto">
          <a:xfrm>
            <a:off x="3271838" y="3290888"/>
            <a:ext cx="2270125" cy="1725612"/>
            <a:chOff x="2061" y="2073"/>
            <a:chExt cx="1430" cy="1087"/>
          </a:xfrm>
        </p:grpSpPr>
        <p:sp>
          <p:nvSpPr>
            <p:cNvPr id="8235"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p:spPr>
          <p:txBody>
            <a:bodyPr/>
            <a:lstStyle/>
            <a:p>
              <a:endParaRPr lang="zh-CN" altLang="en-US"/>
            </a:p>
          </p:txBody>
        </p:sp>
        <p:sp>
          <p:nvSpPr>
            <p:cNvPr id="8236" name="Rectangle 72"/>
            <p:cNvSpPr>
              <a:spLocks noChangeArrowheads="1"/>
            </p:cNvSpPr>
            <p:nvPr/>
          </p:nvSpPr>
          <p:spPr bwMode="auto">
            <a:xfrm>
              <a:off x="2418" y="2533"/>
              <a:ext cx="734" cy="237"/>
            </a:xfrm>
            <a:prstGeom prst="rect">
              <a:avLst/>
            </a:prstGeom>
            <a:solidFill>
              <a:srgbClr val="CCFFFF"/>
            </a:solidFill>
            <a:ln w="12700">
              <a:solidFill>
                <a:srgbClr val="333399"/>
              </a:solid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传输系统</a:t>
              </a:r>
            </a:p>
          </p:txBody>
        </p:sp>
        <p:sp>
          <p:nvSpPr>
            <p:cNvPr id="8237" name="Line 74"/>
            <p:cNvSpPr>
              <a:spLocks noChangeShapeType="1"/>
            </p:cNvSpPr>
            <p:nvPr/>
          </p:nvSpPr>
          <p:spPr bwMode="auto">
            <a:xfrm flipH="1">
              <a:off x="3486" y="2073"/>
              <a:ext cx="5" cy="1087"/>
            </a:xfrm>
            <a:prstGeom prst="line">
              <a:avLst/>
            </a:prstGeom>
            <a:noFill/>
            <a:ln w="19050">
              <a:solidFill>
                <a:srgbClr val="333399"/>
              </a:solidFill>
              <a:prstDash val="dash"/>
              <a:round/>
              <a:headEnd type="none" w="sm" len="med"/>
              <a:tailEnd type="none" w="sm" len="med"/>
            </a:ln>
          </p:spPr>
          <p:txBody>
            <a:bodyPr/>
            <a:lstStyle/>
            <a:p>
              <a:endParaRPr lang="zh-CN" altLang="en-US"/>
            </a:p>
          </p:txBody>
        </p:sp>
      </p:grpSp>
      <p:pic>
        <p:nvPicPr>
          <p:cNvPr id="8229" name="Picture 75"/>
          <p:cNvPicPr>
            <a:picLocks noChangeArrowheads="1"/>
          </p:cNvPicPr>
          <p:nvPr/>
        </p:nvPicPr>
        <p:blipFill>
          <a:blip r:embed="rId3" cstate="print"/>
          <a:srcRect/>
          <a:stretch>
            <a:fillRect/>
          </a:stretch>
        </p:blipFill>
        <p:spPr bwMode="auto">
          <a:xfrm>
            <a:off x="5897563" y="3052763"/>
            <a:ext cx="852487" cy="530225"/>
          </a:xfrm>
          <a:prstGeom prst="rect">
            <a:avLst/>
          </a:prstGeom>
          <a:noFill/>
          <a:ln w="9525">
            <a:noFill/>
            <a:miter lim="800000"/>
            <a:headEnd/>
            <a:tailEnd/>
          </a:ln>
        </p:spPr>
      </p:pic>
      <p:pic>
        <p:nvPicPr>
          <p:cNvPr id="8230" name="Picture 76"/>
          <p:cNvPicPr>
            <a:picLocks noChangeArrowheads="1"/>
          </p:cNvPicPr>
          <p:nvPr/>
        </p:nvPicPr>
        <p:blipFill>
          <a:blip r:embed="rId4" cstate="print"/>
          <a:srcRect/>
          <a:stretch>
            <a:fillRect/>
          </a:stretch>
        </p:blipFill>
        <p:spPr bwMode="auto">
          <a:xfrm>
            <a:off x="7388225" y="2855913"/>
            <a:ext cx="709613" cy="669925"/>
          </a:xfrm>
          <a:prstGeom prst="rect">
            <a:avLst/>
          </a:prstGeom>
          <a:noFill/>
          <a:ln w="12699">
            <a:noFill/>
            <a:miter lim="800000"/>
            <a:headEnd/>
            <a:tailEnd/>
          </a:ln>
        </p:spPr>
      </p:pic>
      <p:grpSp>
        <p:nvGrpSpPr>
          <p:cNvPr id="20" name="Group 112"/>
          <p:cNvGrpSpPr>
            <a:grpSpLocks/>
          </p:cNvGrpSpPr>
          <p:nvPr/>
        </p:nvGrpSpPr>
        <p:grpSpPr bwMode="auto">
          <a:xfrm>
            <a:off x="8204200" y="5016500"/>
            <a:ext cx="615950" cy="1262063"/>
            <a:chOff x="5168" y="3160"/>
            <a:chExt cx="388" cy="795"/>
          </a:xfrm>
        </p:grpSpPr>
        <p:sp>
          <p:nvSpPr>
            <p:cNvPr id="8233" name="Rectangle 6"/>
            <p:cNvSpPr>
              <a:spLocks noChangeArrowheads="1"/>
            </p:cNvSpPr>
            <p:nvPr/>
          </p:nvSpPr>
          <p:spPr bwMode="auto">
            <a:xfrm>
              <a:off x="5199" y="3207"/>
              <a:ext cx="357" cy="748"/>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输出信息</a:t>
              </a:r>
            </a:p>
          </p:txBody>
        </p:sp>
        <p:sp>
          <p:nvSpPr>
            <p:cNvPr id="8234" name="Line 77"/>
            <p:cNvSpPr>
              <a:spLocks noChangeShapeType="1"/>
            </p:cNvSpPr>
            <p:nvPr/>
          </p:nvSpPr>
          <p:spPr bwMode="auto">
            <a:xfrm>
              <a:off x="5168" y="3160"/>
              <a:ext cx="335" cy="0"/>
            </a:xfrm>
            <a:prstGeom prst="line">
              <a:avLst/>
            </a:prstGeom>
            <a:noFill/>
            <a:ln w="38100">
              <a:solidFill>
                <a:srgbClr val="333399"/>
              </a:solidFill>
              <a:round/>
              <a:headEnd/>
              <a:tailEnd type="triangle" w="med" len="lg"/>
            </a:ln>
          </p:spPr>
          <p:txBody>
            <a:bodyPr/>
            <a:lstStyle/>
            <a:p>
              <a:endParaRPr lang="zh-CN" altLang="en-US"/>
            </a:p>
          </p:txBody>
        </p:sp>
      </p:grpSp>
      <p:sp>
        <p:nvSpPr>
          <p:cNvPr id="8232" name="Rectangle 79"/>
          <p:cNvSpPr>
            <a:spLocks noChangeArrowheads="1"/>
          </p:cNvSpPr>
          <p:nvPr/>
        </p:nvSpPr>
        <p:spPr bwMode="auto">
          <a:xfrm>
            <a:off x="7356475" y="3527425"/>
            <a:ext cx="815975" cy="363538"/>
          </a:xfrm>
          <a:prstGeom prst="rect">
            <a:avLst/>
          </a:prstGeom>
          <a:noFill/>
          <a:ln w="12700">
            <a:noFill/>
            <a:miter lim="800000"/>
            <a:headEnd/>
            <a:tailEnd/>
          </a:ln>
        </p:spPr>
        <p:txBody>
          <a:bodyPr lIns="90488" tIns="44450" rIns="90488" bIns="44450">
            <a:spAutoFit/>
          </a:bodyPr>
          <a:lstStyle/>
          <a:p>
            <a:pPr algn="l" defTabSz="762000" eaLnBrk="0" hangingPunct="0"/>
            <a:r>
              <a:rPr kumimoji="1" lang="en-US" altLang="zh-CN" sz="1800">
                <a:solidFill>
                  <a:srgbClr val="333399"/>
                </a:solidFill>
                <a:latin typeface="Arial" pitchFamily="34" charset="0"/>
                <a:ea typeface="黑体" pitchFamily="49" charset="-122"/>
              </a:rPr>
              <a:t>PC </a:t>
            </a:r>
            <a:r>
              <a:rPr kumimoji="1" lang="zh-CN" altLang="en-US" sz="1800">
                <a:solidFill>
                  <a:srgbClr val="333399"/>
                </a:solidFill>
                <a:latin typeface="Arial" pitchFamily="34" charset="0"/>
                <a:ea typeface="黑体" pitchFamily="49" charset="-122"/>
              </a:rPr>
              <a:t>机</a:t>
            </a:r>
          </a:p>
        </p:txBody>
      </p:sp>
      <p:sp>
        <p:nvSpPr>
          <p:cNvPr id="99" name="TextBox 98"/>
          <p:cNvSpPr txBox="1"/>
          <p:nvPr/>
        </p:nvSpPr>
        <p:spPr>
          <a:xfrm>
            <a:off x="2411760" y="6093296"/>
            <a:ext cx="3672408" cy="461665"/>
          </a:xfrm>
          <a:prstGeom prst="rect">
            <a:avLst/>
          </a:prstGeom>
          <a:noFill/>
        </p:spPr>
        <p:txBody>
          <a:bodyPr wrap="square" rtlCol="0">
            <a:spAutoFit/>
          </a:bodyPr>
          <a:lstStyle/>
          <a:p>
            <a:r>
              <a:rPr lang="zh-CN" altLang="en-US" dirty="0" smtClean="0"/>
              <a:t>数据通信系统模型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par>
                          <p:cTn id="14" fill="hold">
                            <p:stCondLst>
                              <p:cond delay="0"/>
                            </p:stCondLst>
                            <p:childTnLst>
                              <p:par>
                                <p:cTn id="15" presetID="35" presetClass="emph" presetSubtype="0" repeatCount="3000" fill="hold" nodeType="afterEffect">
                                  <p:stCondLst>
                                    <p:cond delay="0"/>
                                  </p:stCondLst>
                                  <p:childTnLst>
                                    <p:anim calcmode="discrete" valueType="str">
                                      <p:cBhvr>
                                        <p:cTn id="16"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par>
                          <p:cTn id="21" fill="hold">
                            <p:stCondLst>
                              <p:cond delay="0"/>
                            </p:stCondLst>
                            <p:childTnLst>
                              <p:par>
                                <p:cTn id="22" presetID="35" presetClass="emph" presetSubtype="0" repeatCount="3000" fill="hold" nodeType="afterEffect">
                                  <p:stCondLst>
                                    <p:cond delay="0"/>
                                  </p:stCondLst>
                                  <p:childTnLst>
                                    <p:anim calcmode="discrete" valueType="str">
                                      <p:cBhvr>
                                        <p:cTn id="23"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par>
                          <p:cTn id="28" fill="hold">
                            <p:stCondLst>
                              <p:cond delay="0"/>
                            </p:stCondLst>
                            <p:childTnLst>
                              <p:par>
                                <p:cTn id="29" presetID="35" presetClass="emph" presetSubtype="0" repeatCount="3000" fill="hold" nodeType="afterEffect">
                                  <p:stCondLst>
                                    <p:cond delay="0"/>
                                  </p:stCondLst>
                                  <p:childTnLst>
                                    <p:anim calcmode="discrete" valueType="str">
                                      <p:cBhvr>
                                        <p:cTn id="30" dur="1000" fill="hold"/>
                                        <p:tgtEl>
                                          <p:spTgt spid="18"/>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500"/>
                                  </p:stCondLst>
                                  <p:childTnLst>
                                    <p:set>
                                      <p:cBhvr>
                                        <p:cTn id="37" dur="1" fill="hold">
                                          <p:stCondLst>
                                            <p:cond delay="0"/>
                                          </p:stCondLst>
                                        </p:cTn>
                                        <p:tgtEl>
                                          <p:spTgt spid="8"/>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1000"/>
                                  </p:stCondLst>
                                  <p:childTnLst>
                                    <p:set>
                                      <p:cBhvr>
                                        <p:cTn id="40" dur="1" fill="hold">
                                          <p:stCondLst>
                                            <p:cond delay="0"/>
                                          </p:stCondLst>
                                        </p:cTn>
                                        <p:tgtEl>
                                          <p:spTgt spid="4"/>
                                        </p:tgtEl>
                                        <p:attrNameLst>
                                          <p:attrName>style.visibility</p:attrName>
                                        </p:attrNameLst>
                                      </p:cBhvr>
                                      <p:to>
                                        <p:strVal val="visible"/>
                                      </p:to>
                                    </p:set>
                                  </p:childTnLst>
                                </p:cTn>
                              </p:par>
                            </p:childTnLst>
                          </p:cTn>
                        </p:par>
                        <p:par>
                          <p:cTn id="41" fill="hold">
                            <p:stCondLst>
                              <p:cond delay="1500"/>
                            </p:stCondLst>
                            <p:childTnLst>
                              <p:par>
                                <p:cTn id="42" presetID="1" presetClass="entr" presetSubtype="0" fill="hold" nodeType="afterEffect">
                                  <p:stCondLst>
                                    <p:cond delay="1000"/>
                                  </p:stCondLst>
                                  <p:childTnLst>
                                    <p:set>
                                      <p:cBhvr>
                                        <p:cTn id="43" dur="1" fill="hold">
                                          <p:stCondLst>
                                            <p:cond delay="0"/>
                                          </p:stCondLst>
                                        </p:cTn>
                                        <p:tgtEl>
                                          <p:spTgt spid="10"/>
                                        </p:tgtEl>
                                        <p:attrNameLst>
                                          <p:attrName>style.visibility</p:attrName>
                                        </p:attrNameLst>
                                      </p:cBhvr>
                                      <p:to>
                                        <p:strVal val="visible"/>
                                      </p:to>
                                    </p:set>
                                  </p:childTnLst>
                                </p:cTn>
                              </p:par>
                            </p:childTnLst>
                          </p:cTn>
                        </p:par>
                        <p:par>
                          <p:cTn id="44" fill="hold">
                            <p:stCondLst>
                              <p:cond delay="2500"/>
                            </p:stCondLst>
                            <p:childTnLst>
                              <p:par>
                                <p:cTn id="45" presetID="1" presetClass="entr" presetSubtype="0" fill="hold" nodeType="afterEffect">
                                  <p:stCondLst>
                                    <p:cond delay="1000"/>
                                  </p:stCondLst>
                                  <p:childTnLst>
                                    <p:set>
                                      <p:cBhvr>
                                        <p:cTn id="46" dur="1" fill="hold">
                                          <p:stCondLst>
                                            <p:cond delay="0"/>
                                          </p:stCondLst>
                                        </p:cTn>
                                        <p:tgtEl>
                                          <p:spTgt spid="5"/>
                                        </p:tgtEl>
                                        <p:attrNameLst>
                                          <p:attrName>style.visibility</p:attrName>
                                        </p:attrNameLst>
                                      </p:cBhvr>
                                      <p:to>
                                        <p:strVal val="visible"/>
                                      </p:to>
                                    </p:set>
                                  </p:childTnLst>
                                </p:cTn>
                              </p:par>
                            </p:childTnLst>
                          </p:cTn>
                        </p:par>
                        <p:par>
                          <p:cTn id="47" fill="hold">
                            <p:stCondLst>
                              <p:cond delay="3500"/>
                            </p:stCondLst>
                            <p:childTnLst>
                              <p:par>
                                <p:cTn id="48" presetID="1" presetClass="entr" presetSubtype="0" fill="hold" nodeType="afterEffect">
                                  <p:stCondLst>
                                    <p:cond delay="1000"/>
                                  </p:stCondLst>
                                  <p:childTnLst>
                                    <p:set>
                                      <p:cBhvr>
                                        <p:cTn id="49" dur="1" fill="hold">
                                          <p:stCondLst>
                                            <p:cond delay="0"/>
                                          </p:stCondLst>
                                        </p:cTn>
                                        <p:tgtEl>
                                          <p:spTgt spid="2"/>
                                        </p:tgtEl>
                                        <p:attrNameLst>
                                          <p:attrName>style.visibility</p:attrName>
                                        </p:attrNameLst>
                                      </p:cBhvr>
                                      <p:to>
                                        <p:strVal val="visible"/>
                                      </p:to>
                                    </p:set>
                                  </p:childTnLst>
                                </p:cTn>
                              </p:par>
                            </p:childTnLst>
                          </p:cTn>
                        </p:par>
                        <p:par>
                          <p:cTn id="50" fill="hold">
                            <p:stCondLst>
                              <p:cond delay="4500"/>
                            </p:stCondLst>
                            <p:childTnLst>
                              <p:par>
                                <p:cTn id="51" presetID="1" presetClass="entr" presetSubtype="0" fill="hold" nodeType="afterEffect">
                                  <p:stCondLst>
                                    <p:cond delay="1000"/>
                                  </p:stCondLst>
                                  <p:childTnLst>
                                    <p:set>
                                      <p:cBhvr>
                                        <p:cTn id="52" dur="1" fill="hold">
                                          <p:stCondLst>
                                            <p:cond delay="0"/>
                                          </p:stCondLst>
                                        </p:cTn>
                                        <p:tgtEl>
                                          <p:spTgt spid="6"/>
                                        </p:tgtEl>
                                        <p:attrNameLst>
                                          <p:attrName>style.visibility</p:attrName>
                                        </p:attrNameLst>
                                      </p:cBhvr>
                                      <p:to>
                                        <p:strVal val="visible"/>
                                      </p:to>
                                    </p:set>
                                  </p:childTnLst>
                                </p:cTn>
                              </p:par>
                            </p:childTnLst>
                          </p:cTn>
                        </p:par>
                        <p:par>
                          <p:cTn id="53" fill="hold">
                            <p:stCondLst>
                              <p:cond delay="5500"/>
                            </p:stCondLst>
                            <p:childTnLst>
                              <p:par>
                                <p:cTn id="54" presetID="1" presetClass="entr" presetSubtype="0" fill="hold" nodeType="afterEffect">
                                  <p:stCondLst>
                                    <p:cond delay="1000"/>
                                  </p:stCondLst>
                                  <p:childTnLst>
                                    <p:set>
                                      <p:cBhvr>
                                        <p:cTn id="55" dur="1" fill="hold">
                                          <p:stCondLst>
                                            <p:cond delay="0"/>
                                          </p:stCondLst>
                                        </p:cTn>
                                        <p:tgtEl>
                                          <p:spTgt spid="11"/>
                                        </p:tgtEl>
                                        <p:attrNameLst>
                                          <p:attrName>style.visibility</p:attrName>
                                        </p:attrNameLst>
                                      </p:cBhvr>
                                      <p:to>
                                        <p:strVal val="visible"/>
                                      </p:to>
                                    </p:set>
                                  </p:childTnLst>
                                </p:cTn>
                              </p:par>
                            </p:childTnLst>
                          </p:cTn>
                        </p:par>
                        <p:par>
                          <p:cTn id="56" fill="hold">
                            <p:stCondLst>
                              <p:cond delay="6500"/>
                            </p:stCondLst>
                            <p:childTnLst>
                              <p:par>
                                <p:cTn id="57" presetID="1" presetClass="entr" presetSubtype="0" fill="hold" nodeType="afterEffect">
                                  <p:stCondLst>
                                    <p:cond delay="1000"/>
                                  </p:stCondLst>
                                  <p:childTnLst>
                                    <p:set>
                                      <p:cBhvr>
                                        <p:cTn id="58" dur="1" fill="hold">
                                          <p:stCondLst>
                                            <p:cond delay="0"/>
                                          </p:stCondLst>
                                        </p:cTn>
                                        <p:tgtEl>
                                          <p:spTgt spid="7"/>
                                        </p:tgtEl>
                                        <p:attrNameLst>
                                          <p:attrName>style.visibility</p:attrName>
                                        </p:attrNameLst>
                                      </p:cBhvr>
                                      <p:to>
                                        <p:strVal val="visible"/>
                                      </p:to>
                                    </p:set>
                                  </p:childTnLst>
                                </p:cTn>
                              </p:par>
                            </p:childTnLst>
                          </p:cTn>
                        </p:par>
                        <p:par>
                          <p:cTn id="59" fill="hold">
                            <p:stCondLst>
                              <p:cond delay="7500"/>
                            </p:stCondLst>
                            <p:childTnLst>
                              <p:par>
                                <p:cTn id="60" presetID="1" presetClass="entr" presetSubtype="0" fill="hold" nodeType="afterEffect">
                                  <p:stCondLst>
                                    <p:cond delay="1000"/>
                                  </p:stCondLst>
                                  <p:childTnLst>
                                    <p:set>
                                      <p:cBhvr>
                                        <p:cTn id="61" dur="1" fill="hold">
                                          <p:stCondLst>
                                            <p:cond delay="0"/>
                                          </p:stCondLst>
                                        </p:cTn>
                                        <p:tgtEl>
                                          <p:spTgt spid="9"/>
                                        </p:tgtEl>
                                        <p:attrNameLst>
                                          <p:attrName>style.visibility</p:attrName>
                                        </p:attrNameLst>
                                      </p:cBhvr>
                                      <p:to>
                                        <p:strVal val="visible"/>
                                      </p:to>
                                    </p:set>
                                  </p:childTnLst>
                                </p:cTn>
                              </p:par>
                            </p:childTnLst>
                          </p:cTn>
                        </p:par>
                        <p:par>
                          <p:cTn id="62" fill="hold">
                            <p:stCondLst>
                              <p:cond delay="8500"/>
                            </p:stCondLst>
                            <p:childTnLst>
                              <p:par>
                                <p:cTn id="63" presetID="1" presetClass="entr" presetSubtype="0" fill="hold" nodeType="afterEffect">
                                  <p:stCondLst>
                                    <p:cond delay="100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150938" y="214313"/>
            <a:ext cx="6950075" cy="1462087"/>
          </a:xfrm>
        </p:spPr>
        <p:txBody>
          <a:bodyPr/>
          <a:lstStyle/>
          <a:p>
            <a:pPr algn="ctr" eaLnBrk="1" hangingPunct="1"/>
            <a:r>
              <a:rPr lang="zh-CN" altLang="en-US" dirty="0" smtClean="0"/>
              <a:t>（</a:t>
            </a:r>
            <a:r>
              <a:rPr lang="en-US" altLang="zh-CN" dirty="0" smtClean="0"/>
              <a:t>1</a:t>
            </a:r>
            <a:r>
              <a:rPr lang="zh-CN" altLang="en-US" dirty="0" smtClean="0"/>
              <a:t>）基本概念</a:t>
            </a:r>
          </a:p>
        </p:txBody>
      </p:sp>
      <p:sp>
        <p:nvSpPr>
          <p:cNvPr id="28675" name="Rectangle 3"/>
          <p:cNvSpPr>
            <a:spLocks noGrp="1" noChangeArrowheads="1"/>
          </p:cNvSpPr>
          <p:nvPr>
            <p:ph type="body" idx="1"/>
          </p:nvPr>
        </p:nvSpPr>
        <p:spPr>
          <a:xfrm>
            <a:off x="395288" y="1978025"/>
            <a:ext cx="8748712" cy="4114800"/>
          </a:xfrm>
        </p:spPr>
        <p:txBody>
          <a:bodyPr/>
          <a:lstStyle/>
          <a:p>
            <a:pPr eaLnBrk="1" hangingPunct="1">
              <a:lnSpc>
                <a:spcPct val="120000"/>
              </a:lnSpc>
            </a:pPr>
            <a:r>
              <a:rPr lang="zh-CN" altLang="en-US" sz="2600" dirty="0" smtClean="0"/>
              <a:t>数据</a:t>
            </a:r>
            <a:r>
              <a:rPr lang="en-US" altLang="zh-CN" sz="2600" dirty="0" smtClean="0"/>
              <a:t>(data)——</a:t>
            </a:r>
            <a:r>
              <a:rPr lang="zh-CN" altLang="en-US" sz="2600" dirty="0" smtClean="0"/>
              <a:t>运送消息的实体。</a:t>
            </a:r>
          </a:p>
          <a:p>
            <a:pPr eaLnBrk="1" hangingPunct="1">
              <a:lnSpc>
                <a:spcPct val="120000"/>
              </a:lnSpc>
            </a:pPr>
            <a:r>
              <a:rPr lang="zh-CN" altLang="en-US" sz="2600" dirty="0" smtClean="0"/>
              <a:t>信号</a:t>
            </a:r>
            <a:r>
              <a:rPr lang="en-US" altLang="zh-CN" sz="2600" dirty="0" smtClean="0"/>
              <a:t>(signal)——</a:t>
            </a:r>
            <a:r>
              <a:rPr lang="zh-CN" altLang="en-US" sz="2600" dirty="0" smtClean="0"/>
              <a:t>数据的电气的或电磁的表现。 </a:t>
            </a:r>
          </a:p>
          <a:p>
            <a:pPr eaLnBrk="1" hangingPunct="1">
              <a:lnSpc>
                <a:spcPct val="120000"/>
              </a:lnSpc>
            </a:pPr>
            <a:r>
              <a:rPr lang="zh-CN" altLang="en-US" sz="2600" dirty="0" smtClean="0"/>
              <a:t>“模拟的”</a:t>
            </a:r>
            <a:r>
              <a:rPr lang="en-US" altLang="zh-CN" sz="2600" dirty="0" smtClean="0"/>
              <a:t>(analogous)——</a:t>
            </a:r>
            <a:r>
              <a:rPr lang="zh-CN" altLang="en-US" sz="2600" dirty="0" smtClean="0"/>
              <a:t>代表消息的参数的取值是连续的。 </a:t>
            </a:r>
          </a:p>
          <a:p>
            <a:pPr eaLnBrk="1" hangingPunct="1">
              <a:lnSpc>
                <a:spcPct val="120000"/>
              </a:lnSpc>
            </a:pPr>
            <a:r>
              <a:rPr lang="zh-CN" altLang="en-US" sz="2600" dirty="0" smtClean="0"/>
              <a:t>“数字的”</a:t>
            </a:r>
            <a:r>
              <a:rPr lang="en-US" altLang="zh-CN" sz="2600" dirty="0" smtClean="0"/>
              <a:t>(digital)——</a:t>
            </a:r>
            <a:r>
              <a:rPr lang="zh-CN" altLang="en-US" sz="2600" dirty="0" smtClean="0"/>
              <a:t>代表消息的参数的取值是离散的。 </a:t>
            </a:r>
          </a:p>
          <a:p>
            <a:pPr eaLnBrk="1" hangingPunct="1">
              <a:lnSpc>
                <a:spcPct val="120000"/>
              </a:lnSpc>
            </a:pPr>
            <a:r>
              <a:rPr lang="zh-CN" altLang="en-US" sz="2600" dirty="0" smtClean="0"/>
              <a:t>码元</a:t>
            </a:r>
            <a:r>
              <a:rPr lang="en-US" altLang="zh-CN" sz="2600" dirty="0" smtClean="0"/>
              <a:t>(code)——</a:t>
            </a:r>
            <a:r>
              <a:rPr lang="zh-CN" altLang="en-US" sz="2600" dirty="0" smtClean="0"/>
              <a:t>在使用时间域（或简称为时域）的波形表示数字信号时，代表不同离散数值的基本波形。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00113" y="214313"/>
            <a:ext cx="8043862" cy="1462087"/>
          </a:xfrm>
        </p:spPr>
        <p:txBody>
          <a:bodyPr/>
          <a:lstStyle/>
          <a:p>
            <a:pPr algn="ctr" eaLnBrk="1" hangingPunct="1"/>
            <a:r>
              <a:rPr lang="en-US" altLang="zh-CN" dirty="0" smtClean="0"/>
              <a:t> </a:t>
            </a:r>
            <a:r>
              <a:rPr lang="zh-CN" altLang="en-US" dirty="0" smtClean="0"/>
              <a:t>单向、双向通信</a:t>
            </a:r>
          </a:p>
        </p:txBody>
      </p:sp>
      <p:sp>
        <p:nvSpPr>
          <p:cNvPr id="30723" name="Rectangle 3"/>
          <p:cNvSpPr>
            <a:spLocks noGrp="1" noChangeArrowheads="1"/>
          </p:cNvSpPr>
          <p:nvPr>
            <p:ph type="body" idx="1"/>
          </p:nvPr>
        </p:nvSpPr>
        <p:spPr>
          <a:xfrm>
            <a:off x="684213" y="2122488"/>
            <a:ext cx="8131175" cy="4330700"/>
          </a:xfrm>
        </p:spPr>
        <p:txBody>
          <a:bodyPr/>
          <a:lstStyle/>
          <a:p>
            <a:pPr eaLnBrk="1" hangingPunct="1">
              <a:lnSpc>
                <a:spcPct val="90000"/>
              </a:lnSpc>
              <a:spcBef>
                <a:spcPct val="35000"/>
              </a:spcBef>
              <a:spcAft>
                <a:spcPct val="15000"/>
              </a:spcAft>
            </a:pPr>
            <a:r>
              <a:rPr lang="zh-CN" altLang="en-US" smtClean="0">
                <a:solidFill>
                  <a:schemeClr val="hlink"/>
                </a:solidFill>
              </a:rPr>
              <a:t>单向通信</a:t>
            </a:r>
            <a:r>
              <a:rPr lang="zh-CN" altLang="en-US" smtClean="0"/>
              <a:t>（单工通信）</a:t>
            </a:r>
            <a:r>
              <a:rPr lang="en-US" altLang="zh-CN" smtClean="0"/>
              <a:t>——</a:t>
            </a:r>
            <a:r>
              <a:rPr lang="zh-CN" altLang="en-US" smtClean="0"/>
              <a:t>只能有一个方向的通信而没有反方向的交互。</a:t>
            </a:r>
          </a:p>
          <a:p>
            <a:pPr eaLnBrk="1" hangingPunct="1">
              <a:lnSpc>
                <a:spcPct val="90000"/>
              </a:lnSpc>
              <a:spcBef>
                <a:spcPct val="35000"/>
              </a:spcBef>
              <a:spcAft>
                <a:spcPct val="15000"/>
              </a:spcAft>
            </a:pPr>
            <a:r>
              <a:rPr lang="zh-CN" altLang="en-US" smtClean="0">
                <a:solidFill>
                  <a:schemeClr val="hlink"/>
                </a:solidFill>
              </a:rPr>
              <a:t>双向交替通信</a:t>
            </a:r>
            <a:r>
              <a:rPr lang="zh-CN" altLang="en-US" smtClean="0"/>
              <a:t>（半双工通信）</a:t>
            </a:r>
            <a:r>
              <a:rPr lang="en-US" altLang="zh-CN" smtClean="0"/>
              <a:t>——</a:t>
            </a:r>
            <a:r>
              <a:rPr lang="zh-CN" altLang="en-US" smtClean="0"/>
              <a:t>通信的双方都可以发送信息，但不能双方同时发送</a:t>
            </a:r>
            <a:r>
              <a:rPr lang="en-US" altLang="zh-CN" smtClean="0"/>
              <a:t>(</a:t>
            </a:r>
            <a:r>
              <a:rPr lang="zh-CN" altLang="en-US" smtClean="0"/>
              <a:t>当然也就不能同时接收</a:t>
            </a:r>
            <a:r>
              <a:rPr lang="en-US" altLang="zh-CN" smtClean="0"/>
              <a:t>)</a:t>
            </a:r>
            <a:r>
              <a:rPr lang="zh-CN" altLang="en-US" smtClean="0"/>
              <a:t>。</a:t>
            </a:r>
          </a:p>
          <a:p>
            <a:pPr eaLnBrk="1" hangingPunct="1">
              <a:lnSpc>
                <a:spcPct val="90000"/>
              </a:lnSpc>
              <a:spcBef>
                <a:spcPct val="35000"/>
              </a:spcBef>
              <a:spcAft>
                <a:spcPct val="15000"/>
              </a:spcAft>
            </a:pPr>
            <a:r>
              <a:rPr lang="zh-CN" altLang="en-US" smtClean="0">
                <a:solidFill>
                  <a:schemeClr val="hlink"/>
                </a:solidFill>
              </a:rPr>
              <a:t>双向同时通信</a:t>
            </a:r>
            <a:r>
              <a:rPr lang="zh-CN" altLang="en-US" smtClean="0"/>
              <a:t>（全双工通信）</a:t>
            </a:r>
            <a:r>
              <a:rPr lang="en-US" altLang="zh-CN" smtClean="0"/>
              <a:t>——</a:t>
            </a:r>
            <a:r>
              <a:rPr lang="zh-CN" altLang="en-US" smtClean="0"/>
              <a:t>通信的双方可以同时发送和接收信息。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39552" y="214313"/>
            <a:ext cx="8404423" cy="1462087"/>
          </a:xfrm>
        </p:spPr>
        <p:txBody>
          <a:bodyPr/>
          <a:lstStyle/>
          <a:p>
            <a:pPr algn="ctr" eaLnBrk="1" hangingPunct="1"/>
            <a:r>
              <a:rPr lang="zh-CN" altLang="en-US" dirty="0" smtClean="0"/>
              <a:t>基带</a:t>
            </a:r>
            <a:r>
              <a:rPr lang="en-US" altLang="zh-CN" dirty="0" smtClean="0"/>
              <a:t>(baseband)</a:t>
            </a:r>
            <a:r>
              <a:rPr lang="zh-CN" altLang="en-US" dirty="0" smtClean="0"/>
              <a:t>信号和</a:t>
            </a:r>
            <a:br>
              <a:rPr lang="zh-CN" altLang="en-US" dirty="0" smtClean="0"/>
            </a:br>
            <a:r>
              <a:rPr lang="zh-CN" altLang="en-US" dirty="0" smtClean="0"/>
              <a:t>带通</a:t>
            </a:r>
            <a:r>
              <a:rPr lang="en-US" altLang="zh-CN" dirty="0" smtClean="0"/>
              <a:t>(band pass)</a:t>
            </a:r>
            <a:r>
              <a:rPr lang="zh-CN" altLang="en-US" dirty="0" smtClean="0"/>
              <a:t>信号 </a:t>
            </a:r>
          </a:p>
        </p:txBody>
      </p:sp>
      <p:sp>
        <p:nvSpPr>
          <p:cNvPr id="120835" name="Rectangle 3"/>
          <p:cNvSpPr>
            <a:spLocks noGrp="1" noChangeArrowheads="1"/>
          </p:cNvSpPr>
          <p:nvPr>
            <p:ph type="body" idx="1"/>
          </p:nvPr>
        </p:nvSpPr>
        <p:spPr>
          <a:xfrm>
            <a:off x="684213" y="2122488"/>
            <a:ext cx="8131175" cy="4330700"/>
          </a:xfrm>
        </p:spPr>
        <p:txBody>
          <a:bodyPr/>
          <a:lstStyle/>
          <a:p>
            <a:pPr eaLnBrk="1" hangingPunct="1">
              <a:spcBef>
                <a:spcPct val="35000"/>
              </a:spcBef>
              <a:spcAft>
                <a:spcPct val="15000"/>
              </a:spcAft>
            </a:pPr>
            <a:r>
              <a:rPr lang="zh-CN" altLang="en-US" sz="2400" smtClean="0">
                <a:solidFill>
                  <a:schemeClr val="hlink"/>
                </a:solidFill>
              </a:rPr>
              <a:t>基带信号</a:t>
            </a:r>
            <a:r>
              <a:rPr lang="zh-CN" altLang="en-US" sz="2400" smtClean="0"/>
              <a:t>（即基本频带信号）</a:t>
            </a:r>
            <a:r>
              <a:rPr lang="en-US" altLang="zh-CN" sz="2400" smtClean="0"/>
              <a:t>——</a:t>
            </a:r>
            <a:r>
              <a:rPr lang="zh-CN" altLang="en-US" sz="2400" smtClean="0"/>
              <a:t>来自信源的信号。像计算机输出的代表各种文字或图像文件的数据信号都属于基带信号。</a:t>
            </a:r>
          </a:p>
          <a:p>
            <a:pPr eaLnBrk="1" hangingPunct="1">
              <a:spcBef>
                <a:spcPct val="35000"/>
              </a:spcBef>
              <a:spcAft>
                <a:spcPct val="15000"/>
              </a:spcAft>
            </a:pPr>
            <a:r>
              <a:rPr lang="zh-CN" altLang="en-US" sz="2400" smtClean="0"/>
              <a:t>基带信号往往包含有较多的低频成分，甚至有直流成分，而许多信道并不能传输这种低频分量或直流分量。因此必须对基带信号进行</a:t>
            </a:r>
            <a:r>
              <a:rPr lang="zh-CN" altLang="en-US" sz="2400" smtClean="0">
                <a:solidFill>
                  <a:schemeClr val="hlink"/>
                </a:solidFill>
              </a:rPr>
              <a:t>调制</a:t>
            </a:r>
            <a:r>
              <a:rPr lang="en-US" altLang="zh-CN" sz="2400" smtClean="0"/>
              <a:t>(modulation)</a:t>
            </a:r>
            <a:r>
              <a:rPr lang="zh-CN" altLang="en-US" sz="2400" smtClean="0"/>
              <a:t>。   </a:t>
            </a:r>
          </a:p>
          <a:p>
            <a:pPr eaLnBrk="1" hangingPunct="1">
              <a:spcBef>
                <a:spcPct val="35000"/>
              </a:spcBef>
              <a:spcAft>
                <a:spcPct val="15000"/>
              </a:spcAft>
            </a:pPr>
            <a:r>
              <a:rPr lang="zh-CN" altLang="en-US" sz="2400" smtClean="0">
                <a:solidFill>
                  <a:schemeClr val="hlink"/>
                </a:solidFill>
              </a:rPr>
              <a:t>带通信号</a:t>
            </a:r>
            <a:r>
              <a:rPr lang="en-US" altLang="zh-CN" sz="2400" smtClean="0">
                <a:solidFill>
                  <a:schemeClr val="tx2"/>
                </a:solidFill>
              </a:rPr>
              <a:t>——</a:t>
            </a:r>
            <a:r>
              <a:rPr lang="zh-CN" altLang="en-US" sz="2400" smtClean="0"/>
              <a:t>把基带信号经过载波调制后，把信号的频率范围搬移到较高的频段以便在信道中传输（即仅在一段频率范围内能够通过信道）。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eaLnBrk="1" hangingPunct="1"/>
            <a:r>
              <a:rPr lang="zh-CN" altLang="en-US" dirty="0" smtClean="0"/>
              <a:t>基本调制方法 </a:t>
            </a:r>
          </a:p>
        </p:txBody>
      </p:sp>
      <p:sp>
        <p:nvSpPr>
          <p:cNvPr id="246787" name="Rectangle 3"/>
          <p:cNvSpPr>
            <a:spLocks noGrp="1" noChangeArrowheads="1"/>
          </p:cNvSpPr>
          <p:nvPr>
            <p:ph type="body" idx="1"/>
          </p:nvPr>
        </p:nvSpPr>
        <p:spPr>
          <a:xfrm>
            <a:off x="611188" y="1833563"/>
            <a:ext cx="8532812" cy="4691062"/>
          </a:xfrm>
        </p:spPr>
        <p:txBody>
          <a:bodyPr/>
          <a:lstStyle/>
          <a:p>
            <a:pPr eaLnBrk="1" hangingPunct="1"/>
            <a:r>
              <a:rPr lang="zh-CN" altLang="en-US" smtClean="0"/>
              <a:t>基带信号往往包含有较多的低频成分，甚至有直流成分，而许多信道并不能传输这种低频分量或直流分量。为了解决这一问题，就必须对基带信号进行</a:t>
            </a:r>
            <a:r>
              <a:rPr lang="zh-CN" altLang="en-US" smtClean="0">
                <a:solidFill>
                  <a:schemeClr val="hlink"/>
                </a:solidFill>
              </a:rPr>
              <a:t>调制</a:t>
            </a:r>
            <a:r>
              <a:rPr lang="en-US" altLang="zh-CN" smtClean="0"/>
              <a:t>(modulation)</a:t>
            </a:r>
            <a:r>
              <a:rPr lang="zh-CN" altLang="en-US" smtClean="0"/>
              <a:t>。 </a:t>
            </a:r>
          </a:p>
          <a:p>
            <a:pPr eaLnBrk="1" hangingPunct="1"/>
            <a:r>
              <a:rPr lang="zh-CN" altLang="en-US" smtClean="0"/>
              <a:t>最基本的二元制调制方法有以下几种：</a:t>
            </a:r>
          </a:p>
          <a:p>
            <a:pPr lvl="1" eaLnBrk="1" hangingPunct="1"/>
            <a:r>
              <a:rPr lang="zh-CN" altLang="en-US" smtClean="0">
                <a:solidFill>
                  <a:schemeClr val="hlink"/>
                </a:solidFill>
                <a:latin typeface="Arial" pitchFamily="34" charset="0"/>
                <a:ea typeface="黑体" pitchFamily="49" charset="-122"/>
              </a:rPr>
              <a:t>调幅</a:t>
            </a:r>
            <a:r>
              <a:rPr lang="en-US" altLang="zh-CN" smtClean="0">
                <a:solidFill>
                  <a:srgbClr val="333399"/>
                </a:solidFill>
                <a:latin typeface="Arial" pitchFamily="34" charset="0"/>
                <a:ea typeface="黑体" pitchFamily="49" charset="-122"/>
              </a:rPr>
              <a:t>(AM)</a:t>
            </a:r>
            <a:r>
              <a:rPr lang="zh-CN" altLang="en-US" smtClean="0">
                <a:solidFill>
                  <a:srgbClr val="333399"/>
                </a:solidFill>
                <a:latin typeface="Arial" pitchFamily="34" charset="0"/>
                <a:ea typeface="黑体" pitchFamily="49" charset="-122"/>
              </a:rPr>
              <a:t>：载波的振幅随基带数字信号而变化。 </a:t>
            </a:r>
          </a:p>
          <a:p>
            <a:pPr lvl="1" eaLnBrk="1" hangingPunct="1"/>
            <a:r>
              <a:rPr lang="zh-CN" altLang="en-US" smtClean="0">
                <a:solidFill>
                  <a:schemeClr val="hlink"/>
                </a:solidFill>
                <a:latin typeface="Arial" pitchFamily="34" charset="0"/>
                <a:ea typeface="黑体" pitchFamily="49" charset="-122"/>
              </a:rPr>
              <a:t>调频</a:t>
            </a:r>
            <a:r>
              <a:rPr lang="en-US" altLang="zh-CN" smtClean="0">
                <a:solidFill>
                  <a:srgbClr val="333399"/>
                </a:solidFill>
                <a:latin typeface="Arial" pitchFamily="34" charset="0"/>
                <a:ea typeface="黑体" pitchFamily="49" charset="-122"/>
              </a:rPr>
              <a:t>(FM)</a:t>
            </a:r>
            <a:r>
              <a:rPr lang="zh-CN" altLang="en-US" smtClean="0">
                <a:solidFill>
                  <a:srgbClr val="333399"/>
                </a:solidFill>
                <a:latin typeface="Arial" pitchFamily="34" charset="0"/>
                <a:ea typeface="黑体" pitchFamily="49" charset="-122"/>
              </a:rPr>
              <a:t>：载波的频率随基带数字信号而变化。</a:t>
            </a:r>
          </a:p>
          <a:p>
            <a:pPr lvl="1" eaLnBrk="1" hangingPunct="1"/>
            <a:r>
              <a:rPr lang="zh-CN" altLang="en-US" smtClean="0">
                <a:solidFill>
                  <a:schemeClr val="hlink"/>
                </a:solidFill>
                <a:latin typeface="Arial" pitchFamily="34" charset="0"/>
                <a:ea typeface="黑体" pitchFamily="49" charset="-122"/>
              </a:rPr>
              <a:t>调相</a:t>
            </a:r>
            <a:r>
              <a:rPr lang="en-US" altLang="zh-CN" smtClean="0">
                <a:solidFill>
                  <a:srgbClr val="333399"/>
                </a:solidFill>
                <a:latin typeface="Arial" pitchFamily="34" charset="0"/>
                <a:ea typeface="黑体" pitchFamily="49" charset="-122"/>
              </a:rPr>
              <a:t>(PM) </a:t>
            </a:r>
            <a:r>
              <a:rPr lang="zh-CN" altLang="en-US" smtClean="0">
                <a:solidFill>
                  <a:srgbClr val="333399"/>
                </a:solidFill>
                <a:latin typeface="Arial" pitchFamily="34" charset="0"/>
                <a:ea typeface="黑体" pitchFamily="49" charset="-122"/>
              </a:rPr>
              <a:t>：载波的初始相位随基带数字信号而变化。</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19163" y="214313"/>
            <a:ext cx="8116887" cy="1462087"/>
          </a:xfrm>
        </p:spPr>
        <p:txBody>
          <a:bodyPr/>
          <a:lstStyle/>
          <a:p>
            <a:pPr algn="ctr" eaLnBrk="1" hangingPunct="1"/>
            <a:r>
              <a:rPr lang="zh-CN" altLang="en-US" dirty="0" smtClean="0"/>
              <a:t>基带数字信号的调制方法 </a:t>
            </a:r>
          </a:p>
        </p:txBody>
      </p:sp>
      <p:sp>
        <p:nvSpPr>
          <p:cNvPr id="13315" name="Rectangle 3"/>
          <p:cNvSpPr>
            <a:spLocks noChangeArrowheads="1"/>
          </p:cNvSpPr>
          <p:nvPr/>
        </p:nvSpPr>
        <p:spPr bwMode="auto">
          <a:xfrm>
            <a:off x="1724025" y="2297113"/>
            <a:ext cx="350838"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3316" name="Rectangle 4"/>
          <p:cNvSpPr>
            <a:spLocks noChangeArrowheads="1"/>
          </p:cNvSpPr>
          <p:nvPr/>
        </p:nvSpPr>
        <p:spPr bwMode="auto">
          <a:xfrm>
            <a:off x="2471738" y="2297113"/>
            <a:ext cx="350837"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3317" name="Rectangle 5"/>
          <p:cNvSpPr>
            <a:spLocks noChangeArrowheads="1"/>
          </p:cNvSpPr>
          <p:nvPr/>
        </p:nvSpPr>
        <p:spPr bwMode="auto">
          <a:xfrm>
            <a:off x="3219450" y="2297113"/>
            <a:ext cx="350838"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3318" name="Rectangle 6"/>
          <p:cNvSpPr>
            <a:spLocks noChangeArrowheads="1"/>
          </p:cNvSpPr>
          <p:nvPr/>
        </p:nvSpPr>
        <p:spPr bwMode="auto">
          <a:xfrm>
            <a:off x="4014788" y="2297113"/>
            <a:ext cx="350837"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3319" name="Rectangle 7"/>
          <p:cNvSpPr>
            <a:spLocks noChangeArrowheads="1"/>
          </p:cNvSpPr>
          <p:nvPr/>
        </p:nvSpPr>
        <p:spPr bwMode="auto">
          <a:xfrm>
            <a:off x="4762500" y="2297113"/>
            <a:ext cx="350838"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3320" name="Rectangle 8"/>
          <p:cNvSpPr>
            <a:spLocks noChangeArrowheads="1"/>
          </p:cNvSpPr>
          <p:nvPr/>
        </p:nvSpPr>
        <p:spPr bwMode="auto">
          <a:xfrm>
            <a:off x="5510213" y="2297113"/>
            <a:ext cx="350837"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3321" name="Rectangle 9"/>
          <p:cNvSpPr>
            <a:spLocks noChangeArrowheads="1"/>
          </p:cNvSpPr>
          <p:nvPr/>
        </p:nvSpPr>
        <p:spPr bwMode="auto">
          <a:xfrm>
            <a:off x="6257925" y="2297113"/>
            <a:ext cx="350838"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3322" name="Rectangle 10"/>
          <p:cNvSpPr>
            <a:spLocks noChangeArrowheads="1"/>
          </p:cNvSpPr>
          <p:nvPr/>
        </p:nvSpPr>
        <p:spPr bwMode="auto">
          <a:xfrm>
            <a:off x="7053263" y="2297113"/>
            <a:ext cx="350837"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3323" name="Rectangle 11"/>
          <p:cNvSpPr>
            <a:spLocks noChangeArrowheads="1"/>
          </p:cNvSpPr>
          <p:nvPr/>
        </p:nvSpPr>
        <p:spPr bwMode="auto">
          <a:xfrm>
            <a:off x="7824788" y="2297113"/>
            <a:ext cx="350837"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3324" name="Freeform 12"/>
          <p:cNvSpPr>
            <a:spLocks/>
          </p:cNvSpPr>
          <p:nvPr/>
        </p:nvSpPr>
        <p:spPr bwMode="auto">
          <a:xfrm>
            <a:off x="1528763" y="2189163"/>
            <a:ext cx="6859587" cy="577850"/>
          </a:xfrm>
          <a:custGeom>
            <a:avLst/>
            <a:gdLst>
              <a:gd name="T0" fmla="*/ 0 w 4321"/>
              <a:gd name="T1" fmla="*/ 2147483647 h 487"/>
              <a:gd name="T2" fmla="*/ 2147483647 w 4321"/>
              <a:gd name="T3" fmla="*/ 2147483647 h 487"/>
              <a:gd name="T4" fmla="*/ 2147483647 w 4321"/>
              <a:gd name="T5" fmla="*/ 0 h 487"/>
              <a:gd name="T6" fmla="*/ 2147483647 w 4321"/>
              <a:gd name="T7" fmla="*/ 0 h 487"/>
              <a:gd name="T8" fmla="*/ 2147483647 w 4321"/>
              <a:gd name="T9" fmla="*/ 2147483647 h 487"/>
              <a:gd name="T10" fmla="*/ 2147483647 w 4321"/>
              <a:gd name="T11" fmla="*/ 2147483647 h 487"/>
              <a:gd name="T12" fmla="*/ 2147483647 w 4321"/>
              <a:gd name="T13" fmla="*/ 0 h 487"/>
              <a:gd name="T14" fmla="*/ 2147483647 w 4321"/>
              <a:gd name="T15" fmla="*/ 0 h 487"/>
              <a:gd name="T16" fmla="*/ 2147483647 w 4321"/>
              <a:gd name="T17" fmla="*/ 2147483647 h 487"/>
              <a:gd name="T18" fmla="*/ 2147483647 w 4321"/>
              <a:gd name="T19" fmla="*/ 2147483647 h 4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21"/>
              <a:gd name="T31" fmla="*/ 0 h 487"/>
              <a:gd name="T32" fmla="*/ 4321 w 4321"/>
              <a:gd name="T33" fmla="*/ 487 h 48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a:solidFill>
              <a:schemeClr val="tx2"/>
            </a:solidFill>
            <a:round/>
            <a:headEnd/>
            <a:tailEnd/>
          </a:ln>
        </p:spPr>
        <p:txBody>
          <a:bodyPr/>
          <a:lstStyle/>
          <a:p>
            <a:endParaRPr lang="zh-CN" altLang="en-US"/>
          </a:p>
        </p:txBody>
      </p:sp>
      <p:sp>
        <p:nvSpPr>
          <p:cNvPr id="13325" name="Freeform 13"/>
          <p:cNvSpPr>
            <a:spLocks/>
          </p:cNvSpPr>
          <p:nvPr/>
        </p:nvSpPr>
        <p:spPr bwMode="auto">
          <a:xfrm>
            <a:off x="8386763" y="2765425"/>
            <a:ext cx="1587" cy="1588"/>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noFill/>
          <a:ln w="38100" cap="rnd">
            <a:solidFill>
              <a:schemeClr val="tx2"/>
            </a:solidFill>
            <a:round/>
            <a:headEnd/>
            <a:tailEnd/>
          </a:ln>
        </p:spPr>
        <p:txBody>
          <a:bodyPr/>
          <a:lstStyle/>
          <a:p>
            <a:endParaRPr lang="zh-CN" altLang="en-US"/>
          </a:p>
        </p:txBody>
      </p:sp>
      <p:sp>
        <p:nvSpPr>
          <p:cNvPr id="13326" name="Freeform 14"/>
          <p:cNvSpPr>
            <a:spLocks/>
          </p:cNvSpPr>
          <p:nvPr/>
        </p:nvSpPr>
        <p:spPr bwMode="auto">
          <a:xfrm>
            <a:off x="1541463" y="3511550"/>
            <a:ext cx="754062" cy="1588"/>
          </a:xfrm>
          <a:custGeom>
            <a:avLst/>
            <a:gdLst>
              <a:gd name="T0" fmla="*/ 0 w 475"/>
              <a:gd name="T1" fmla="*/ 0 h 1"/>
              <a:gd name="T2" fmla="*/ 2147483647 w 475"/>
              <a:gd name="T3" fmla="*/ 2147483647 h 1"/>
              <a:gd name="T4" fmla="*/ 0 60000 65536"/>
              <a:gd name="T5" fmla="*/ 0 60000 65536"/>
              <a:gd name="T6" fmla="*/ 0 w 475"/>
              <a:gd name="T7" fmla="*/ 0 h 1"/>
              <a:gd name="T8" fmla="*/ 475 w 475"/>
              <a:gd name="T9" fmla="*/ 1 h 1"/>
            </a:gdLst>
            <a:ahLst/>
            <a:cxnLst>
              <a:cxn ang="T4">
                <a:pos x="T0" y="T1"/>
              </a:cxn>
              <a:cxn ang="T5">
                <a:pos x="T2" y="T3"/>
              </a:cxn>
            </a:cxnLst>
            <a:rect l="T6" t="T7" r="T8" b="T9"/>
            <a:pathLst>
              <a:path w="475" h="1">
                <a:moveTo>
                  <a:pt x="0" y="0"/>
                </a:moveTo>
                <a:lnTo>
                  <a:pt x="475" y="1"/>
                </a:lnTo>
              </a:path>
            </a:pathLst>
          </a:custGeom>
          <a:noFill/>
          <a:ln w="38100">
            <a:solidFill>
              <a:schemeClr val="tx2"/>
            </a:solidFill>
            <a:round/>
            <a:headEnd/>
            <a:tailEnd/>
          </a:ln>
        </p:spPr>
        <p:txBody>
          <a:bodyPr wrap="none" anchor="ctr"/>
          <a:lstStyle/>
          <a:p>
            <a:endParaRPr lang="zh-CN" altLang="en-US"/>
          </a:p>
        </p:txBody>
      </p:sp>
      <p:sp>
        <p:nvSpPr>
          <p:cNvPr id="13327" name="Freeform 15"/>
          <p:cNvSpPr>
            <a:spLocks/>
          </p:cNvSpPr>
          <p:nvPr/>
        </p:nvSpPr>
        <p:spPr bwMode="auto">
          <a:xfrm>
            <a:off x="3052763" y="3508375"/>
            <a:ext cx="1538287" cy="4763"/>
          </a:xfrm>
          <a:custGeom>
            <a:avLst/>
            <a:gdLst>
              <a:gd name="T0" fmla="*/ 0 w 969"/>
              <a:gd name="T1" fmla="*/ 2147483647 h 3"/>
              <a:gd name="T2" fmla="*/ 2147483647 w 969"/>
              <a:gd name="T3" fmla="*/ 0 h 3"/>
              <a:gd name="T4" fmla="*/ 0 60000 65536"/>
              <a:gd name="T5" fmla="*/ 0 60000 65536"/>
              <a:gd name="T6" fmla="*/ 0 w 969"/>
              <a:gd name="T7" fmla="*/ 0 h 3"/>
              <a:gd name="T8" fmla="*/ 969 w 969"/>
              <a:gd name="T9" fmla="*/ 3 h 3"/>
            </a:gdLst>
            <a:ahLst/>
            <a:cxnLst>
              <a:cxn ang="T4">
                <a:pos x="T0" y="T1"/>
              </a:cxn>
              <a:cxn ang="T5">
                <a:pos x="T2" y="T3"/>
              </a:cxn>
            </a:cxnLst>
            <a:rect l="T6" t="T7" r="T8" b="T9"/>
            <a:pathLst>
              <a:path w="969" h="3">
                <a:moveTo>
                  <a:pt x="0" y="3"/>
                </a:moveTo>
                <a:lnTo>
                  <a:pt x="969" y="0"/>
                </a:lnTo>
              </a:path>
            </a:pathLst>
          </a:custGeom>
          <a:noFill/>
          <a:ln w="38100">
            <a:solidFill>
              <a:schemeClr val="tx2"/>
            </a:solidFill>
            <a:round/>
            <a:headEnd/>
            <a:tailEnd/>
          </a:ln>
        </p:spPr>
        <p:txBody>
          <a:bodyPr wrap="none" anchor="ctr"/>
          <a:lstStyle/>
          <a:p>
            <a:endParaRPr lang="zh-CN" altLang="en-US"/>
          </a:p>
        </p:txBody>
      </p:sp>
      <p:sp>
        <p:nvSpPr>
          <p:cNvPr id="13328" name="Line 16"/>
          <p:cNvSpPr>
            <a:spLocks noChangeShapeType="1"/>
          </p:cNvSpPr>
          <p:nvPr/>
        </p:nvSpPr>
        <p:spPr bwMode="auto">
          <a:xfrm>
            <a:off x="6870700" y="3511550"/>
            <a:ext cx="1503363" cy="0"/>
          </a:xfrm>
          <a:prstGeom prst="line">
            <a:avLst/>
          </a:prstGeom>
          <a:noFill/>
          <a:ln w="38100">
            <a:solidFill>
              <a:schemeClr val="tx2"/>
            </a:solidFill>
            <a:round/>
            <a:headEnd/>
            <a:tailEnd/>
          </a:ln>
        </p:spPr>
        <p:txBody>
          <a:bodyPr wrap="none" anchor="ctr"/>
          <a:lstStyle/>
          <a:p>
            <a:endParaRPr lang="zh-CN" altLang="en-US"/>
          </a:p>
        </p:txBody>
      </p:sp>
      <p:sp>
        <p:nvSpPr>
          <p:cNvPr id="13329" name="Freeform 17"/>
          <p:cNvSpPr>
            <a:spLocks/>
          </p:cNvSpPr>
          <p:nvPr/>
        </p:nvSpPr>
        <p:spPr bwMode="auto">
          <a:xfrm>
            <a:off x="6108700" y="3073400"/>
            <a:ext cx="52388"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330" name="Freeform 18"/>
          <p:cNvSpPr>
            <a:spLocks/>
          </p:cNvSpPr>
          <p:nvPr/>
        </p:nvSpPr>
        <p:spPr bwMode="auto">
          <a:xfrm>
            <a:off x="6161088" y="3078163"/>
            <a:ext cx="139700" cy="841375"/>
          </a:xfrm>
          <a:custGeom>
            <a:avLst/>
            <a:gdLst>
              <a:gd name="T0" fmla="*/ 0 w 88"/>
              <a:gd name="T1" fmla="*/ 0 h 530"/>
              <a:gd name="T2" fmla="*/ 2147483647 w 88"/>
              <a:gd name="T3" fmla="*/ 2147483647 h 530"/>
              <a:gd name="T4" fmla="*/ 2147483647 w 88"/>
              <a:gd name="T5" fmla="*/ 2147483647 h 530"/>
              <a:gd name="T6" fmla="*/ 2147483647 w 88"/>
              <a:gd name="T7" fmla="*/ 2147483647 h 530"/>
              <a:gd name="T8" fmla="*/ 2147483647 w 88"/>
              <a:gd name="T9" fmla="*/ 2147483647 h 530"/>
              <a:gd name="T10" fmla="*/ 2147483647 w 88"/>
              <a:gd name="T11" fmla="*/ 2147483647 h 530"/>
              <a:gd name="T12" fmla="*/ 2147483647 w 88"/>
              <a:gd name="T13" fmla="*/ 2147483647 h 530"/>
              <a:gd name="T14" fmla="*/ 2147483647 w 88"/>
              <a:gd name="T15" fmla="*/ 2147483647 h 530"/>
              <a:gd name="T16" fmla="*/ 2147483647 w 88"/>
              <a:gd name="T17" fmla="*/ 2147483647 h 530"/>
              <a:gd name="T18" fmla="*/ 2147483647 w 88"/>
              <a:gd name="T19" fmla="*/ 2147483647 h 530"/>
              <a:gd name="T20" fmla="*/ 2147483647 w 88"/>
              <a:gd name="T21" fmla="*/ 2147483647 h 530"/>
              <a:gd name="T22" fmla="*/ 2147483647 w 88"/>
              <a:gd name="T23" fmla="*/ 2147483647 h 530"/>
              <a:gd name="T24" fmla="*/ 2147483647 w 88"/>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8"/>
              <a:gd name="T40" fmla="*/ 0 h 530"/>
              <a:gd name="T41" fmla="*/ 88 w 88"/>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a:solidFill>
              <a:schemeClr val="tx2"/>
            </a:solidFill>
            <a:round/>
            <a:headEnd/>
            <a:tailEnd/>
          </a:ln>
        </p:spPr>
        <p:txBody>
          <a:bodyPr/>
          <a:lstStyle/>
          <a:p>
            <a:endParaRPr lang="zh-CN" altLang="en-US"/>
          </a:p>
        </p:txBody>
      </p:sp>
      <p:sp>
        <p:nvSpPr>
          <p:cNvPr id="13331" name="Freeform 19"/>
          <p:cNvSpPr>
            <a:spLocks/>
          </p:cNvSpPr>
          <p:nvPr/>
        </p:nvSpPr>
        <p:spPr bwMode="auto">
          <a:xfrm>
            <a:off x="6297613" y="3073400"/>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332" name="Freeform 20"/>
          <p:cNvSpPr>
            <a:spLocks/>
          </p:cNvSpPr>
          <p:nvPr/>
        </p:nvSpPr>
        <p:spPr bwMode="auto">
          <a:xfrm>
            <a:off x="6348413" y="3078163"/>
            <a:ext cx="133350" cy="841375"/>
          </a:xfrm>
          <a:custGeom>
            <a:avLst/>
            <a:gdLst>
              <a:gd name="T0" fmla="*/ 0 w 84"/>
              <a:gd name="T1" fmla="*/ 0 h 530"/>
              <a:gd name="T2" fmla="*/ 2147483647 w 84"/>
              <a:gd name="T3" fmla="*/ 2147483647 h 530"/>
              <a:gd name="T4" fmla="*/ 2147483647 w 84"/>
              <a:gd name="T5" fmla="*/ 2147483647 h 530"/>
              <a:gd name="T6" fmla="*/ 2147483647 w 84"/>
              <a:gd name="T7" fmla="*/ 2147483647 h 530"/>
              <a:gd name="T8" fmla="*/ 2147483647 w 84"/>
              <a:gd name="T9" fmla="*/ 2147483647 h 530"/>
              <a:gd name="T10" fmla="*/ 2147483647 w 84"/>
              <a:gd name="T11" fmla="*/ 2147483647 h 530"/>
              <a:gd name="T12" fmla="*/ 2147483647 w 84"/>
              <a:gd name="T13" fmla="*/ 2147483647 h 530"/>
              <a:gd name="T14" fmla="*/ 2147483647 w 84"/>
              <a:gd name="T15" fmla="*/ 2147483647 h 530"/>
              <a:gd name="T16" fmla="*/ 2147483647 w 84"/>
              <a:gd name="T17" fmla="*/ 2147483647 h 530"/>
              <a:gd name="T18" fmla="*/ 2147483647 w 84"/>
              <a:gd name="T19" fmla="*/ 2147483647 h 530"/>
              <a:gd name="T20" fmla="*/ 2147483647 w 84"/>
              <a:gd name="T21" fmla="*/ 2147483647 h 530"/>
              <a:gd name="T22" fmla="*/ 2147483647 w 84"/>
              <a:gd name="T23" fmla="*/ 2147483647 h 530"/>
              <a:gd name="T24" fmla="*/ 2147483647 w 8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530"/>
              <a:gd name="T41" fmla="*/ 84 w 84"/>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a:solidFill>
              <a:schemeClr val="tx2"/>
            </a:solidFill>
            <a:round/>
            <a:headEnd/>
            <a:tailEnd/>
          </a:ln>
        </p:spPr>
        <p:txBody>
          <a:bodyPr/>
          <a:lstStyle/>
          <a:p>
            <a:endParaRPr lang="zh-CN" altLang="en-US"/>
          </a:p>
        </p:txBody>
      </p:sp>
      <p:grpSp>
        <p:nvGrpSpPr>
          <p:cNvPr id="13333" name="Group 21"/>
          <p:cNvGrpSpPr>
            <a:grpSpLocks/>
          </p:cNvGrpSpPr>
          <p:nvPr/>
        </p:nvGrpSpPr>
        <p:grpSpPr bwMode="auto">
          <a:xfrm>
            <a:off x="6483350" y="3067050"/>
            <a:ext cx="187325" cy="847725"/>
            <a:chOff x="4075" y="1309"/>
            <a:chExt cx="118" cy="713"/>
          </a:xfrm>
        </p:grpSpPr>
        <p:sp>
          <p:nvSpPr>
            <p:cNvPr id="13479" name="Freeform 22"/>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 name="T21" fmla="*/ 0 w 34"/>
                <a:gd name="T22" fmla="*/ 0 h 363"/>
                <a:gd name="T23" fmla="*/ 34 w 3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63">
                  <a:moveTo>
                    <a:pt x="0" y="362"/>
                  </a:moveTo>
                  <a:lnTo>
                    <a:pt x="20" y="54"/>
                  </a:lnTo>
                  <a:lnTo>
                    <a:pt x="22" y="38"/>
                  </a:lnTo>
                  <a:lnTo>
                    <a:pt x="23" y="25"/>
                  </a:lnTo>
                  <a:lnTo>
                    <a:pt x="24" y="15"/>
                  </a:lnTo>
                  <a:lnTo>
                    <a:pt x="28" y="6"/>
                  </a:lnTo>
                  <a:lnTo>
                    <a:pt x="33" y="0"/>
                  </a:lnTo>
                </a:path>
              </a:pathLst>
            </a:custGeom>
            <a:noFill/>
            <a:ln w="38100" cap="rnd">
              <a:solidFill>
                <a:schemeClr val="tx2"/>
              </a:solidFill>
              <a:round/>
              <a:headEnd/>
              <a:tailEnd/>
            </a:ln>
          </p:spPr>
          <p:txBody>
            <a:bodyPr/>
            <a:lstStyle/>
            <a:p>
              <a:endParaRPr lang="zh-CN" altLang="en-US"/>
            </a:p>
          </p:txBody>
        </p:sp>
        <p:sp>
          <p:nvSpPr>
            <p:cNvPr id="13480" name="Freeform 23"/>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09"/>
                <a:gd name="T41" fmla="*/ 84 w 84"/>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2"/>
              </a:solidFill>
              <a:round/>
              <a:headEnd/>
              <a:tailEnd/>
            </a:ln>
          </p:spPr>
          <p:txBody>
            <a:bodyPr/>
            <a:lstStyle/>
            <a:p>
              <a:endParaRPr lang="zh-CN" altLang="en-US"/>
            </a:p>
          </p:txBody>
        </p:sp>
      </p:grpSp>
      <p:sp>
        <p:nvSpPr>
          <p:cNvPr id="13334" name="Freeform 24"/>
          <p:cNvSpPr>
            <a:spLocks/>
          </p:cNvSpPr>
          <p:nvPr/>
        </p:nvSpPr>
        <p:spPr bwMode="auto">
          <a:xfrm>
            <a:off x="6670675" y="3067050"/>
            <a:ext cx="55563" cy="431800"/>
          </a:xfrm>
          <a:custGeom>
            <a:avLst/>
            <a:gdLst>
              <a:gd name="T0" fmla="*/ 0 w 35"/>
              <a:gd name="T1" fmla="*/ 2147483647 h 363"/>
              <a:gd name="T2" fmla="*/ 2147483647 w 35"/>
              <a:gd name="T3" fmla="*/ 2147483647 h 363"/>
              <a:gd name="T4" fmla="*/ 2147483647 w 35"/>
              <a:gd name="T5" fmla="*/ 2147483647 h 363"/>
              <a:gd name="T6" fmla="*/ 2147483647 w 35"/>
              <a:gd name="T7" fmla="*/ 2147483647 h 363"/>
              <a:gd name="T8" fmla="*/ 2147483647 w 35"/>
              <a:gd name="T9" fmla="*/ 2147483647 h 363"/>
              <a:gd name="T10" fmla="*/ 2147483647 w 35"/>
              <a:gd name="T11" fmla="*/ 2147483647 h 363"/>
              <a:gd name="T12" fmla="*/ 2147483647 w 35"/>
              <a:gd name="T13" fmla="*/ 0 h 363"/>
              <a:gd name="T14" fmla="*/ 0 60000 65536"/>
              <a:gd name="T15" fmla="*/ 0 60000 65536"/>
              <a:gd name="T16" fmla="*/ 0 60000 65536"/>
              <a:gd name="T17" fmla="*/ 0 60000 65536"/>
              <a:gd name="T18" fmla="*/ 0 60000 65536"/>
              <a:gd name="T19" fmla="*/ 0 60000 65536"/>
              <a:gd name="T20" fmla="*/ 0 60000 65536"/>
              <a:gd name="T21" fmla="*/ 0 w 35"/>
              <a:gd name="T22" fmla="*/ 0 h 363"/>
              <a:gd name="T23" fmla="*/ 35 w 3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363">
                <a:moveTo>
                  <a:pt x="0" y="362"/>
                </a:moveTo>
                <a:lnTo>
                  <a:pt x="21" y="54"/>
                </a:lnTo>
                <a:lnTo>
                  <a:pt x="22" y="38"/>
                </a:lnTo>
                <a:lnTo>
                  <a:pt x="23" y="25"/>
                </a:lnTo>
                <a:lnTo>
                  <a:pt x="25" y="15"/>
                </a:lnTo>
                <a:lnTo>
                  <a:pt x="29" y="6"/>
                </a:lnTo>
                <a:lnTo>
                  <a:pt x="34" y="0"/>
                </a:lnTo>
              </a:path>
            </a:pathLst>
          </a:custGeom>
          <a:noFill/>
          <a:ln w="38100" cap="rnd">
            <a:solidFill>
              <a:schemeClr val="tx2"/>
            </a:solidFill>
            <a:round/>
            <a:headEnd/>
            <a:tailEnd/>
          </a:ln>
        </p:spPr>
        <p:txBody>
          <a:bodyPr/>
          <a:lstStyle/>
          <a:p>
            <a:endParaRPr lang="zh-CN" altLang="en-US"/>
          </a:p>
        </p:txBody>
      </p:sp>
      <p:sp>
        <p:nvSpPr>
          <p:cNvPr id="13335" name="Freeform 25"/>
          <p:cNvSpPr>
            <a:spLocks/>
          </p:cNvSpPr>
          <p:nvPr/>
        </p:nvSpPr>
        <p:spPr bwMode="auto">
          <a:xfrm>
            <a:off x="6726238" y="3071813"/>
            <a:ext cx="131762" cy="841375"/>
          </a:xfrm>
          <a:custGeom>
            <a:avLst/>
            <a:gdLst>
              <a:gd name="T0" fmla="*/ 0 w 83"/>
              <a:gd name="T1" fmla="*/ 0 h 530"/>
              <a:gd name="T2" fmla="*/ 2147483647 w 83"/>
              <a:gd name="T3" fmla="*/ 2147483647 h 530"/>
              <a:gd name="T4" fmla="*/ 2147483647 w 83"/>
              <a:gd name="T5" fmla="*/ 2147483647 h 530"/>
              <a:gd name="T6" fmla="*/ 2147483647 w 83"/>
              <a:gd name="T7" fmla="*/ 2147483647 h 530"/>
              <a:gd name="T8" fmla="*/ 2147483647 w 83"/>
              <a:gd name="T9" fmla="*/ 2147483647 h 530"/>
              <a:gd name="T10" fmla="*/ 2147483647 w 83"/>
              <a:gd name="T11" fmla="*/ 2147483647 h 530"/>
              <a:gd name="T12" fmla="*/ 2147483647 w 83"/>
              <a:gd name="T13" fmla="*/ 2147483647 h 530"/>
              <a:gd name="T14" fmla="*/ 2147483647 w 83"/>
              <a:gd name="T15" fmla="*/ 2147483647 h 530"/>
              <a:gd name="T16" fmla="*/ 2147483647 w 83"/>
              <a:gd name="T17" fmla="*/ 2147483647 h 530"/>
              <a:gd name="T18" fmla="*/ 2147483647 w 83"/>
              <a:gd name="T19" fmla="*/ 2147483647 h 530"/>
              <a:gd name="T20" fmla="*/ 2147483647 w 83"/>
              <a:gd name="T21" fmla="*/ 2147483647 h 530"/>
              <a:gd name="T22" fmla="*/ 2147483647 w 83"/>
              <a:gd name="T23" fmla="*/ 2147483647 h 530"/>
              <a:gd name="T24" fmla="*/ 2147483647 w 83"/>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
              <a:gd name="T40" fmla="*/ 0 h 530"/>
              <a:gd name="T41" fmla="*/ 83 w 83"/>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a:solidFill>
              <a:schemeClr val="tx2"/>
            </a:solidFill>
            <a:round/>
            <a:headEnd/>
            <a:tailEnd/>
          </a:ln>
        </p:spPr>
        <p:txBody>
          <a:bodyPr/>
          <a:lstStyle/>
          <a:p>
            <a:endParaRPr lang="zh-CN" altLang="en-US"/>
          </a:p>
        </p:txBody>
      </p:sp>
      <p:sp>
        <p:nvSpPr>
          <p:cNvPr id="13336" name="Freeform 26"/>
          <p:cNvSpPr>
            <a:spLocks/>
          </p:cNvSpPr>
          <p:nvPr/>
        </p:nvSpPr>
        <p:spPr bwMode="auto">
          <a:xfrm>
            <a:off x="5354638" y="3073400"/>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337" name="Freeform 27"/>
          <p:cNvSpPr>
            <a:spLocks/>
          </p:cNvSpPr>
          <p:nvPr/>
        </p:nvSpPr>
        <p:spPr bwMode="auto">
          <a:xfrm>
            <a:off x="5407025" y="3078163"/>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30"/>
              <a:gd name="T41" fmla="*/ 86 w 86"/>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a:solidFill>
              <a:schemeClr val="tx2"/>
            </a:solidFill>
            <a:round/>
            <a:headEnd/>
            <a:tailEnd/>
          </a:ln>
        </p:spPr>
        <p:txBody>
          <a:bodyPr/>
          <a:lstStyle/>
          <a:p>
            <a:endParaRPr lang="zh-CN" altLang="en-US"/>
          </a:p>
        </p:txBody>
      </p:sp>
      <p:sp>
        <p:nvSpPr>
          <p:cNvPr id="13338" name="Freeform 28"/>
          <p:cNvSpPr>
            <a:spLocks/>
          </p:cNvSpPr>
          <p:nvPr/>
        </p:nvSpPr>
        <p:spPr bwMode="auto">
          <a:xfrm>
            <a:off x="5543550" y="3073400"/>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339" name="Freeform 29"/>
          <p:cNvSpPr>
            <a:spLocks/>
          </p:cNvSpPr>
          <p:nvPr/>
        </p:nvSpPr>
        <p:spPr bwMode="auto">
          <a:xfrm>
            <a:off x="5594350" y="3078163"/>
            <a:ext cx="134938"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
              <a:gd name="T40" fmla="*/ 0 h 530"/>
              <a:gd name="T41" fmla="*/ 85 w 85"/>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a:solidFill>
              <a:schemeClr val="tx2"/>
            </a:solidFill>
            <a:round/>
            <a:headEnd/>
            <a:tailEnd/>
          </a:ln>
        </p:spPr>
        <p:txBody>
          <a:bodyPr/>
          <a:lstStyle/>
          <a:p>
            <a:endParaRPr lang="zh-CN" altLang="en-US"/>
          </a:p>
        </p:txBody>
      </p:sp>
      <p:grpSp>
        <p:nvGrpSpPr>
          <p:cNvPr id="13340" name="Group 30"/>
          <p:cNvGrpSpPr>
            <a:grpSpLocks/>
          </p:cNvGrpSpPr>
          <p:nvPr/>
        </p:nvGrpSpPr>
        <p:grpSpPr bwMode="auto">
          <a:xfrm>
            <a:off x="5729288" y="3067050"/>
            <a:ext cx="376237" cy="847725"/>
            <a:chOff x="3600" y="1309"/>
            <a:chExt cx="237" cy="713"/>
          </a:xfrm>
        </p:grpSpPr>
        <p:grpSp>
          <p:nvGrpSpPr>
            <p:cNvPr id="13473" name="Group 31"/>
            <p:cNvGrpSpPr>
              <a:grpSpLocks/>
            </p:cNvGrpSpPr>
            <p:nvPr/>
          </p:nvGrpSpPr>
          <p:grpSpPr bwMode="auto">
            <a:xfrm>
              <a:off x="3600" y="1309"/>
              <a:ext cx="118" cy="713"/>
              <a:chOff x="3600" y="1309"/>
              <a:chExt cx="118" cy="713"/>
            </a:xfrm>
          </p:grpSpPr>
          <p:sp>
            <p:nvSpPr>
              <p:cNvPr id="13477" name="Freeform 32"/>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 name="T21" fmla="*/ 0 w 34"/>
                  <a:gd name="T22" fmla="*/ 0 h 363"/>
                  <a:gd name="T23" fmla="*/ 34 w 3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63">
                    <a:moveTo>
                      <a:pt x="0" y="362"/>
                    </a:moveTo>
                    <a:lnTo>
                      <a:pt x="20" y="54"/>
                    </a:lnTo>
                    <a:lnTo>
                      <a:pt x="22" y="38"/>
                    </a:lnTo>
                    <a:lnTo>
                      <a:pt x="23" y="25"/>
                    </a:lnTo>
                    <a:lnTo>
                      <a:pt x="24" y="15"/>
                    </a:lnTo>
                    <a:lnTo>
                      <a:pt x="28" y="6"/>
                    </a:lnTo>
                    <a:lnTo>
                      <a:pt x="33" y="0"/>
                    </a:lnTo>
                  </a:path>
                </a:pathLst>
              </a:custGeom>
              <a:noFill/>
              <a:ln w="38100" cap="rnd">
                <a:solidFill>
                  <a:schemeClr val="tx2"/>
                </a:solidFill>
                <a:round/>
                <a:headEnd/>
                <a:tailEnd/>
              </a:ln>
            </p:spPr>
            <p:txBody>
              <a:bodyPr/>
              <a:lstStyle/>
              <a:p>
                <a:endParaRPr lang="zh-CN" altLang="en-US"/>
              </a:p>
            </p:txBody>
          </p:sp>
          <p:sp>
            <p:nvSpPr>
              <p:cNvPr id="13478" name="Freeform 33"/>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09"/>
                  <a:gd name="T41" fmla="*/ 84 w 84"/>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2"/>
                </a:solidFill>
                <a:round/>
                <a:headEnd/>
                <a:tailEnd/>
              </a:ln>
            </p:spPr>
            <p:txBody>
              <a:bodyPr/>
              <a:lstStyle/>
              <a:p>
                <a:endParaRPr lang="zh-CN" altLang="en-US"/>
              </a:p>
            </p:txBody>
          </p:sp>
        </p:grpSp>
        <p:grpSp>
          <p:nvGrpSpPr>
            <p:cNvPr id="13474" name="Group 34"/>
            <p:cNvGrpSpPr>
              <a:grpSpLocks/>
            </p:cNvGrpSpPr>
            <p:nvPr/>
          </p:nvGrpSpPr>
          <p:grpSpPr bwMode="auto">
            <a:xfrm>
              <a:off x="3718" y="1309"/>
              <a:ext cx="119" cy="713"/>
              <a:chOff x="3718" y="1309"/>
              <a:chExt cx="119" cy="713"/>
            </a:xfrm>
          </p:grpSpPr>
          <p:sp>
            <p:nvSpPr>
              <p:cNvPr id="13475" name="Freeform 35"/>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 name="T21" fmla="*/ 0 w 35"/>
                  <a:gd name="T22" fmla="*/ 0 h 363"/>
                  <a:gd name="T23" fmla="*/ 35 w 3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363">
                    <a:moveTo>
                      <a:pt x="0" y="362"/>
                    </a:moveTo>
                    <a:lnTo>
                      <a:pt x="21" y="54"/>
                    </a:lnTo>
                    <a:lnTo>
                      <a:pt x="22" y="38"/>
                    </a:lnTo>
                    <a:lnTo>
                      <a:pt x="23" y="25"/>
                    </a:lnTo>
                    <a:lnTo>
                      <a:pt x="25" y="15"/>
                    </a:lnTo>
                    <a:lnTo>
                      <a:pt x="29" y="6"/>
                    </a:lnTo>
                    <a:lnTo>
                      <a:pt x="34" y="0"/>
                    </a:lnTo>
                  </a:path>
                </a:pathLst>
              </a:custGeom>
              <a:noFill/>
              <a:ln w="38100" cap="rnd">
                <a:solidFill>
                  <a:schemeClr val="tx2"/>
                </a:solidFill>
                <a:round/>
                <a:headEnd/>
                <a:tailEnd/>
              </a:ln>
            </p:spPr>
            <p:txBody>
              <a:bodyPr/>
              <a:lstStyle/>
              <a:p>
                <a:endParaRPr lang="zh-CN" altLang="en-US"/>
              </a:p>
            </p:txBody>
          </p:sp>
          <p:sp>
            <p:nvSpPr>
              <p:cNvPr id="13476" name="Freeform 36"/>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09"/>
                  <a:gd name="T41" fmla="*/ 84 w 84"/>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2"/>
                </a:solidFill>
                <a:round/>
                <a:headEnd/>
                <a:tailEnd/>
              </a:ln>
            </p:spPr>
            <p:txBody>
              <a:bodyPr/>
              <a:lstStyle/>
              <a:p>
                <a:endParaRPr lang="zh-CN" altLang="en-US"/>
              </a:p>
            </p:txBody>
          </p:sp>
        </p:grpSp>
      </p:grpSp>
      <p:sp>
        <p:nvSpPr>
          <p:cNvPr id="13341" name="Freeform 37"/>
          <p:cNvSpPr>
            <a:spLocks/>
          </p:cNvSpPr>
          <p:nvPr/>
        </p:nvSpPr>
        <p:spPr bwMode="auto">
          <a:xfrm>
            <a:off x="4586288" y="3073400"/>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342" name="Freeform 38"/>
          <p:cNvSpPr>
            <a:spLocks/>
          </p:cNvSpPr>
          <p:nvPr/>
        </p:nvSpPr>
        <p:spPr bwMode="auto">
          <a:xfrm>
            <a:off x="4638675" y="3078163"/>
            <a:ext cx="138113"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7"/>
              <a:gd name="T40" fmla="*/ 0 h 530"/>
              <a:gd name="T41" fmla="*/ 87 w 87"/>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a:solidFill>
              <a:schemeClr val="tx2"/>
            </a:solidFill>
            <a:round/>
            <a:headEnd/>
            <a:tailEnd/>
          </a:ln>
        </p:spPr>
        <p:txBody>
          <a:bodyPr/>
          <a:lstStyle/>
          <a:p>
            <a:endParaRPr lang="zh-CN" altLang="en-US"/>
          </a:p>
        </p:txBody>
      </p:sp>
      <p:sp>
        <p:nvSpPr>
          <p:cNvPr id="13343" name="Freeform 39"/>
          <p:cNvSpPr>
            <a:spLocks/>
          </p:cNvSpPr>
          <p:nvPr/>
        </p:nvSpPr>
        <p:spPr bwMode="auto">
          <a:xfrm>
            <a:off x="4775200" y="3073400"/>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344" name="Freeform 40"/>
          <p:cNvSpPr>
            <a:spLocks/>
          </p:cNvSpPr>
          <p:nvPr/>
        </p:nvSpPr>
        <p:spPr bwMode="auto">
          <a:xfrm>
            <a:off x="4826000" y="3078163"/>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30"/>
              <a:gd name="T41" fmla="*/ 86 w 86"/>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a:solidFill>
              <a:schemeClr val="tx2"/>
            </a:solidFill>
            <a:round/>
            <a:headEnd/>
            <a:tailEnd/>
          </a:ln>
        </p:spPr>
        <p:txBody>
          <a:bodyPr/>
          <a:lstStyle/>
          <a:p>
            <a:endParaRPr lang="zh-CN" altLang="en-US"/>
          </a:p>
        </p:txBody>
      </p:sp>
      <p:grpSp>
        <p:nvGrpSpPr>
          <p:cNvPr id="13345" name="Group 41"/>
          <p:cNvGrpSpPr>
            <a:grpSpLocks/>
          </p:cNvGrpSpPr>
          <p:nvPr/>
        </p:nvGrpSpPr>
        <p:grpSpPr bwMode="auto">
          <a:xfrm>
            <a:off x="4962525" y="3067050"/>
            <a:ext cx="185738" cy="847725"/>
            <a:chOff x="3117" y="1309"/>
            <a:chExt cx="117" cy="713"/>
          </a:xfrm>
        </p:grpSpPr>
        <p:sp>
          <p:nvSpPr>
            <p:cNvPr id="13471" name="Freeform 42"/>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472" name="Freeform 43"/>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09"/>
                <a:gd name="T41" fmla="*/ 84 w 84"/>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2"/>
              </a:solidFill>
              <a:round/>
              <a:headEnd/>
              <a:tailEnd/>
            </a:ln>
          </p:spPr>
          <p:txBody>
            <a:bodyPr/>
            <a:lstStyle/>
            <a:p>
              <a:endParaRPr lang="zh-CN" altLang="en-US"/>
            </a:p>
          </p:txBody>
        </p:sp>
      </p:grpSp>
      <p:sp>
        <p:nvSpPr>
          <p:cNvPr id="13346" name="Freeform 44"/>
          <p:cNvSpPr>
            <a:spLocks/>
          </p:cNvSpPr>
          <p:nvPr/>
        </p:nvSpPr>
        <p:spPr bwMode="auto">
          <a:xfrm>
            <a:off x="5148263" y="3067050"/>
            <a:ext cx="55562" cy="431800"/>
          </a:xfrm>
          <a:custGeom>
            <a:avLst/>
            <a:gdLst>
              <a:gd name="T0" fmla="*/ 0 w 35"/>
              <a:gd name="T1" fmla="*/ 2147483647 h 363"/>
              <a:gd name="T2" fmla="*/ 2147483647 w 35"/>
              <a:gd name="T3" fmla="*/ 2147483647 h 363"/>
              <a:gd name="T4" fmla="*/ 2147483647 w 35"/>
              <a:gd name="T5" fmla="*/ 2147483647 h 363"/>
              <a:gd name="T6" fmla="*/ 2147483647 w 35"/>
              <a:gd name="T7" fmla="*/ 2147483647 h 363"/>
              <a:gd name="T8" fmla="*/ 2147483647 w 35"/>
              <a:gd name="T9" fmla="*/ 2147483647 h 363"/>
              <a:gd name="T10" fmla="*/ 2147483647 w 35"/>
              <a:gd name="T11" fmla="*/ 2147483647 h 363"/>
              <a:gd name="T12" fmla="*/ 2147483647 w 35"/>
              <a:gd name="T13" fmla="*/ 0 h 363"/>
              <a:gd name="T14" fmla="*/ 0 60000 65536"/>
              <a:gd name="T15" fmla="*/ 0 60000 65536"/>
              <a:gd name="T16" fmla="*/ 0 60000 65536"/>
              <a:gd name="T17" fmla="*/ 0 60000 65536"/>
              <a:gd name="T18" fmla="*/ 0 60000 65536"/>
              <a:gd name="T19" fmla="*/ 0 60000 65536"/>
              <a:gd name="T20" fmla="*/ 0 60000 65536"/>
              <a:gd name="T21" fmla="*/ 0 w 35"/>
              <a:gd name="T22" fmla="*/ 0 h 363"/>
              <a:gd name="T23" fmla="*/ 35 w 3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363">
                <a:moveTo>
                  <a:pt x="0" y="362"/>
                </a:moveTo>
                <a:lnTo>
                  <a:pt x="21" y="54"/>
                </a:lnTo>
                <a:lnTo>
                  <a:pt x="22" y="38"/>
                </a:lnTo>
                <a:lnTo>
                  <a:pt x="23" y="25"/>
                </a:lnTo>
                <a:lnTo>
                  <a:pt x="25" y="15"/>
                </a:lnTo>
                <a:lnTo>
                  <a:pt x="29" y="6"/>
                </a:lnTo>
                <a:lnTo>
                  <a:pt x="34" y="0"/>
                </a:lnTo>
              </a:path>
            </a:pathLst>
          </a:custGeom>
          <a:noFill/>
          <a:ln w="38100" cap="rnd">
            <a:solidFill>
              <a:schemeClr val="tx2"/>
            </a:solidFill>
            <a:round/>
            <a:headEnd/>
            <a:tailEnd/>
          </a:ln>
        </p:spPr>
        <p:txBody>
          <a:bodyPr/>
          <a:lstStyle/>
          <a:p>
            <a:endParaRPr lang="zh-CN" altLang="en-US"/>
          </a:p>
        </p:txBody>
      </p:sp>
      <p:sp>
        <p:nvSpPr>
          <p:cNvPr id="13347" name="Freeform 45"/>
          <p:cNvSpPr>
            <a:spLocks/>
          </p:cNvSpPr>
          <p:nvPr/>
        </p:nvSpPr>
        <p:spPr bwMode="auto">
          <a:xfrm>
            <a:off x="5203825" y="3071813"/>
            <a:ext cx="144463" cy="841375"/>
          </a:xfrm>
          <a:custGeom>
            <a:avLst/>
            <a:gdLst>
              <a:gd name="T0" fmla="*/ 0 w 91"/>
              <a:gd name="T1" fmla="*/ 0 h 530"/>
              <a:gd name="T2" fmla="*/ 2147483647 w 91"/>
              <a:gd name="T3" fmla="*/ 2147483647 h 530"/>
              <a:gd name="T4" fmla="*/ 2147483647 w 91"/>
              <a:gd name="T5" fmla="*/ 2147483647 h 530"/>
              <a:gd name="T6" fmla="*/ 2147483647 w 91"/>
              <a:gd name="T7" fmla="*/ 2147483647 h 530"/>
              <a:gd name="T8" fmla="*/ 2147483647 w 91"/>
              <a:gd name="T9" fmla="*/ 2147483647 h 530"/>
              <a:gd name="T10" fmla="*/ 2147483647 w 91"/>
              <a:gd name="T11" fmla="*/ 2147483647 h 530"/>
              <a:gd name="T12" fmla="*/ 2147483647 w 91"/>
              <a:gd name="T13" fmla="*/ 2147483647 h 530"/>
              <a:gd name="T14" fmla="*/ 2147483647 w 91"/>
              <a:gd name="T15" fmla="*/ 2147483647 h 530"/>
              <a:gd name="T16" fmla="*/ 2147483647 w 91"/>
              <a:gd name="T17" fmla="*/ 2147483647 h 530"/>
              <a:gd name="T18" fmla="*/ 2147483647 w 91"/>
              <a:gd name="T19" fmla="*/ 2147483647 h 530"/>
              <a:gd name="T20" fmla="*/ 2147483647 w 91"/>
              <a:gd name="T21" fmla="*/ 2147483647 h 530"/>
              <a:gd name="T22" fmla="*/ 2147483647 w 91"/>
              <a:gd name="T23" fmla="*/ 2147483647 h 530"/>
              <a:gd name="T24" fmla="*/ 2147483647 w 91"/>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1"/>
              <a:gd name="T40" fmla="*/ 0 h 530"/>
              <a:gd name="T41" fmla="*/ 91 w 91"/>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a:solidFill>
              <a:schemeClr val="tx2"/>
            </a:solidFill>
            <a:round/>
            <a:headEnd/>
            <a:tailEnd/>
          </a:ln>
        </p:spPr>
        <p:txBody>
          <a:bodyPr/>
          <a:lstStyle/>
          <a:p>
            <a:endParaRPr lang="zh-CN" altLang="en-US"/>
          </a:p>
        </p:txBody>
      </p:sp>
      <p:sp>
        <p:nvSpPr>
          <p:cNvPr id="13348" name="Freeform 46"/>
          <p:cNvSpPr>
            <a:spLocks/>
          </p:cNvSpPr>
          <p:nvPr/>
        </p:nvSpPr>
        <p:spPr bwMode="auto">
          <a:xfrm>
            <a:off x="2286000" y="4210050"/>
            <a:ext cx="60325" cy="460375"/>
          </a:xfrm>
          <a:custGeom>
            <a:avLst/>
            <a:gdLst>
              <a:gd name="T0" fmla="*/ 0 w 38"/>
              <a:gd name="T1" fmla="*/ 2147483647 h 290"/>
              <a:gd name="T2" fmla="*/ 2147483647 w 38"/>
              <a:gd name="T3" fmla="*/ 2147483647 h 290"/>
              <a:gd name="T4" fmla="*/ 2147483647 w 38"/>
              <a:gd name="T5" fmla="*/ 2147483647 h 290"/>
              <a:gd name="T6" fmla="*/ 2147483647 w 38"/>
              <a:gd name="T7" fmla="*/ 2147483647 h 290"/>
              <a:gd name="T8" fmla="*/ 2147483647 w 38"/>
              <a:gd name="T9" fmla="*/ 2147483647 h 290"/>
              <a:gd name="T10" fmla="*/ 2147483647 w 38"/>
              <a:gd name="T11" fmla="*/ 2147483647 h 290"/>
              <a:gd name="T12" fmla="*/ 2147483647 w 38"/>
              <a:gd name="T13" fmla="*/ 0 h 290"/>
              <a:gd name="T14" fmla="*/ 0 60000 65536"/>
              <a:gd name="T15" fmla="*/ 0 60000 65536"/>
              <a:gd name="T16" fmla="*/ 0 60000 65536"/>
              <a:gd name="T17" fmla="*/ 0 60000 65536"/>
              <a:gd name="T18" fmla="*/ 0 60000 65536"/>
              <a:gd name="T19" fmla="*/ 0 60000 65536"/>
              <a:gd name="T20" fmla="*/ 0 60000 65536"/>
              <a:gd name="T21" fmla="*/ 0 w 38"/>
              <a:gd name="T22" fmla="*/ 0 h 290"/>
              <a:gd name="T23" fmla="*/ 38 w 38"/>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90">
                <a:moveTo>
                  <a:pt x="0" y="290"/>
                </a:moveTo>
                <a:lnTo>
                  <a:pt x="26" y="40"/>
                </a:lnTo>
                <a:lnTo>
                  <a:pt x="27" y="28"/>
                </a:lnTo>
                <a:lnTo>
                  <a:pt x="28" y="19"/>
                </a:lnTo>
                <a:lnTo>
                  <a:pt x="30" y="11"/>
                </a:lnTo>
                <a:lnTo>
                  <a:pt x="33" y="4"/>
                </a:lnTo>
                <a:lnTo>
                  <a:pt x="38" y="0"/>
                </a:lnTo>
              </a:path>
            </a:pathLst>
          </a:custGeom>
          <a:noFill/>
          <a:ln w="38100" cap="rnd">
            <a:solidFill>
              <a:schemeClr val="tx2"/>
            </a:solidFill>
            <a:round/>
            <a:headEnd/>
            <a:tailEnd/>
          </a:ln>
        </p:spPr>
        <p:txBody>
          <a:bodyPr/>
          <a:lstStyle/>
          <a:p>
            <a:endParaRPr lang="zh-CN" altLang="en-US"/>
          </a:p>
        </p:txBody>
      </p:sp>
      <p:sp>
        <p:nvSpPr>
          <p:cNvPr id="13349" name="Freeform 47"/>
          <p:cNvSpPr>
            <a:spLocks/>
          </p:cNvSpPr>
          <p:nvPr/>
        </p:nvSpPr>
        <p:spPr bwMode="auto">
          <a:xfrm>
            <a:off x="2347913" y="4214813"/>
            <a:ext cx="138112" cy="842962"/>
          </a:xfrm>
          <a:custGeom>
            <a:avLst/>
            <a:gdLst>
              <a:gd name="T0" fmla="*/ 0 w 87"/>
              <a:gd name="T1" fmla="*/ 0 h 709"/>
              <a:gd name="T2" fmla="*/ 2147483647 w 87"/>
              <a:gd name="T3" fmla="*/ 2147483647 h 709"/>
              <a:gd name="T4" fmla="*/ 2147483647 w 87"/>
              <a:gd name="T5" fmla="*/ 2147483647 h 709"/>
              <a:gd name="T6" fmla="*/ 2147483647 w 87"/>
              <a:gd name="T7" fmla="*/ 2147483647 h 709"/>
              <a:gd name="T8" fmla="*/ 2147483647 w 87"/>
              <a:gd name="T9" fmla="*/ 2147483647 h 709"/>
              <a:gd name="T10" fmla="*/ 2147483647 w 87"/>
              <a:gd name="T11" fmla="*/ 2147483647 h 709"/>
              <a:gd name="T12" fmla="*/ 2147483647 w 87"/>
              <a:gd name="T13" fmla="*/ 2147483647 h 709"/>
              <a:gd name="T14" fmla="*/ 2147483647 w 87"/>
              <a:gd name="T15" fmla="*/ 2147483647 h 709"/>
              <a:gd name="T16" fmla="*/ 2147483647 w 87"/>
              <a:gd name="T17" fmla="*/ 2147483647 h 709"/>
              <a:gd name="T18" fmla="*/ 2147483647 w 87"/>
              <a:gd name="T19" fmla="*/ 2147483647 h 709"/>
              <a:gd name="T20" fmla="*/ 2147483647 w 87"/>
              <a:gd name="T21" fmla="*/ 2147483647 h 709"/>
              <a:gd name="T22" fmla="*/ 2147483647 w 87"/>
              <a:gd name="T23" fmla="*/ 2147483647 h 709"/>
              <a:gd name="T24" fmla="*/ 2147483647 w 87"/>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7"/>
              <a:gd name="T40" fmla="*/ 0 h 709"/>
              <a:gd name="T41" fmla="*/ 87 w 87"/>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a:solidFill>
              <a:schemeClr val="tx2"/>
            </a:solidFill>
            <a:round/>
            <a:headEnd/>
            <a:tailEnd/>
          </a:ln>
        </p:spPr>
        <p:txBody>
          <a:bodyPr/>
          <a:lstStyle/>
          <a:p>
            <a:endParaRPr lang="zh-CN" altLang="en-US"/>
          </a:p>
        </p:txBody>
      </p:sp>
      <p:grpSp>
        <p:nvGrpSpPr>
          <p:cNvPr id="13350" name="Group 48"/>
          <p:cNvGrpSpPr>
            <a:grpSpLocks/>
          </p:cNvGrpSpPr>
          <p:nvPr/>
        </p:nvGrpSpPr>
        <p:grpSpPr bwMode="auto">
          <a:xfrm>
            <a:off x="2486025" y="4210050"/>
            <a:ext cx="188913" cy="847725"/>
            <a:chOff x="1557" y="2272"/>
            <a:chExt cx="119" cy="713"/>
          </a:xfrm>
        </p:grpSpPr>
        <p:sp>
          <p:nvSpPr>
            <p:cNvPr id="13469" name="Freeform 49"/>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470" name="Freeform 50"/>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709"/>
                <a:gd name="T41" fmla="*/ 86 w 86"/>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2"/>
              </a:solidFill>
              <a:round/>
              <a:headEnd/>
              <a:tailEnd/>
            </a:ln>
          </p:spPr>
          <p:txBody>
            <a:bodyPr/>
            <a:lstStyle/>
            <a:p>
              <a:endParaRPr lang="zh-CN" altLang="en-US"/>
            </a:p>
          </p:txBody>
        </p:sp>
      </p:grpSp>
      <p:sp>
        <p:nvSpPr>
          <p:cNvPr id="13351" name="Freeform 51"/>
          <p:cNvSpPr>
            <a:spLocks/>
          </p:cNvSpPr>
          <p:nvPr/>
        </p:nvSpPr>
        <p:spPr bwMode="auto">
          <a:xfrm>
            <a:off x="2671763" y="4203700"/>
            <a:ext cx="55562" cy="466725"/>
          </a:xfrm>
          <a:custGeom>
            <a:avLst/>
            <a:gdLst>
              <a:gd name="T0" fmla="*/ 0 w 35"/>
              <a:gd name="T1" fmla="*/ 2147483647 h 294"/>
              <a:gd name="T2" fmla="*/ 2147483647 w 35"/>
              <a:gd name="T3" fmla="*/ 2147483647 h 294"/>
              <a:gd name="T4" fmla="*/ 2147483647 w 35"/>
              <a:gd name="T5" fmla="*/ 2147483647 h 294"/>
              <a:gd name="T6" fmla="*/ 2147483647 w 35"/>
              <a:gd name="T7" fmla="*/ 2147483647 h 294"/>
              <a:gd name="T8" fmla="*/ 2147483647 w 35"/>
              <a:gd name="T9" fmla="*/ 2147483647 h 294"/>
              <a:gd name="T10" fmla="*/ 2147483647 w 35"/>
              <a:gd name="T11" fmla="*/ 2147483647 h 294"/>
              <a:gd name="T12" fmla="*/ 2147483647 w 35"/>
              <a:gd name="T13" fmla="*/ 0 h 294"/>
              <a:gd name="T14" fmla="*/ 0 60000 65536"/>
              <a:gd name="T15" fmla="*/ 0 60000 65536"/>
              <a:gd name="T16" fmla="*/ 0 60000 65536"/>
              <a:gd name="T17" fmla="*/ 0 60000 65536"/>
              <a:gd name="T18" fmla="*/ 0 60000 65536"/>
              <a:gd name="T19" fmla="*/ 0 60000 65536"/>
              <a:gd name="T20" fmla="*/ 0 60000 65536"/>
              <a:gd name="T21" fmla="*/ 0 w 35"/>
              <a:gd name="T22" fmla="*/ 0 h 294"/>
              <a:gd name="T23" fmla="*/ 35 w 35"/>
              <a:gd name="T24" fmla="*/ 294 h 2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294">
                <a:moveTo>
                  <a:pt x="0" y="294"/>
                </a:moveTo>
                <a:lnTo>
                  <a:pt x="22" y="40"/>
                </a:lnTo>
                <a:lnTo>
                  <a:pt x="24" y="28"/>
                </a:lnTo>
                <a:lnTo>
                  <a:pt x="25" y="19"/>
                </a:lnTo>
                <a:lnTo>
                  <a:pt x="26" y="11"/>
                </a:lnTo>
                <a:lnTo>
                  <a:pt x="30" y="4"/>
                </a:lnTo>
                <a:lnTo>
                  <a:pt x="35" y="0"/>
                </a:lnTo>
              </a:path>
            </a:pathLst>
          </a:custGeom>
          <a:noFill/>
          <a:ln w="38100" cap="rnd">
            <a:solidFill>
              <a:schemeClr val="tx2"/>
            </a:solidFill>
            <a:round/>
            <a:headEnd/>
            <a:tailEnd/>
          </a:ln>
        </p:spPr>
        <p:txBody>
          <a:bodyPr/>
          <a:lstStyle/>
          <a:p>
            <a:endParaRPr lang="zh-CN" altLang="en-US"/>
          </a:p>
        </p:txBody>
      </p:sp>
      <p:sp>
        <p:nvSpPr>
          <p:cNvPr id="13352" name="Freeform 52"/>
          <p:cNvSpPr>
            <a:spLocks/>
          </p:cNvSpPr>
          <p:nvPr/>
        </p:nvSpPr>
        <p:spPr bwMode="auto">
          <a:xfrm>
            <a:off x="2728913" y="4208463"/>
            <a:ext cx="134937" cy="842962"/>
          </a:xfrm>
          <a:custGeom>
            <a:avLst/>
            <a:gdLst>
              <a:gd name="T0" fmla="*/ 0 w 85"/>
              <a:gd name="T1" fmla="*/ 0 h 709"/>
              <a:gd name="T2" fmla="*/ 2147483647 w 85"/>
              <a:gd name="T3" fmla="*/ 2147483647 h 709"/>
              <a:gd name="T4" fmla="*/ 2147483647 w 85"/>
              <a:gd name="T5" fmla="*/ 2147483647 h 709"/>
              <a:gd name="T6" fmla="*/ 2147483647 w 85"/>
              <a:gd name="T7" fmla="*/ 2147483647 h 709"/>
              <a:gd name="T8" fmla="*/ 2147483647 w 85"/>
              <a:gd name="T9" fmla="*/ 2147483647 h 709"/>
              <a:gd name="T10" fmla="*/ 2147483647 w 85"/>
              <a:gd name="T11" fmla="*/ 2147483647 h 709"/>
              <a:gd name="T12" fmla="*/ 2147483647 w 85"/>
              <a:gd name="T13" fmla="*/ 2147483647 h 709"/>
              <a:gd name="T14" fmla="*/ 2147483647 w 85"/>
              <a:gd name="T15" fmla="*/ 2147483647 h 709"/>
              <a:gd name="T16" fmla="*/ 2147483647 w 85"/>
              <a:gd name="T17" fmla="*/ 2147483647 h 709"/>
              <a:gd name="T18" fmla="*/ 2147483647 w 85"/>
              <a:gd name="T19" fmla="*/ 2147483647 h 709"/>
              <a:gd name="T20" fmla="*/ 2147483647 w 85"/>
              <a:gd name="T21" fmla="*/ 2147483647 h 709"/>
              <a:gd name="T22" fmla="*/ 2147483647 w 85"/>
              <a:gd name="T23" fmla="*/ 2147483647 h 709"/>
              <a:gd name="T24" fmla="*/ 2147483647 w 85"/>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
              <a:gd name="T40" fmla="*/ 0 h 709"/>
              <a:gd name="T41" fmla="*/ 85 w 85"/>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a:solidFill>
              <a:schemeClr val="tx2"/>
            </a:solidFill>
            <a:round/>
            <a:headEnd/>
            <a:tailEnd/>
          </a:ln>
        </p:spPr>
        <p:txBody>
          <a:bodyPr/>
          <a:lstStyle/>
          <a:p>
            <a:endParaRPr lang="zh-CN" altLang="en-US"/>
          </a:p>
        </p:txBody>
      </p:sp>
      <p:sp>
        <p:nvSpPr>
          <p:cNvPr id="13353" name="Freeform 53"/>
          <p:cNvSpPr>
            <a:spLocks/>
          </p:cNvSpPr>
          <p:nvPr/>
        </p:nvSpPr>
        <p:spPr bwMode="auto">
          <a:xfrm>
            <a:off x="2862263" y="4203700"/>
            <a:ext cx="55562" cy="442913"/>
          </a:xfrm>
          <a:custGeom>
            <a:avLst/>
            <a:gdLst>
              <a:gd name="T0" fmla="*/ 0 w 35"/>
              <a:gd name="T1" fmla="*/ 2147483647 h 279"/>
              <a:gd name="T2" fmla="*/ 2147483647 w 35"/>
              <a:gd name="T3" fmla="*/ 2147483647 h 279"/>
              <a:gd name="T4" fmla="*/ 2147483647 w 35"/>
              <a:gd name="T5" fmla="*/ 2147483647 h 279"/>
              <a:gd name="T6" fmla="*/ 2147483647 w 35"/>
              <a:gd name="T7" fmla="*/ 2147483647 h 279"/>
              <a:gd name="T8" fmla="*/ 2147483647 w 35"/>
              <a:gd name="T9" fmla="*/ 2147483647 h 279"/>
              <a:gd name="T10" fmla="*/ 2147483647 w 35"/>
              <a:gd name="T11" fmla="*/ 2147483647 h 279"/>
              <a:gd name="T12" fmla="*/ 2147483647 w 35"/>
              <a:gd name="T13" fmla="*/ 0 h 279"/>
              <a:gd name="T14" fmla="*/ 0 60000 65536"/>
              <a:gd name="T15" fmla="*/ 0 60000 65536"/>
              <a:gd name="T16" fmla="*/ 0 60000 65536"/>
              <a:gd name="T17" fmla="*/ 0 60000 65536"/>
              <a:gd name="T18" fmla="*/ 0 60000 65536"/>
              <a:gd name="T19" fmla="*/ 0 60000 65536"/>
              <a:gd name="T20" fmla="*/ 0 60000 65536"/>
              <a:gd name="T21" fmla="*/ 0 w 35"/>
              <a:gd name="T22" fmla="*/ 0 h 279"/>
              <a:gd name="T23" fmla="*/ 35 w 35"/>
              <a:gd name="T24" fmla="*/ 279 h 2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279">
                <a:moveTo>
                  <a:pt x="0" y="279"/>
                </a:moveTo>
                <a:lnTo>
                  <a:pt x="22" y="40"/>
                </a:lnTo>
                <a:lnTo>
                  <a:pt x="23" y="28"/>
                </a:lnTo>
                <a:lnTo>
                  <a:pt x="24" y="19"/>
                </a:lnTo>
                <a:lnTo>
                  <a:pt x="26" y="11"/>
                </a:lnTo>
                <a:lnTo>
                  <a:pt x="30" y="4"/>
                </a:lnTo>
                <a:lnTo>
                  <a:pt x="35" y="0"/>
                </a:lnTo>
              </a:path>
            </a:pathLst>
          </a:custGeom>
          <a:noFill/>
          <a:ln w="38100" cap="rnd">
            <a:solidFill>
              <a:schemeClr val="tx2"/>
            </a:solidFill>
            <a:round/>
            <a:headEnd/>
            <a:tailEnd/>
          </a:ln>
        </p:spPr>
        <p:txBody>
          <a:bodyPr/>
          <a:lstStyle/>
          <a:p>
            <a:endParaRPr lang="zh-CN" altLang="en-US"/>
          </a:p>
        </p:txBody>
      </p:sp>
      <p:sp>
        <p:nvSpPr>
          <p:cNvPr id="13354" name="Freeform 54"/>
          <p:cNvSpPr>
            <a:spLocks/>
          </p:cNvSpPr>
          <p:nvPr/>
        </p:nvSpPr>
        <p:spPr bwMode="auto">
          <a:xfrm>
            <a:off x="2919413" y="4208463"/>
            <a:ext cx="152400" cy="841375"/>
          </a:xfrm>
          <a:custGeom>
            <a:avLst/>
            <a:gdLst>
              <a:gd name="T0" fmla="*/ 0 w 96"/>
              <a:gd name="T1" fmla="*/ 0 h 530"/>
              <a:gd name="T2" fmla="*/ 2147483647 w 96"/>
              <a:gd name="T3" fmla="*/ 2147483647 h 530"/>
              <a:gd name="T4" fmla="*/ 2147483647 w 96"/>
              <a:gd name="T5" fmla="*/ 2147483647 h 530"/>
              <a:gd name="T6" fmla="*/ 2147483647 w 96"/>
              <a:gd name="T7" fmla="*/ 2147483647 h 530"/>
              <a:gd name="T8" fmla="*/ 2147483647 w 96"/>
              <a:gd name="T9" fmla="*/ 2147483647 h 530"/>
              <a:gd name="T10" fmla="*/ 2147483647 w 96"/>
              <a:gd name="T11" fmla="*/ 2147483647 h 530"/>
              <a:gd name="T12" fmla="*/ 2147483647 w 96"/>
              <a:gd name="T13" fmla="*/ 2147483647 h 530"/>
              <a:gd name="T14" fmla="*/ 2147483647 w 96"/>
              <a:gd name="T15" fmla="*/ 2147483647 h 530"/>
              <a:gd name="T16" fmla="*/ 2147483647 w 96"/>
              <a:gd name="T17" fmla="*/ 2147483647 h 530"/>
              <a:gd name="T18" fmla="*/ 2147483647 w 96"/>
              <a:gd name="T19" fmla="*/ 2147483647 h 530"/>
              <a:gd name="T20" fmla="*/ 2147483647 w 96"/>
              <a:gd name="T21" fmla="*/ 2147483647 h 530"/>
              <a:gd name="T22" fmla="*/ 2147483647 w 96"/>
              <a:gd name="T23" fmla="*/ 2147483647 h 530"/>
              <a:gd name="T24" fmla="*/ 2147483647 w 9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
              <a:gd name="T40" fmla="*/ 0 h 530"/>
              <a:gd name="T41" fmla="*/ 96 w 96"/>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a:solidFill>
              <a:schemeClr val="tx2"/>
            </a:solidFill>
            <a:round/>
            <a:headEnd/>
            <a:tailEnd/>
          </a:ln>
        </p:spPr>
        <p:txBody>
          <a:bodyPr/>
          <a:lstStyle/>
          <a:p>
            <a:endParaRPr lang="zh-CN" altLang="en-US"/>
          </a:p>
        </p:txBody>
      </p:sp>
      <p:sp>
        <p:nvSpPr>
          <p:cNvPr id="13355" name="Freeform 55"/>
          <p:cNvSpPr>
            <a:spLocks/>
          </p:cNvSpPr>
          <p:nvPr/>
        </p:nvSpPr>
        <p:spPr bwMode="auto">
          <a:xfrm>
            <a:off x="6103938" y="4213225"/>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356" name="Freeform 56"/>
          <p:cNvSpPr>
            <a:spLocks/>
          </p:cNvSpPr>
          <p:nvPr/>
        </p:nvSpPr>
        <p:spPr bwMode="auto">
          <a:xfrm>
            <a:off x="6156325" y="4217988"/>
            <a:ext cx="134938"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
              <a:gd name="T40" fmla="*/ 0 h 530"/>
              <a:gd name="T41" fmla="*/ 85 w 85"/>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a:solidFill>
              <a:schemeClr val="tx2"/>
            </a:solidFill>
            <a:round/>
            <a:headEnd/>
            <a:tailEnd/>
          </a:ln>
        </p:spPr>
        <p:txBody>
          <a:bodyPr/>
          <a:lstStyle/>
          <a:p>
            <a:endParaRPr lang="zh-CN" altLang="en-US"/>
          </a:p>
        </p:txBody>
      </p:sp>
      <p:sp>
        <p:nvSpPr>
          <p:cNvPr id="13357" name="Freeform 57"/>
          <p:cNvSpPr>
            <a:spLocks/>
          </p:cNvSpPr>
          <p:nvPr/>
        </p:nvSpPr>
        <p:spPr bwMode="auto">
          <a:xfrm>
            <a:off x="6292850" y="4213225"/>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358" name="Freeform 58"/>
          <p:cNvSpPr>
            <a:spLocks/>
          </p:cNvSpPr>
          <p:nvPr/>
        </p:nvSpPr>
        <p:spPr bwMode="auto">
          <a:xfrm>
            <a:off x="6343650" y="4217988"/>
            <a:ext cx="138113"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7"/>
              <a:gd name="T40" fmla="*/ 0 h 530"/>
              <a:gd name="T41" fmla="*/ 87 w 87"/>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a:solidFill>
              <a:schemeClr val="tx2"/>
            </a:solidFill>
            <a:round/>
            <a:headEnd/>
            <a:tailEnd/>
          </a:ln>
        </p:spPr>
        <p:txBody>
          <a:bodyPr/>
          <a:lstStyle/>
          <a:p>
            <a:endParaRPr lang="zh-CN" altLang="en-US"/>
          </a:p>
        </p:txBody>
      </p:sp>
      <p:sp>
        <p:nvSpPr>
          <p:cNvPr id="13359" name="Freeform 59"/>
          <p:cNvSpPr>
            <a:spLocks/>
          </p:cNvSpPr>
          <p:nvPr/>
        </p:nvSpPr>
        <p:spPr bwMode="auto">
          <a:xfrm>
            <a:off x="6478588" y="4206875"/>
            <a:ext cx="53975" cy="431800"/>
          </a:xfrm>
          <a:custGeom>
            <a:avLst/>
            <a:gdLst>
              <a:gd name="T0" fmla="*/ 0 w 34"/>
              <a:gd name="T1" fmla="*/ 2147483647 h 363"/>
              <a:gd name="T2" fmla="*/ 2147483647 w 34"/>
              <a:gd name="T3" fmla="*/ 2147483647 h 363"/>
              <a:gd name="T4" fmla="*/ 2147483647 w 34"/>
              <a:gd name="T5" fmla="*/ 2147483647 h 363"/>
              <a:gd name="T6" fmla="*/ 2147483647 w 34"/>
              <a:gd name="T7" fmla="*/ 2147483647 h 363"/>
              <a:gd name="T8" fmla="*/ 2147483647 w 34"/>
              <a:gd name="T9" fmla="*/ 2147483647 h 363"/>
              <a:gd name="T10" fmla="*/ 2147483647 w 34"/>
              <a:gd name="T11" fmla="*/ 2147483647 h 363"/>
              <a:gd name="T12" fmla="*/ 2147483647 w 34"/>
              <a:gd name="T13" fmla="*/ 0 h 363"/>
              <a:gd name="T14" fmla="*/ 0 60000 65536"/>
              <a:gd name="T15" fmla="*/ 0 60000 65536"/>
              <a:gd name="T16" fmla="*/ 0 60000 65536"/>
              <a:gd name="T17" fmla="*/ 0 60000 65536"/>
              <a:gd name="T18" fmla="*/ 0 60000 65536"/>
              <a:gd name="T19" fmla="*/ 0 60000 65536"/>
              <a:gd name="T20" fmla="*/ 0 60000 65536"/>
              <a:gd name="T21" fmla="*/ 0 w 34"/>
              <a:gd name="T22" fmla="*/ 0 h 363"/>
              <a:gd name="T23" fmla="*/ 34 w 3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63">
                <a:moveTo>
                  <a:pt x="0" y="362"/>
                </a:moveTo>
                <a:lnTo>
                  <a:pt x="20" y="54"/>
                </a:lnTo>
                <a:lnTo>
                  <a:pt x="22" y="38"/>
                </a:lnTo>
                <a:lnTo>
                  <a:pt x="23" y="25"/>
                </a:lnTo>
                <a:lnTo>
                  <a:pt x="24" y="15"/>
                </a:lnTo>
                <a:lnTo>
                  <a:pt x="28" y="6"/>
                </a:lnTo>
                <a:lnTo>
                  <a:pt x="33" y="0"/>
                </a:lnTo>
              </a:path>
            </a:pathLst>
          </a:custGeom>
          <a:noFill/>
          <a:ln w="38100" cap="rnd">
            <a:solidFill>
              <a:schemeClr val="tx2"/>
            </a:solidFill>
            <a:round/>
            <a:headEnd/>
            <a:tailEnd/>
          </a:ln>
        </p:spPr>
        <p:txBody>
          <a:bodyPr/>
          <a:lstStyle/>
          <a:p>
            <a:endParaRPr lang="zh-CN" altLang="en-US"/>
          </a:p>
        </p:txBody>
      </p:sp>
      <p:sp>
        <p:nvSpPr>
          <p:cNvPr id="13360" name="Freeform 60"/>
          <p:cNvSpPr>
            <a:spLocks/>
          </p:cNvSpPr>
          <p:nvPr/>
        </p:nvSpPr>
        <p:spPr bwMode="auto">
          <a:xfrm>
            <a:off x="6532563" y="4211638"/>
            <a:ext cx="134937"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
              <a:gd name="T40" fmla="*/ 0 h 530"/>
              <a:gd name="T41" fmla="*/ 85 w 85"/>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a:solidFill>
              <a:schemeClr val="tx2"/>
            </a:solidFill>
            <a:round/>
            <a:headEnd/>
            <a:tailEnd/>
          </a:ln>
        </p:spPr>
        <p:txBody>
          <a:bodyPr/>
          <a:lstStyle/>
          <a:p>
            <a:endParaRPr lang="zh-CN" altLang="en-US"/>
          </a:p>
        </p:txBody>
      </p:sp>
      <p:grpSp>
        <p:nvGrpSpPr>
          <p:cNvPr id="13361" name="Group 61"/>
          <p:cNvGrpSpPr>
            <a:grpSpLocks/>
          </p:cNvGrpSpPr>
          <p:nvPr/>
        </p:nvGrpSpPr>
        <p:grpSpPr bwMode="auto">
          <a:xfrm>
            <a:off x="6665913" y="4206875"/>
            <a:ext cx="188912" cy="847725"/>
            <a:chOff x="4190" y="2269"/>
            <a:chExt cx="119" cy="713"/>
          </a:xfrm>
        </p:grpSpPr>
        <p:sp>
          <p:nvSpPr>
            <p:cNvPr id="13467" name="Freeform 62"/>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 name="T21" fmla="*/ 0 w 35"/>
                <a:gd name="T22" fmla="*/ 0 h 363"/>
                <a:gd name="T23" fmla="*/ 35 w 3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363">
                  <a:moveTo>
                    <a:pt x="0" y="362"/>
                  </a:moveTo>
                  <a:lnTo>
                    <a:pt x="21" y="54"/>
                  </a:lnTo>
                  <a:lnTo>
                    <a:pt x="22" y="38"/>
                  </a:lnTo>
                  <a:lnTo>
                    <a:pt x="23" y="25"/>
                  </a:lnTo>
                  <a:lnTo>
                    <a:pt x="25" y="15"/>
                  </a:lnTo>
                  <a:lnTo>
                    <a:pt x="29" y="6"/>
                  </a:lnTo>
                  <a:lnTo>
                    <a:pt x="34" y="0"/>
                  </a:lnTo>
                </a:path>
              </a:pathLst>
            </a:custGeom>
            <a:noFill/>
            <a:ln w="38100" cap="rnd">
              <a:solidFill>
                <a:schemeClr val="tx2"/>
              </a:solidFill>
              <a:round/>
              <a:headEnd/>
              <a:tailEnd/>
            </a:ln>
          </p:spPr>
          <p:txBody>
            <a:bodyPr/>
            <a:lstStyle/>
            <a:p>
              <a:endParaRPr lang="zh-CN" altLang="en-US"/>
            </a:p>
          </p:txBody>
        </p:sp>
        <p:sp>
          <p:nvSpPr>
            <p:cNvPr id="13468" name="Freeform 63"/>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09"/>
                <a:gd name="T41" fmla="*/ 84 w 84"/>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2"/>
              </a:solidFill>
              <a:round/>
              <a:headEnd/>
              <a:tailEnd/>
            </a:ln>
          </p:spPr>
          <p:txBody>
            <a:bodyPr/>
            <a:lstStyle/>
            <a:p>
              <a:endParaRPr lang="zh-CN" altLang="en-US"/>
            </a:p>
          </p:txBody>
        </p:sp>
      </p:grpSp>
      <p:sp>
        <p:nvSpPr>
          <p:cNvPr id="13362" name="Freeform 64"/>
          <p:cNvSpPr>
            <a:spLocks/>
          </p:cNvSpPr>
          <p:nvPr/>
        </p:nvSpPr>
        <p:spPr bwMode="auto">
          <a:xfrm>
            <a:off x="5349875" y="4213225"/>
            <a:ext cx="52388"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363" name="Freeform 65"/>
          <p:cNvSpPr>
            <a:spLocks/>
          </p:cNvSpPr>
          <p:nvPr/>
        </p:nvSpPr>
        <p:spPr bwMode="auto">
          <a:xfrm>
            <a:off x="5402263" y="4217988"/>
            <a:ext cx="141287" cy="841375"/>
          </a:xfrm>
          <a:custGeom>
            <a:avLst/>
            <a:gdLst>
              <a:gd name="T0" fmla="*/ 0 w 89"/>
              <a:gd name="T1" fmla="*/ 0 h 530"/>
              <a:gd name="T2" fmla="*/ 2147483647 w 89"/>
              <a:gd name="T3" fmla="*/ 2147483647 h 530"/>
              <a:gd name="T4" fmla="*/ 2147483647 w 89"/>
              <a:gd name="T5" fmla="*/ 2147483647 h 530"/>
              <a:gd name="T6" fmla="*/ 2147483647 w 89"/>
              <a:gd name="T7" fmla="*/ 2147483647 h 530"/>
              <a:gd name="T8" fmla="*/ 2147483647 w 89"/>
              <a:gd name="T9" fmla="*/ 2147483647 h 530"/>
              <a:gd name="T10" fmla="*/ 2147483647 w 89"/>
              <a:gd name="T11" fmla="*/ 2147483647 h 530"/>
              <a:gd name="T12" fmla="*/ 2147483647 w 89"/>
              <a:gd name="T13" fmla="*/ 2147483647 h 530"/>
              <a:gd name="T14" fmla="*/ 2147483647 w 89"/>
              <a:gd name="T15" fmla="*/ 2147483647 h 530"/>
              <a:gd name="T16" fmla="*/ 2147483647 w 89"/>
              <a:gd name="T17" fmla="*/ 2147483647 h 530"/>
              <a:gd name="T18" fmla="*/ 2147483647 w 89"/>
              <a:gd name="T19" fmla="*/ 2147483647 h 530"/>
              <a:gd name="T20" fmla="*/ 2147483647 w 89"/>
              <a:gd name="T21" fmla="*/ 2147483647 h 530"/>
              <a:gd name="T22" fmla="*/ 2147483647 w 89"/>
              <a:gd name="T23" fmla="*/ 2147483647 h 530"/>
              <a:gd name="T24" fmla="*/ 2147483647 w 89"/>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9"/>
              <a:gd name="T40" fmla="*/ 0 h 530"/>
              <a:gd name="T41" fmla="*/ 89 w 89"/>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a:solidFill>
              <a:schemeClr val="tx2"/>
            </a:solidFill>
            <a:round/>
            <a:headEnd/>
            <a:tailEnd/>
          </a:ln>
        </p:spPr>
        <p:txBody>
          <a:bodyPr/>
          <a:lstStyle/>
          <a:p>
            <a:endParaRPr lang="zh-CN" altLang="en-US"/>
          </a:p>
        </p:txBody>
      </p:sp>
      <p:sp>
        <p:nvSpPr>
          <p:cNvPr id="13364" name="Freeform 66"/>
          <p:cNvSpPr>
            <a:spLocks/>
          </p:cNvSpPr>
          <p:nvPr/>
        </p:nvSpPr>
        <p:spPr bwMode="auto">
          <a:xfrm>
            <a:off x="5538788" y="4213225"/>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365" name="Freeform 67"/>
          <p:cNvSpPr>
            <a:spLocks/>
          </p:cNvSpPr>
          <p:nvPr/>
        </p:nvSpPr>
        <p:spPr bwMode="auto">
          <a:xfrm>
            <a:off x="5589588" y="4217988"/>
            <a:ext cx="134937"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
              <a:gd name="T40" fmla="*/ 0 h 530"/>
              <a:gd name="T41" fmla="*/ 85 w 85"/>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a:solidFill>
              <a:schemeClr val="tx2"/>
            </a:solidFill>
            <a:round/>
            <a:headEnd/>
            <a:tailEnd/>
          </a:ln>
        </p:spPr>
        <p:txBody>
          <a:bodyPr/>
          <a:lstStyle/>
          <a:p>
            <a:endParaRPr lang="zh-CN" altLang="en-US"/>
          </a:p>
        </p:txBody>
      </p:sp>
      <p:sp>
        <p:nvSpPr>
          <p:cNvPr id="13366" name="Freeform 68"/>
          <p:cNvSpPr>
            <a:spLocks/>
          </p:cNvSpPr>
          <p:nvPr/>
        </p:nvSpPr>
        <p:spPr bwMode="auto">
          <a:xfrm>
            <a:off x="5724525" y="4206875"/>
            <a:ext cx="53975" cy="431800"/>
          </a:xfrm>
          <a:custGeom>
            <a:avLst/>
            <a:gdLst>
              <a:gd name="T0" fmla="*/ 0 w 34"/>
              <a:gd name="T1" fmla="*/ 2147483647 h 363"/>
              <a:gd name="T2" fmla="*/ 2147483647 w 34"/>
              <a:gd name="T3" fmla="*/ 2147483647 h 363"/>
              <a:gd name="T4" fmla="*/ 2147483647 w 34"/>
              <a:gd name="T5" fmla="*/ 2147483647 h 363"/>
              <a:gd name="T6" fmla="*/ 2147483647 w 34"/>
              <a:gd name="T7" fmla="*/ 2147483647 h 363"/>
              <a:gd name="T8" fmla="*/ 2147483647 w 34"/>
              <a:gd name="T9" fmla="*/ 2147483647 h 363"/>
              <a:gd name="T10" fmla="*/ 2147483647 w 34"/>
              <a:gd name="T11" fmla="*/ 2147483647 h 363"/>
              <a:gd name="T12" fmla="*/ 2147483647 w 34"/>
              <a:gd name="T13" fmla="*/ 0 h 363"/>
              <a:gd name="T14" fmla="*/ 0 60000 65536"/>
              <a:gd name="T15" fmla="*/ 0 60000 65536"/>
              <a:gd name="T16" fmla="*/ 0 60000 65536"/>
              <a:gd name="T17" fmla="*/ 0 60000 65536"/>
              <a:gd name="T18" fmla="*/ 0 60000 65536"/>
              <a:gd name="T19" fmla="*/ 0 60000 65536"/>
              <a:gd name="T20" fmla="*/ 0 60000 65536"/>
              <a:gd name="T21" fmla="*/ 0 w 34"/>
              <a:gd name="T22" fmla="*/ 0 h 363"/>
              <a:gd name="T23" fmla="*/ 34 w 3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63">
                <a:moveTo>
                  <a:pt x="0" y="362"/>
                </a:moveTo>
                <a:lnTo>
                  <a:pt x="20" y="54"/>
                </a:lnTo>
                <a:lnTo>
                  <a:pt x="22" y="38"/>
                </a:lnTo>
                <a:lnTo>
                  <a:pt x="23" y="25"/>
                </a:lnTo>
                <a:lnTo>
                  <a:pt x="24" y="15"/>
                </a:lnTo>
                <a:lnTo>
                  <a:pt x="28" y="6"/>
                </a:lnTo>
                <a:lnTo>
                  <a:pt x="33" y="0"/>
                </a:lnTo>
              </a:path>
            </a:pathLst>
          </a:custGeom>
          <a:noFill/>
          <a:ln w="38100" cap="rnd">
            <a:solidFill>
              <a:schemeClr val="tx2"/>
            </a:solidFill>
            <a:round/>
            <a:headEnd/>
            <a:tailEnd/>
          </a:ln>
        </p:spPr>
        <p:txBody>
          <a:bodyPr/>
          <a:lstStyle/>
          <a:p>
            <a:endParaRPr lang="zh-CN" altLang="en-US"/>
          </a:p>
        </p:txBody>
      </p:sp>
      <p:sp>
        <p:nvSpPr>
          <p:cNvPr id="13367" name="Freeform 69"/>
          <p:cNvSpPr>
            <a:spLocks/>
          </p:cNvSpPr>
          <p:nvPr/>
        </p:nvSpPr>
        <p:spPr bwMode="auto">
          <a:xfrm>
            <a:off x="5778500" y="4211638"/>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30"/>
              <a:gd name="T41" fmla="*/ 86 w 86"/>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a:solidFill>
              <a:schemeClr val="tx2"/>
            </a:solidFill>
            <a:round/>
            <a:headEnd/>
            <a:tailEnd/>
          </a:ln>
        </p:spPr>
        <p:txBody>
          <a:bodyPr/>
          <a:lstStyle/>
          <a:p>
            <a:endParaRPr lang="zh-CN" altLang="en-US"/>
          </a:p>
        </p:txBody>
      </p:sp>
      <p:grpSp>
        <p:nvGrpSpPr>
          <p:cNvPr id="13368" name="Group 70"/>
          <p:cNvGrpSpPr>
            <a:grpSpLocks/>
          </p:cNvGrpSpPr>
          <p:nvPr/>
        </p:nvGrpSpPr>
        <p:grpSpPr bwMode="auto">
          <a:xfrm>
            <a:off x="5911850" y="4206875"/>
            <a:ext cx="188913" cy="847725"/>
            <a:chOff x="3715" y="2269"/>
            <a:chExt cx="119" cy="713"/>
          </a:xfrm>
        </p:grpSpPr>
        <p:sp>
          <p:nvSpPr>
            <p:cNvPr id="13465" name="Freeform 71"/>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 name="T21" fmla="*/ 0 w 35"/>
                <a:gd name="T22" fmla="*/ 0 h 363"/>
                <a:gd name="T23" fmla="*/ 35 w 3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363">
                  <a:moveTo>
                    <a:pt x="0" y="362"/>
                  </a:moveTo>
                  <a:lnTo>
                    <a:pt x="21" y="54"/>
                  </a:lnTo>
                  <a:lnTo>
                    <a:pt x="22" y="38"/>
                  </a:lnTo>
                  <a:lnTo>
                    <a:pt x="23" y="25"/>
                  </a:lnTo>
                  <a:lnTo>
                    <a:pt x="25" y="15"/>
                  </a:lnTo>
                  <a:lnTo>
                    <a:pt x="29" y="6"/>
                  </a:lnTo>
                  <a:lnTo>
                    <a:pt x="34" y="0"/>
                  </a:lnTo>
                </a:path>
              </a:pathLst>
            </a:custGeom>
            <a:noFill/>
            <a:ln w="38100" cap="rnd">
              <a:solidFill>
                <a:schemeClr val="tx2"/>
              </a:solidFill>
              <a:round/>
              <a:headEnd/>
              <a:tailEnd/>
            </a:ln>
          </p:spPr>
          <p:txBody>
            <a:bodyPr/>
            <a:lstStyle/>
            <a:p>
              <a:endParaRPr lang="zh-CN" altLang="en-US"/>
            </a:p>
          </p:txBody>
        </p:sp>
        <p:sp>
          <p:nvSpPr>
            <p:cNvPr id="13466" name="Freeform 72"/>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09"/>
                <a:gd name="T41" fmla="*/ 84 w 84"/>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2"/>
              </a:solidFill>
              <a:round/>
              <a:headEnd/>
              <a:tailEnd/>
            </a:ln>
          </p:spPr>
          <p:txBody>
            <a:bodyPr/>
            <a:lstStyle/>
            <a:p>
              <a:endParaRPr lang="zh-CN" altLang="en-US"/>
            </a:p>
          </p:txBody>
        </p:sp>
      </p:grpSp>
      <p:sp>
        <p:nvSpPr>
          <p:cNvPr id="13369" name="Freeform 73"/>
          <p:cNvSpPr>
            <a:spLocks/>
          </p:cNvSpPr>
          <p:nvPr/>
        </p:nvSpPr>
        <p:spPr bwMode="auto">
          <a:xfrm>
            <a:off x="4581525" y="4213225"/>
            <a:ext cx="52388"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370" name="Freeform 74"/>
          <p:cNvSpPr>
            <a:spLocks/>
          </p:cNvSpPr>
          <p:nvPr/>
        </p:nvSpPr>
        <p:spPr bwMode="auto">
          <a:xfrm>
            <a:off x="4633913" y="4217988"/>
            <a:ext cx="138112"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7"/>
              <a:gd name="T40" fmla="*/ 0 h 530"/>
              <a:gd name="T41" fmla="*/ 87 w 87"/>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a:solidFill>
              <a:schemeClr val="tx2"/>
            </a:solidFill>
            <a:round/>
            <a:headEnd/>
            <a:tailEnd/>
          </a:ln>
        </p:spPr>
        <p:txBody>
          <a:bodyPr/>
          <a:lstStyle/>
          <a:p>
            <a:endParaRPr lang="zh-CN" altLang="en-US"/>
          </a:p>
        </p:txBody>
      </p:sp>
      <p:sp>
        <p:nvSpPr>
          <p:cNvPr id="13371" name="Freeform 75"/>
          <p:cNvSpPr>
            <a:spLocks/>
          </p:cNvSpPr>
          <p:nvPr/>
        </p:nvSpPr>
        <p:spPr bwMode="auto">
          <a:xfrm>
            <a:off x="4770438" y="4213225"/>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372" name="Freeform 76"/>
          <p:cNvSpPr>
            <a:spLocks/>
          </p:cNvSpPr>
          <p:nvPr/>
        </p:nvSpPr>
        <p:spPr bwMode="auto">
          <a:xfrm>
            <a:off x="4821238" y="4217988"/>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30"/>
              <a:gd name="T41" fmla="*/ 86 w 86"/>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a:solidFill>
              <a:schemeClr val="tx2"/>
            </a:solidFill>
            <a:round/>
            <a:headEnd/>
            <a:tailEnd/>
          </a:ln>
        </p:spPr>
        <p:txBody>
          <a:bodyPr/>
          <a:lstStyle/>
          <a:p>
            <a:endParaRPr lang="zh-CN" altLang="en-US"/>
          </a:p>
        </p:txBody>
      </p:sp>
      <p:sp>
        <p:nvSpPr>
          <p:cNvPr id="13373" name="Freeform 77"/>
          <p:cNvSpPr>
            <a:spLocks/>
          </p:cNvSpPr>
          <p:nvPr/>
        </p:nvSpPr>
        <p:spPr bwMode="auto">
          <a:xfrm>
            <a:off x="4957763" y="4206875"/>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 name="T21" fmla="*/ 0 w 33"/>
              <a:gd name="T22" fmla="*/ 0 h 363"/>
              <a:gd name="T23" fmla="*/ 33 w 3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3">
                <a:moveTo>
                  <a:pt x="0" y="362"/>
                </a:moveTo>
                <a:lnTo>
                  <a:pt x="20" y="54"/>
                </a:lnTo>
                <a:lnTo>
                  <a:pt x="21" y="38"/>
                </a:lnTo>
                <a:lnTo>
                  <a:pt x="22" y="25"/>
                </a:lnTo>
                <a:lnTo>
                  <a:pt x="24" y="15"/>
                </a:lnTo>
                <a:lnTo>
                  <a:pt x="27" y="6"/>
                </a:lnTo>
                <a:lnTo>
                  <a:pt x="32" y="0"/>
                </a:lnTo>
              </a:path>
            </a:pathLst>
          </a:custGeom>
          <a:noFill/>
          <a:ln w="38100" cap="rnd">
            <a:solidFill>
              <a:schemeClr val="tx2"/>
            </a:solidFill>
            <a:round/>
            <a:headEnd/>
            <a:tailEnd/>
          </a:ln>
        </p:spPr>
        <p:txBody>
          <a:bodyPr/>
          <a:lstStyle/>
          <a:p>
            <a:endParaRPr lang="zh-CN" altLang="en-US"/>
          </a:p>
        </p:txBody>
      </p:sp>
      <p:sp>
        <p:nvSpPr>
          <p:cNvPr id="13374" name="Freeform 78"/>
          <p:cNvSpPr>
            <a:spLocks/>
          </p:cNvSpPr>
          <p:nvPr/>
        </p:nvSpPr>
        <p:spPr bwMode="auto">
          <a:xfrm>
            <a:off x="5010150" y="4211638"/>
            <a:ext cx="138113"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7"/>
              <a:gd name="T40" fmla="*/ 0 h 530"/>
              <a:gd name="T41" fmla="*/ 87 w 87"/>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a:solidFill>
              <a:schemeClr val="tx2"/>
            </a:solidFill>
            <a:round/>
            <a:headEnd/>
            <a:tailEnd/>
          </a:ln>
        </p:spPr>
        <p:txBody>
          <a:bodyPr/>
          <a:lstStyle/>
          <a:p>
            <a:endParaRPr lang="zh-CN" altLang="en-US"/>
          </a:p>
        </p:txBody>
      </p:sp>
      <p:sp>
        <p:nvSpPr>
          <p:cNvPr id="13375" name="Freeform 79"/>
          <p:cNvSpPr>
            <a:spLocks/>
          </p:cNvSpPr>
          <p:nvPr/>
        </p:nvSpPr>
        <p:spPr bwMode="auto">
          <a:xfrm>
            <a:off x="5143500" y="4206875"/>
            <a:ext cx="55563" cy="431800"/>
          </a:xfrm>
          <a:custGeom>
            <a:avLst/>
            <a:gdLst>
              <a:gd name="T0" fmla="*/ 0 w 35"/>
              <a:gd name="T1" fmla="*/ 2147483647 h 363"/>
              <a:gd name="T2" fmla="*/ 2147483647 w 35"/>
              <a:gd name="T3" fmla="*/ 2147483647 h 363"/>
              <a:gd name="T4" fmla="*/ 2147483647 w 35"/>
              <a:gd name="T5" fmla="*/ 2147483647 h 363"/>
              <a:gd name="T6" fmla="*/ 2147483647 w 35"/>
              <a:gd name="T7" fmla="*/ 2147483647 h 363"/>
              <a:gd name="T8" fmla="*/ 2147483647 w 35"/>
              <a:gd name="T9" fmla="*/ 2147483647 h 363"/>
              <a:gd name="T10" fmla="*/ 2147483647 w 35"/>
              <a:gd name="T11" fmla="*/ 2147483647 h 363"/>
              <a:gd name="T12" fmla="*/ 2147483647 w 35"/>
              <a:gd name="T13" fmla="*/ 0 h 363"/>
              <a:gd name="T14" fmla="*/ 0 60000 65536"/>
              <a:gd name="T15" fmla="*/ 0 60000 65536"/>
              <a:gd name="T16" fmla="*/ 0 60000 65536"/>
              <a:gd name="T17" fmla="*/ 0 60000 65536"/>
              <a:gd name="T18" fmla="*/ 0 60000 65536"/>
              <a:gd name="T19" fmla="*/ 0 60000 65536"/>
              <a:gd name="T20" fmla="*/ 0 60000 65536"/>
              <a:gd name="T21" fmla="*/ 0 w 35"/>
              <a:gd name="T22" fmla="*/ 0 h 363"/>
              <a:gd name="T23" fmla="*/ 35 w 3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363">
                <a:moveTo>
                  <a:pt x="0" y="362"/>
                </a:moveTo>
                <a:lnTo>
                  <a:pt x="21" y="54"/>
                </a:lnTo>
                <a:lnTo>
                  <a:pt x="22" y="38"/>
                </a:lnTo>
                <a:lnTo>
                  <a:pt x="23" y="25"/>
                </a:lnTo>
                <a:lnTo>
                  <a:pt x="25" y="15"/>
                </a:lnTo>
                <a:lnTo>
                  <a:pt x="29" y="6"/>
                </a:lnTo>
                <a:lnTo>
                  <a:pt x="34" y="0"/>
                </a:lnTo>
              </a:path>
            </a:pathLst>
          </a:custGeom>
          <a:noFill/>
          <a:ln w="38100" cap="rnd">
            <a:solidFill>
              <a:schemeClr val="tx2"/>
            </a:solidFill>
            <a:round/>
            <a:headEnd/>
            <a:tailEnd/>
          </a:ln>
        </p:spPr>
        <p:txBody>
          <a:bodyPr/>
          <a:lstStyle/>
          <a:p>
            <a:endParaRPr lang="zh-CN" altLang="en-US"/>
          </a:p>
        </p:txBody>
      </p:sp>
      <p:sp>
        <p:nvSpPr>
          <p:cNvPr id="13376" name="Freeform 80"/>
          <p:cNvSpPr>
            <a:spLocks/>
          </p:cNvSpPr>
          <p:nvPr/>
        </p:nvSpPr>
        <p:spPr bwMode="auto">
          <a:xfrm>
            <a:off x="5199063" y="4211638"/>
            <a:ext cx="149225" cy="841375"/>
          </a:xfrm>
          <a:custGeom>
            <a:avLst/>
            <a:gdLst>
              <a:gd name="T0" fmla="*/ 0 w 94"/>
              <a:gd name="T1" fmla="*/ 0 h 530"/>
              <a:gd name="T2" fmla="*/ 2147483647 w 94"/>
              <a:gd name="T3" fmla="*/ 2147483647 h 530"/>
              <a:gd name="T4" fmla="*/ 2147483647 w 94"/>
              <a:gd name="T5" fmla="*/ 2147483647 h 530"/>
              <a:gd name="T6" fmla="*/ 2147483647 w 94"/>
              <a:gd name="T7" fmla="*/ 2147483647 h 530"/>
              <a:gd name="T8" fmla="*/ 2147483647 w 94"/>
              <a:gd name="T9" fmla="*/ 2147483647 h 530"/>
              <a:gd name="T10" fmla="*/ 2147483647 w 94"/>
              <a:gd name="T11" fmla="*/ 2147483647 h 530"/>
              <a:gd name="T12" fmla="*/ 2147483647 w 94"/>
              <a:gd name="T13" fmla="*/ 2147483647 h 530"/>
              <a:gd name="T14" fmla="*/ 2147483647 w 94"/>
              <a:gd name="T15" fmla="*/ 2147483647 h 530"/>
              <a:gd name="T16" fmla="*/ 2147483647 w 94"/>
              <a:gd name="T17" fmla="*/ 2147483647 h 530"/>
              <a:gd name="T18" fmla="*/ 2147483647 w 94"/>
              <a:gd name="T19" fmla="*/ 2147483647 h 530"/>
              <a:gd name="T20" fmla="*/ 2147483647 w 94"/>
              <a:gd name="T21" fmla="*/ 2147483647 h 530"/>
              <a:gd name="T22" fmla="*/ 2147483647 w 94"/>
              <a:gd name="T23" fmla="*/ 2147483647 h 530"/>
              <a:gd name="T24" fmla="*/ 2147483647 w 9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530"/>
              <a:gd name="T41" fmla="*/ 94 w 94"/>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a:solidFill>
              <a:schemeClr val="tx2"/>
            </a:solidFill>
            <a:round/>
            <a:headEnd/>
            <a:tailEnd/>
          </a:ln>
        </p:spPr>
        <p:txBody>
          <a:bodyPr/>
          <a:lstStyle/>
          <a:p>
            <a:endParaRPr lang="zh-CN" altLang="en-US"/>
          </a:p>
        </p:txBody>
      </p:sp>
      <p:grpSp>
        <p:nvGrpSpPr>
          <p:cNvPr id="13377" name="Group 81"/>
          <p:cNvGrpSpPr>
            <a:grpSpLocks/>
          </p:cNvGrpSpPr>
          <p:nvPr/>
        </p:nvGrpSpPr>
        <p:grpSpPr bwMode="auto">
          <a:xfrm>
            <a:off x="1531938" y="4224338"/>
            <a:ext cx="755650" cy="844550"/>
            <a:chOff x="956" y="2283"/>
            <a:chExt cx="476" cy="711"/>
          </a:xfrm>
        </p:grpSpPr>
        <p:sp>
          <p:nvSpPr>
            <p:cNvPr id="13461" name="Freeform 82"/>
            <p:cNvSpPr>
              <a:spLocks/>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 name="T21" fmla="*/ 0 w 65"/>
                <a:gd name="T22" fmla="*/ 0 h 363"/>
                <a:gd name="T23" fmla="*/ 65 w 6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363">
                  <a:moveTo>
                    <a:pt x="0" y="362"/>
                  </a:moveTo>
                  <a:lnTo>
                    <a:pt x="40" y="54"/>
                  </a:lnTo>
                  <a:lnTo>
                    <a:pt x="42" y="38"/>
                  </a:lnTo>
                  <a:lnTo>
                    <a:pt x="44" y="25"/>
                  </a:lnTo>
                  <a:lnTo>
                    <a:pt x="47" y="15"/>
                  </a:lnTo>
                  <a:lnTo>
                    <a:pt x="55" y="6"/>
                  </a:lnTo>
                  <a:lnTo>
                    <a:pt x="64" y="0"/>
                  </a:lnTo>
                </a:path>
              </a:pathLst>
            </a:custGeom>
            <a:noFill/>
            <a:ln w="38100" cap="rnd">
              <a:solidFill>
                <a:schemeClr val="tx2"/>
              </a:solidFill>
              <a:round/>
              <a:headEnd/>
              <a:tailEnd/>
            </a:ln>
          </p:spPr>
          <p:txBody>
            <a:bodyPr/>
            <a:lstStyle/>
            <a:p>
              <a:endParaRPr lang="zh-CN" altLang="en-US"/>
            </a:p>
          </p:txBody>
        </p:sp>
        <p:sp>
          <p:nvSpPr>
            <p:cNvPr id="13462" name="Freeform 83"/>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1"/>
                <a:gd name="T40" fmla="*/ 0 h 711"/>
                <a:gd name="T41" fmla="*/ 171 w 171"/>
                <a:gd name="T42" fmla="*/ 711 h 7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a:solidFill>
                <a:schemeClr val="tx2"/>
              </a:solidFill>
              <a:round/>
              <a:headEnd/>
              <a:tailEnd/>
            </a:ln>
          </p:spPr>
          <p:txBody>
            <a:bodyPr/>
            <a:lstStyle/>
            <a:p>
              <a:endParaRPr lang="zh-CN" altLang="en-US"/>
            </a:p>
          </p:txBody>
        </p:sp>
        <p:sp>
          <p:nvSpPr>
            <p:cNvPr id="13463" name="Freeform 84"/>
            <p:cNvSpPr>
              <a:spLocks/>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 name="T14" fmla="*/ 0 60000 65536"/>
                <a:gd name="T15" fmla="*/ 0 60000 65536"/>
                <a:gd name="T16" fmla="*/ 0 60000 65536"/>
                <a:gd name="T17" fmla="*/ 0 60000 65536"/>
                <a:gd name="T18" fmla="*/ 0 60000 65536"/>
                <a:gd name="T19" fmla="*/ 0 60000 65536"/>
                <a:gd name="T20" fmla="*/ 0 60000 65536"/>
                <a:gd name="T21" fmla="*/ 0 w 66"/>
                <a:gd name="T22" fmla="*/ 0 h 363"/>
                <a:gd name="T23" fmla="*/ 66 w 66"/>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363">
                  <a:moveTo>
                    <a:pt x="0" y="362"/>
                  </a:moveTo>
                  <a:lnTo>
                    <a:pt x="40" y="54"/>
                  </a:lnTo>
                  <a:lnTo>
                    <a:pt x="43" y="38"/>
                  </a:lnTo>
                  <a:lnTo>
                    <a:pt x="44" y="25"/>
                  </a:lnTo>
                  <a:lnTo>
                    <a:pt x="48" y="15"/>
                  </a:lnTo>
                  <a:lnTo>
                    <a:pt x="56" y="6"/>
                  </a:lnTo>
                  <a:lnTo>
                    <a:pt x="65" y="0"/>
                  </a:lnTo>
                </a:path>
              </a:pathLst>
            </a:custGeom>
            <a:noFill/>
            <a:ln w="38100" cap="rnd">
              <a:solidFill>
                <a:schemeClr val="tx2"/>
              </a:solidFill>
              <a:round/>
              <a:headEnd/>
              <a:tailEnd/>
            </a:ln>
          </p:spPr>
          <p:txBody>
            <a:bodyPr/>
            <a:lstStyle/>
            <a:p>
              <a:endParaRPr lang="zh-CN" altLang="en-US"/>
            </a:p>
          </p:txBody>
        </p:sp>
        <p:sp>
          <p:nvSpPr>
            <p:cNvPr id="13464" name="Freeform 85"/>
            <p:cNvSpPr>
              <a:spLocks/>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1"/>
                <a:gd name="T40" fmla="*/ 0 h 709"/>
                <a:gd name="T41" fmla="*/ 171 w 171"/>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2"/>
              </a:solidFill>
              <a:round/>
              <a:headEnd/>
              <a:tailEnd/>
            </a:ln>
          </p:spPr>
          <p:txBody>
            <a:bodyPr/>
            <a:lstStyle/>
            <a:p>
              <a:endParaRPr lang="zh-CN" altLang="en-US"/>
            </a:p>
          </p:txBody>
        </p:sp>
      </p:grpSp>
      <p:grpSp>
        <p:nvGrpSpPr>
          <p:cNvPr id="13378" name="Group 86"/>
          <p:cNvGrpSpPr>
            <a:grpSpLocks/>
          </p:cNvGrpSpPr>
          <p:nvPr/>
        </p:nvGrpSpPr>
        <p:grpSpPr bwMode="auto">
          <a:xfrm>
            <a:off x="3076575" y="4210050"/>
            <a:ext cx="755650" cy="847725"/>
            <a:chOff x="1929" y="2272"/>
            <a:chExt cx="476" cy="713"/>
          </a:xfrm>
        </p:grpSpPr>
        <p:grpSp>
          <p:nvGrpSpPr>
            <p:cNvPr id="13455" name="Group 87"/>
            <p:cNvGrpSpPr>
              <a:grpSpLocks/>
            </p:cNvGrpSpPr>
            <p:nvPr/>
          </p:nvGrpSpPr>
          <p:grpSpPr bwMode="auto">
            <a:xfrm>
              <a:off x="1929" y="2272"/>
              <a:ext cx="238" cy="713"/>
              <a:chOff x="1929" y="2272"/>
              <a:chExt cx="238" cy="713"/>
            </a:xfrm>
          </p:grpSpPr>
          <p:sp>
            <p:nvSpPr>
              <p:cNvPr id="13459" name="Freeform 88"/>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 name="T21" fmla="*/ 0 w 65"/>
                  <a:gd name="T22" fmla="*/ 0 h 363"/>
                  <a:gd name="T23" fmla="*/ 65 w 6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363">
                    <a:moveTo>
                      <a:pt x="0" y="362"/>
                    </a:moveTo>
                    <a:lnTo>
                      <a:pt x="40" y="54"/>
                    </a:lnTo>
                    <a:lnTo>
                      <a:pt x="42" y="38"/>
                    </a:lnTo>
                    <a:lnTo>
                      <a:pt x="44" y="25"/>
                    </a:lnTo>
                    <a:lnTo>
                      <a:pt x="47" y="15"/>
                    </a:lnTo>
                    <a:lnTo>
                      <a:pt x="55" y="6"/>
                    </a:lnTo>
                    <a:lnTo>
                      <a:pt x="64" y="0"/>
                    </a:lnTo>
                  </a:path>
                </a:pathLst>
              </a:custGeom>
              <a:noFill/>
              <a:ln w="38100" cap="rnd">
                <a:solidFill>
                  <a:schemeClr val="tx2"/>
                </a:solidFill>
                <a:round/>
                <a:headEnd/>
                <a:tailEnd/>
              </a:ln>
            </p:spPr>
            <p:txBody>
              <a:bodyPr/>
              <a:lstStyle/>
              <a:p>
                <a:endParaRPr lang="zh-CN" altLang="en-US"/>
              </a:p>
            </p:txBody>
          </p:sp>
          <p:sp>
            <p:nvSpPr>
              <p:cNvPr id="13460" name="Freeform 89"/>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2"/>
                  <a:gd name="T40" fmla="*/ 0 h 709"/>
                  <a:gd name="T41" fmla="*/ 172 w 172"/>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2"/>
                </a:solidFill>
                <a:round/>
                <a:headEnd/>
                <a:tailEnd/>
              </a:ln>
            </p:spPr>
            <p:txBody>
              <a:bodyPr/>
              <a:lstStyle/>
              <a:p>
                <a:endParaRPr lang="zh-CN" altLang="en-US"/>
              </a:p>
            </p:txBody>
          </p:sp>
        </p:grpSp>
        <p:grpSp>
          <p:nvGrpSpPr>
            <p:cNvPr id="13456" name="Group 90"/>
            <p:cNvGrpSpPr>
              <a:grpSpLocks/>
            </p:cNvGrpSpPr>
            <p:nvPr/>
          </p:nvGrpSpPr>
          <p:grpSpPr bwMode="auto">
            <a:xfrm>
              <a:off x="2169" y="2272"/>
              <a:ext cx="236" cy="713"/>
              <a:chOff x="2169" y="2272"/>
              <a:chExt cx="236" cy="713"/>
            </a:xfrm>
          </p:grpSpPr>
          <p:sp>
            <p:nvSpPr>
              <p:cNvPr id="13457" name="Freeform 91"/>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 name="T21" fmla="*/ 0 w 64"/>
                  <a:gd name="T22" fmla="*/ 0 h 363"/>
                  <a:gd name="T23" fmla="*/ 64 w 6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63">
                    <a:moveTo>
                      <a:pt x="0" y="362"/>
                    </a:moveTo>
                    <a:lnTo>
                      <a:pt x="39" y="54"/>
                    </a:lnTo>
                    <a:lnTo>
                      <a:pt x="41" y="38"/>
                    </a:lnTo>
                    <a:lnTo>
                      <a:pt x="43" y="25"/>
                    </a:lnTo>
                    <a:lnTo>
                      <a:pt x="46" y="15"/>
                    </a:lnTo>
                    <a:lnTo>
                      <a:pt x="54" y="6"/>
                    </a:lnTo>
                    <a:lnTo>
                      <a:pt x="63" y="0"/>
                    </a:lnTo>
                  </a:path>
                </a:pathLst>
              </a:custGeom>
              <a:noFill/>
              <a:ln w="38100" cap="rnd">
                <a:solidFill>
                  <a:schemeClr val="tx2"/>
                </a:solidFill>
                <a:round/>
                <a:headEnd/>
                <a:tailEnd/>
              </a:ln>
            </p:spPr>
            <p:txBody>
              <a:bodyPr/>
              <a:lstStyle/>
              <a:p>
                <a:endParaRPr lang="zh-CN" altLang="en-US"/>
              </a:p>
            </p:txBody>
          </p:sp>
          <p:sp>
            <p:nvSpPr>
              <p:cNvPr id="13458" name="Freeform 92"/>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1"/>
                  <a:gd name="T40" fmla="*/ 0 h 709"/>
                  <a:gd name="T41" fmla="*/ 171 w 171"/>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2"/>
                </a:solidFill>
                <a:round/>
                <a:headEnd/>
                <a:tailEnd/>
              </a:ln>
            </p:spPr>
            <p:txBody>
              <a:bodyPr/>
              <a:lstStyle/>
              <a:p>
                <a:endParaRPr lang="zh-CN" altLang="en-US"/>
              </a:p>
            </p:txBody>
          </p:sp>
        </p:grpSp>
      </p:grpSp>
      <p:sp>
        <p:nvSpPr>
          <p:cNvPr id="13379" name="Freeform 93"/>
          <p:cNvSpPr>
            <a:spLocks/>
          </p:cNvSpPr>
          <p:nvPr/>
        </p:nvSpPr>
        <p:spPr bwMode="auto">
          <a:xfrm>
            <a:off x="3829050" y="4203700"/>
            <a:ext cx="107950" cy="466725"/>
          </a:xfrm>
          <a:custGeom>
            <a:avLst/>
            <a:gdLst>
              <a:gd name="T0" fmla="*/ 0 w 68"/>
              <a:gd name="T1" fmla="*/ 2147483647 h 294"/>
              <a:gd name="T2" fmla="*/ 2147483647 w 68"/>
              <a:gd name="T3" fmla="*/ 2147483647 h 294"/>
              <a:gd name="T4" fmla="*/ 2147483647 w 68"/>
              <a:gd name="T5" fmla="*/ 2147483647 h 294"/>
              <a:gd name="T6" fmla="*/ 2147483647 w 68"/>
              <a:gd name="T7" fmla="*/ 2147483647 h 294"/>
              <a:gd name="T8" fmla="*/ 2147483647 w 68"/>
              <a:gd name="T9" fmla="*/ 2147483647 h 294"/>
              <a:gd name="T10" fmla="*/ 2147483647 w 68"/>
              <a:gd name="T11" fmla="*/ 2147483647 h 294"/>
              <a:gd name="T12" fmla="*/ 2147483647 w 68"/>
              <a:gd name="T13" fmla="*/ 0 h 294"/>
              <a:gd name="T14" fmla="*/ 0 60000 65536"/>
              <a:gd name="T15" fmla="*/ 0 60000 65536"/>
              <a:gd name="T16" fmla="*/ 0 60000 65536"/>
              <a:gd name="T17" fmla="*/ 0 60000 65536"/>
              <a:gd name="T18" fmla="*/ 0 60000 65536"/>
              <a:gd name="T19" fmla="*/ 0 60000 65536"/>
              <a:gd name="T20" fmla="*/ 0 60000 65536"/>
              <a:gd name="T21" fmla="*/ 0 w 68"/>
              <a:gd name="T22" fmla="*/ 0 h 294"/>
              <a:gd name="T23" fmla="*/ 68 w 68"/>
              <a:gd name="T24" fmla="*/ 294 h 2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8" h="294">
                <a:moveTo>
                  <a:pt x="0" y="294"/>
                </a:moveTo>
                <a:lnTo>
                  <a:pt x="43" y="40"/>
                </a:lnTo>
                <a:lnTo>
                  <a:pt x="45" y="28"/>
                </a:lnTo>
                <a:lnTo>
                  <a:pt x="47" y="19"/>
                </a:lnTo>
                <a:lnTo>
                  <a:pt x="51" y="11"/>
                </a:lnTo>
                <a:lnTo>
                  <a:pt x="58" y="4"/>
                </a:lnTo>
                <a:lnTo>
                  <a:pt x="68" y="0"/>
                </a:lnTo>
              </a:path>
            </a:pathLst>
          </a:custGeom>
          <a:noFill/>
          <a:ln w="38100" cap="rnd">
            <a:solidFill>
              <a:schemeClr val="tx2"/>
            </a:solidFill>
            <a:round/>
            <a:headEnd/>
            <a:tailEnd/>
          </a:ln>
        </p:spPr>
        <p:txBody>
          <a:bodyPr/>
          <a:lstStyle/>
          <a:p>
            <a:endParaRPr lang="zh-CN" altLang="en-US"/>
          </a:p>
        </p:txBody>
      </p:sp>
      <p:sp>
        <p:nvSpPr>
          <p:cNvPr id="13380" name="Freeform 94"/>
          <p:cNvSpPr>
            <a:spLocks/>
          </p:cNvSpPr>
          <p:nvPr/>
        </p:nvSpPr>
        <p:spPr bwMode="auto">
          <a:xfrm>
            <a:off x="3940175" y="4208463"/>
            <a:ext cx="266700" cy="842962"/>
          </a:xfrm>
          <a:custGeom>
            <a:avLst/>
            <a:gdLst>
              <a:gd name="T0" fmla="*/ 0 w 168"/>
              <a:gd name="T1" fmla="*/ 0 h 709"/>
              <a:gd name="T2" fmla="*/ 2147483647 w 168"/>
              <a:gd name="T3" fmla="*/ 2147483647 h 709"/>
              <a:gd name="T4" fmla="*/ 2147483647 w 168"/>
              <a:gd name="T5" fmla="*/ 2147483647 h 709"/>
              <a:gd name="T6" fmla="*/ 2147483647 w 168"/>
              <a:gd name="T7" fmla="*/ 2147483647 h 709"/>
              <a:gd name="T8" fmla="*/ 2147483647 w 168"/>
              <a:gd name="T9" fmla="*/ 2147483647 h 709"/>
              <a:gd name="T10" fmla="*/ 2147483647 w 168"/>
              <a:gd name="T11" fmla="*/ 2147483647 h 709"/>
              <a:gd name="T12" fmla="*/ 2147483647 w 168"/>
              <a:gd name="T13" fmla="*/ 2147483647 h 709"/>
              <a:gd name="T14" fmla="*/ 2147483647 w 168"/>
              <a:gd name="T15" fmla="*/ 2147483647 h 709"/>
              <a:gd name="T16" fmla="*/ 2147483647 w 168"/>
              <a:gd name="T17" fmla="*/ 2147483647 h 709"/>
              <a:gd name="T18" fmla="*/ 2147483647 w 168"/>
              <a:gd name="T19" fmla="*/ 2147483647 h 709"/>
              <a:gd name="T20" fmla="*/ 2147483647 w 168"/>
              <a:gd name="T21" fmla="*/ 2147483647 h 709"/>
              <a:gd name="T22" fmla="*/ 2147483647 w 168"/>
              <a:gd name="T23" fmla="*/ 2147483647 h 709"/>
              <a:gd name="T24" fmla="*/ 2147483647 w 168"/>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8"/>
              <a:gd name="T40" fmla="*/ 0 h 709"/>
              <a:gd name="T41" fmla="*/ 168 w 168"/>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2"/>
            </a:solidFill>
            <a:round/>
            <a:headEnd/>
            <a:tailEnd/>
          </a:ln>
        </p:spPr>
        <p:txBody>
          <a:bodyPr/>
          <a:lstStyle/>
          <a:p>
            <a:endParaRPr lang="zh-CN" altLang="en-US"/>
          </a:p>
        </p:txBody>
      </p:sp>
      <p:sp>
        <p:nvSpPr>
          <p:cNvPr id="13381" name="Freeform 95"/>
          <p:cNvSpPr>
            <a:spLocks/>
          </p:cNvSpPr>
          <p:nvPr/>
        </p:nvSpPr>
        <p:spPr bwMode="auto">
          <a:xfrm>
            <a:off x="4205288" y="4203700"/>
            <a:ext cx="112712" cy="461963"/>
          </a:xfrm>
          <a:custGeom>
            <a:avLst/>
            <a:gdLst>
              <a:gd name="T0" fmla="*/ 0 w 71"/>
              <a:gd name="T1" fmla="*/ 2147483647 h 291"/>
              <a:gd name="T2" fmla="*/ 2147483647 w 71"/>
              <a:gd name="T3" fmla="*/ 2147483647 h 291"/>
              <a:gd name="T4" fmla="*/ 2147483647 w 71"/>
              <a:gd name="T5" fmla="*/ 2147483647 h 291"/>
              <a:gd name="T6" fmla="*/ 2147483647 w 71"/>
              <a:gd name="T7" fmla="*/ 2147483647 h 291"/>
              <a:gd name="T8" fmla="*/ 2147483647 w 71"/>
              <a:gd name="T9" fmla="*/ 2147483647 h 291"/>
              <a:gd name="T10" fmla="*/ 2147483647 w 71"/>
              <a:gd name="T11" fmla="*/ 2147483647 h 291"/>
              <a:gd name="T12" fmla="*/ 2147483647 w 71"/>
              <a:gd name="T13" fmla="*/ 0 h 291"/>
              <a:gd name="T14" fmla="*/ 0 60000 65536"/>
              <a:gd name="T15" fmla="*/ 0 60000 65536"/>
              <a:gd name="T16" fmla="*/ 0 60000 65536"/>
              <a:gd name="T17" fmla="*/ 0 60000 65536"/>
              <a:gd name="T18" fmla="*/ 0 60000 65536"/>
              <a:gd name="T19" fmla="*/ 0 60000 65536"/>
              <a:gd name="T20" fmla="*/ 0 60000 65536"/>
              <a:gd name="T21" fmla="*/ 0 w 71"/>
              <a:gd name="T22" fmla="*/ 0 h 291"/>
              <a:gd name="T23" fmla="*/ 71 w 71"/>
              <a:gd name="T24" fmla="*/ 291 h 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291">
                <a:moveTo>
                  <a:pt x="0" y="291"/>
                </a:moveTo>
                <a:lnTo>
                  <a:pt x="45" y="40"/>
                </a:lnTo>
                <a:lnTo>
                  <a:pt x="48" y="28"/>
                </a:lnTo>
                <a:lnTo>
                  <a:pt x="50" y="19"/>
                </a:lnTo>
                <a:lnTo>
                  <a:pt x="53" y="11"/>
                </a:lnTo>
                <a:lnTo>
                  <a:pt x="61" y="4"/>
                </a:lnTo>
                <a:lnTo>
                  <a:pt x="71" y="0"/>
                </a:lnTo>
              </a:path>
            </a:pathLst>
          </a:custGeom>
          <a:noFill/>
          <a:ln w="38100" cap="rnd">
            <a:solidFill>
              <a:schemeClr val="tx2"/>
            </a:solidFill>
            <a:round/>
            <a:headEnd/>
            <a:tailEnd/>
          </a:ln>
        </p:spPr>
        <p:txBody>
          <a:bodyPr/>
          <a:lstStyle/>
          <a:p>
            <a:endParaRPr lang="zh-CN" altLang="en-US"/>
          </a:p>
        </p:txBody>
      </p:sp>
      <p:sp>
        <p:nvSpPr>
          <p:cNvPr id="13382" name="Freeform 96"/>
          <p:cNvSpPr>
            <a:spLocks/>
          </p:cNvSpPr>
          <p:nvPr/>
        </p:nvSpPr>
        <p:spPr bwMode="auto">
          <a:xfrm>
            <a:off x="4321175" y="4208463"/>
            <a:ext cx="260350" cy="841375"/>
          </a:xfrm>
          <a:custGeom>
            <a:avLst/>
            <a:gdLst>
              <a:gd name="T0" fmla="*/ 0 w 164"/>
              <a:gd name="T1" fmla="*/ 0 h 530"/>
              <a:gd name="T2" fmla="*/ 2147483647 w 164"/>
              <a:gd name="T3" fmla="*/ 2147483647 h 530"/>
              <a:gd name="T4" fmla="*/ 2147483647 w 164"/>
              <a:gd name="T5" fmla="*/ 2147483647 h 530"/>
              <a:gd name="T6" fmla="*/ 2147483647 w 164"/>
              <a:gd name="T7" fmla="*/ 2147483647 h 530"/>
              <a:gd name="T8" fmla="*/ 2147483647 w 164"/>
              <a:gd name="T9" fmla="*/ 2147483647 h 530"/>
              <a:gd name="T10" fmla="*/ 2147483647 w 164"/>
              <a:gd name="T11" fmla="*/ 2147483647 h 530"/>
              <a:gd name="T12" fmla="*/ 2147483647 w 164"/>
              <a:gd name="T13" fmla="*/ 2147483647 h 530"/>
              <a:gd name="T14" fmla="*/ 2147483647 w 164"/>
              <a:gd name="T15" fmla="*/ 2147483647 h 530"/>
              <a:gd name="T16" fmla="*/ 2147483647 w 164"/>
              <a:gd name="T17" fmla="*/ 2147483647 h 530"/>
              <a:gd name="T18" fmla="*/ 2147483647 w 164"/>
              <a:gd name="T19" fmla="*/ 2147483647 h 530"/>
              <a:gd name="T20" fmla="*/ 2147483647 w 164"/>
              <a:gd name="T21" fmla="*/ 2147483647 h 530"/>
              <a:gd name="T22" fmla="*/ 2147483647 w 164"/>
              <a:gd name="T23" fmla="*/ 2147483647 h 530"/>
              <a:gd name="T24" fmla="*/ 2147483647 w 16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4"/>
              <a:gd name="T40" fmla="*/ 0 h 530"/>
              <a:gd name="T41" fmla="*/ 164 w 164"/>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a:solidFill>
              <a:schemeClr val="tx2"/>
            </a:solidFill>
            <a:round/>
            <a:headEnd/>
            <a:tailEnd/>
          </a:ln>
        </p:spPr>
        <p:txBody>
          <a:bodyPr/>
          <a:lstStyle/>
          <a:p>
            <a:endParaRPr lang="zh-CN" altLang="en-US"/>
          </a:p>
        </p:txBody>
      </p:sp>
      <p:sp>
        <p:nvSpPr>
          <p:cNvPr id="13383" name="Freeform 97"/>
          <p:cNvSpPr>
            <a:spLocks/>
          </p:cNvSpPr>
          <p:nvPr/>
        </p:nvSpPr>
        <p:spPr bwMode="auto">
          <a:xfrm>
            <a:off x="6858000" y="4213225"/>
            <a:ext cx="103188" cy="431800"/>
          </a:xfrm>
          <a:custGeom>
            <a:avLst/>
            <a:gdLst>
              <a:gd name="T0" fmla="*/ 0 w 65"/>
              <a:gd name="T1" fmla="*/ 2147483647 h 363"/>
              <a:gd name="T2" fmla="*/ 2147483647 w 65"/>
              <a:gd name="T3" fmla="*/ 2147483647 h 363"/>
              <a:gd name="T4" fmla="*/ 2147483647 w 65"/>
              <a:gd name="T5" fmla="*/ 2147483647 h 363"/>
              <a:gd name="T6" fmla="*/ 2147483647 w 65"/>
              <a:gd name="T7" fmla="*/ 2147483647 h 363"/>
              <a:gd name="T8" fmla="*/ 2147483647 w 65"/>
              <a:gd name="T9" fmla="*/ 2147483647 h 363"/>
              <a:gd name="T10" fmla="*/ 2147483647 w 65"/>
              <a:gd name="T11" fmla="*/ 2147483647 h 363"/>
              <a:gd name="T12" fmla="*/ 2147483647 w 65"/>
              <a:gd name="T13" fmla="*/ 0 h 363"/>
              <a:gd name="T14" fmla="*/ 0 60000 65536"/>
              <a:gd name="T15" fmla="*/ 0 60000 65536"/>
              <a:gd name="T16" fmla="*/ 0 60000 65536"/>
              <a:gd name="T17" fmla="*/ 0 60000 65536"/>
              <a:gd name="T18" fmla="*/ 0 60000 65536"/>
              <a:gd name="T19" fmla="*/ 0 60000 65536"/>
              <a:gd name="T20" fmla="*/ 0 60000 65536"/>
              <a:gd name="T21" fmla="*/ 0 w 65"/>
              <a:gd name="T22" fmla="*/ 0 h 363"/>
              <a:gd name="T23" fmla="*/ 65 w 6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363">
                <a:moveTo>
                  <a:pt x="0" y="362"/>
                </a:moveTo>
                <a:lnTo>
                  <a:pt x="40" y="54"/>
                </a:lnTo>
                <a:lnTo>
                  <a:pt x="42" y="38"/>
                </a:lnTo>
                <a:lnTo>
                  <a:pt x="44" y="25"/>
                </a:lnTo>
                <a:lnTo>
                  <a:pt x="47" y="15"/>
                </a:lnTo>
                <a:lnTo>
                  <a:pt x="55" y="6"/>
                </a:lnTo>
                <a:lnTo>
                  <a:pt x="64" y="0"/>
                </a:lnTo>
              </a:path>
            </a:pathLst>
          </a:custGeom>
          <a:noFill/>
          <a:ln w="38100" cap="rnd">
            <a:solidFill>
              <a:schemeClr val="tx2"/>
            </a:solidFill>
            <a:round/>
            <a:headEnd/>
            <a:tailEnd/>
          </a:ln>
        </p:spPr>
        <p:txBody>
          <a:bodyPr/>
          <a:lstStyle/>
          <a:p>
            <a:endParaRPr lang="zh-CN" altLang="en-US"/>
          </a:p>
        </p:txBody>
      </p:sp>
      <p:sp>
        <p:nvSpPr>
          <p:cNvPr id="13384" name="Freeform 98"/>
          <p:cNvSpPr>
            <a:spLocks/>
          </p:cNvSpPr>
          <p:nvPr/>
        </p:nvSpPr>
        <p:spPr bwMode="auto">
          <a:xfrm>
            <a:off x="6962775" y="4217988"/>
            <a:ext cx="276225" cy="841375"/>
          </a:xfrm>
          <a:custGeom>
            <a:avLst/>
            <a:gdLst>
              <a:gd name="T0" fmla="*/ 0 w 174"/>
              <a:gd name="T1" fmla="*/ 0 h 530"/>
              <a:gd name="T2" fmla="*/ 2147483647 w 174"/>
              <a:gd name="T3" fmla="*/ 2147483647 h 530"/>
              <a:gd name="T4" fmla="*/ 2147483647 w 174"/>
              <a:gd name="T5" fmla="*/ 2147483647 h 530"/>
              <a:gd name="T6" fmla="*/ 2147483647 w 174"/>
              <a:gd name="T7" fmla="*/ 2147483647 h 530"/>
              <a:gd name="T8" fmla="*/ 2147483647 w 174"/>
              <a:gd name="T9" fmla="*/ 2147483647 h 530"/>
              <a:gd name="T10" fmla="*/ 2147483647 w 174"/>
              <a:gd name="T11" fmla="*/ 2147483647 h 530"/>
              <a:gd name="T12" fmla="*/ 2147483647 w 174"/>
              <a:gd name="T13" fmla="*/ 2147483647 h 530"/>
              <a:gd name="T14" fmla="*/ 2147483647 w 174"/>
              <a:gd name="T15" fmla="*/ 2147483647 h 530"/>
              <a:gd name="T16" fmla="*/ 2147483647 w 174"/>
              <a:gd name="T17" fmla="*/ 2147483647 h 530"/>
              <a:gd name="T18" fmla="*/ 2147483647 w 174"/>
              <a:gd name="T19" fmla="*/ 2147483647 h 530"/>
              <a:gd name="T20" fmla="*/ 2147483647 w 174"/>
              <a:gd name="T21" fmla="*/ 2147483647 h 530"/>
              <a:gd name="T22" fmla="*/ 2147483647 w 174"/>
              <a:gd name="T23" fmla="*/ 2147483647 h 530"/>
              <a:gd name="T24" fmla="*/ 2147483647 w 17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4"/>
              <a:gd name="T40" fmla="*/ 0 h 530"/>
              <a:gd name="T41" fmla="*/ 174 w 174"/>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a:solidFill>
              <a:schemeClr val="tx2"/>
            </a:solidFill>
            <a:round/>
            <a:headEnd/>
            <a:tailEnd/>
          </a:ln>
        </p:spPr>
        <p:txBody>
          <a:bodyPr/>
          <a:lstStyle/>
          <a:p>
            <a:endParaRPr lang="zh-CN" altLang="en-US"/>
          </a:p>
        </p:txBody>
      </p:sp>
      <p:sp>
        <p:nvSpPr>
          <p:cNvPr id="13385" name="Freeform 99"/>
          <p:cNvSpPr>
            <a:spLocks/>
          </p:cNvSpPr>
          <p:nvPr/>
        </p:nvSpPr>
        <p:spPr bwMode="auto">
          <a:xfrm>
            <a:off x="7239000" y="4213225"/>
            <a:ext cx="101600" cy="431800"/>
          </a:xfrm>
          <a:custGeom>
            <a:avLst/>
            <a:gdLst>
              <a:gd name="T0" fmla="*/ 0 w 64"/>
              <a:gd name="T1" fmla="*/ 2147483647 h 363"/>
              <a:gd name="T2" fmla="*/ 2147483647 w 64"/>
              <a:gd name="T3" fmla="*/ 2147483647 h 363"/>
              <a:gd name="T4" fmla="*/ 2147483647 w 64"/>
              <a:gd name="T5" fmla="*/ 2147483647 h 363"/>
              <a:gd name="T6" fmla="*/ 2147483647 w 64"/>
              <a:gd name="T7" fmla="*/ 2147483647 h 363"/>
              <a:gd name="T8" fmla="*/ 2147483647 w 64"/>
              <a:gd name="T9" fmla="*/ 2147483647 h 363"/>
              <a:gd name="T10" fmla="*/ 2147483647 w 64"/>
              <a:gd name="T11" fmla="*/ 2147483647 h 363"/>
              <a:gd name="T12" fmla="*/ 2147483647 w 64"/>
              <a:gd name="T13" fmla="*/ 0 h 363"/>
              <a:gd name="T14" fmla="*/ 0 60000 65536"/>
              <a:gd name="T15" fmla="*/ 0 60000 65536"/>
              <a:gd name="T16" fmla="*/ 0 60000 65536"/>
              <a:gd name="T17" fmla="*/ 0 60000 65536"/>
              <a:gd name="T18" fmla="*/ 0 60000 65536"/>
              <a:gd name="T19" fmla="*/ 0 60000 65536"/>
              <a:gd name="T20" fmla="*/ 0 60000 65536"/>
              <a:gd name="T21" fmla="*/ 0 w 64"/>
              <a:gd name="T22" fmla="*/ 0 h 363"/>
              <a:gd name="T23" fmla="*/ 64 w 6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63">
                <a:moveTo>
                  <a:pt x="0" y="362"/>
                </a:moveTo>
                <a:lnTo>
                  <a:pt x="39" y="54"/>
                </a:lnTo>
                <a:lnTo>
                  <a:pt x="41" y="38"/>
                </a:lnTo>
                <a:lnTo>
                  <a:pt x="43" y="25"/>
                </a:lnTo>
                <a:lnTo>
                  <a:pt x="46" y="15"/>
                </a:lnTo>
                <a:lnTo>
                  <a:pt x="54" y="6"/>
                </a:lnTo>
                <a:lnTo>
                  <a:pt x="63" y="0"/>
                </a:lnTo>
              </a:path>
            </a:pathLst>
          </a:custGeom>
          <a:noFill/>
          <a:ln w="38100" cap="rnd">
            <a:solidFill>
              <a:schemeClr val="tx2"/>
            </a:solidFill>
            <a:round/>
            <a:headEnd/>
            <a:tailEnd/>
          </a:ln>
        </p:spPr>
        <p:txBody>
          <a:bodyPr/>
          <a:lstStyle/>
          <a:p>
            <a:endParaRPr lang="zh-CN" altLang="en-US"/>
          </a:p>
        </p:txBody>
      </p:sp>
      <p:sp>
        <p:nvSpPr>
          <p:cNvPr id="13386" name="Freeform 100"/>
          <p:cNvSpPr>
            <a:spLocks/>
          </p:cNvSpPr>
          <p:nvPr/>
        </p:nvSpPr>
        <p:spPr bwMode="auto">
          <a:xfrm>
            <a:off x="7342188" y="4217988"/>
            <a:ext cx="277812" cy="841375"/>
          </a:xfrm>
          <a:custGeom>
            <a:avLst/>
            <a:gdLst>
              <a:gd name="T0" fmla="*/ 0 w 175"/>
              <a:gd name="T1" fmla="*/ 0 h 530"/>
              <a:gd name="T2" fmla="*/ 2147483647 w 175"/>
              <a:gd name="T3" fmla="*/ 2147483647 h 530"/>
              <a:gd name="T4" fmla="*/ 2147483647 w 175"/>
              <a:gd name="T5" fmla="*/ 2147483647 h 530"/>
              <a:gd name="T6" fmla="*/ 2147483647 w 175"/>
              <a:gd name="T7" fmla="*/ 2147483647 h 530"/>
              <a:gd name="T8" fmla="*/ 2147483647 w 175"/>
              <a:gd name="T9" fmla="*/ 2147483647 h 530"/>
              <a:gd name="T10" fmla="*/ 2147483647 w 175"/>
              <a:gd name="T11" fmla="*/ 2147483647 h 530"/>
              <a:gd name="T12" fmla="*/ 2147483647 w 175"/>
              <a:gd name="T13" fmla="*/ 2147483647 h 530"/>
              <a:gd name="T14" fmla="*/ 2147483647 w 175"/>
              <a:gd name="T15" fmla="*/ 2147483647 h 530"/>
              <a:gd name="T16" fmla="*/ 2147483647 w 175"/>
              <a:gd name="T17" fmla="*/ 2147483647 h 530"/>
              <a:gd name="T18" fmla="*/ 2147483647 w 175"/>
              <a:gd name="T19" fmla="*/ 2147483647 h 530"/>
              <a:gd name="T20" fmla="*/ 2147483647 w 175"/>
              <a:gd name="T21" fmla="*/ 2147483647 h 530"/>
              <a:gd name="T22" fmla="*/ 2147483647 w 175"/>
              <a:gd name="T23" fmla="*/ 2147483647 h 530"/>
              <a:gd name="T24" fmla="*/ 2147483647 w 17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5"/>
              <a:gd name="T40" fmla="*/ 0 h 530"/>
              <a:gd name="T41" fmla="*/ 175 w 175"/>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a:solidFill>
              <a:schemeClr val="tx2"/>
            </a:solidFill>
            <a:round/>
            <a:headEnd/>
            <a:tailEnd/>
          </a:ln>
        </p:spPr>
        <p:txBody>
          <a:bodyPr/>
          <a:lstStyle/>
          <a:p>
            <a:endParaRPr lang="zh-CN" altLang="en-US"/>
          </a:p>
        </p:txBody>
      </p:sp>
      <p:sp>
        <p:nvSpPr>
          <p:cNvPr id="13387" name="Freeform 101"/>
          <p:cNvSpPr>
            <a:spLocks/>
          </p:cNvSpPr>
          <p:nvPr/>
        </p:nvSpPr>
        <p:spPr bwMode="auto">
          <a:xfrm>
            <a:off x="7613650" y="4206875"/>
            <a:ext cx="106363" cy="431800"/>
          </a:xfrm>
          <a:custGeom>
            <a:avLst/>
            <a:gdLst>
              <a:gd name="T0" fmla="*/ 0 w 67"/>
              <a:gd name="T1" fmla="*/ 2147483647 h 363"/>
              <a:gd name="T2" fmla="*/ 2147483647 w 67"/>
              <a:gd name="T3" fmla="*/ 2147483647 h 363"/>
              <a:gd name="T4" fmla="*/ 2147483647 w 67"/>
              <a:gd name="T5" fmla="*/ 2147483647 h 363"/>
              <a:gd name="T6" fmla="*/ 2147483647 w 67"/>
              <a:gd name="T7" fmla="*/ 2147483647 h 363"/>
              <a:gd name="T8" fmla="*/ 2147483647 w 67"/>
              <a:gd name="T9" fmla="*/ 2147483647 h 363"/>
              <a:gd name="T10" fmla="*/ 2147483647 w 67"/>
              <a:gd name="T11" fmla="*/ 2147483647 h 363"/>
              <a:gd name="T12" fmla="*/ 2147483647 w 67"/>
              <a:gd name="T13" fmla="*/ 0 h 363"/>
              <a:gd name="T14" fmla="*/ 0 60000 65536"/>
              <a:gd name="T15" fmla="*/ 0 60000 65536"/>
              <a:gd name="T16" fmla="*/ 0 60000 65536"/>
              <a:gd name="T17" fmla="*/ 0 60000 65536"/>
              <a:gd name="T18" fmla="*/ 0 60000 65536"/>
              <a:gd name="T19" fmla="*/ 0 60000 65536"/>
              <a:gd name="T20" fmla="*/ 0 60000 65536"/>
              <a:gd name="T21" fmla="*/ 0 w 67"/>
              <a:gd name="T22" fmla="*/ 0 h 363"/>
              <a:gd name="T23" fmla="*/ 67 w 67"/>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363">
                <a:moveTo>
                  <a:pt x="0" y="362"/>
                </a:moveTo>
                <a:lnTo>
                  <a:pt x="41" y="54"/>
                </a:lnTo>
                <a:lnTo>
                  <a:pt x="43" y="38"/>
                </a:lnTo>
                <a:lnTo>
                  <a:pt x="45" y="25"/>
                </a:lnTo>
                <a:lnTo>
                  <a:pt x="49" y="15"/>
                </a:lnTo>
                <a:lnTo>
                  <a:pt x="56" y="6"/>
                </a:lnTo>
                <a:lnTo>
                  <a:pt x="66" y="0"/>
                </a:lnTo>
              </a:path>
            </a:pathLst>
          </a:custGeom>
          <a:noFill/>
          <a:ln w="38100" cap="rnd">
            <a:solidFill>
              <a:schemeClr val="tx2"/>
            </a:solidFill>
            <a:round/>
            <a:headEnd/>
            <a:tailEnd/>
          </a:ln>
        </p:spPr>
        <p:txBody>
          <a:bodyPr/>
          <a:lstStyle/>
          <a:p>
            <a:endParaRPr lang="zh-CN" altLang="en-US"/>
          </a:p>
        </p:txBody>
      </p:sp>
      <p:sp>
        <p:nvSpPr>
          <p:cNvPr id="13388" name="Freeform 102"/>
          <p:cNvSpPr>
            <a:spLocks/>
          </p:cNvSpPr>
          <p:nvPr/>
        </p:nvSpPr>
        <p:spPr bwMode="auto">
          <a:xfrm>
            <a:off x="7721600" y="4211638"/>
            <a:ext cx="269875" cy="841375"/>
          </a:xfrm>
          <a:custGeom>
            <a:avLst/>
            <a:gdLst>
              <a:gd name="T0" fmla="*/ 0 w 170"/>
              <a:gd name="T1" fmla="*/ 0 h 530"/>
              <a:gd name="T2" fmla="*/ 2147483647 w 170"/>
              <a:gd name="T3" fmla="*/ 2147483647 h 530"/>
              <a:gd name="T4" fmla="*/ 2147483647 w 170"/>
              <a:gd name="T5" fmla="*/ 2147483647 h 530"/>
              <a:gd name="T6" fmla="*/ 2147483647 w 170"/>
              <a:gd name="T7" fmla="*/ 2147483647 h 530"/>
              <a:gd name="T8" fmla="*/ 2147483647 w 170"/>
              <a:gd name="T9" fmla="*/ 2147483647 h 530"/>
              <a:gd name="T10" fmla="*/ 2147483647 w 170"/>
              <a:gd name="T11" fmla="*/ 2147483647 h 530"/>
              <a:gd name="T12" fmla="*/ 2147483647 w 170"/>
              <a:gd name="T13" fmla="*/ 2147483647 h 530"/>
              <a:gd name="T14" fmla="*/ 2147483647 w 170"/>
              <a:gd name="T15" fmla="*/ 2147483647 h 530"/>
              <a:gd name="T16" fmla="*/ 2147483647 w 170"/>
              <a:gd name="T17" fmla="*/ 2147483647 h 530"/>
              <a:gd name="T18" fmla="*/ 2147483647 w 170"/>
              <a:gd name="T19" fmla="*/ 2147483647 h 530"/>
              <a:gd name="T20" fmla="*/ 2147483647 w 170"/>
              <a:gd name="T21" fmla="*/ 2147483647 h 530"/>
              <a:gd name="T22" fmla="*/ 2147483647 w 170"/>
              <a:gd name="T23" fmla="*/ 2147483647 h 530"/>
              <a:gd name="T24" fmla="*/ 2147483647 w 170"/>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530"/>
              <a:gd name="T41" fmla="*/ 170 w 170"/>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a:solidFill>
              <a:schemeClr val="tx2"/>
            </a:solidFill>
            <a:round/>
            <a:headEnd/>
            <a:tailEnd/>
          </a:ln>
        </p:spPr>
        <p:txBody>
          <a:bodyPr/>
          <a:lstStyle/>
          <a:p>
            <a:endParaRPr lang="zh-CN" altLang="en-US"/>
          </a:p>
        </p:txBody>
      </p:sp>
      <p:grpSp>
        <p:nvGrpSpPr>
          <p:cNvPr id="13389" name="Group 103"/>
          <p:cNvGrpSpPr>
            <a:grpSpLocks/>
          </p:cNvGrpSpPr>
          <p:nvPr/>
        </p:nvGrpSpPr>
        <p:grpSpPr bwMode="auto">
          <a:xfrm>
            <a:off x="7991475" y="4206875"/>
            <a:ext cx="377825" cy="847725"/>
            <a:chOff x="5025" y="2269"/>
            <a:chExt cx="238" cy="713"/>
          </a:xfrm>
        </p:grpSpPr>
        <p:sp>
          <p:nvSpPr>
            <p:cNvPr id="13453" name="Freeform 104"/>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 name="T21" fmla="*/ 0 w 69"/>
                <a:gd name="T22" fmla="*/ 0 h 363"/>
                <a:gd name="T23" fmla="*/ 69 w 69"/>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363">
                  <a:moveTo>
                    <a:pt x="0" y="362"/>
                  </a:moveTo>
                  <a:lnTo>
                    <a:pt x="42" y="54"/>
                  </a:lnTo>
                  <a:lnTo>
                    <a:pt x="45" y="38"/>
                  </a:lnTo>
                  <a:lnTo>
                    <a:pt x="47" y="25"/>
                  </a:lnTo>
                  <a:lnTo>
                    <a:pt x="50" y="15"/>
                  </a:lnTo>
                  <a:lnTo>
                    <a:pt x="58" y="6"/>
                  </a:lnTo>
                  <a:lnTo>
                    <a:pt x="68" y="0"/>
                  </a:lnTo>
                </a:path>
              </a:pathLst>
            </a:custGeom>
            <a:noFill/>
            <a:ln w="38100" cap="rnd">
              <a:solidFill>
                <a:schemeClr val="tx2"/>
              </a:solidFill>
              <a:round/>
              <a:headEnd/>
              <a:tailEnd/>
            </a:ln>
          </p:spPr>
          <p:txBody>
            <a:bodyPr/>
            <a:lstStyle/>
            <a:p>
              <a:endParaRPr lang="zh-CN" altLang="en-US"/>
            </a:p>
          </p:txBody>
        </p:sp>
        <p:sp>
          <p:nvSpPr>
            <p:cNvPr id="13454" name="Freeform 105"/>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8"/>
                <a:gd name="T40" fmla="*/ 0 h 709"/>
                <a:gd name="T41" fmla="*/ 168 w 168"/>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2"/>
              </a:solidFill>
              <a:round/>
              <a:headEnd/>
              <a:tailEnd/>
            </a:ln>
          </p:spPr>
          <p:txBody>
            <a:bodyPr/>
            <a:lstStyle/>
            <a:p>
              <a:endParaRPr lang="zh-CN" altLang="en-US"/>
            </a:p>
          </p:txBody>
        </p:sp>
      </p:grpSp>
      <p:grpSp>
        <p:nvGrpSpPr>
          <p:cNvPr id="13390" name="Group 106"/>
          <p:cNvGrpSpPr>
            <a:grpSpLocks/>
          </p:cNvGrpSpPr>
          <p:nvPr/>
        </p:nvGrpSpPr>
        <p:grpSpPr bwMode="auto">
          <a:xfrm>
            <a:off x="1512888" y="5372100"/>
            <a:ext cx="376237" cy="847725"/>
            <a:chOff x="944" y="3250"/>
            <a:chExt cx="237" cy="713"/>
          </a:xfrm>
        </p:grpSpPr>
        <p:sp>
          <p:nvSpPr>
            <p:cNvPr id="13451" name="Freeform 107"/>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 name="T21" fmla="*/ 0 w 65"/>
                <a:gd name="T22" fmla="*/ 0 h 363"/>
                <a:gd name="T23" fmla="*/ 65 w 6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363">
                  <a:moveTo>
                    <a:pt x="0" y="362"/>
                  </a:moveTo>
                  <a:lnTo>
                    <a:pt x="40" y="54"/>
                  </a:lnTo>
                  <a:lnTo>
                    <a:pt x="42" y="38"/>
                  </a:lnTo>
                  <a:lnTo>
                    <a:pt x="44" y="25"/>
                  </a:lnTo>
                  <a:lnTo>
                    <a:pt x="47" y="15"/>
                  </a:lnTo>
                  <a:lnTo>
                    <a:pt x="55" y="6"/>
                  </a:lnTo>
                  <a:lnTo>
                    <a:pt x="64" y="0"/>
                  </a:lnTo>
                </a:path>
              </a:pathLst>
            </a:custGeom>
            <a:noFill/>
            <a:ln w="38100" cap="rnd">
              <a:solidFill>
                <a:schemeClr val="tx2"/>
              </a:solidFill>
              <a:round/>
              <a:headEnd/>
              <a:tailEnd/>
            </a:ln>
          </p:spPr>
          <p:txBody>
            <a:bodyPr/>
            <a:lstStyle/>
            <a:p>
              <a:endParaRPr lang="zh-CN" altLang="en-US"/>
            </a:p>
          </p:txBody>
        </p:sp>
        <p:sp>
          <p:nvSpPr>
            <p:cNvPr id="13452" name="Freeform 108"/>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1"/>
                <a:gd name="T40" fmla="*/ 0 h 709"/>
                <a:gd name="T41" fmla="*/ 171 w 171"/>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2"/>
              </a:solidFill>
              <a:round/>
              <a:headEnd/>
              <a:tailEnd/>
            </a:ln>
          </p:spPr>
          <p:txBody>
            <a:bodyPr/>
            <a:lstStyle/>
            <a:p>
              <a:endParaRPr lang="zh-CN" altLang="en-US"/>
            </a:p>
          </p:txBody>
        </p:sp>
      </p:grpSp>
      <p:sp>
        <p:nvSpPr>
          <p:cNvPr id="13391" name="Freeform 109"/>
          <p:cNvSpPr>
            <a:spLocks/>
          </p:cNvSpPr>
          <p:nvPr/>
        </p:nvSpPr>
        <p:spPr bwMode="auto">
          <a:xfrm>
            <a:off x="1890713" y="5372100"/>
            <a:ext cx="104775" cy="431800"/>
          </a:xfrm>
          <a:custGeom>
            <a:avLst/>
            <a:gdLst>
              <a:gd name="T0" fmla="*/ 0 w 66"/>
              <a:gd name="T1" fmla="*/ 2147483647 h 363"/>
              <a:gd name="T2" fmla="*/ 2147483647 w 66"/>
              <a:gd name="T3" fmla="*/ 2147483647 h 363"/>
              <a:gd name="T4" fmla="*/ 2147483647 w 66"/>
              <a:gd name="T5" fmla="*/ 2147483647 h 363"/>
              <a:gd name="T6" fmla="*/ 2147483647 w 66"/>
              <a:gd name="T7" fmla="*/ 2147483647 h 363"/>
              <a:gd name="T8" fmla="*/ 2147483647 w 66"/>
              <a:gd name="T9" fmla="*/ 2147483647 h 363"/>
              <a:gd name="T10" fmla="*/ 2147483647 w 66"/>
              <a:gd name="T11" fmla="*/ 2147483647 h 363"/>
              <a:gd name="T12" fmla="*/ 2147483647 w 66"/>
              <a:gd name="T13" fmla="*/ 0 h 363"/>
              <a:gd name="T14" fmla="*/ 0 60000 65536"/>
              <a:gd name="T15" fmla="*/ 0 60000 65536"/>
              <a:gd name="T16" fmla="*/ 0 60000 65536"/>
              <a:gd name="T17" fmla="*/ 0 60000 65536"/>
              <a:gd name="T18" fmla="*/ 0 60000 65536"/>
              <a:gd name="T19" fmla="*/ 0 60000 65536"/>
              <a:gd name="T20" fmla="*/ 0 60000 65536"/>
              <a:gd name="T21" fmla="*/ 0 w 66"/>
              <a:gd name="T22" fmla="*/ 0 h 363"/>
              <a:gd name="T23" fmla="*/ 66 w 66"/>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363">
                <a:moveTo>
                  <a:pt x="0" y="362"/>
                </a:moveTo>
                <a:lnTo>
                  <a:pt x="40" y="54"/>
                </a:lnTo>
                <a:lnTo>
                  <a:pt x="43" y="38"/>
                </a:lnTo>
                <a:lnTo>
                  <a:pt x="44" y="25"/>
                </a:lnTo>
                <a:lnTo>
                  <a:pt x="48" y="15"/>
                </a:lnTo>
                <a:lnTo>
                  <a:pt x="56" y="6"/>
                </a:lnTo>
                <a:lnTo>
                  <a:pt x="65" y="0"/>
                </a:lnTo>
              </a:path>
            </a:pathLst>
          </a:custGeom>
          <a:noFill/>
          <a:ln w="38100" cap="rnd">
            <a:solidFill>
              <a:schemeClr val="tx2"/>
            </a:solidFill>
            <a:round/>
            <a:headEnd/>
            <a:tailEnd/>
          </a:ln>
        </p:spPr>
        <p:txBody>
          <a:bodyPr/>
          <a:lstStyle/>
          <a:p>
            <a:endParaRPr lang="zh-CN" altLang="en-US"/>
          </a:p>
        </p:txBody>
      </p:sp>
      <p:sp>
        <p:nvSpPr>
          <p:cNvPr id="13392" name="Freeform 110"/>
          <p:cNvSpPr>
            <a:spLocks/>
          </p:cNvSpPr>
          <p:nvPr/>
        </p:nvSpPr>
        <p:spPr bwMode="auto">
          <a:xfrm>
            <a:off x="1997075" y="5375275"/>
            <a:ext cx="293688" cy="842963"/>
          </a:xfrm>
          <a:custGeom>
            <a:avLst/>
            <a:gdLst>
              <a:gd name="T0" fmla="*/ 0 w 185"/>
              <a:gd name="T1" fmla="*/ 2147483647 h 531"/>
              <a:gd name="T2" fmla="*/ 2147483647 w 185"/>
              <a:gd name="T3" fmla="*/ 0 h 531"/>
              <a:gd name="T4" fmla="*/ 2147483647 w 185"/>
              <a:gd name="T5" fmla="*/ 2147483647 h 531"/>
              <a:gd name="T6" fmla="*/ 2147483647 w 185"/>
              <a:gd name="T7" fmla="*/ 2147483647 h 531"/>
              <a:gd name="T8" fmla="*/ 2147483647 w 185"/>
              <a:gd name="T9" fmla="*/ 2147483647 h 531"/>
              <a:gd name="T10" fmla="*/ 2147483647 w 185"/>
              <a:gd name="T11" fmla="*/ 2147483647 h 531"/>
              <a:gd name="T12" fmla="*/ 2147483647 w 185"/>
              <a:gd name="T13" fmla="*/ 2147483647 h 531"/>
              <a:gd name="T14" fmla="*/ 2147483647 w 185"/>
              <a:gd name="T15" fmla="*/ 2147483647 h 531"/>
              <a:gd name="T16" fmla="*/ 2147483647 w 185"/>
              <a:gd name="T17" fmla="*/ 2147483647 h 531"/>
              <a:gd name="T18" fmla="*/ 2147483647 w 185"/>
              <a:gd name="T19" fmla="*/ 2147483647 h 531"/>
              <a:gd name="T20" fmla="*/ 2147483647 w 185"/>
              <a:gd name="T21" fmla="*/ 2147483647 h 531"/>
              <a:gd name="T22" fmla="*/ 2147483647 w 185"/>
              <a:gd name="T23" fmla="*/ 2147483647 h 531"/>
              <a:gd name="T24" fmla="*/ 2147483647 w 185"/>
              <a:gd name="T25" fmla="*/ 2147483647 h 5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5"/>
              <a:gd name="T40" fmla="*/ 0 h 531"/>
              <a:gd name="T41" fmla="*/ 185 w 185"/>
              <a:gd name="T42" fmla="*/ 531 h 5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a:solidFill>
              <a:schemeClr val="tx2"/>
            </a:solidFill>
            <a:round/>
            <a:headEnd/>
            <a:tailEnd/>
          </a:ln>
        </p:spPr>
        <p:txBody>
          <a:bodyPr/>
          <a:lstStyle/>
          <a:p>
            <a:endParaRPr lang="zh-CN" altLang="en-US"/>
          </a:p>
        </p:txBody>
      </p:sp>
      <p:grpSp>
        <p:nvGrpSpPr>
          <p:cNvPr id="13393" name="Group 111"/>
          <p:cNvGrpSpPr>
            <a:grpSpLocks/>
          </p:cNvGrpSpPr>
          <p:nvPr/>
        </p:nvGrpSpPr>
        <p:grpSpPr bwMode="auto">
          <a:xfrm>
            <a:off x="2293938" y="5372100"/>
            <a:ext cx="376237" cy="847725"/>
            <a:chOff x="1436" y="3250"/>
            <a:chExt cx="237" cy="713"/>
          </a:xfrm>
        </p:grpSpPr>
        <p:sp>
          <p:nvSpPr>
            <p:cNvPr id="13449" name="Freeform 112"/>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 name="T14" fmla="*/ 0 60000 65536"/>
                <a:gd name="T15" fmla="*/ 0 60000 65536"/>
                <a:gd name="T16" fmla="*/ 0 60000 65536"/>
                <a:gd name="T17" fmla="*/ 0 60000 65536"/>
                <a:gd name="T18" fmla="*/ 0 60000 65536"/>
                <a:gd name="T19" fmla="*/ 0 60000 65536"/>
                <a:gd name="T20" fmla="*/ 0 60000 65536"/>
                <a:gd name="T21" fmla="*/ 0 w 65"/>
                <a:gd name="T22" fmla="*/ 0 h 363"/>
                <a:gd name="T23" fmla="*/ 65 w 6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363">
                  <a:moveTo>
                    <a:pt x="0" y="0"/>
                  </a:moveTo>
                  <a:lnTo>
                    <a:pt x="40" y="308"/>
                  </a:lnTo>
                  <a:lnTo>
                    <a:pt x="42" y="324"/>
                  </a:lnTo>
                  <a:lnTo>
                    <a:pt x="44" y="337"/>
                  </a:lnTo>
                  <a:lnTo>
                    <a:pt x="47" y="347"/>
                  </a:lnTo>
                  <a:lnTo>
                    <a:pt x="55" y="356"/>
                  </a:lnTo>
                  <a:lnTo>
                    <a:pt x="64" y="362"/>
                  </a:lnTo>
                </a:path>
              </a:pathLst>
            </a:custGeom>
            <a:noFill/>
            <a:ln w="38100" cap="rnd">
              <a:solidFill>
                <a:schemeClr val="tx2"/>
              </a:solidFill>
              <a:round/>
              <a:headEnd/>
              <a:tailEnd/>
            </a:ln>
          </p:spPr>
          <p:txBody>
            <a:bodyPr/>
            <a:lstStyle/>
            <a:p>
              <a:endParaRPr lang="zh-CN" altLang="en-US"/>
            </a:p>
          </p:txBody>
        </p:sp>
        <p:sp>
          <p:nvSpPr>
            <p:cNvPr id="13450" name="Freeform 113"/>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1"/>
                <a:gd name="T40" fmla="*/ 0 h 709"/>
                <a:gd name="T41" fmla="*/ 171 w 171"/>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a:solidFill>
                <a:schemeClr val="tx2"/>
              </a:solidFill>
              <a:round/>
              <a:headEnd/>
              <a:tailEnd/>
            </a:ln>
          </p:spPr>
          <p:txBody>
            <a:bodyPr/>
            <a:lstStyle/>
            <a:p>
              <a:endParaRPr lang="zh-CN" altLang="en-US"/>
            </a:p>
          </p:txBody>
        </p:sp>
      </p:grpSp>
      <p:sp>
        <p:nvSpPr>
          <p:cNvPr id="13394" name="Freeform 114"/>
          <p:cNvSpPr>
            <a:spLocks/>
          </p:cNvSpPr>
          <p:nvPr/>
        </p:nvSpPr>
        <p:spPr bwMode="auto">
          <a:xfrm>
            <a:off x="2671763" y="5788025"/>
            <a:ext cx="104775" cy="431800"/>
          </a:xfrm>
          <a:custGeom>
            <a:avLst/>
            <a:gdLst>
              <a:gd name="T0" fmla="*/ 0 w 66"/>
              <a:gd name="T1" fmla="*/ 0 h 363"/>
              <a:gd name="T2" fmla="*/ 2147483647 w 66"/>
              <a:gd name="T3" fmla="*/ 2147483647 h 363"/>
              <a:gd name="T4" fmla="*/ 2147483647 w 66"/>
              <a:gd name="T5" fmla="*/ 2147483647 h 363"/>
              <a:gd name="T6" fmla="*/ 2147483647 w 66"/>
              <a:gd name="T7" fmla="*/ 2147483647 h 363"/>
              <a:gd name="T8" fmla="*/ 2147483647 w 66"/>
              <a:gd name="T9" fmla="*/ 2147483647 h 363"/>
              <a:gd name="T10" fmla="*/ 2147483647 w 66"/>
              <a:gd name="T11" fmla="*/ 2147483647 h 363"/>
              <a:gd name="T12" fmla="*/ 2147483647 w 66"/>
              <a:gd name="T13" fmla="*/ 2147483647 h 363"/>
              <a:gd name="T14" fmla="*/ 0 60000 65536"/>
              <a:gd name="T15" fmla="*/ 0 60000 65536"/>
              <a:gd name="T16" fmla="*/ 0 60000 65536"/>
              <a:gd name="T17" fmla="*/ 0 60000 65536"/>
              <a:gd name="T18" fmla="*/ 0 60000 65536"/>
              <a:gd name="T19" fmla="*/ 0 60000 65536"/>
              <a:gd name="T20" fmla="*/ 0 60000 65536"/>
              <a:gd name="T21" fmla="*/ 0 w 66"/>
              <a:gd name="T22" fmla="*/ 0 h 363"/>
              <a:gd name="T23" fmla="*/ 66 w 66"/>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363">
                <a:moveTo>
                  <a:pt x="0" y="0"/>
                </a:moveTo>
                <a:lnTo>
                  <a:pt x="40" y="308"/>
                </a:lnTo>
                <a:lnTo>
                  <a:pt x="43" y="324"/>
                </a:lnTo>
                <a:lnTo>
                  <a:pt x="44" y="337"/>
                </a:lnTo>
                <a:lnTo>
                  <a:pt x="48" y="347"/>
                </a:lnTo>
                <a:lnTo>
                  <a:pt x="56" y="356"/>
                </a:lnTo>
                <a:lnTo>
                  <a:pt x="65" y="362"/>
                </a:lnTo>
              </a:path>
            </a:pathLst>
          </a:custGeom>
          <a:noFill/>
          <a:ln w="38100" cap="rnd">
            <a:solidFill>
              <a:schemeClr val="tx2"/>
            </a:solidFill>
            <a:round/>
            <a:headEnd/>
            <a:tailEnd/>
          </a:ln>
        </p:spPr>
        <p:txBody>
          <a:bodyPr/>
          <a:lstStyle/>
          <a:p>
            <a:endParaRPr lang="zh-CN" altLang="en-US"/>
          </a:p>
        </p:txBody>
      </p:sp>
      <p:sp>
        <p:nvSpPr>
          <p:cNvPr id="13395" name="Freeform 115"/>
          <p:cNvSpPr>
            <a:spLocks/>
          </p:cNvSpPr>
          <p:nvPr/>
        </p:nvSpPr>
        <p:spPr bwMode="auto">
          <a:xfrm>
            <a:off x="2778125" y="5372100"/>
            <a:ext cx="288925" cy="841375"/>
          </a:xfrm>
          <a:custGeom>
            <a:avLst/>
            <a:gdLst>
              <a:gd name="T0" fmla="*/ 0 w 182"/>
              <a:gd name="T1" fmla="*/ 2147483647 h 530"/>
              <a:gd name="T2" fmla="*/ 2147483647 w 182"/>
              <a:gd name="T3" fmla="*/ 2147483647 h 530"/>
              <a:gd name="T4" fmla="*/ 2147483647 w 182"/>
              <a:gd name="T5" fmla="*/ 2147483647 h 530"/>
              <a:gd name="T6" fmla="*/ 2147483647 w 182"/>
              <a:gd name="T7" fmla="*/ 2147483647 h 530"/>
              <a:gd name="T8" fmla="*/ 2147483647 w 182"/>
              <a:gd name="T9" fmla="*/ 2147483647 h 530"/>
              <a:gd name="T10" fmla="*/ 2147483647 w 182"/>
              <a:gd name="T11" fmla="*/ 2147483647 h 530"/>
              <a:gd name="T12" fmla="*/ 2147483647 w 182"/>
              <a:gd name="T13" fmla="*/ 2147483647 h 530"/>
              <a:gd name="T14" fmla="*/ 2147483647 w 182"/>
              <a:gd name="T15" fmla="*/ 2147483647 h 530"/>
              <a:gd name="T16" fmla="*/ 2147483647 w 182"/>
              <a:gd name="T17" fmla="*/ 2147483647 h 530"/>
              <a:gd name="T18" fmla="*/ 2147483647 w 182"/>
              <a:gd name="T19" fmla="*/ 0 h 530"/>
              <a:gd name="T20" fmla="*/ 2147483647 w 182"/>
              <a:gd name="T21" fmla="*/ 2147483647 h 530"/>
              <a:gd name="T22" fmla="*/ 2147483647 w 182"/>
              <a:gd name="T23" fmla="*/ 2147483647 h 530"/>
              <a:gd name="T24" fmla="*/ 2147483647 w 182"/>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2"/>
              <a:gd name="T40" fmla="*/ 0 h 530"/>
              <a:gd name="T41" fmla="*/ 182 w 182"/>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a:solidFill>
              <a:schemeClr val="tx2"/>
            </a:solidFill>
            <a:round/>
            <a:headEnd/>
            <a:tailEnd/>
          </a:ln>
        </p:spPr>
        <p:txBody>
          <a:bodyPr/>
          <a:lstStyle/>
          <a:p>
            <a:endParaRPr lang="zh-CN" altLang="en-US"/>
          </a:p>
        </p:txBody>
      </p:sp>
      <p:sp>
        <p:nvSpPr>
          <p:cNvPr id="13396" name="Freeform 116"/>
          <p:cNvSpPr>
            <a:spLocks/>
          </p:cNvSpPr>
          <p:nvPr/>
        </p:nvSpPr>
        <p:spPr bwMode="auto">
          <a:xfrm>
            <a:off x="3076575" y="5375275"/>
            <a:ext cx="111125" cy="457200"/>
          </a:xfrm>
          <a:custGeom>
            <a:avLst/>
            <a:gdLst>
              <a:gd name="T0" fmla="*/ 0 w 70"/>
              <a:gd name="T1" fmla="*/ 2147483647 h 288"/>
              <a:gd name="T2" fmla="*/ 2147483647 w 70"/>
              <a:gd name="T3" fmla="*/ 2147483647 h 288"/>
              <a:gd name="T4" fmla="*/ 2147483647 w 70"/>
              <a:gd name="T5" fmla="*/ 2147483647 h 288"/>
              <a:gd name="T6" fmla="*/ 2147483647 w 70"/>
              <a:gd name="T7" fmla="*/ 2147483647 h 288"/>
              <a:gd name="T8" fmla="*/ 2147483647 w 70"/>
              <a:gd name="T9" fmla="*/ 2147483647 h 288"/>
              <a:gd name="T10" fmla="*/ 2147483647 w 70"/>
              <a:gd name="T11" fmla="*/ 2147483647 h 288"/>
              <a:gd name="T12" fmla="*/ 2147483647 w 70"/>
              <a:gd name="T13" fmla="*/ 0 h 288"/>
              <a:gd name="T14" fmla="*/ 0 60000 65536"/>
              <a:gd name="T15" fmla="*/ 0 60000 65536"/>
              <a:gd name="T16" fmla="*/ 0 60000 65536"/>
              <a:gd name="T17" fmla="*/ 0 60000 65536"/>
              <a:gd name="T18" fmla="*/ 0 60000 65536"/>
              <a:gd name="T19" fmla="*/ 0 60000 65536"/>
              <a:gd name="T20" fmla="*/ 0 60000 65536"/>
              <a:gd name="T21" fmla="*/ 0 w 70"/>
              <a:gd name="T22" fmla="*/ 0 h 288"/>
              <a:gd name="T23" fmla="*/ 70 w 70"/>
              <a:gd name="T24" fmla="*/ 288 h 2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288">
                <a:moveTo>
                  <a:pt x="0" y="288"/>
                </a:moveTo>
                <a:lnTo>
                  <a:pt x="46" y="40"/>
                </a:lnTo>
                <a:lnTo>
                  <a:pt x="48" y="28"/>
                </a:lnTo>
                <a:lnTo>
                  <a:pt x="50" y="19"/>
                </a:lnTo>
                <a:lnTo>
                  <a:pt x="53" y="11"/>
                </a:lnTo>
                <a:lnTo>
                  <a:pt x="61" y="4"/>
                </a:lnTo>
                <a:lnTo>
                  <a:pt x="70" y="0"/>
                </a:lnTo>
              </a:path>
            </a:pathLst>
          </a:custGeom>
          <a:noFill/>
          <a:ln w="38100" cap="rnd">
            <a:solidFill>
              <a:schemeClr val="tx2"/>
            </a:solidFill>
            <a:round/>
            <a:headEnd/>
            <a:tailEnd/>
          </a:ln>
        </p:spPr>
        <p:txBody>
          <a:bodyPr/>
          <a:lstStyle/>
          <a:p>
            <a:endParaRPr lang="zh-CN" altLang="en-US"/>
          </a:p>
        </p:txBody>
      </p:sp>
      <p:sp>
        <p:nvSpPr>
          <p:cNvPr id="13397" name="Freeform 117"/>
          <p:cNvSpPr>
            <a:spLocks/>
          </p:cNvSpPr>
          <p:nvPr/>
        </p:nvSpPr>
        <p:spPr bwMode="auto">
          <a:xfrm>
            <a:off x="3190875" y="5376863"/>
            <a:ext cx="273050" cy="842962"/>
          </a:xfrm>
          <a:custGeom>
            <a:avLst/>
            <a:gdLst>
              <a:gd name="T0" fmla="*/ 0 w 172"/>
              <a:gd name="T1" fmla="*/ 0 h 709"/>
              <a:gd name="T2" fmla="*/ 2147483647 w 172"/>
              <a:gd name="T3" fmla="*/ 2147483647 h 709"/>
              <a:gd name="T4" fmla="*/ 2147483647 w 172"/>
              <a:gd name="T5" fmla="*/ 2147483647 h 709"/>
              <a:gd name="T6" fmla="*/ 2147483647 w 172"/>
              <a:gd name="T7" fmla="*/ 2147483647 h 709"/>
              <a:gd name="T8" fmla="*/ 2147483647 w 172"/>
              <a:gd name="T9" fmla="*/ 2147483647 h 709"/>
              <a:gd name="T10" fmla="*/ 2147483647 w 172"/>
              <a:gd name="T11" fmla="*/ 2147483647 h 709"/>
              <a:gd name="T12" fmla="*/ 2147483647 w 172"/>
              <a:gd name="T13" fmla="*/ 2147483647 h 709"/>
              <a:gd name="T14" fmla="*/ 2147483647 w 172"/>
              <a:gd name="T15" fmla="*/ 2147483647 h 709"/>
              <a:gd name="T16" fmla="*/ 2147483647 w 172"/>
              <a:gd name="T17" fmla="*/ 2147483647 h 709"/>
              <a:gd name="T18" fmla="*/ 2147483647 w 172"/>
              <a:gd name="T19" fmla="*/ 2147483647 h 709"/>
              <a:gd name="T20" fmla="*/ 2147483647 w 172"/>
              <a:gd name="T21" fmla="*/ 2147483647 h 709"/>
              <a:gd name="T22" fmla="*/ 2147483647 w 172"/>
              <a:gd name="T23" fmla="*/ 2147483647 h 709"/>
              <a:gd name="T24" fmla="*/ 2147483647 w 172"/>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2"/>
              <a:gd name="T40" fmla="*/ 0 h 709"/>
              <a:gd name="T41" fmla="*/ 172 w 172"/>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2"/>
            </a:solidFill>
            <a:round/>
            <a:headEnd/>
            <a:tailEnd/>
          </a:ln>
        </p:spPr>
        <p:txBody>
          <a:bodyPr/>
          <a:lstStyle/>
          <a:p>
            <a:endParaRPr lang="zh-CN" altLang="en-US"/>
          </a:p>
        </p:txBody>
      </p:sp>
      <p:sp>
        <p:nvSpPr>
          <p:cNvPr id="13398" name="Freeform 118"/>
          <p:cNvSpPr>
            <a:spLocks/>
          </p:cNvSpPr>
          <p:nvPr/>
        </p:nvSpPr>
        <p:spPr bwMode="auto">
          <a:xfrm>
            <a:off x="3467100" y="5386388"/>
            <a:ext cx="101600" cy="430212"/>
          </a:xfrm>
          <a:custGeom>
            <a:avLst/>
            <a:gdLst>
              <a:gd name="T0" fmla="*/ 0 w 64"/>
              <a:gd name="T1" fmla="*/ 2147483647 h 363"/>
              <a:gd name="T2" fmla="*/ 2147483647 w 64"/>
              <a:gd name="T3" fmla="*/ 2147483647 h 363"/>
              <a:gd name="T4" fmla="*/ 2147483647 w 64"/>
              <a:gd name="T5" fmla="*/ 2147483647 h 363"/>
              <a:gd name="T6" fmla="*/ 2147483647 w 64"/>
              <a:gd name="T7" fmla="*/ 2147483647 h 363"/>
              <a:gd name="T8" fmla="*/ 2147483647 w 64"/>
              <a:gd name="T9" fmla="*/ 2147483647 h 363"/>
              <a:gd name="T10" fmla="*/ 2147483647 w 64"/>
              <a:gd name="T11" fmla="*/ 2147483647 h 363"/>
              <a:gd name="T12" fmla="*/ 2147483647 w 64"/>
              <a:gd name="T13" fmla="*/ 0 h 363"/>
              <a:gd name="T14" fmla="*/ 0 60000 65536"/>
              <a:gd name="T15" fmla="*/ 0 60000 65536"/>
              <a:gd name="T16" fmla="*/ 0 60000 65536"/>
              <a:gd name="T17" fmla="*/ 0 60000 65536"/>
              <a:gd name="T18" fmla="*/ 0 60000 65536"/>
              <a:gd name="T19" fmla="*/ 0 60000 65536"/>
              <a:gd name="T20" fmla="*/ 0 60000 65536"/>
              <a:gd name="T21" fmla="*/ 0 w 64"/>
              <a:gd name="T22" fmla="*/ 0 h 363"/>
              <a:gd name="T23" fmla="*/ 64 w 6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63">
                <a:moveTo>
                  <a:pt x="0" y="362"/>
                </a:moveTo>
                <a:lnTo>
                  <a:pt x="39" y="54"/>
                </a:lnTo>
                <a:lnTo>
                  <a:pt x="41" y="38"/>
                </a:lnTo>
                <a:lnTo>
                  <a:pt x="43" y="25"/>
                </a:lnTo>
                <a:lnTo>
                  <a:pt x="46" y="15"/>
                </a:lnTo>
                <a:lnTo>
                  <a:pt x="54" y="6"/>
                </a:lnTo>
                <a:lnTo>
                  <a:pt x="63" y="0"/>
                </a:lnTo>
              </a:path>
            </a:pathLst>
          </a:custGeom>
          <a:noFill/>
          <a:ln w="38100" cap="rnd">
            <a:solidFill>
              <a:schemeClr val="tx2"/>
            </a:solidFill>
            <a:round/>
            <a:headEnd/>
            <a:tailEnd/>
          </a:ln>
        </p:spPr>
        <p:txBody>
          <a:bodyPr/>
          <a:lstStyle/>
          <a:p>
            <a:endParaRPr lang="zh-CN" altLang="en-US"/>
          </a:p>
        </p:txBody>
      </p:sp>
      <p:sp>
        <p:nvSpPr>
          <p:cNvPr id="13399" name="Freeform 119"/>
          <p:cNvSpPr>
            <a:spLocks/>
          </p:cNvSpPr>
          <p:nvPr/>
        </p:nvSpPr>
        <p:spPr bwMode="auto">
          <a:xfrm>
            <a:off x="3573463" y="5383213"/>
            <a:ext cx="279400" cy="841375"/>
          </a:xfrm>
          <a:custGeom>
            <a:avLst/>
            <a:gdLst>
              <a:gd name="T0" fmla="*/ 0 w 176"/>
              <a:gd name="T1" fmla="*/ 0 h 708"/>
              <a:gd name="T2" fmla="*/ 2147483647 w 176"/>
              <a:gd name="T3" fmla="*/ 2147483647 h 708"/>
              <a:gd name="T4" fmla="*/ 2147483647 w 176"/>
              <a:gd name="T5" fmla="*/ 2147483647 h 708"/>
              <a:gd name="T6" fmla="*/ 2147483647 w 176"/>
              <a:gd name="T7" fmla="*/ 2147483647 h 708"/>
              <a:gd name="T8" fmla="*/ 2147483647 w 176"/>
              <a:gd name="T9" fmla="*/ 2147483647 h 708"/>
              <a:gd name="T10" fmla="*/ 2147483647 w 176"/>
              <a:gd name="T11" fmla="*/ 2147483647 h 708"/>
              <a:gd name="T12" fmla="*/ 2147483647 w 176"/>
              <a:gd name="T13" fmla="*/ 2147483647 h 708"/>
              <a:gd name="T14" fmla="*/ 2147483647 w 176"/>
              <a:gd name="T15" fmla="*/ 2147483647 h 708"/>
              <a:gd name="T16" fmla="*/ 2147483647 w 176"/>
              <a:gd name="T17" fmla="*/ 2147483647 h 708"/>
              <a:gd name="T18" fmla="*/ 2147483647 w 176"/>
              <a:gd name="T19" fmla="*/ 2147483647 h 708"/>
              <a:gd name="T20" fmla="*/ 2147483647 w 176"/>
              <a:gd name="T21" fmla="*/ 2147483647 h 708"/>
              <a:gd name="T22" fmla="*/ 2147483647 w 176"/>
              <a:gd name="T23" fmla="*/ 2147483647 h 708"/>
              <a:gd name="T24" fmla="*/ 2147483647 w 176"/>
              <a:gd name="T25" fmla="*/ 2147483647 h 7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6"/>
              <a:gd name="T40" fmla="*/ 0 h 708"/>
              <a:gd name="T41" fmla="*/ 176 w 176"/>
              <a:gd name="T42" fmla="*/ 708 h 7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a:solidFill>
              <a:schemeClr val="tx2"/>
            </a:solidFill>
            <a:round/>
            <a:headEnd/>
            <a:tailEnd/>
          </a:ln>
        </p:spPr>
        <p:txBody>
          <a:bodyPr/>
          <a:lstStyle/>
          <a:p>
            <a:endParaRPr lang="zh-CN" altLang="en-US"/>
          </a:p>
        </p:txBody>
      </p:sp>
      <p:sp>
        <p:nvSpPr>
          <p:cNvPr id="13400" name="Freeform 120"/>
          <p:cNvSpPr>
            <a:spLocks/>
          </p:cNvSpPr>
          <p:nvPr/>
        </p:nvSpPr>
        <p:spPr bwMode="auto">
          <a:xfrm>
            <a:off x="3854450" y="5392738"/>
            <a:ext cx="106363" cy="431800"/>
          </a:xfrm>
          <a:custGeom>
            <a:avLst/>
            <a:gdLst>
              <a:gd name="T0" fmla="*/ 0 w 67"/>
              <a:gd name="T1" fmla="*/ 2147483647 h 363"/>
              <a:gd name="T2" fmla="*/ 2147483647 w 67"/>
              <a:gd name="T3" fmla="*/ 2147483647 h 363"/>
              <a:gd name="T4" fmla="*/ 2147483647 w 67"/>
              <a:gd name="T5" fmla="*/ 2147483647 h 363"/>
              <a:gd name="T6" fmla="*/ 2147483647 w 67"/>
              <a:gd name="T7" fmla="*/ 2147483647 h 363"/>
              <a:gd name="T8" fmla="*/ 2147483647 w 67"/>
              <a:gd name="T9" fmla="*/ 2147483647 h 363"/>
              <a:gd name="T10" fmla="*/ 2147483647 w 67"/>
              <a:gd name="T11" fmla="*/ 2147483647 h 363"/>
              <a:gd name="T12" fmla="*/ 2147483647 w 67"/>
              <a:gd name="T13" fmla="*/ 0 h 363"/>
              <a:gd name="T14" fmla="*/ 0 60000 65536"/>
              <a:gd name="T15" fmla="*/ 0 60000 65536"/>
              <a:gd name="T16" fmla="*/ 0 60000 65536"/>
              <a:gd name="T17" fmla="*/ 0 60000 65536"/>
              <a:gd name="T18" fmla="*/ 0 60000 65536"/>
              <a:gd name="T19" fmla="*/ 0 60000 65536"/>
              <a:gd name="T20" fmla="*/ 0 60000 65536"/>
              <a:gd name="T21" fmla="*/ 0 w 67"/>
              <a:gd name="T22" fmla="*/ 0 h 363"/>
              <a:gd name="T23" fmla="*/ 67 w 67"/>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363">
                <a:moveTo>
                  <a:pt x="0" y="362"/>
                </a:moveTo>
                <a:lnTo>
                  <a:pt x="41" y="54"/>
                </a:lnTo>
                <a:lnTo>
                  <a:pt x="43" y="38"/>
                </a:lnTo>
                <a:lnTo>
                  <a:pt x="45" y="25"/>
                </a:lnTo>
                <a:lnTo>
                  <a:pt x="49" y="15"/>
                </a:lnTo>
                <a:lnTo>
                  <a:pt x="56" y="6"/>
                </a:lnTo>
                <a:lnTo>
                  <a:pt x="66" y="0"/>
                </a:lnTo>
              </a:path>
            </a:pathLst>
          </a:custGeom>
          <a:noFill/>
          <a:ln w="38100" cap="rnd">
            <a:solidFill>
              <a:schemeClr val="tx2"/>
            </a:solidFill>
            <a:round/>
            <a:headEnd/>
            <a:tailEnd/>
          </a:ln>
        </p:spPr>
        <p:txBody>
          <a:bodyPr/>
          <a:lstStyle/>
          <a:p>
            <a:endParaRPr lang="zh-CN" altLang="en-US"/>
          </a:p>
        </p:txBody>
      </p:sp>
      <p:sp>
        <p:nvSpPr>
          <p:cNvPr id="13401" name="Freeform 121"/>
          <p:cNvSpPr>
            <a:spLocks/>
          </p:cNvSpPr>
          <p:nvPr/>
        </p:nvSpPr>
        <p:spPr bwMode="auto">
          <a:xfrm>
            <a:off x="3967163" y="5391150"/>
            <a:ext cx="266700" cy="841375"/>
          </a:xfrm>
          <a:custGeom>
            <a:avLst/>
            <a:gdLst>
              <a:gd name="T0" fmla="*/ 0 w 168"/>
              <a:gd name="T1" fmla="*/ 0 h 709"/>
              <a:gd name="T2" fmla="*/ 2147483647 w 168"/>
              <a:gd name="T3" fmla="*/ 2147483647 h 709"/>
              <a:gd name="T4" fmla="*/ 2147483647 w 168"/>
              <a:gd name="T5" fmla="*/ 2147483647 h 709"/>
              <a:gd name="T6" fmla="*/ 2147483647 w 168"/>
              <a:gd name="T7" fmla="*/ 2147483647 h 709"/>
              <a:gd name="T8" fmla="*/ 2147483647 w 168"/>
              <a:gd name="T9" fmla="*/ 2147483647 h 709"/>
              <a:gd name="T10" fmla="*/ 2147483647 w 168"/>
              <a:gd name="T11" fmla="*/ 2147483647 h 709"/>
              <a:gd name="T12" fmla="*/ 2147483647 w 168"/>
              <a:gd name="T13" fmla="*/ 2147483647 h 709"/>
              <a:gd name="T14" fmla="*/ 2147483647 w 168"/>
              <a:gd name="T15" fmla="*/ 2147483647 h 709"/>
              <a:gd name="T16" fmla="*/ 2147483647 w 168"/>
              <a:gd name="T17" fmla="*/ 2147483647 h 709"/>
              <a:gd name="T18" fmla="*/ 2147483647 w 168"/>
              <a:gd name="T19" fmla="*/ 2147483647 h 709"/>
              <a:gd name="T20" fmla="*/ 2147483647 w 168"/>
              <a:gd name="T21" fmla="*/ 2147483647 h 709"/>
              <a:gd name="T22" fmla="*/ 2147483647 w 168"/>
              <a:gd name="T23" fmla="*/ 2147483647 h 709"/>
              <a:gd name="T24" fmla="*/ 2147483647 w 168"/>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8"/>
              <a:gd name="T40" fmla="*/ 0 h 709"/>
              <a:gd name="T41" fmla="*/ 168 w 168"/>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2"/>
            </a:solidFill>
            <a:round/>
            <a:headEnd/>
            <a:tailEnd/>
          </a:ln>
        </p:spPr>
        <p:txBody>
          <a:bodyPr/>
          <a:lstStyle/>
          <a:p>
            <a:endParaRPr lang="zh-CN" altLang="en-US"/>
          </a:p>
        </p:txBody>
      </p:sp>
      <p:sp>
        <p:nvSpPr>
          <p:cNvPr id="13402" name="Freeform 122"/>
          <p:cNvSpPr>
            <a:spLocks/>
          </p:cNvSpPr>
          <p:nvPr/>
        </p:nvSpPr>
        <p:spPr bwMode="auto">
          <a:xfrm>
            <a:off x="4235450" y="5392738"/>
            <a:ext cx="109538" cy="431800"/>
          </a:xfrm>
          <a:custGeom>
            <a:avLst/>
            <a:gdLst>
              <a:gd name="T0" fmla="*/ 0 w 69"/>
              <a:gd name="T1" fmla="*/ 2147483647 h 363"/>
              <a:gd name="T2" fmla="*/ 2147483647 w 69"/>
              <a:gd name="T3" fmla="*/ 2147483647 h 363"/>
              <a:gd name="T4" fmla="*/ 2147483647 w 69"/>
              <a:gd name="T5" fmla="*/ 2147483647 h 363"/>
              <a:gd name="T6" fmla="*/ 2147483647 w 69"/>
              <a:gd name="T7" fmla="*/ 2147483647 h 363"/>
              <a:gd name="T8" fmla="*/ 2147483647 w 69"/>
              <a:gd name="T9" fmla="*/ 2147483647 h 363"/>
              <a:gd name="T10" fmla="*/ 2147483647 w 69"/>
              <a:gd name="T11" fmla="*/ 2147483647 h 363"/>
              <a:gd name="T12" fmla="*/ 2147483647 w 69"/>
              <a:gd name="T13" fmla="*/ 0 h 363"/>
              <a:gd name="T14" fmla="*/ 0 60000 65536"/>
              <a:gd name="T15" fmla="*/ 0 60000 65536"/>
              <a:gd name="T16" fmla="*/ 0 60000 65536"/>
              <a:gd name="T17" fmla="*/ 0 60000 65536"/>
              <a:gd name="T18" fmla="*/ 0 60000 65536"/>
              <a:gd name="T19" fmla="*/ 0 60000 65536"/>
              <a:gd name="T20" fmla="*/ 0 60000 65536"/>
              <a:gd name="T21" fmla="*/ 0 w 69"/>
              <a:gd name="T22" fmla="*/ 0 h 363"/>
              <a:gd name="T23" fmla="*/ 69 w 69"/>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363">
                <a:moveTo>
                  <a:pt x="0" y="362"/>
                </a:moveTo>
                <a:lnTo>
                  <a:pt x="42" y="54"/>
                </a:lnTo>
                <a:lnTo>
                  <a:pt x="45" y="38"/>
                </a:lnTo>
                <a:lnTo>
                  <a:pt x="47" y="25"/>
                </a:lnTo>
                <a:lnTo>
                  <a:pt x="50" y="15"/>
                </a:lnTo>
                <a:lnTo>
                  <a:pt x="58" y="6"/>
                </a:lnTo>
                <a:lnTo>
                  <a:pt x="68" y="0"/>
                </a:lnTo>
              </a:path>
            </a:pathLst>
          </a:custGeom>
          <a:noFill/>
          <a:ln w="38100" cap="rnd">
            <a:solidFill>
              <a:schemeClr val="tx2"/>
            </a:solidFill>
            <a:round/>
            <a:headEnd/>
            <a:tailEnd/>
          </a:ln>
        </p:spPr>
        <p:txBody>
          <a:bodyPr/>
          <a:lstStyle/>
          <a:p>
            <a:endParaRPr lang="zh-CN" altLang="en-US"/>
          </a:p>
        </p:txBody>
      </p:sp>
      <p:sp>
        <p:nvSpPr>
          <p:cNvPr id="13403" name="Freeform 123"/>
          <p:cNvSpPr>
            <a:spLocks/>
          </p:cNvSpPr>
          <p:nvPr/>
        </p:nvSpPr>
        <p:spPr bwMode="auto">
          <a:xfrm>
            <a:off x="4349750" y="5387975"/>
            <a:ext cx="266700" cy="842963"/>
          </a:xfrm>
          <a:custGeom>
            <a:avLst/>
            <a:gdLst>
              <a:gd name="T0" fmla="*/ 0 w 168"/>
              <a:gd name="T1" fmla="*/ 0 h 709"/>
              <a:gd name="T2" fmla="*/ 2147483647 w 168"/>
              <a:gd name="T3" fmla="*/ 2147483647 h 709"/>
              <a:gd name="T4" fmla="*/ 2147483647 w 168"/>
              <a:gd name="T5" fmla="*/ 2147483647 h 709"/>
              <a:gd name="T6" fmla="*/ 2147483647 w 168"/>
              <a:gd name="T7" fmla="*/ 2147483647 h 709"/>
              <a:gd name="T8" fmla="*/ 2147483647 w 168"/>
              <a:gd name="T9" fmla="*/ 2147483647 h 709"/>
              <a:gd name="T10" fmla="*/ 2147483647 w 168"/>
              <a:gd name="T11" fmla="*/ 2147483647 h 709"/>
              <a:gd name="T12" fmla="*/ 2147483647 w 168"/>
              <a:gd name="T13" fmla="*/ 2147483647 h 709"/>
              <a:gd name="T14" fmla="*/ 2147483647 w 168"/>
              <a:gd name="T15" fmla="*/ 2147483647 h 709"/>
              <a:gd name="T16" fmla="*/ 2147483647 w 168"/>
              <a:gd name="T17" fmla="*/ 2147483647 h 709"/>
              <a:gd name="T18" fmla="*/ 2147483647 w 168"/>
              <a:gd name="T19" fmla="*/ 2147483647 h 709"/>
              <a:gd name="T20" fmla="*/ 2147483647 w 168"/>
              <a:gd name="T21" fmla="*/ 2147483647 h 709"/>
              <a:gd name="T22" fmla="*/ 2147483647 w 168"/>
              <a:gd name="T23" fmla="*/ 2147483647 h 709"/>
              <a:gd name="T24" fmla="*/ 2147483647 w 168"/>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8"/>
              <a:gd name="T40" fmla="*/ 0 h 709"/>
              <a:gd name="T41" fmla="*/ 168 w 168"/>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2"/>
            </a:solidFill>
            <a:round/>
            <a:headEnd/>
            <a:tailEnd/>
          </a:ln>
        </p:spPr>
        <p:txBody>
          <a:bodyPr/>
          <a:lstStyle/>
          <a:p>
            <a:endParaRPr lang="zh-CN" altLang="en-US"/>
          </a:p>
        </p:txBody>
      </p:sp>
      <p:grpSp>
        <p:nvGrpSpPr>
          <p:cNvPr id="13404" name="Group 124"/>
          <p:cNvGrpSpPr>
            <a:grpSpLocks/>
          </p:cNvGrpSpPr>
          <p:nvPr/>
        </p:nvGrpSpPr>
        <p:grpSpPr bwMode="auto">
          <a:xfrm>
            <a:off x="4614863" y="5391150"/>
            <a:ext cx="373062" cy="846138"/>
            <a:chOff x="2898" y="3265"/>
            <a:chExt cx="235" cy="713"/>
          </a:xfrm>
        </p:grpSpPr>
        <p:sp>
          <p:nvSpPr>
            <p:cNvPr id="13447" name="Freeform 125"/>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 name="T21" fmla="*/ 0 w 64"/>
                <a:gd name="T22" fmla="*/ 0 h 363"/>
                <a:gd name="T23" fmla="*/ 64 w 6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63">
                  <a:moveTo>
                    <a:pt x="0" y="0"/>
                  </a:moveTo>
                  <a:lnTo>
                    <a:pt x="39" y="308"/>
                  </a:lnTo>
                  <a:lnTo>
                    <a:pt x="41" y="324"/>
                  </a:lnTo>
                  <a:lnTo>
                    <a:pt x="43" y="337"/>
                  </a:lnTo>
                  <a:lnTo>
                    <a:pt x="46" y="347"/>
                  </a:lnTo>
                  <a:lnTo>
                    <a:pt x="54" y="356"/>
                  </a:lnTo>
                  <a:lnTo>
                    <a:pt x="63" y="362"/>
                  </a:lnTo>
                </a:path>
              </a:pathLst>
            </a:custGeom>
            <a:noFill/>
            <a:ln w="38100" cap="rnd">
              <a:solidFill>
                <a:schemeClr val="tx2"/>
              </a:solidFill>
              <a:round/>
              <a:headEnd/>
              <a:tailEnd/>
            </a:ln>
          </p:spPr>
          <p:txBody>
            <a:bodyPr/>
            <a:lstStyle/>
            <a:p>
              <a:endParaRPr lang="zh-CN" altLang="en-US"/>
            </a:p>
          </p:txBody>
        </p:sp>
        <p:sp>
          <p:nvSpPr>
            <p:cNvPr id="13448" name="Freeform 126"/>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709"/>
                <a:gd name="T41" fmla="*/ 170 w 170"/>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a:solidFill>
                <a:schemeClr val="tx2"/>
              </a:solidFill>
              <a:round/>
              <a:headEnd/>
              <a:tailEnd/>
            </a:ln>
          </p:spPr>
          <p:txBody>
            <a:bodyPr/>
            <a:lstStyle/>
            <a:p>
              <a:endParaRPr lang="zh-CN" altLang="en-US"/>
            </a:p>
          </p:txBody>
        </p:sp>
      </p:grpSp>
      <p:sp>
        <p:nvSpPr>
          <p:cNvPr id="13405" name="Freeform 127"/>
          <p:cNvSpPr>
            <a:spLocks/>
          </p:cNvSpPr>
          <p:nvPr/>
        </p:nvSpPr>
        <p:spPr bwMode="auto">
          <a:xfrm>
            <a:off x="4986338" y="5791200"/>
            <a:ext cx="100012" cy="431800"/>
          </a:xfrm>
          <a:custGeom>
            <a:avLst/>
            <a:gdLst>
              <a:gd name="T0" fmla="*/ 0 w 63"/>
              <a:gd name="T1" fmla="*/ 0 h 363"/>
              <a:gd name="T2" fmla="*/ 2147483647 w 63"/>
              <a:gd name="T3" fmla="*/ 2147483647 h 363"/>
              <a:gd name="T4" fmla="*/ 2147483647 w 63"/>
              <a:gd name="T5" fmla="*/ 2147483647 h 363"/>
              <a:gd name="T6" fmla="*/ 2147483647 w 63"/>
              <a:gd name="T7" fmla="*/ 2147483647 h 363"/>
              <a:gd name="T8" fmla="*/ 2147483647 w 63"/>
              <a:gd name="T9" fmla="*/ 2147483647 h 363"/>
              <a:gd name="T10" fmla="*/ 2147483647 w 63"/>
              <a:gd name="T11" fmla="*/ 2147483647 h 363"/>
              <a:gd name="T12" fmla="*/ 2147483647 w 63"/>
              <a:gd name="T13" fmla="*/ 2147483647 h 363"/>
              <a:gd name="T14" fmla="*/ 0 60000 65536"/>
              <a:gd name="T15" fmla="*/ 0 60000 65536"/>
              <a:gd name="T16" fmla="*/ 0 60000 65536"/>
              <a:gd name="T17" fmla="*/ 0 60000 65536"/>
              <a:gd name="T18" fmla="*/ 0 60000 65536"/>
              <a:gd name="T19" fmla="*/ 0 60000 65536"/>
              <a:gd name="T20" fmla="*/ 0 60000 65536"/>
              <a:gd name="T21" fmla="*/ 0 w 63"/>
              <a:gd name="T22" fmla="*/ 0 h 363"/>
              <a:gd name="T23" fmla="*/ 63 w 63"/>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 h="363">
                <a:moveTo>
                  <a:pt x="0" y="0"/>
                </a:moveTo>
                <a:lnTo>
                  <a:pt x="38" y="308"/>
                </a:lnTo>
                <a:lnTo>
                  <a:pt x="41" y="324"/>
                </a:lnTo>
                <a:lnTo>
                  <a:pt x="42" y="337"/>
                </a:lnTo>
                <a:lnTo>
                  <a:pt x="46" y="347"/>
                </a:lnTo>
                <a:lnTo>
                  <a:pt x="53" y="356"/>
                </a:lnTo>
                <a:lnTo>
                  <a:pt x="62" y="362"/>
                </a:lnTo>
              </a:path>
            </a:pathLst>
          </a:custGeom>
          <a:noFill/>
          <a:ln w="38100" cap="rnd">
            <a:solidFill>
              <a:schemeClr val="tx2"/>
            </a:solidFill>
            <a:round/>
            <a:headEnd/>
            <a:tailEnd/>
          </a:ln>
        </p:spPr>
        <p:txBody>
          <a:bodyPr/>
          <a:lstStyle/>
          <a:p>
            <a:endParaRPr lang="zh-CN" altLang="en-US"/>
          </a:p>
        </p:txBody>
      </p:sp>
      <p:sp>
        <p:nvSpPr>
          <p:cNvPr id="13406" name="Freeform 128"/>
          <p:cNvSpPr>
            <a:spLocks/>
          </p:cNvSpPr>
          <p:nvPr/>
        </p:nvSpPr>
        <p:spPr bwMode="auto">
          <a:xfrm>
            <a:off x="5087938" y="5391150"/>
            <a:ext cx="268287" cy="841375"/>
          </a:xfrm>
          <a:custGeom>
            <a:avLst/>
            <a:gdLst>
              <a:gd name="T0" fmla="*/ 0 w 169"/>
              <a:gd name="T1" fmla="*/ 2147483647 h 709"/>
              <a:gd name="T2" fmla="*/ 2147483647 w 169"/>
              <a:gd name="T3" fmla="*/ 2147483647 h 709"/>
              <a:gd name="T4" fmla="*/ 2147483647 w 169"/>
              <a:gd name="T5" fmla="*/ 2147483647 h 709"/>
              <a:gd name="T6" fmla="*/ 2147483647 w 169"/>
              <a:gd name="T7" fmla="*/ 2147483647 h 709"/>
              <a:gd name="T8" fmla="*/ 2147483647 w 169"/>
              <a:gd name="T9" fmla="*/ 2147483647 h 709"/>
              <a:gd name="T10" fmla="*/ 2147483647 w 169"/>
              <a:gd name="T11" fmla="*/ 2147483647 h 709"/>
              <a:gd name="T12" fmla="*/ 2147483647 w 169"/>
              <a:gd name="T13" fmla="*/ 2147483647 h 709"/>
              <a:gd name="T14" fmla="*/ 2147483647 w 169"/>
              <a:gd name="T15" fmla="*/ 2147483647 h 709"/>
              <a:gd name="T16" fmla="*/ 2147483647 w 169"/>
              <a:gd name="T17" fmla="*/ 2147483647 h 709"/>
              <a:gd name="T18" fmla="*/ 2147483647 w 169"/>
              <a:gd name="T19" fmla="*/ 0 h 709"/>
              <a:gd name="T20" fmla="*/ 2147483647 w 169"/>
              <a:gd name="T21" fmla="*/ 2147483647 h 709"/>
              <a:gd name="T22" fmla="*/ 2147483647 w 169"/>
              <a:gd name="T23" fmla="*/ 2147483647 h 709"/>
              <a:gd name="T24" fmla="*/ 2147483647 w 169"/>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9"/>
              <a:gd name="T40" fmla="*/ 0 h 709"/>
              <a:gd name="T41" fmla="*/ 169 w 169"/>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a:solidFill>
              <a:schemeClr val="tx2"/>
            </a:solidFill>
            <a:round/>
            <a:headEnd/>
            <a:tailEnd/>
          </a:ln>
        </p:spPr>
        <p:txBody>
          <a:bodyPr/>
          <a:lstStyle/>
          <a:p>
            <a:endParaRPr lang="zh-CN" altLang="en-US"/>
          </a:p>
        </p:txBody>
      </p:sp>
      <p:grpSp>
        <p:nvGrpSpPr>
          <p:cNvPr id="13407" name="Group 129"/>
          <p:cNvGrpSpPr>
            <a:grpSpLocks/>
          </p:cNvGrpSpPr>
          <p:nvPr/>
        </p:nvGrpSpPr>
        <p:grpSpPr bwMode="auto">
          <a:xfrm>
            <a:off x="5356225" y="5380038"/>
            <a:ext cx="746125" cy="846137"/>
            <a:chOff x="3365" y="3256"/>
            <a:chExt cx="470" cy="713"/>
          </a:xfrm>
        </p:grpSpPr>
        <p:grpSp>
          <p:nvGrpSpPr>
            <p:cNvPr id="13441" name="Group 130"/>
            <p:cNvGrpSpPr>
              <a:grpSpLocks/>
            </p:cNvGrpSpPr>
            <p:nvPr/>
          </p:nvGrpSpPr>
          <p:grpSpPr bwMode="auto">
            <a:xfrm>
              <a:off x="3365" y="3256"/>
              <a:ext cx="233" cy="713"/>
              <a:chOff x="3365" y="3256"/>
              <a:chExt cx="233" cy="713"/>
            </a:xfrm>
          </p:grpSpPr>
          <p:sp>
            <p:nvSpPr>
              <p:cNvPr id="13445" name="Freeform 131"/>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 name="T14" fmla="*/ 0 60000 65536"/>
                  <a:gd name="T15" fmla="*/ 0 60000 65536"/>
                  <a:gd name="T16" fmla="*/ 0 60000 65536"/>
                  <a:gd name="T17" fmla="*/ 0 60000 65536"/>
                  <a:gd name="T18" fmla="*/ 0 60000 65536"/>
                  <a:gd name="T19" fmla="*/ 0 60000 65536"/>
                  <a:gd name="T20" fmla="*/ 0 60000 65536"/>
                  <a:gd name="T21" fmla="*/ 0 w 66"/>
                  <a:gd name="T22" fmla="*/ 0 h 363"/>
                  <a:gd name="T23" fmla="*/ 66 w 66"/>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363">
                    <a:moveTo>
                      <a:pt x="0" y="0"/>
                    </a:moveTo>
                    <a:lnTo>
                      <a:pt x="40" y="308"/>
                    </a:lnTo>
                    <a:lnTo>
                      <a:pt x="43" y="324"/>
                    </a:lnTo>
                    <a:lnTo>
                      <a:pt x="44" y="337"/>
                    </a:lnTo>
                    <a:lnTo>
                      <a:pt x="48" y="347"/>
                    </a:lnTo>
                    <a:lnTo>
                      <a:pt x="56" y="356"/>
                    </a:lnTo>
                    <a:lnTo>
                      <a:pt x="65" y="362"/>
                    </a:lnTo>
                  </a:path>
                </a:pathLst>
              </a:custGeom>
              <a:noFill/>
              <a:ln w="38100" cap="rnd">
                <a:solidFill>
                  <a:schemeClr val="tx2"/>
                </a:solidFill>
                <a:round/>
                <a:headEnd/>
                <a:tailEnd/>
              </a:ln>
            </p:spPr>
            <p:txBody>
              <a:bodyPr/>
              <a:lstStyle/>
              <a:p>
                <a:endParaRPr lang="zh-CN" altLang="en-US"/>
              </a:p>
            </p:txBody>
          </p:sp>
          <p:sp>
            <p:nvSpPr>
              <p:cNvPr id="13446" name="Freeform 132"/>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709"/>
                  <a:gd name="T41" fmla="*/ 166 w 166"/>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a:solidFill>
                  <a:schemeClr val="tx2"/>
                </a:solidFill>
                <a:round/>
                <a:headEnd/>
                <a:tailEnd/>
              </a:ln>
            </p:spPr>
            <p:txBody>
              <a:bodyPr/>
              <a:lstStyle/>
              <a:p>
                <a:endParaRPr lang="zh-CN" altLang="en-US"/>
              </a:p>
            </p:txBody>
          </p:sp>
        </p:grpSp>
        <p:grpSp>
          <p:nvGrpSpPr>
            <p:cNvPr id="13442" name="Group 133"/>
            <p:cNvGrpSpPr>
              <a:grpSpLocks/>
            </p:cNvGrpSpPr>
            <p:nvPr/>
          </p:nvGrpSpPr>
          <p:grpSpPr bwMode="auto">
            <a:xfrm>
              <a:off x="3600" y="3256"/>
              <a:ext cx="235" cy="713"/>
              <a:chOff x="3600" y="3256"/>
              <a:chExt cx="235" cy="713"/>
            </a:xfrm>
          </p:grpSpPr>
          <p:sp>
            <p:nvSpPr>
              <p:cNvPr id="13443" name="Freeform 134"/>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 name="T14" fmla="*/ 0 60000 65536"/>
                  <a:gd name="T15" fmla="*/ 0 60000 65536"/>
                  <a:gd name="T16" fmla="*/ 0 60000 65536"/>
                  <a:gd name="T17" fmla="*/ 0 60000 65536"/>
                  <a:gd name="T18" fmla="*/ 0 60000 65536"/>
                  <a:gd name="T19" fmla="*/ 0 60000 65536"/>
                  <a:gd name="T20" fmla="*/ 0 60000 65536"/>
                  <a:gd name="T21" fmla="*/ 0 w 68"/>
                  <a:gd name="T22" fmla="*/ 0 h 363"/>
                  <a:gd name="T23" fmla="*/ 68 w 68"/>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8" h="363">
                    <a:moveTo>
                      <a:pt x="0" y="0"/>
                    </a:moveTo>
                    <a:lnTo>
                      <a:pt x="41" y="308"/>
                    </a:lnTo>
                    <a:lnTo>
                      <a:pt x="44" y="324"/>
                    </a:lnTo>
                    <a:lnTo>
                      <a:pt x="46" y="337"/>
                    </a:lnTo>
                    <a:lnTo>
                      <a:pt x="49" y="347"/>
                    </a:lnTo>
                    <a:lnTo>
                      <a:pt x="57" y="356"/>
                    </a:lnTo>
                    <a:lnTo>
                      <a:pt x="67" y="362"/>
                    </a:lnTo>
                  </a:path>
                </a:pathLst>
              </a:custGeom>
              <a:noFill/>
              <a:ln w="38100" cap="rnd">
                <a:solidFill>
                  <a:schemeClr val="tx2"/>
                </a:solidFill>
                <a:round/>
                <a:headEnd/>
                <a:tailEnd/>
              </a:ln>
            </p:spPr>
            <p:txBody>
              <a:bodyPr/>
              <a:lstStyle/>
              <a:p>
                <a:endParaRPr lang="zh-CN" altLang="en-US"/>
              </a:p>
            </p:txBody>
          </p:sp>
          <p:sp>
            <p:nvSpPr>
              <p:cNvPr id="13444" name="Freeform 135"/>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709"/>
                  <a:gd name="T41" fmla="*/ 166 w 166"/>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a:solidFill>
                  <a:schemeClr val="tx2"/>
                </a:solidFill>
                <a:round/>
                <a:headEnd/>
                <a:tailEnd/>
              </a:ln>
            </p:spPr>
            <p:txBody>
              <a:bodyPr/>
              <a:lstStyle/>
              <a:p>
                <a:endParaRPr lang="zh-CN" altLang="en-US"/>
              </a:p>
            </p:txBody>
          </p:sp>
        </p:grpSp>
      </p:grpSp>
      <p:grpSp>
        <p:nvGrpSpPr>
          <p:cNvPr id="13408" name="Group 136"/>
          <p:cNvGrpSpPr>
            <a:grpSpLocks/>
          </p:cNvGrpSpPr>
          <p:nvPr/>
        </p:nvGrpSpPr>
        <p:grpSpPr bwMode="auto">
          <a:xfrm>
            <a:off x="6099175" y="5368925"/>
            <a:ext cx="371475" cy="847725"/>
            <a:chOff x="3833" y="3247"/>
            <a:chExt cx="234" cy="713"/>
          </a:xfrm>
        </p:grpSpPr>
        <p:sp>
          <p:nvSpPr>
            <p:cNvPr id="13439" name="Freeform 137"/>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 name="T21" fmla="*/ 0 w 64"/>
                <a:gd name="T22" fmla="*/ 0 h 363"/>
                <a:gd name="T23" fmla="*/ 64 w 6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63">
                  <a:moveTo>
                    <a:pt x="0" y="0"/>
                  </a:moveTo>
                  <a:lnTo>
                    <a:pt x="39" y="308"/>
                  </a:lnTo>
                  <a:lnTo>
                    <a:pt x="41" y="324"/>
                  </a:lnTo>
                  <a:lnTo>
                    <a:pt x="43" y="337"/>
                  </a:lnTo>
                  <a:lnTo>
                    <a:pt x="46" y="347"/>
                  </a:lnTo>
                  <a:lnTo>
                    <a:pt x="54" y="356"/>
                  </a:lnTo>
                  <a:lnTo>
                    <a:pt x="63" y="362"/>
                  </a:lnTo>
                </a:path>
              </a:pathLst>
            </a:custGeom>
            <a:noFill/>
            <a:ln w="38100" cap="rnd">
              <a:solidFill>
                <a:schemeClr val="tx2"/>
              </a:solidFill>
              <a:round/>
              <a:headEnd/>
              <a:tailEnd/>
            </a:ln>
          </p:spPr>
          <p:txBody>
            <a:bodyPr/>
            <a:lstStyle/>
            <a:p>
              <a:endParaRPr lang="zh-CN" altLang="en-US"/>
            </a:p>
          </p:txBody>
        </p:sp>
        <p:sp>
          <p:nvSpPr>
            <p:cNvPr id="13440" name="Freeform 138"/>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9"/>
                <a:gd name="T40" fmla="*/ 0 h 709"/>
                <a:gd name="T41" fmla="*/ 169 w 169"/>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a:solidFill>
                <a:schemeClr val="tx2"/>
              </a:solidFill>
              <a:round/>
              <a:headEnd/>
              <a:tailEnd/>
            </a:ln>
          </p:spPr>
          <p:txBody>
            <a:bodyPr/>
            <a:lstStyle/>
            <a:p>
              <a:endParaRPr lang="zh-CN" altLang="en-US"/>
            </a:p>
          </p:txBody>
        </p:sp>
      </p:grpSp>
      <p:sp>
        <p:nvSpPr>
          <p:cNvPr id="13409" name="Freeform 139"/>
          <p:cNvSpPr>
            <a:spLocks/>
          </p:cNvSpPr>
          <p:nvPr/>
        </p:nvSpPr>
        <p:spPr bwMode="auto">
          <a:xfrm>
            <a:off x="6472238" y="5784850"/>
            <a:ext cx="101600" cy="430213"/>
          </a:xfrm>
          <a:custGeom>
            <a:avLst/>
            <a:gdLst>
              <a:gd name="T0" fmla="*/ 0 w 64"/>
              <a:gd name="T1" fmla="*/ 0 h 271"/>
              <a:gd name="T2" fmla="*/ 2147483647 w 64"/>
              <a:gd name="T3" fmla="*/ 2147483647 h 271"/>
              <a:gd name="T4" fmla="*/ 2147483647 w 64"/>
              <a:gd name="T5" fmla="*/ 2147483647 h 271"/>
              <a:gd name="T6" fmla="*/ 2147483647 w 64"/>
              <a:gd name="T7" fmla="*/ 2147483647 h 271"/>
              <a:gd name="T8" fmla="*/ 2147483647 w 64"/>
              <a:gd name="T9" fmla="*/ 2147483647 h 271"/>
              <a:gd name="T10" fmla="*/ 2147483647 w 64"/>
              <a:gd name="T11" fmla="*/ 2147483647 h 271"/>
              <a:gd name="T12" fmla="*/ 0 60000 65536"/>
              <a:gd name="T13" fmla="*/ 0 60000 65536"/>
              <a:gd name="T14" fmla="*/ 0 60000 65536"/>
              <a:gd name="T15" fmla="*/ 0 60000 65536"/>
              <a:gd name="T16" fmla="*/ 0 60000 65536"/>
              <a:gd name="T17" fmla="*/ 0 60000 65536"/>
              <a:gd name="T18" fmla="*/ 0 w 64"/>
              <a:gd name="T19" fmla="*/ 0 h 271"/>
              <a:gd name="T20" fmla="*/ 64 w 64"/>
              <a:gd name="T21" fmla="*/ 271 h 271"/>
            </a:gdLst>
            <a:ahLst/>
            <a:cxnLst>
              <a:cxn ang="T12">
                <a:pos x="T0" y="T1"/>
              </a:cxn>
              <a:cxn ang="T13">
                <a:pos x="T2" y="T3"/>
              </a:cxn>
              <a:cxn ang="T14">
                <a:pos x="T4" y="T5"/>
              </a:cxn>
              <a:cxn ang="T15">
                <a:pos x="T6" y="T7"/>
              </a:cxn>
              <a:cxn ang="T16">
                <a:pos x="T8" y="T9"/>
              </a:cxn>
              <a:cxn ang="T17">
                <a:pos x="T10" y="T11"/>
              </a:cxn>
            </a:cxnLst>
            <a:rect l="T18" t="T19" r="T20" b="T21"/>
            <a:pathLst>
              <a:path w="64" h="271">
                <a:moveTo>
                  <a:pt x="0" y="0"/>
                </a:moveTo>
                <a:lnTo>
                  <a:pt x="40" y="231"/>
                </a:lnTo>
                <a:lnTo>
                  <a:pt x="42" y="243"/>
                </a:lnTo>
                <a:lnTo>
                  <a:pt x="44" y="253"/>
                </a:lnTo>
                <a:lnTo>
                  <a:pt x="55" y="267"/>
                </a:lnTo>
                <a:lnTo>
                  <a:pt x="64" y="271"/>
                </a:lnTo>
              </a:path>
            </a:pathLst>
          </a:custGeom>
          <a:noFill/>
          <a:ln w="38100" cap="rnd">
            <a:solidFill>
              <a:schemeClr val="tx2"/>
            </a:solidFill>
            <a:round/>
            <a:headEnd/>
            <a:tailEnd/>
          </a:ln>
        </p:spPr>
        <p:txBody>
          <a:bodyPr/>
          <a:lstStyle/>
          <a:p>
            <a:endParaRPr lang="zh-CN" altLang="en-US"/>
          </a:p>
        </p:txBody>
      </p:sp>
      <p:sp>
        <p:nvSpPr>
          <p:cNvPr id="13410" name="Freeform 140"/>
          <p:cNvSpPr>
            <a:spLocks/>
          </p:cNvSpPr>
          <p:nvPr/>
        </p:nvSpPr>
        <p:spPr bwMode="auto">
          <a:xfrm>
            <a:off x="6577013" y="5368925"/>
            <a:ext cx="280987" cy="841375"/>
          </a:xfrm>
          <a:custGeom>
            <a:avLst/>
            <a:gdLst>
              <a:gd name="T0" fmla="*/ 0 w 177"/>
              <a:gd name="T1" fmla="*/ 2147483647 h 530"/>
              <a:gd name="T2" fmla="*/ 2147483647 w 177"/>
              <a:gd name="T3" fmla="*/ 2147483647 h 530"/>
              <a:gd name="T4" fmla="*/ 2147483647 w 177"/>
              <a:gd name="T5" fmla="*/ 2147483647 h 530"/>
              <a:gd name="T6" fmla="*/ 2147483647 w 177"/>
              <a:gd name="T7" fmla="*/ 2147483647 h 530"/>
              <a:gd name="T8" fmla="*/ 2147483647 w 177"/>
              <a:gd name="T9" fmla="*/ 2147483647 h 530"/>
              <a:gd name="T10" fmla="*/ 2147483647 w 177"/>
              <a:gd name="T11" fmla="*/ 2147483647 h 530"/>
              <a:gd name="T12" fmla="*/ 2147483647 w 177"/>
              <a:gd name="T13" fmla="*/ 2147483647 h 530"/>
              <a:gd name="T14" fmla="*/ 2147483647 w 177"/>
              <a:gd name="T15" fmla="*/ 2147483647 h 530"/>
              <a:gd name="T16" fmla="*/ 2147483647 w 177"/>
              <a:gd name="T17" fmla="*/ 2147483647 h 530"/>
              <a:gd name="T18" fmla="*/ 2147483647 w 177"/>
              <a:gd name="T19" fmla="*/ 0 h 530"/>
              <a:gd name="T20" fmla="*/ 2147483647 w 177"/>
              <a:gd name="T21" fmla="*/ 2147483647 h 530"/>
              <a:gd name="T22" fmla="*/ 2147483647 w 177"/>
              <a:gd name="T23" fmla="*/ 2147483647 h 530"/>
              <a:gd name="T24" fmla="*/ 2147483647 w 17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530"/>
              <a:gd name="T41" fmla="*/ 177 w 177"/>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a:solidFill>
              <a:schemeClr val="tx2"/>
            </a:solidFill>
            <a:round/>
            <a:headEnd/>
            <a:tailEnd/>
          </a:ln>
        </p:spPr>
        <p:txBody>
          <a:bodyPr/>
          <a:lstStyle/>
          <a:p>
            <a:endParaRPr lang="zh-CN" altLang="en-US"/>
          </a:p>
        </p:txBody>
      </p:sp>
      <p:grpSp>
        <p:nvGrpSpPr>
          <p:cNvPr id="13411" name="Group 141"/>
          <p:cNvGrpSpPr>
            <a:grpSpLocks/>
          </p:cNvGrpSpPr>
          <p:nvPr/>
        </p:nvGrpSpPr>
        <p:grpSpPr bwMode="auto">
          <a:xfrm>
            <a:off x="6867525" y="5372100"/>
            <a:ext cx="755650" cy="847725"/>
            <a:chOff x="4317" y="3250"/>
            <a:chExt cx="476" cy="713"/>
          </a:xfrm>
        </p:grpSpPr>
        <p:grpSp>
          <p:nvGrpSpPr>
            <p:cNvPr id="13433" name="Group 142"/>
            <p:cNvGrpSpPr>
              <a:grpSpLocks/>
            </p:cNvGrpSpPr>
            <p:nvPr/>
          </p:nvGrpSpPr>
          <p:grpSpPr bwMode="auto">
            <a:xfrm>
              <a:off x="4317" y="3250"/>
              <a:ext cx="238" cy="713"/>
              <a:chOff x="4317" y="3250"/>
              <a:chExt cx="238" cy="713"/>
            </a:xfrm>
          </p:grpSpPr>
          <p:sp>
            <p:nvSpPr>
              <p:cNvPr id="13437" name="Freeform 143"/>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 name="T21" fmla="*/ 0 w 65"/>
                  <a:gd name="T22" fmla="*/ 0 h 363"/>
                  <a:gd name="T23" fmla="*/ 65 w 65"/>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363">
                    <a:moveTo>
                      <a:pt x="0" y="362"/>
                    </a:moveTo>
                    <a:lnTo>
                      <a:pt x="40" y="54"/>
                    </a:lnTo>
                    <a:lnTo>
                      <a:pt x="42" y="38"/>
                    </a:lnTo>
                    <a:lnTo>
                      <a:pt x="44" y="25"/>
                    </a:lnTo>
                    <a:lnTo>
                      <a:pt x="47" y="15"/>
                    </a:lnTo>
                    <a:lnTo>
                      <a:pt x="55" y="6"/>
                    </a:lnTo>
                    <a:lnTo>
                      <a:pt x="64" y="0"/>
                    </a:lnTo>
                  </a:path>
                </a:pathLst>
              </a:custGeom>
              <a:noFill/>
              <a:ln w="38100" cap="rnd">
                <a:solidFill>
                  <a:schemeClr val="tx2"/>
                </a:solidFill>
                <a:round/>
                <a:headEnd/>
                <a:tailEnd/>
              </a:ln>
            </p:spPr>
            <p:txBody>
              <a:bodyPr/>
              <a:lstStyle/>
              <a:p>
                <a:endParaRPr lang="zh-CN" altLang="en-US"/>
              </a:p>
            </p:txBody>
          </p:sp>
          <p:sp>
            <p:nvSpPr>
              <p:cNvPr id="13438" name="Freeform 144"/>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2"/>
                  <a:gd name="T40" fmla="*/ 0 h 709"/>
                  <a:gd name="T41" fmla="*/ 172 w 172"/>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2"/>
                </a:solidFill>
                <a:round/>
                <a:headEnd/>
                <a:tailEnd/>
              </a:ln>
            </p:spPr>
            <p:txBody>
              <a:bodyPr/>
              <a:lstStyle/>
              <a:p>
                <a:endParaRPr lang="zh-CN" altLang="en-US"/>
              </a:p>
            </p:txBody>
          </p:sp>
        </p:grpSp>
        <p:grpSp>
          <p:nvGrpSpPr>
            <p:cNvPr id="13434" name="Group 145"/>
            <p:cNvGrpSpPr>
              <a:grpSpLocks/>
            </p:cNvGrpSpPr>
            <p:nvPr/>
          </p:nvGrpSpPr>
          <p:grpSpPr bwMode="auto">
            <a:xfrm>
              <a:off x="4557" y="3250"/>
              <a:ext cx="236" cy="713"/>
              <a:chOff x="4557" y="3250"/>
              <a:chExt cx="236" cy="713"/>
            </a:xfrm>
          </p:grpSpPr>
          <p:sp>
            <p:nvSpPr>
              <p:cNvPr id="13435" name="Freeform 146"/>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 name="T21" fmla="*/ 0 w 64"/>
                  <a:gd name="T22" fmla="*/ 0 h 363"/>
                  <a:gd name="T23" fmla="*/ 64 w 6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63">
                    <a:moveTo>
                      <a:pt x="0" y="362"/>
                    </a:moveTo>
                    <a:lnTo>
                      <a:pt x="39" y="54"/>
                    </a:lnTo>
                    <a:lnTo>
                      <a:pt x="41" y="38"/>
                    </a:lnTo>
                    <a:lnTo>
                      <a:pt x="43" y="25"/>
                    </a:lnTo>
                    <a:lnTo>
                      <a:pt x="46" y="15"/>
                    </a:lnTo>
                    <a:lnTo>
                      <a:pt x="54" y="6"/>
                    </a:lnTo>
                    <a:lnTo>
                      <a:pt x="63" y="0"/>
                    </a:lnTo>
                  </a:path>
                </a:pathLst>
              </a:custGeom>
              <a:noFill/>
              <a:ln w="38100" cap="rnd">
                <a:solidFill>
                  <a:schemeClr val="tx2"/>
                </a:solidFill>
                <a:round/>
                <a:headEnd/>
                <a:tailEnd/>
              </a:ln>
            </p:spPr>
            <p:txBody>
              <a:bodyPr/>
              <a:lstStyle/>
              <a:p>
                <a:endParaRPr lang="zh-CN" altLang="en-US"/>
              </a:p>
            </p:txBody>
          </p:sp>
          <p:sp>
            <p:nvSpPr>
              <p:cNvPr id="13436" name="Freeform 147"/>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1"/>
                  <a:gd name="T40" fmla="*/ 0 h 709"/>
                  <a:gd name="T41" fmla="*/ 171 w 171"/>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2"/>
                </a:solidFill>
                <a:round/>
                <a:headEnd/>
                <a:tailEnd/>
              </a:ln>
            </p:spPr>
            <p:txBody>
              <a:bodyPr/>
              <a:lstStyle/>
              <a:p>
                <a:endParaRPr lang="zh-CN" altLang="en-US"/>
              </a:p>
            </p:txBody>
          </p:sp>
        </p:grpSp>
      </p:grpSp>
      <p:sp>
        <p:nvSpPr>
          <p:cNvPr id="13412" name="Freeform 148"/>
          <p:cNvSpPr>
            <a:spLocks/>
          </p:cNvSpPr>
          <p:nvPr/>
        </p:nvSpPr>
        <p:spPr bwMode="auto">
          <a:xfrm>
            <a:off x="7615238" y="5365750"/>
            <a:ext cx="112712" cy="490538"/>
          </a:xfrm>
          <a:custGeom>
            <a:avLst/>
            <a:gdLst>
              <a:gd name="T0" fmla="*/ 0 w 71"/>
              <a:gd name="T1" fmla="*/ 2147483647 h 309"/>
              <a:gd name="T2" fmla="*/ 2147483647 w 71"/>
              <a:gd name="T3" fmla="*/ 2147483647 h 309"/>
              <a:gd name="T4" fmla="*/ 2147483647 w 71"/>
              <a:gd name="T5" fmla="*/ 2147483647 h 309"/>
              <a:gd name="T6" fmla="*/ 2147483647 w 71"/>
              <a:gd name="T7" fmla="*/ 2147483647 h 309"/>
              <a:gd name="T8" fmla="*/ 2147483647 w 71"/>
              <a:gd name="T9" fmla="*/ 2147483647 h 309"/>
              <a:gd name="T10" fmla="*/ 2147483647 w 71"/>
              <a:gd name="T11" fmla="*/ 2147483647 h 309"/>
              <a:gd name="T12" fmla="*/ 2147483647 w 71"/>
              <a:gd name="T13" fmla="*/ 0 h 309"/>
              <a:gd name="T14" fmla="*/ 0 60000 65536"/>
              <a:gd name="T15" fmla="*/ 0 60000 65536"/>
              <a:gd name="T16" fmla="*/ 0 60000 65536"/>
              <a:gd name="T17" fmla="*/ 0 60000 65536"/>
              <a:gd name="T18" fmla="*/ 0 60000 65536"/>
              <a:gd name="T19" fmla="*/ 0 60000 65536"/>
              <a:gd name="T20" fmla="*/ 0 60000 65536"/>
              <a:gd name="T21" fmla="*/ 0 w 71"/>
              <a:gd name="T22" fmla="*/ 0 h 309"/>
              <a:gd name="T23" fmla="*/ 71 w 71"/>
              <a:gd name="T24" fmla="*/ 309 h 3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309">
                <a:moveTo>
                  <a:pt x="0" y="309"/>
                </a:moveTo>
                <a:lnTo>
                  <a:pt x="46" y="40"/>
                </a:lnTo>
                <a:lnTo>
                  <a:pt x="48" y="28"/>
                </a:lnTo>
                <a:lnTo>
                  <a:pt x="50" y="19"/>
                </a:lnTo>
                <a:lnTo>
                  <a:pt x="54" y="11"/>
                </a:lnTo>
                <a:lnTo>
                  <a:pt x="61" y="4"/>
                </a:lnTo>
                <a:lnTo>
                  <a:pt x="71" y="0"/>
                </a:lnTo>
              </a:path>
            </a:pathLst>
          </a:custGeom>
          <a:noFill/>
          <a:ln w="38100" cap="rnd">
            <a:solidFill>
              <a:schemeClr val="tx2"/>
            </a:solidFill>
            <a:round/>
            <a:headEnd/>
            <a:tailEnd/>
          </a:ln>
        </p:spPr>
        <p:txBody>
          <a:bodyPr/>
          <a:lstStyle/>
          <a:p>
            <a:endParaRPr lang="zh-CN" altLang="en-US"/>
          </a:p>
        </p:txBody>
      </p:sp>
      <p:sp>
        <p:nvSpPr>
          <p:cNvPr id="13413" name="Freeform 149"/>
          <p:cNvSpPr>
            <a:spLocks/>
          </p:cNvSpPr>
          <p:nvPr/>
        </p:nvSpPr>
        <p:spPr bwMode="auto">
          <a:xfrm>
            <a:off x="7731125" y="5370513"/>
            <a:ext cx="269875" cy="841375"/>
          </a:xfrm>
          <a:custGeom>
            <a:avLst/>
            <a:gdLst>
              <a:gd name="T0" fmla="*/ 0 w 170"/>
              <a:gd name="T1" fmla="*/ 0 h 530"/>
              <a:gd name="T2" fmla="*/ 2147483647 w 170"/>
              <a:gd name="T3" fmla="*/ 2147483647 h 530"/>
              <a:gd name="T4" fmla="*/ 2147483647 w 170"/>
              <a:gd name="T5" fmla="*/ 2147483647 h 530"/>
              <a:gd name="T6" fmla="*/ 2147483647 w 170"/>
              <a:gd name="T7" fmla="*/ 2147483647 h 530"/>
              <a:gd name="T8" fmla="*/ 2147483647 w 170"/>
              <a:gd name="T9" fmla="*/ 2147483647 h 530"/>
              <a:gd name="T10" fmla="*/ 2147483647 w 170"/>
              <a:gd name="T11" fmla="*/ 2147483647 h 530"/>
              <a:gd name="T12" fmla="*/ 2147483647 w 170"/>
              <a:gd name="T13" fmla="*/ 2147483647 h 530"/>
              <a:gd name="T14" fmla="*/ 2147483647 w 170"/>
              <a:gd name="T15" fmla="*/ 2147483647 h 530"/>
              <a:gd name="T16" fmla="*/ 2147483647 w 170"/>
              <a:gd name="T17" fmla="*/ 2147483647 h 530"/>
              <a:gd name="T18" fmla="*/ 2147483647 w 170"/>
              <a:gd name="T19" fmla="*/ 2147483647 h 530"/>
              <a:gd name="T20" fmla="*/ 2147483647 w 170"/>
              <a:gd name="T21" fmla="*/ 2147483647 h 530"/>
              <a:gd name="T22" fmla="*/ 2147483647 w 170"/>
              <a:gd name="T23" fmla="*/ 2147483647 h 530"/>
              <a:gd name="T24" fmla="*/ 2147483647 w 170"/>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530"/>
              <a:gd name="T41" fmla="*/ 170 w 170"/>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a:solidFill>
              <a:schemeClr val="tx2"/>
            </a:solidFill>
            <a:round/>
            <a:headEnd/>
            <a:tailEnd/>
          </a:ln>
        </p:spPr>
        <p:txBody>
          <a:bodyPr/>
          <a:lstStyle/>
          <a:p>
            <a:endParaRPr lang="zh-CN" altLang="en-US"/>
          </a:p>
        </p:txBody>
      </p:sp>
      <p:grpSp>
        <p:nvGrpSpPr>
          <p:cNvPr id="13414" name="Group 150"/>
          <p:cNvGrpSpPr>
            <a:grpSpLocks/>
          </p:cNvGrpSpPr>
          <p:nvPr/>
        </p:nvGrpSpPr>
        <p:grpSpPr bwMode="auto">
          <a:xfrm>
            <a:off x="8001000" y="5365750"/>
            <a:ext cx="377825" cy="847725"/>
            <a:chOff x="5031" y="3244"/>
            <a:chExt cx="238" cy="713"/>
          </a:xfrm>
        </p:grpSpPr>
        <p:sp>
          <p:nvSpPr>
            <p:cNvPr id="13431" name="Freeform 151"/>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 name="T21" fmla="*/ 0 w 69"/>
                <a:gd name="T22" fmla="*/ 0 h 363"/>
                <a:gd name="T23" fmla="*/ 69 w 69"/>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363">
                  <a:moveTo>
                    <a:pt x="0" y="362"/>
                  </a:moveTo>
                  <a:lnTo>
                    <a:pt x="42" y="54"/>
                  </a:lnTo>
                  <a:lnTo>
                    <a:pt x="45" y="38"/>
                  </a:lnTo>
                  <a:lnTo>
                    <a:pt x="47" y="25"/>
                  </a:lnTo>
                  <a:lnTo>
                    <a:pt x="50" y="15"/>
                  </a:lnTo>
                  <a:lnTo>
                    <a:pt x="58" y="6"/>
                  </a:lnTo>
                  <a:lnTo>
                    <a:pt x="68" y="0"/>
                  </a:lnTo>
                </a:path>
              </a:pathLst>
            </a:custGeom>
            <a:noFill/>
            <a:ln w="38100" cap="rnd">
              <a:solidFill>
                <a:schemeClr val="tx2"/>
              </a:solidFill>
              <a:round/>
              <a:headEnd/>
              <a:tailEnd/>
            </a:ln>
          </p:spPr>
          <p:txBody>
            <a:bodyPr/>
            <a:lstStyle/>
            <a:p>
              <a:endParaRPr lang="zh-CN" altLang="en-US"/>
            </a:p>
          </p:txBody>
        </p:sp>
        <p:sp>
          <p:nvSpPr>
            <p:cNvPr id="13432" name="Freeform 152"/>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8"/>
                <a:gd name="T40" fmla="*/ 0 h 709"/>
                <a:gd name="T41" fmla="*/ 168 w 168"/>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2"/>
              </a:solidFill>
              <a:round/>
              <a:headEnd/>
              <a:tailEnd/>
            </a:ln>
          </p:spPr>
          <p:txBody>
            <a:bodyPr/>
            <a:lstStyle/>
            <a:p>
              <a:endParaRPr lang="zh-CN" altLang="en-US"/>
            </a:p>
          </p:txBody>
        </p:sp>
      </p:grpSp>
      <p:sp>
        <p:nvSpPr>
          <p:cNvPr id="13415" name="Rectangle 153"/>
          <p:cNvSpPr>
            <a:spLocks noChangeArrowheads="1"/>
          </p:cNvSpPr>
          <p:nvPr/>
        </p:nvSpPr>
        <p:spPr bwMode="auto">
          <a:xfrm>
            <a:off x="34925" y="2333625"/>
            <a:ext cx="1400175"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基带信号</a:t>
            </a:r>
          </a:p>
        </p:txBody>
      </p:sp>
      <p:sp>
        <p:nvSpPr>
          <p:cNvPr id="13416" name="Rectangle 154"/>
          <p:cNvSpPr>
            <a:spLocks noChangeArrowheads="1"/>
          </p:cNvSpPr>
          <p:nvPr/>
        </p:nvSpPr>
        <p:spPr bwMode="auto">
          <a:xfrm>
            <a:off x="196850" y="3346450"/>
            <a:ext cx="790575"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调幅</a:t>
            </a:r>
          </a:p>
        </p:txBody>
      </p:sp>
      <p:sp>
        <p:nvSpPr>
          <p:cNvPr id="13417" name="Rectangle 155"/>
          <p:cNvSpPr>
            <a:spLocks noChangeArrowheads="1"/>
          </p:cNvSpPr>
          <p:nvPr/>
        </p:nvSpPr>
        <p:spPr bwMode="auto">
          <a:xfrm>
            <a:off x="196850" y="4457700"/>
            <a:ext cx="790575"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调频</a:t>
            </a:r>
          </a:p>
        </p:txBody>
      </p:sp>
      <p:sp>
        <p:nvSpPr>
          <p:cNvPr id="13418" name="Rectangle 156"/>
          <p:cNvSpPr>
            <a:spLocks noChangeArrowheads="1"/>
          </p:cNvSpPr>
          <p:nvPr/>
        </p:nvSpPr>
        <p:spPr bwMode="auto">
          <a:xfrm>
            <a:off x="196850" y="5640388"/>
            <a:ext cx="790575" cy="454025"/>
          </a:xfrm>
          <a:prstGeom prst="rect">
            <a:avLst/>
          </a:prstGeom>
          <a:noFill/>
          <a:ln w="38100">
            <a:noFill/>
            <a:miter lim="800000"/>
            <a:headEnd/>
            <a:tailEnd/>
          </a:ln>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调相</a:t>
            </a:r>
          </a:p>
        </p:txBody>
      </p:sp>
      <p:grpSp>
        <p:nvGrpSpPr>
          <p:cNvPr id="13419" name="Group 157"/>
          <p:cNvGrpSpPr>
            <a:grpSpLocks/>
          </p:cNvGrpSpPr>
          <p:nvPr/>
        </p:nvGrpSpPr>
        <p:grpSpPr bwMode="auto">
          <a:xfrm>
            <a:off x="2298700" y="3074988"/>
            <a:ext cx="755650" cy="844550"/>
            <a:chOff x="1439" y="1316"/>
            <a:chExt cx="476" cy="711"/>
          </a:xfrm>
        </p:grpSpPr>
        <p:grpSp>
          <p:nvGrpSpPr>
            <p:cNvPr id="13420" name="Group 158"/>
            <p:cNvGrpSpPr>
              <a:grpSpLocks/>
            </p:cNvGrpSpPr>
            <p:nvPr/>
          </p:nvGrpSpPr>
          <p:grpSpPr bwMode="auto">
            <a:xfrm>
              <a:off x="1439" y="1316"/>
              <a:ext cx="239" cy="711"/>
              <a:chOff x="1439" y="1316"/>
              <a:chExt cx="239" cy="711"/>
            </a:xfrm>
          </p:grpSpPr>
          <p:sp>
            <p:nvSpPr>
              <p:cNvPr id="13427" name="Freeform 159"/>
              <p:cNvSpPr>
                <a:spLocks/>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428" name="Freeform 160"/>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711"/>
                  <a:gd name="T41" fmla="*/ 86 w 86"/>
                  <a:gd name="T42" fmla="*/ 711 h 7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chemeClr val="tx2"/>
                </a:solidFill>
                <a:round/>
                <a:headEnd/>
                <a:tailEnd/>
              </a:ln>
            </p:spPr>
            <p:txBody>
              <a:bodyPr/>
              <a:lstStyle/>
              <a:p>
                <a:endParaRPr lang="zh-CN" altLang="en-US"/>
              </a:p>
            </p:txBody>
          </p:sp>
          <p:sp>
            <p:nvSpPr>
              <p:cNvPr id="13429" name="Freeform 161"/>
              <p:cNvSpPr>
                <a:spLocks/>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 name="T21" fmla="*/ 0 w 34"/>
                  <a:gd name="T22" fmla="*/ 0 h 363"/>
                  <a:gd name="T23" fmla="*/ 34 w 3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63">
                    <a:moveTo>
                      <a:pt x="0" y="362"/>
                    </a:moveTo>
                    <a:lnTo>
                      <a:pt x="20" y="54"/>
                    </a:lnTo>
                    <a:lnTo>
                      <a:pt x="22" y="38"/>
                    </a:lnTo>
                    <a:lnTo>
                      <a:pt x="23" y="25"/>
                    </a:lnTo>
                    <a:lnTo>
                      <a:pt x="24" y="15"/>
                    </a:lnTo>
                    <a:lnTo>
                      <a:pt x="28" y="6"/>
                    </a:lnTo>
                    <a:lnTo>
                      <a:pt x="33" y="0"/>
                    </a:lnTo>
                  </a:path>
                </a:pathLst>
              </a:custGeom>
              <a:noFill/>
              <a:ln w="38100" cap="rnd">
                <a:solidFill>
                  <a:schemeClr val="tx2"/>
                </a:solidFill>
                <a:round/>
                <a:headEnd/>
                <a:tailEnd/>
              </a:ln>
            </p:spPr>
            <p:txBody>
              <a:bodyPr/>
              <a:lstStyle/>
              <a:p>
                <a:endParaRPr lang="zh-CN" altLang="en-US"/>
              </a:p>
            </p:txBody>
          </p:sp>
          <p:sp>
            <p:nvSpPr>
              <p:cNvPr id="13430" name="Freeform 162"/>
              <p:cNvSpPr>
                <a:spLocks/>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709"/>
                  <a:gd name="T41" fmla="*/ 86 w 86"/>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2"/>
                </a:solidFill>
                <a:round/>
                <a:headEnd/>
                <a:tailEnd/>
              </a:ln>
            </p:spPr>
            <p:txBody>
              <a:bodyPr/>
              <a:lstStyle/>
              <a:p>
                <a:endParaRPr lang="zh-CN" altLang="en-US"/>
              </a:p>
            </p:txBody>
          </p:sp>
        </p:grpSp>
        <p:grpSp>
          <p:nvGrpSpPr>
            <p:cNvPr id="13421" name="Group 163"/>
            <p:cNvGrpSpPr>
              <a:grpSpLocks/>
            </p:cNvGrpSpPr>
            <p:nvPr/>
          </p:nvGrpSpPr>
          <p:grpSpPr bwMode="auto">
            <a:xfrm>
              <a:off x="1676" y="1316"/>
              <a:ext cx="239" cy="711"/>
              <a:chOff x="1676" y="1316"/>
              <a:chExt cx="239" cy="711"/>
            </a:xfrm>
          </p:grpSpPr>
          <p:sp>
            <p:nvSpPr>
              <p:cNvPr id="13423" name="Freeform 164"/>
              <p:cNvSpPr>
                <a:spLocks/>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 name="T21" fmla="*/ 0 w 32"/>
                  <a:gd name="T22" fmla="*/ 0 h 363"/>
                  <a:gd name="T23" fmla="*/ 32 w 32"/>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63">
                    <a:moveTo>
                      <a:pt x="0" y="362"/>
                    </a:moveTo>
                    <a:lnTo>
                      <a:pt x="19" y="54"/>
                    </a:lnTo>
                    <a:lnTo>
                      <a:pt x="20" y="38"/>
                    </a:lnTo>
                    <a:lnTo>
                      <a:pt x="21" y="25"/>
                    </a:lnTo>
                    <a:lnTo>
                      <a:pt x="23" y="15"/>
                    </a:lnTo>
                    <a:lnTo>
                      <a:pt x="27" y="6"/>
                    </a:lnTo>
                    <a:lnTo>
                      <a:pt x="31" y="0"/>
                    </a:lnTo>
                  </a:path>
                </a:pathLst>
              </a:custGeom>
              <a:noFill/>
              <a:ln w="38100" cap="rnd">
                <a:solidFill>
                  <a:schemeClr val="tx2"/>
                </a:solidFill>
                <a:round/>
                <a:headEnd/>
                <a:tailEnd/>
              </a:ln>
            </p:spPr>
            <p:txBody>
              <a:bodyPr/>
              <a:lstStyle/>
              <a:p>
                <a:endParaRPr lang="zh-CN" altLang="en-US"/>
              </a:p>
            </p:txBody>
          </p:sp>
          <p:sp>
            <p:nvSpPr>
              <p:cNvPr id="13424" name="Freeform 165"/>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711"/>
                  <a:gd name="T41" fmla="*/ 86 w 86"/>
                  <a:gd name="T42" fmla="*/ 711 h 7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chemeClr val="tx2"/>
                </a:solidFill>
                <a:round/>
                <a:headEnd/>
                <a:tailEnd/>
              </a:ln>
            </p:spPr>
            <p:txBody>
              <a:bodyPr/>
              <a:lstStyle/>
              <a:p>
                <a:endParaRPr lang="zh-CN" altLang="en-US"/>
              </a:p>
            </p:txBody>
          </p:sp>
          <p:sp>
            <p:nvSpPr>
              <p:cNvPr id="13425" name="Freeform 166"/>
              <p:cNvSpPr>
                <a:spLocks/>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 name="T21" fmla="*/ 0 w 34"/>
                  <a:gd name="T22" fmla="*/ 0 h 363"/>
                  <a:gd name="T23" fmla="*/ 34 w 3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63">
                    <a:moveTo>
                      <a:pt x="0" y="362"/>
                    </a:moveTo>
                    <a:lnTo>
                      <a:pt x="20" y="54"/>
                    </a:lnTo>
                    <a:lnTo>
                      <a:pt x="22" y="38"/>
                    </a:lnTo>
                    <a:lnTo>
                      <a:pt x="23" y="25"/>
                    </a:lnTo>
                    <a:lnTo>
                      <a:pt x="24" y="15"/>
                    </a:lnTo>
                    <a:lnTo>
                      <a:pt x="28" y="6"/>
                    </a:lnTo>
                    <a:lnTo>
                      <a:pt x="33" y="0"/>
                    </a:lnTo>
                  </a:path>
                </a:pathLst>
              </a:custGeom>
              <a:noFill/>
              <a:ln w="38100" cap="rnd">
                <a:solidFill>
                  <a:schemeClr val="tx2"/>
                </a:solidFill>
                <a:round/>
                <a:headEnd/>
                <a:tailEnd/>
              </a:ln>
            </p:spPr>
            <p:txBody>
              <a:bodyPr/>
              <a:lstStyle/>
              <a:p>
                <a:endParaRPr lang="zh-CN" altLang="en-US"/>
              </a:p>
            </p:txBody>
          </p:sp>
          <p:sp>
            <p:nvSpPr>
              <p:cNvPr id="13426" name="Freeform 167"/>
              <p:cNvSpPr>
                <a:spLocks/>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709"/>
                  <a:gd name="T41" fmla="*/ 86 w 86"/>
                  <a:gd name="T42" fmla="*/ 709 h 7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2"/>
                </a:solidFill>
                <a:round/>
                <a:headEnd/>
                <a:tailEnd/>
              </a:ln>
            </p:spPr>
            <p:txBody>
              <a:bodyPr/>
              <a:lstStyle/>
              <a:p>
                <a:endParaRPr lang="zh-CN" altLang="en-US"/>
              </a:p>
            </p:txBody>
          </p:sp>
        </p:grpSp>
        <p:sp>
          <p:nvSpPr>
            <p:cNvPr id="13422" name="Line 168"/>
            <p:cNvSpPr>
              <a:spLocks noChangeShapeType="1"/>
            </p:cNvSpPr>
            <p:nvPr/>
          </p:nvSpPr>
          <p:spPr bwMode="auto">
            <a:xfrm flipV="1">
              <a:off x="1674" y="1661"/>
              <a:ext cx="3" cy="50"/>
            </a:xfrm>
            <a:prstGeom prst="line">
              <a:avLst/>
            </a:prstGeom>
            <a:noFill/>
            <a:ln w="38100">
              <a:solidFill>
                <a:schemeClr val="tx2"/>
              </a:solidFill>
              <a:round/>
              <a:headEnd/>
              <a:tailEnd/>
            </a:ln>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11188" y="214313"/>
            <a:ext cx="8332787" cy="1462087"/>
          </a:xfrm>
        </p:spPr>
        <p:txBody>
          <a:bodyPr/>
          <a:lstStyle/>
          <a:p>
            <a:pPr algn="ctr" eaLnBrk="1" hangingPunct="1"/>
            <a:r>
              <a:rPr lang="zh-CN" altLang="en-US" smtClean="0"/>
              <a:t>正交振幅调制 </a:t>
            </a:r>
            <a:r>
              <a:rPr lang="en-US" altLang="zh-CN" smtClean="0"/>
              <a:t>QAM</a:t>
            </a:r>
            <a:br>
              <a:rPr lang="en-US" altLang="zh-CN" smtClean="0"/>
            </a:br>
            <a:r>
              <a:rPr lang="en-US" altLang="zh-CN" sz="3600" smtClean="0"/>
              <a:t>(Quadrature Amplitude Modulation)</a:t>
            </a:r>
            <a:r>
              <a:rPr lang="en-US" altLang="zh-CN" smtClean="0"/>
              <a:t> </a:t>
            </a:r>
          </a:p>
        </p:txBody>
      </p:sp>
      <p:sp>
        <p:nvSpPr>
          <p:cNvPr id="14339" name="Line 4"/>
          <p:cNvSpPr>
            <a:spLocks noChangeShapeType="1"/>
          </p:cNvSpPr>
          <p:nvPr/>
        </p:nvSpPr>
        <p:spPr bwMode="auto">
          <a:xfrm>
            <a:off x="1917700" y="2640013"/>
            <a:ext cx="0" cy="2584450"/>
          </a:xfrm>
          <a:prstGeom prst="line">
            <a:avLst/>
          </a:prstGeom>
          <a:noFill/>
          <a:ln w="28575">
            <a:solidFill>
              <a:srgbClr val="333399"/>
            </a:solidFill>
            <a:round/>
            <a:headEnd type="triangle" w="med" len="lg"/>
            <a:tailEnd/>
          </a:ln>
        </p:spPr>
        <p:txBody>
          <a:bodyPr wrap="none" anchor="ctr"/>
          <a:lstStyle/>
          <a:p>
            <a:endParaRPr lang="zh-CN" altLang="en-US"/>
          </a:p>
        </p:txBody>
      </p:sp>
      <p:sp>
        <p:nvSpPr>
          <p:cNvPr id="14340" name="Oval 5"/>
          <p:cNvSpPr>
            <a:spLocks noChangeArrowheads="1"/>
          </p:cNvSpPr>
          <p:nvPr/>
        </p:nvSpPr>
        <p:spPr bwMode="auto">
          <a:xfrm>
            <a:off x="1082675" y="4230688"/>
            <a:ext cx="74613"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1" name="Oval 6"/>
          <p:cNvSpPr>
            <a:spLocks noChangeArrowheads="1"/>
          </p:cNvSpPr>
          <p:nvPr/>
        </p:nvSpPr>
        <p:spPr bwMode="auto">
          <a:xfrm>
            <a:off x="1082675" y="3151188"/>
            <a:ext cx="74613"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2" name="Oval 7"/>
          <p:cNvSpPr>
            <a:spLocks noChangeArrowheads="1"/>
          </p:cNvSpPr>
          <p:nvPr/>
        </p:nvSpPr>
        <p:spPr bwMode="auto">
          <a:xfrm>
            <a:off x="2163763" y="3151188"/>
            <a:ext cx="74612"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3" name="Oval 8"/>
          <p:cNvSpPr>
            <a:spLocks noChangeArrowheads="1"/>
          </p:cNvSpPr>
          <p:nvPr/>
        </p:nvSpPr>
        <p:spPr bwMode="auto">
          <a:xfrm>
            <a:off x="1614488" y="3151188"/>
            <a:ext cx="74612"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4" name="Oval 9"/>
          <p:cNvSpPr>
            <a:spLocks noChangeArrowheads="1"/>
          </p:cNvSpPr>
          <p:nvPr/>
        </p:nvSpPr>
        <p:spPr bwMode="auto">
          <a:xfrm>
            <a:off x="1082675" y="3697288"/>
            <a:ext cx="74613"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5" name="Oval 10"/>
          <p:cNvSpPr>
            <a:spLocks noChangeArrowheads="1"/>
          </p:cNvSpPr>
          <p:nvPr/>
        </p:nvSpPr>
        <p:spPr bwMode="auto">
          <a:xfrm>
            <a:off x="2165350" y="3695700"/>
            <a:ext cx="74613" cy="74613"/>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6" name="Oval 11"/>
          <p:cNvSpPr>
            <a:spLocks noChangeArrowheads="1"/>
          </p:cNvSpPr>
          <p:nvPr/>
        </p:nvSpPr>
        <p:spPr bwMode="auto">
          <a:xfrm>
            <a:off x="1616075" y="3697288"/>
            <a:ext cx="74613"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7" name="Oval 12"/>
          <p:cNvSpPr>
            <a:spLocks noChangeArrowheads="1"/>
          </p:cNvSpPr>
          <p:nvPr/>
        </p:nvSpPr>
        <p:spPr bwMode="auto">
          <a:xfrm>
            <a:off x="2693988" y="3151188"/>
            <a:ext cx="74612" cy="74612"/>
          </a:xfrm>
          <a:prstGeom prst="ellipse">
            <a:avLst/>
          </a:prstGeom>
          <a:solidFill>
            <a:srgbClr val="333399"/>
          </a:solidFill>
          <a:ln w="9525">
            <a:solidFill>
              <a:schemeClr val="tx1"/>
            </a:solidFill>
            <a:round/>
            <a:headEnd/>
            <a:tailEnd/>
          </a:ln>
        </p:spPr>
        <p:txBody>
          <a:bodyPr wrap="none" anchor="ctr"/>
          <a:lstStyle/>
          <a:p>
            <a:endParaRPr lang="zh-CN" altLang="zh-CN" sz="2000">
              <a:solidFill>
                <a:srgbClr val="333399"/>
              </a:solidFill>
            </a:endParaRPr>
          </a:p>
        </p:txBody>
      </p:sp>
      <p:sp>
        <p:nvSpPr>
          <p:cNvPr id="14348" name="Oval 13"/>
          <p:cNvSpPr>
            <a:spLocks noChangeArrowheads="1"/>
          </p:cNvSpPr>
          <p:nvPr/>
        </p:nvSpPr>
        <p:spPr bwMode="auto">
          <a:xfrm>
            <a:off x="2165350" y="4229100"/>
            <a:ext cx="74613" cy="74613"/>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49" name="Oval 14"/>
          <p:cNvSpPr>
            <a:spLocks noChangeArrowheads="1"/>
          </p:cNvSpPr>
          <p:nvPr/>
        </p:nvSpPr>
        <p:spPr bwMode="auto">
          <a:xfrm>
            <a:off x="1616075" y="4230688"/>
            <a:ext cx="74613"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50" name="Oval 15"/>
          <p:cNvSpPr>
            <a:spLocks noChangeArrowheads="1"/>
          </p:cNvSpPr>
          <p:nvPr/>
        </p:nvSpPr>
        <p:spPr bwMode="auto">
          <a:xfrm>
            <a:off x="2693988" y="3695700"/>
            <a:ext cx="74612" cy="74613"/>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51" name="Oval 16"/>
          <p:cNvSpPr>
            <a:spLocks noChangeArrowheads="1"/>
          </p:cNvSpPr>
          <p:nvPr/>
        </p:nvSpPr>
        <p:spPr bwMode="auto">
          <a:xfrm>
            <a:off x="2163763" y="4786313"/>
            <a:ext cx="74612"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52" name="Oval 17"/>
          <p:cNvSpPr>
            <a:spLocks noChangeArrowheads="1"/>
          </p:cNvSpPr>
          <p:nvPr/>
        </p:nvSpPr>
        <p:spPr bwMode="auto">
          <a:xfrm>
            <a:off x="1082675" y="4786313"/>
            <a:ext cx="74613"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53" name="Oval 18"/>
          <p:cNvSpPr>
            <a:spLocks noChangeArrowheads="1"/>
          </p:cNvSpPr>
          <p:nvPr/>
        </p:nvSpPr>
        <p:spPr bwMode="auto">
          <a:xfrm>
            <a:off x="2693988" y="4230688"/>
            <a:ext cx="74612"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54" name="Oval 19"/>
          <p:cNvSpPr>
            <a:spLocks noChangeArrowheads="1"/>
          </p:cNvSpPr>
          <p:nvPr/>
        </p:nvSpPr>
        <p:spPr bwMode="auto">
          <a:xfrm>
            <a:off x="1614488" y="4786313"/>
            <a:ext cx="74612"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55" name="Oval 20"/>
          <p:cNvSpPr>
            <a:spLocks noChangeArrowheads="1"/>
          </p:cNvSpPr>
          <p:nvPr/>
        </p:nvSpPr>
        <p:spPr bwMode="auto">
          <a:xfrm>
            <a:off x="2693988" y="4786313"/>
            <a:ext cx="74612" cy="74612"/>
          </a:xfrm>
          <a:prstGeom prst="ellipse">
            <a:avLst/>
          </a:prstGeom>
          <a:solidFill>
            <a:srgbClr val="333399"/>
          </a:solidFill>
          <a:ln w="9525">
            <a:solidFill>
              <a:schemeClr val="tx1"/>
            </a:solidFill>
            <a:round/>
            <a:headEnd/>
            <a:tailEnd/>
          </a:ln>
        </p:spPr>
        <p:txBody>
          <a:bodyPr wrap="none" anchor="ctr"/>
          <a:lstStyle/>
          <a:p>
            <a:endParaRPr lang="zh-CN" altLang="en-US"/>
          </a:p>
        </p:txBody>
      </p:sp>
      <p:sp>
        <p:nvSpPr>
          <p:cNvPr id="14356" name="Line 21"/>
          <p:cNvSpPr>
            <a:spLocks noChangeShapeType="1"/>
          </p:cNvSpPr>
          <p:nvPr/>
        </p:nvSpPr>
        <p:spPr bwMode="auto">
          <a:xfrm>
            <a:off x="539750" y="4011613"/>
            <a:ext cx="2438400" cy="0"/>
          </a:xfrm>
          <a:prstGeom prst="line">
            <a:avLst/>
          </a:prstGeom>
          <a:noFill/>
          <a:ln w="9525" cap="rnd">
            <a:solidFill>
              <a:schemeClr val="tx1"/>
            </a:solidFill>
            <a:prstDash val="sysDot"/>
            <a:round/>
            <a:headEnd/>
            <a:tailEnd/>
          </a:ln>
        </p:spPr>
        <p:txBody>
          <a:bodyPr wrap="none" anchor="ctr"/>
          <a:lstStyle/>
          <a:p>
            <a:endParaRPr lang="zh-CN" altLang="en-US"/>
          </a:p>
        </p:txBody>
      </p:sp>
      <p:sp>
        <p:nvSpPr>
          <p:cNvPr id="14357" name="Line 22"/>
          <p:cNvSpPr>
            <a:spLocks noChangeShapeType="1"/>
          </p:cNvSpPr>
          <p:nvPr/>
        </p:nvSpPr>
        <p:spPr bwMode="auto">
          <a:xfrm>
            <a:off x="539750" y="4011613"/>
            <a:ext cx="2743200" cy="0"/>
          </a:xfrm>
          <a:prstGeom prst="line">
            <a:avLst/>
          </a:prstGeom>
          <a:noFill/>
          <a:ln w="28575">
            <a:solidFill>
              <a:srgbClr val="333399"/>
            </a:solidFill>
            <a:round/>
            <a:headEnd/>
            <a:tailEnd type="triangle" w="med" len="lg"/>
          </a:ln>
        </p:spPr>
        <p:txBody>
          <a:bodyPr wrap="none" anchor="ctr"/>
          <a:lstStyle/>
          <a:p>
            <a:endParaRPr lang="zh-CN" altLang="en-US"/>
          </a:p>
        </p:txBody>
      </p:sp>
      <p:sp>
        <p:nvSpPr>
          <p:cNvPr id="14358" name="Line 23"/>
          <p:cNvSpPr>
            <a:spLocks noChangeShapeType="1"/>
          </p:cNvSpPr>
          <p:nvPr/>
        </p:nvSpPr>
        <p:spPr bwMode="auto">
          <a:xfrm flipV="1">
            <a:off x="1917700" y="3197225"/>
            <a:ext cx="274638" cy="808038"/>
          </a:xfrm>
          <a:prstGeom prst="line">
            <a:avLst/>
          </a:prstGeom>
          <a:noFill/>
          <a:ln w="28575">
            <a:solidFill>
              <a:srgbClr val="333399"/>
            </a:solidFill>
            <a:round/>
            <a:headEnd/>
            <a:tailEnd type="triangle" w="sm" len="lg"/>
          </a:ln>
        </p:spPr>
        <p:txBody>
          <a:bodyPr wrap="none" anchor="ctr"/>
          <a:lstStyle/>
          <a:p>
            <a:endParaRPr lang="zh-CN" altLang="en-US"/>
          </a:p>
        </p:txBody>
      </p:sp>
      <p:sp>
        <p:nvSpPr>
          <p:cNvPr id="14359" name="Freeform 24"/>
          <p:cNvSpPr>
            <a:spLocks/>
          </p:cNvSpPr>
          <p:nvPr/>
        </p:nvSpPr>
        <p:spPr bwMode="auto">
          <a:xfrm>
            <a:off x="2003425" y="3751263"/>
            <a:ext cx="174625" cy="260350"/>
          </a:xfrm>
          <a:custGeom>
            <a:avLst/>
            <a:gdLst>
              <a:gd name="T0" fmla="*/ 0 w 110"/>
              <a:gd name="T1" fmla="*/ 0 h 164"/>
              <a:gd name="T2" fmla="*/ 2147483647 w 110"/>
              <a:gd name="T3" fmla="*/ 2147483647 h 164"/>
              <a:gd name="T4" fmla="*/ 2147483647 w 110"/>
              <a:gd name="T5" fmla="*/ 2147483647 h 164"/>
              <a:gd name="T6" fmla="*/ 2147483647 w 110"/>
              <a:gd name="T7" fmla="*/ 2147483647 h 164"/>
              <a:gd name="T8" fmla="*/ 2147483647 w 110"/>
              <a:gd name="T9" fmla="*/ 2147483647 h 164"/>
              <a:gd name="T10" fmla="*/ 0 60000 65536"/>
              <a:gd name="T11" fmla="*/ 0 60000 65536"/>
              <a:gd name="T12" fmla="*/ 0 60000 65536"/>
              <a:gd name="T13" fmla="*/ 0 60000 65536"/>
              <a:gd name="T14" fmla="*/ 0 60000 65536"/>
              <a:gd name="T15" fmla="*/ 0 w 110"/>
              <a:gd name="T16" fmla="*/ 0 h 164"/>
              <a:gd name="T17" fmla="*/ 110 w 110"/>
              <a:gd name="T18" fmla="*/ 164 h 164"/>
            </a:gdLst>
            <a:ahLst/>
            <a:cxnLst>
              <a:cxn ang="T10">
                <a:pos x="T0" y="T1"/>
              </a:cxn>
              <a:cxn ang="T11">
                <a:pos x="T2" y="T3"/>
              </a:cxn>
              <a:cxn ang="T12">
                <a:pos x="T4" y="T5"/>
              </a:cxn>
              <a:cxn ang="T13">
                <a:pos x="T6" y="T7"/>
              </a:cxn>
              <a:cxn ang="T14">
                <a:pos x="T8" y="T9"/>
              </a:cxn>
            </a:cxnLst>
            <a:rect l="T15" t="T16" r="T17" b="T18"/>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6350">
            <a:solidFill>
              <a:schemeClr val="tx1"/>
            </a:solidFill>
            <a:round/>
            <a:headEnd/>
            <a:tailEnd/>
          </a:ln>
        </p:spPr>
        <p:txBody>
          <a:bodyPr wrap="none" anchor="ctr"/>
          <a:lstStyle/>
          <a:p>
            <a:endParaRPr lang="zh-CN" altLang="en-US"/>
          </a:p>
        </p:txBody>
      </p:sp>
      <p:sp>
        <p:nvSpPr>
          <p:cNvPr id="14360" name="Text Box 25"/>
          <p:cNvSpPr txBox="1">
            <a:spLocks noChangeArrowheads="1"/>
          </p:cNvSpPr>
          <p:nvPr/>
        </p:nvSpPr>
        <p:spPr bwMode="auto">
          <a:xfrm>
            <a:off x="1887538" y="3319463"/>
            <a:ext cx="242887" cy="304800"/>
          </a:xfrm>
          <a:prstGeom prst="rect">
            <a:avLst/>
          </a:prstGeom>
          <a:noFill/>
          <a:ln w="9525">
            <a:noFill/>
            <a:miter lim="800000"/>
            <a:headEnd/>
            <a:tailEnd/>
          </a:ln>
        </p:spPr>
        <p:txBody>
          <a:bodyPr wrap="none">
            <a:spAutoFit/>
          </a:bodyPr>
          <a:lstStyle/>
          <a:p>
            <a:pPr algn="l"/>
            <a:r>
              <a:rPr kumimoji="1" lang="en-US" altLang="zh-CN" sz="1400">
                <a:solidFill>
                  <a:srgbClr val="333399"/>
                </a:solidFill>
                <a:latin typeface="Times New Roman" pitchFamily="18" charset="0"/>
              </a:rPr>
              <a:t>r</a:t>
            </a:r>
          </a:p>
        </p:txBody>
      </p:sp>
      <p:sp>
        <p:nvSpPr>
          <p:cNvPr id="14361" name="Text Box 26"/>
          <p:cNvSpPr txBox="1">
            <a:spLocks noChangeArrowheads="1"/>
          </p:cNvSpPr>
          <p:nvPr/>
        </p:nvSpPr>
        <p:spPr bwMode="auto">
          <a:xfrm>
            <a:off x="2111375" y="3721100"/>
            <a:ext cx="292100" cy="304800"/>
          </a:xfrm>
          <a:prstGeom prst="rect">
            <a:avLst/>
          </a:prstGeom>
          <a:noFill/>
          <a:ln w="9525">
            <a:noFill/>
            <a:miter lim="800000"/>
            <a:headEnd/>
            <a:tailEnd/>
          </a:ln>
        </p:spPr>
        <p:txBody>
          <a:bodyPr wrap="none">
            <a:spAutoFit/>
          </a:bodyPr>
          <a:lstStyle/>
          <a:p>
            <a:pPr algn="l"/>
            <a:r>
              <a:rPr kumimoji="1" lang="en-US" altLang="zh-CN" sz="1400">
                <a:solidFill>
                  <a:srgbClr val="333399"/>
                </a:solidFill>
                <a:latin typeface="Times New Roman" pitchFamily="18" charset="0"/>
                <a:sym typeface="Symbol" pitchFamily="18" charset="2"/>
              </a:rPr>
              <a:t></a:t>
            </a:r>
            <a:endParaRPr kumimoji="1" lang="en-US" altLang="zh-CN" sz="1400">
              <a:solidFill>
                <a:srgbClr val="333399"/>
              </a:solidFill>
              <a:latin typeface="Times New Roman" pitchFamily="18" charset="0"/>
            </a:endParaRPr>
          </a:p>
        </p:txBody>
      </p:sp>
      <p:sp>
        <p:nvSpPr>
          <p:cNvPr id="14362" name="Text Box 27"/>
          <p:cNvSpPr txBox="1">
            <a:spLocks noChangeArrowheads="1"/>
          </p:cNvSpPr>
          <p:nvPr/>
        </p:nvSpPr>
        <p:spPr bwMode="auto">
          <a:xfrm>
            <a:off x="1930400" y="2854325"/>
            <a:ext cx="557213" cy="304800"/>
          </a:xfrm>
          <a:prstGeom prst="rect">
            <a:avLst/>
          </a:prstGeom>
          <a:noFill/>
          <a:ln w="9525">
            <a:noFill/>
            <a:miter lim="800000"/>
            <a:headEnd/>
            <a:tailEnd/>
          </a:ln>
        </p:spPr>
        <p:txBody>
          <a:bodyPr wrap="none">
            <a:spAutoFit/>
          </a:bodyPr>
          <a:lstStyle/>
          <a:p>
            <a:pPr algn="l"/>
            <a:r>
              <a:rPr kumimoji="1" lang="en-US" altLang="zh-CN" sz="1400">
                <a:solidFill>
                  <a:srgbClr val="333399"/>
                </a:solidFill>
                <a:latin typeface="Times New Roman" pitchFamily="18" charset="0"/>
                <a:sym typeface="Symbol" pitchFamily="18" charset="2"/>
              </a:rPr>
              <a:t>(r, )</a:t>
            </a:r>
            <a:endParaRPr kumimoji="1" lang="en-US" altLang="zh-CN" sz="1400">
              <a:solidFill>
                <a:srgbClr val="333399"/>
              </a:solidFill>
              <a:latin typeface="Times New Roman" pitchFamily="18" charset="0"/>
            </a:endParaRPr>
          </a:p>
        </p:txBody>
      </p:sp>
      <p:sp>
        <p:nvSpPr>
          <p:cNvPr id="14363" name="Text Box 28"/>
          <p:cNvSpPr txBox="1">
            <a:spLocks noChangeArrowheads="1"/>
          </p:cNvSpPr>
          <p:nvPr/>
        </p:nvSpPr>
        <p:spPr bwMode="auto">
          <a:xfrm>
            <a:off x="4094163" y="2538413"/>
            <a:ext cx="3740150" cy="1187450"/>
          </a:xfrm>
          <a:prstGeom prst="rect">
            <a:avLst/>
          </a:prstGeom>
          <a:noFill/>
          <a:ln w="9525">
            <a:noFill/>
            <a:miter lim="800000"/>
            <a:headEnd/>
            <a:tailEnd/>
          </a:ln>
        </p:spPr>
        <p:txBody>
          <a:bodyPr wrap="none">
            <a:spAutoFit/>
          </a:bodyPr>
          <a:lstStyle/>
          <a:p>
            <a:pPr algn="l"/>
            <a:r>
              <a:rPr lang="zh-CN" altLang="en-US">
                <a:solidFill>
                  <a:srgbClr val="333399"/>
                </a:solidFill>
                <a:latin typeface="Arial" pitchFamily="34" charset="0"/>
                <a:ea typeface="黑体" pitchFamily="49" charset="-122"/>
              </a:rPr>
              <a:t>可供选择的相位有 </a:t>
            </a:r>
            <a:r>
              <a:rPr lang="en-US" altLang="zh-CN">
                <a:solidFill>
                  <a:srgbClr val="333399"/>
                </a:solidFill>
                <a:latin typeface="Arial" pitchFamily="34" charset="0"/>
                <a:ea typeface="黑体" pitchFamily="49" charset="-122"/>
              </a:rPr>
              <a:t>12 </a:t>
            </a:r>
            <a:r>
              <a:rPr lang="zh-CN" altLang="en-US">
                <a:solidFill>
                  <a:srgbClr val="333399"/>
                </a:solidFill>
                <a:latin typeface="Arial" pitchFamily="34" charset="0"/>
                <a:ea typeface="黑体" pitchFamily="49" charset="-122"/>
              </a:rPr>
              <a:t>种，</a:t>
            </a:r>
          </a:p>
          <a:p>
            <a:pPr algn="l"/>
            <a:r>
              <a:rPr lang="zh-CN" altLang="en-US">
                <a:solidFill>
                  <a:srgbClr val="333399"/>
                </a:solidFill>
                <a:latin typeface="Arial" pitchFamily="34" charset="0"/>
                <a:ea typeface="黑体" pitchFamily="49" charset="-122"/>
              </a:rPr>
              <a:t>而对于每一种相位有 </a:t>
            </a:r>
            <a:r>
              <a:rPr lang="en-US" altLang="zh-CN">
                <a:solidFill>
                  <a:srgbClr val="333399"/>
                </a:solidFill>
                <a:latin typeface="Arial" pitchFamily="34" charset="0"/>
                <a:ea typeface="黑体" pitchFamily="49" charset="-122"/>
              </a:rPr>
              <a:t>1 </a:t>
            </a:r>
            <a:r>
              <a:rPr lang="zh-CN" altLang="en-US">
                <a:solidFill>
                  <a:srgbClr val="333399"/>
                </a:solidFill>
                <a:latin typeface="Arial" pitchFamily="34" charset="0"/>
                <a:ea typeface="黑体" pitchFamily="49" charset="-122"/>
              </a:rPr>
              <a:t>或</a:t>
            </a:r>
          </a:p>
          <a:p>
            <a:pPr algn="l"/>
            <a:r>
              <a:rPr lang="en-US" altLang="zh-CN">
                <a:solidFill>
                  <a:srgbClr val="333399"/>
                </a:solidFill>
                <a:latin typeface="Arial" pitchFamily="34" charset="0"/>
                <a:ea typeface="黑体" pitchFamily="49" charset="-122"/>
              </a:rPr>
              <a:t>2 </a:t>
            </a:r>
            <a:r>
              <a:rPr lang="zh-CN" altLang="en-US">
                <a:solidFill>
                  <a:srgbClr val="333399"/>
                </a:solidFill>
                <a:latin typeface="Arial" pitchFamily="34" charset="0"/>
                <a:ea typeface="黑体" pitchFamily="49" charset="-122"/>
              </a:rPr>
              <a:t>种振幅可供选择。 </a:t>
            </a:r>
          </a:p>
        </p:txBody>
      </p:sp>
      <p:sp>
        <p:nvSpPr>
          <p:cNvPr id="14364" name="Text Box 29"/>
          <p:cNvSpPr txBox="1">
            <a:spLocks noChangeArrowheads="1"/>
          </p:cNvSpPr>
          <p:nvPr/>
        </p:nvSpPr>
        <p:spPr bwMode="auto">
          <a:xfrm>
            <a:off x="4094163" y="3933825"/>
            <a:ext cx="4365625" cy="1187450"/>
          </a:xfrm>
          <a:prstGeom prst="rect">
            <a:avLst/>
          </a:prstGeom>
          <a:noFill/>
          <a:ln w="9525">
            <a:noFill/>
            <a:miter lim="800000"/>
            <a:headEnd/>
            <a:tailEnd/>
          </a:ln>
        </p:spPr>
        <p:txBody>
          <a:bodyPr wrap="none">
            <a:spAutoFit/>
          </a:bodyPr>
          <a:lstStyle/>
          <a:p>
            <a:pPr algn="l"/>
            <a:r>
              <a:rPr lang="zh-CN" altLang="en-US">
                <a:solidFill>
                  <a:srgbClr val="333399"/>
                </a:solidFill>
                <a:latin typeface="Arial" pitchFamily="34" charset="0"/>
                <a:ea typeface="黑体" pitchFamily="49" charset="-122"/>
              </a:rPr>
              <a:t>由于</a:t>
            </a:r>
            <a:r>
              <a:rPr lang="en-US" altLang="zh-CN">
                <a:solidFill>
                  <a:srgbClr val="333399"/>
                </a:solidFill>
                <a:latin typeface="Arial" pitchFamily="34" charset="0"/>
                <a:ea typeface="黑体" pitchFamily="49" charset="-122"/>
              </a:rPr>
              <a:t>4 bit </a:t>
            </a:r>
            <a:r>
              <a:rPr lang="zh-CN" altLang="en-US">
                <a:solidFill>
                  <a:srgbClr val="333399"/>
                </a:solidFill>
                <a:latin typeface="Arial" pitchFamily="34" charset="0"/>
                <a:ea typeface="黑体" pitchFamily="49" charset="-122"/>
              </a:rPr>
              <a:t>编码共有</a:t>
            </a:r>
            <a:r>
              <a:rPr lang="en-US" altLang="zh-CN">
                <a:solidFill>
                  <a:srgbClr val="333399"/>
                </a:solidFill>
                <a:latin typeface="Arial" pitchFamily="34" charset="0"/>
                <a:ea typeface="黑体" pitchFamily="49" charset="-122"/>
              </a:rPr>
              <a:t>16 </a:t>
            </a:r>
            <a:r>
              <a:rPr lang="zh-CN" altLang="en-US">
                <a:solidFill>
                  <a:srgbClr val="333399"/>
                </a:solidFill>
                <a:latin typeface="Arial" pitchFamily="34" charset="0"/>
                <a:ea typeface="黑体" pitchFamily="49" charset="-122"/>
              </a:rPr>
              <a:t>种不同的</a:t>
            </a:r>
          </a:p>
          <a:p>
            <a:pPr algn="l"/>
            <a:r>
              <a:rPr lang="zh-CN" altLang="en-US">
                <a:solidFill>
                  <a:srgbClr val="333399"/>
                </a:solidFill>
                <a:latin typeface="Arial" pitchFamily="34" charset="0"/>
                <a:ea typeface="黑体" pitchFamily="49" charset="-122"/>
              </a:rPr>
              <a:t>组合，因此这 </a:t>
            </a:r>
            <a:r>
              <a:rPr lang="en-US" altLang="zh-CN">
                <a:solidFill>
                  <a:srgbClr val="333399"/>
                </a:solidFill>
                <a:latin typeface="Arial" pitchFamily="34" charset="0"/>
                <a:ea typeface="黑体" pitchFamily="49" charset="-122"/>
              </a:rPr>
              <a:t>16 </a:t>
            </a:r>
            <a:r>
              <a:rPr lang="zh-CN" altLang="en-US">
                <a:solidFill>
                  <a:srgbClr val="333399"/>
                </a:solidFill>
                <a:latin typeface="Arial" pitchFamily="34" charset="0"/>
                <a:ea typeface="黑体" pitchFamily="49" charset="-122"/>
              </a:rPr>
              <a:t>个点中的每个</a:t>
            </a:r>
          </a:p>
          <a:p>
            <a:pPr algn="l"/>
            <a:r>
              <a:rPr lang="zh-CN" altLang="en-US">
                <a:solidFill>
                  <a:srgbClr val="333399"/>
                </a:solidFill>
                <a:latin typeface="Arial" pitchFamily="34" charset="0"/>
                <a:ea typeface="黑体" pitchFamily="49" charset="-122"/>
              </a:rPr>
              <a:t>点可对应于一种 </a:t>
            </a:r>
            <a:r>
              <a:rPr lang="en-US" altLang="zh-CN">
                <a:solidFill>
                  <a:srgbClr val="333399"/>
                </a:solidFill>
                <a:latin typeface="Arial" pitchFamily="34" charset="0"/>
                <a:ea typeface="黑体" pitchFamily="49" charset="-122"/>
              </a:rPr>
              <a:t>4 bit </a:t>
            </a:r>
            <a:r>
              <a:rPr lang="zh-CN" altLang="en-US">
                <a:solidFill>
                  <a:srgbClr val="333399"/>
                </a:solidFill>
                <a:latin typeface="Arial" pitchFamily="34" charset="0"/>
                <a:ea typeface="黑体" pitchFamily="49" charset="-122"/>
              </a:rPr>
              <a:t>的编码。 </a:t>
            </a:r>
          </a:p>
        </p:txBody>
      </p:sp>
      <p:sp>
        <p:nvSpPr>
          <p:cNvPr id="14365" name="Text Box 30"/>
          <p:cNvSpPr txBox="1">
            <a:spLocks noChangeArrowheads="1"/>
          </p:cNvSpPr>
          <p:nvPr/>
        </p:nvSpPr>
        <p:spPr bwMode="auto">
          <a:xfrm>
            <a:off x="977900" y="5414963"/>
            <a:ext cx="7194550" cy="822325"/>
          </a:xfrm>
          <a:prstGeom prst="rect">
            <a:avLst/>
          </a:prstGeom>
          <a:noFill/>
          <a:ln w="9525">
            <a:noFill/>
            <a:miter lim="800000"/>
            <a:headEnd/>
            <a:tailEnd/>
          </a:ln>
        </p:spPr>
        <p:txBody>
          <a:bodyPr wrap="none">
            <a:spAutoFit/>
          </a:bodyPr>
          <a:lstStyle/>
          <a:p>
            <a:pPr algn="l"/>
            <a:r>
              <a:rPr lang="zh-CN" altLang="en-US">
                <a:solidFill>
                  <a:srgbClr val="333399"/>
                </a:solidFill>
                <a:latin typeface="黑体" pitchFamily="49" charset="-122"/>
                <a:ea typeface="黑体" pitchFamily="49" charset="-122"/>
              </a:rPr>
              <a:t>若每一个码元可表示的比特数越多，则在接收端进行</a:t>
            </a:r>
          </a:p>
          <a:p>
            <a:pPr algn="l"/>
            <a:r>
              <a:rPr lang="zh-CN" altLang="en-US">
                <a:solidFill>
                  <a:srgbClr val="333399"/>
                </a:solidFill>
                <a:latin typeface="黑体" pitchFamily="49" charset="-122"/>
                <a:ea typeface="黑体" pitchFamily="49" charset="-122"/>
              </a:rPr>
              <a:t>解调时要正确识别每一种状态就越困难。 </a:t>
            </a:r>
          </a:p>
        </p:txBody>
      </p:sp>
      <p:sp>
        <p:nvSpPr>
          <p:cNvPr id="14366" name="Rectangle 31"/>
          <p:cNvSpPr>
            <a:spLocks noChangeArrowheads="1"/>
          </p:cNvSpPr>
          <p:nvPr/>
        </p:nvSpPr>
        <p:spPr bwMode="auto">
          <a:xfrm>
            <a:off x="755650" y="5589588"/>
            <a:ext cx="144463" cy="144462"/>
          </a:xfrm>
          <a:prstGeom prst="rect">
            <a:avLst/>
          </a:prstGeom>
          <a:solidFill>
            <a:srgbClr val="333399"/>
          </a:solidFill>
          <a:ln w="9525">
            <a:solidFill>
              <a:schemeClr val="tx1"/>
            </a:solidFill>
            <a:miter lim="800000"/>
            <a:headEnd/>
            <a:tailEnd/>
          </a:ln>
        </p:spPr>
        <p:txBody>
          <a:bodyPr wrap="none" anchor="ctr"/>
          <a:lstStyle/>
          <a:p>
            <a:endParaRPr lang="zh-CN" altLang="en-US"/>
          </a:p>
        </p:txBody>
      </p:sp>
      <p:sp>
        <p:nvSpPr>
          <p:cNvPr id="14367" name="Rectangle 32"/>
          <p:cNvSpPr>
            <a:spLocks noChangeArrowheads="1"/>
          </p:cNvSpPr>
          <p:nvPr/>
        </p:nvSpPr>
        <p:spPr bwMode="auto">
          <a:xfrm>
            <a:off x="3924300" y="4078288"/>
            <a:ext cx="144463" cy="144462"/>
          </a:xfrm>
          <a:prstGeom prst="rect">
            <a:avLst/>
          </a:prstGeom>
          <a:solidFill>
            <a:srgbClr val="333399"/>
          </a:solidFill>
          <a:ln w="9525">
            <a:solidFill>
              <a:schemeClr val="tx1"/>
            </a:solidFill>
            <a:miter lim="800000"/>
            <a:headEnd/>
            <a:tailEnd/>
          </a:ln>
        </p:spPr>
        <p:txBody>
          <a:bodyPr wrap="none" anchor="ctr"/>
          <a:lstStyle/>
          <a:p>
            <a:endParaRPr lang="zh-CN" altLang="en-US"/>
          </a:p>
        </p:txBody>
      </p:sp>
      <p:sp>
        <p:nvSpPr>
          <p:cNvPr id="14368" name="Rectangle 33"/>
          <p:cNvSpPr>
            <a:spLocks noChangeArrowheads="1"/>
          </p:cNvSpPr>
          <p:nvPr/>
        </p:nvSpPr>
        <p:spPr bwMode="auto">
          <a:xfrm>
            <a:off x="3924300" y="2709863"/>
            <a:ext cx="144463" cy="144462"/>
          </a:xfrm>
          <a:prstGeom prst="rect">
            <a:avLst/>
          </a:prstGeom>
          <a:solidFill>
            <a:srgbClr val="333399"/>
          </a:solidFill>
          <a:ln w="9525">
            <a:solidFill>
              <a:schemeClr val="tx1"/>
            </a:solidFill>
            <a:miter lim="800000"/>
            <a:headEnd/>
            <a:tailEnd/>
          </a:ln>
        </p:spPr>
        <p:txBody>
          <a:bodyPr wrap="none" anchor="ctr"/>
          <a:lstStyle/>
          <a:p>
            <a:endParaRPr lang="zh-CN" altLang="en-US"/>
          </a:p>
        </p:txBody>
      </p:sp>
      <p:sp>
        <p:nvSpPr>
          <p:cNvPr id="14369" name="Text Box 34"/>
          <p:cNvSpPr txBox="1">
            <a:spLocks noChangeArrowheads="1"/>
          </p:cNvSpPr>
          <p:nvPr/>
        </p:nvSpPr>
        <p:spPr bwMode="auto">
          <a:xfrm>
            <a:off x="1311275" y="1916113"/>
            <a:ext cx="1006475" cy="588962"/>
          </a:xfrm>
          <a:prstGeom prst="rect">
            <a:avLst/>
          </a:prstGeom>
          <a:noFill/>
          <a:ln w="9525">
            <a:solidFill>
              <a:srgbClr val="333399"/>
            </a:solidFill>
            <a:miter lim="800000"/>
            <a:headEnd/>
            <a:tailEnd/>
          </a:ln>
        </p:spPr>
        <p:txBody>
          <a:bodyPr wrap="none">
            <a:spAutoFit/>
          </a:bodyPr>
          <a:lstStyle/>
          <a:p>
            <a:pPr algn="l"/>
            <a:r>
              <a:rPr lang="zh-CN" altLang="en-US" sz="3200">
                <a:solidFill>
                  <a:schemeClr val="folHlink"/>
                </a:solidFill>
                <a:ea typeface="黑体" pitchFamily="49" charset="-122"/>
              </a:rPr>
              <a:t>举例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ctr" eaLnBrk="1" hangingPunct="1"/>
            <a:r>
              <a:rPr lang="zh-CN" altLang="en-US" dirty="0" smtClean="0"/>
              <a:t>（</a:t>
            </a:r>
            <a:r>
              <a:rPr lang="en-US" altLang="zh-CN" dirty="0" smtClean="0"/>
              <a:t>2</a:t>
            </a:r>
            <a:r>
              <a:rPr lang="zh-CN" altLang="en-US" dirty="0" smtClean="0"/>
              <a:t>）信道的极限容量 </a:t>
            </a:r>
          </a:p>
        </p:txBody>
      </p:sp>
      <p:sp>
        <p:nvSpPr>
          <p:cNvPr id="31747" name="Rectangle 3"/>
          <p:cNvSpPr>
            <a:spLocks noGrp="1" noChangeArrowheads="1"/>
          </p:cNvSpPr>
          <p:nvPr>
            <p:ph type="body" idx="1"/>
          </p:nvPr>
        </p:nvSpPr>
        <p:spPr>
          <a:xfrm>
            <a:off x="1042988" y="1978025"/>
            <a:ext cx="7772400" cy="4114800"/>
          </a:xfrm>
        </p:spPr>
        <p:txBody>
          <a:bodyPr/>
          <a:lstStyle/>
          <a:p>
            <a:pPr eaLnBrk="1" hangingPunct="1"/>
            <a:r>
              <a:rPr lang="zh-CN" altLang="en-US" smtClean="0"/>
              <a:t>任何实际的信道都不是理想的，在传输信号时会产生各种失真以及带来多种干扰。</a:t>
            </a:r>
            <a:r>
              <a:rPr lang="zh-CN" altLang="en-US" sz="3600" smtClean="0"/>
              <a:t> </a:t>
            </a:r>
          </a:p>
          <a:p>
            <a:pPr eaLnBrk="1" hangingPunct="1"/>
            <a:r>
              <a:rPr lang="zh-CN" altLang="en-US" smtClean="0"/>
              <a:t>码元传输的速率越高，或信号传输的距离越远，在信道的输出端的波形的失真就越严重。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eaLnBrk="1" hangingPunct="1"/>
            <a:r>
              <a:rPr lang="zh-CN" altLang="en-US" smtClean="0"/>
              <a:t>数字信号通过实际的信道 </a:t>
            </a:r>
          </a:p>
        </p:txBody>
      </p:sp>
      <p:sp>
        <p:nvSpPr>
          <p:cNvPr id="32771" name="Rectangle 3"/>
          <p:cNvSpPr>
            <a:spLocks noGrp="1" noChangeArrowheads="1"/>
          </p:cNvSpPr>
          <p:nvPr>
            <p:ph type="body" idx="1"/>
          </p:nvPr>
        </p:nvSpPr>
        <p:spPr>
          <a:xfrm>
            <a:off x="1042988" y="1844675"/>
            <a:ext cx="7772400" cy="4114800"/>
          </a:xfrm>
        </p:spPr>
        <p:txBody>
          <a:bodyPr/>
          <a:lstStyle/>
          <a:p>
            <a:pPr eaLnBrk="1" hangingPunct="1">
              <a:lnSpc>
                <a:spcPct val="110000"/>
              </a:lnSpc>
              <a:spcBef>
                <a:spcPct val="0"/>
              </a:spcBef>
            </a:pPr>
            <a:r>
              <a:rPr lang="zh-CN" altLang="en-US" smtClean="0"/>
              <a:t>有失真，但</a:t>
            </a:r>
            <a:r>
              <a:rPr lang="zh-CN" altLang="en-US" smtClean="0">
                <a:solidFill>
                  <a:schemeClr val="hlink"/>
                </a:solidFill>
              </a:rPr>
              <a:t>可识别</a:t>
            </a:r>
          </a:p>
          <a:p>
            <a:pPr eaLnBrk="1" hangingPunct="1">
              <a:lnSpc>
                <a:spcPct val="110000"/>
              </a:lnSpc>
              <a:spcBef>
                <a:spcPct val="0"/>
              </a:spcBef>
            </a:pPr>
            <a:endParaRPr lang="zh-CN" altLang="en-US" smtClean="0"/>
          </a:p>
          <a:p>
            <a:pPr eaLnBrk="1" hangingPunct="1">
              <a:lnSpc>
                <a:spcPct val="110000"/>
              </a:lnSpc>
              <a:spcBef>
                <a:spcPct val="0"/>
              </a:spcBef>
            </a:pPr>
            <a:endParaRPr lang="zh-CN" altLang="en-US" smtClean="0"/>
          </a:p>
          <a:p>
            <a:pPr eaLnBrk="1" hangingPunct="1">
              <a:lnSpc>
                <a:spcPct val="110000"/>
              </a:lnSpc>
              <a:spcBef>
                <a:spcPct val="0"/>
              </a:spcBef>
            </a:pPr>
            <a:endParaRPr lang="zh-CN" altLang="en-US" smtClean="0"/>
          </a:p>
          <a:p>
            <a:pPr eaLnBrk="1" hangingPunct="1">
              <a:lnSpc>
                <a:spcPct val="110000"/>
              </a:lnSpc>
              <a:spcBef>
                <a:spcPct val="0"/>
              </a:spcBef>
            </a:pPr>
            <a:r>
              <a:rPr lang="zh-CN" altLang="en-US" smtClean="0"/>
              <a:t>失真大，</a:t>
            </a:r>
            <a:r>
              <a:rPr lang="zh-CN" altLang="en-US" smtClean="0">
                <a:solidFill>
                  <a:schemeClr val="hlink"/>
                </a:solidFill>
              </a:rPr>
              <a:t>无法识别 </a:t>
            </a:r>
          </a:p>
        </p:txBody>
      </p:sp>
      <p:sp>
        <p:nvSpPr>
          <p:cNvPr id="16388" name="AutoShape 4"/>
          <p:cNvSpPr>
            <a:spLocks noChangeArrowheads="1"/>
          </p:cNvSpPr>
          <p:nvPr/>
        </p:nvSpPr>
        <p:spPr bwMode="auto">
          <a:xfrm rot="-5400000">
            <a:off x="4185444" y="1381919"/>
            <a:ext cx="395287" cy="4060825"/>
          </a:xfrm>
          <a:prstGeom prst="can">
            <a:avLst>
              <a:gd name="adj" fmla="val 66775"/>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p>
            <a:endParaRPr lang="zh-CN" altLang="en-US"/>
          </a:p>
        </p:txBody>
      </p:sp>
      <p:sp>
        <p:nvSpPr>
          <p:cNvPr id="16389" name="Freeform 5"/>
          <p:cNvSpPr>
            <a:spLocks/>
          </p:cNvSpPr>
          <p:nvPr/>
        </p:nvSpPr>
        <p:spPr bwMode="auto">
          <a:xfrm>
            <a:off x="601663" y="2620963"/>
            <a:ext cx="1539875" cy="658812"/>
          </a:xfrm>
          <a:custGeom>
            <a:avLst/>
            <a:gdLst>
              <a:gd name="T0" fmla="*/ 0 w 1056"/>
              <a:gd name="T1" fmla="*/ 2147483647 h 480"/>
              <a:gd name="T2" fmla="*/ 2147483647 w 1056"/>
              <a:gd name="T3" fmla="*/ 2147483647 h 480"/>
              <a:gd name="T4" fmla="*/ 2147483647 w 1056"/>
              <a:gd name="T5" fmla="*/ 0 h 480"/>
              <a:gd name="T6" fmla="*/ 2147483647 w 1056"/>
              <a:gd name="T7" fmla="*/ 0 h 480"/>
              <a:gd name="T8" fmla="*/ 2147483647 w 1056"/>
              <a:gd name="T9" fmla="*/ 2147483647 h 480"/>
              <a:gd name="T10" fmla="*/ 2147483647 w 1056"/>
              <a:gd name="T11" fmla="*/ 2147483647 h 480"/>
              <a:gd name="T12" fmla="*/ 2147483647 w 1056"/>
              <a:gd name="T13" fmla="*/ 0 h 480"/>
              <a:gd name="T14" fmla="*/ 2147483647 w 1056"/>
              <a:gd name="T15" fmla="*/ 0 h 480"/>
              <a:gd name="T16" fmla="*/ 2147483647 w 1056"/>
              <a:gd name="T17" fmla="*/ 2147483647 h 480"/>
              <a:gd name="T18" fmla="*/ 2147483647 w 1056"/>
              <a:gd name="T19" fmla="*/ 2147483647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a:solidFill>
              <a:srgbClr val="333399"/>
            </a:solidFill>
            <a:round/>
            <a:headEnd/>
            <a:tailEnd/>
          </a:ln>
        </p:spPr>
        <p:txBody>
          <a:bodyPr wrap="none"/>
          <a:lstStyle/>
          <a:p>
            <a:endParaRPr lang="zh-CN" altLang="en-US"/>
          </a:p>
        </p:txBody>
      </p:sp>
      <p:sp>
        <p:nvSpPr>
          <p:cNvPr id="16390" name="Line 6"/>
          <p:cNvSpPr>
            <a:spLocks noChangeShapeType="1"/>
          </p:cNvSpPr>
          <p:nvPr/>
        </p:nvSpPr>
        <p:spPr bwMode="auto">
          <a:xfrm>
            <a:off x="601663" y="3411538"/>
            <a:ext cx="1960562" cy="0"/>
          </a:xfrm>
          <a:prstGeom prst="line">
            <a:avLst/>
          </a:prstGeom>
          <a:noFill/>
          <a:ln w="28575">
            <a:solidFill>
              <a:srgbClr val="333399"/>
            </a:solidFill>
            <a:round/>
            <a:headEnd/>
            <a:tailEnd type="triangle" w="med" len="lg"/>
          </a:ln>
        </p:spPr>
        <p:txBody>
          <a:bodyPr wrap="none"/>
          <a:lstStyle/>
          <a:p>
            <a:endParaRPr lang="zh-CN" altLang="en-US"/>
          </a:p>
        </p:txBody>
      </p:sp>
      <p:sp>
        <p:nvSpPr>
          <p:cNvPr id="16391" name="Freeform 7"/>
          <p:cNvSpPr>
            <a:spLocks/>
          </p:cNvSpPr>
          <p:nvPr/>
        </p:nvSpPr>
        <p:spPr bwMode="auto">
          <a:xfrm>
            <a:off x="6692900" y="2620963"/>
            <a:ext cx="1541463" cy="658812"/>
          </a:xfrm>
          <a:custGeom>
            <a:avLst/>
            <a:gdLst>
              <a:gd name="T0" fmla="*/ 0 w 1056"/>
              <a:gd name="T1" fmla="*/ 2147483647 h 480"/>
              <a:gd name="T2" fmla="*/ 2147483647 w 1056"/>
              <a:gd name="T3" fmla="*/ 2147483647 h 480"/>
              <a:gd name="T4" fmla="*/ 2147483647 w 1056"/>
              <a:gd name="T5" fmla="*/ 0 h 480"/>
              <a:gd name="T6" fmla="*/ 2147483647 w 1056"/>
              <a:gd name="T7" fmla="*/ 0 h 480"/>
              <a:gd name="T8" fmla="*/ 2147483647 w 1056"/>
              <a:gd name="T9" fmla="*/ 2147483647 h 480"/>
              <a:gd name="T10" fmla="*/ 2147483647 w 1056"/>
              <a:gd name="T11" fmla="*/ 2147483647 h 480"/>
              <a:gd name="T12" fmla="*/ 2147483647 w 1056"/>
              <a:gd name="T13" fmla="*/ 0 h 480"/>
              <a:gd name="T14" fmla="*/ 2147483647 w 1056"/>
              <a:gd name="T15" fmla="*/ 0 h 480"/>
              <a:gd name="T16" fmla="*/ 2147483647 w 1056"/>
              <a:gd name="T17" fmla="*/ 2147483647 h 480"/>
              <a:gd name="T18" fmla="*/ 2147483647 w 1056"/>
              <a:gd name="T19" fmla="*/ 2147483647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a:solidFill>
              <a:srgbClr val="333399"/>
            </a:solidFill>
            <a:prstDash val="dashDot"/>
            <a:round/>
            <a:headEnd/>
            <a:tailEnd/>
          </a:ln>
        </p:spPr>
        <p:txBody>
          <a:bodyPr wrap="none"/>
          <a:lstStyle/>
          <a:p>
            <a:endParaRPr lang="zh-CN" altLang="en-US"/>
          </a:p>
        </p:txBody>
      </p:sp>
      <p:sp>
        <p:nvSpPr>
          <p:cNvPr id="16392" name="Line 8"/>
          <p:cNvSpPr>
            <a:spLocks noChangeShapeType="1"/>
          </p:cNvSpPr>
          <p:nvPr/>
        </p:nvSpPr>
        <p:spPr bwMode="auto">
          <a:xfrm>
            <a:off x="6413500" y="3411538"/>
            <a:ext cx="1960563" cy="0"/>
          </a:xfrm>
          <a:prstGeom prst="line">
            <a:avLst/>
          </a:prstGeom>
          <a:noFill/>
          <a:ln w="28575">
            <a:solidFill>
              <a:srgbClr val="333399"/>
            </a:solidFill>
            <a:round/>
            <a:headEnd/>
            <a:tailEnd type="triangle" w="med" len="lg"/>
          </a:ln>
        </p:spPr>
        <p:txBody>
          <a:bodyPr wrap="none"/>
          <a:lstStyle/>
          <a:p>
            <a:endParaRPr lang="zh-CN" altLang="en-US"/>
          </a:p>
        </p:txBody>
      </p:sp>
      <p:sp>
        <p:nvSpPr>
          <p:cNvPr id="16393" name="Freeform 9"/>
          <p:cNvSpPr>
            <a:spLocks/>
          </p:cNvSpPr>
          <p:nvPr/>
        </p:nvSpPr>
        <p:spPr bwMode="auto">
          <a:xfrm>
            <a:off x="6707188" y="2657475"/>
            <a:ext cx="1495425" cy="633413"/>
          </a:xfrm>
          <a:custGeom>
            <a:avLst/>
            <a:gdLst>
              <a:gd name="T0" fmla="*/ 0 w 1026"/>
              <a:gd name="T1" fmla="*/ 2147483647 h 461"/>
              <a:gd name="T2" fmla="*/ 2147483647 w 1026"/>
              <a:gd name="T3" fmla="*/ 2147483647 h 461"/>
              <a:gd name="T4" fmla="*/ 2147483647 w 1026"/>
              <a:gd name="T5" fmla="*/ 2147483647 h 461"/>
              <a:gd name="T6" fmla="*/ 2147483647 w 1026"/>
              <a:gd name="T7" fmla="*/ 2147483647 h 461"/>
              <a:gd name="T8" fmla="*/ 2147483647 w 1026"/>
              <a:gd name="T9" fmla="*/ 2147483647 h 461"/>
              <a:gd name="T10" fmla="*/ 2147483647 w 1026"/>
              <a:gd name="T11" fmla="*/ 2147483647 h 461"/>
              <a:gd name="T12" fmla="*/ 2147483647 w 1026"/>
              <a:gd name="T13" fmla="*/ 2147483647 h 461"/>
              <a:gd name="T14" fmla="*/ 2147483647 w 1026"/>
              <a:gd name="T15" fmla="*/ 2147483647 h 461"/>
              <a:gd name="T16" fmla="*/ 2147483647 w 1026"/>
              <a:gd name="T17" fmla="*/ 2147483647 h 461"/>
              <a:gd name="T18" fmla="*/ 2147483647 w 1026"/>
              <a:gd name="T19" fmla="*/ 2147483647 h 461"/>
              <a:gd name="T20" fmla="*/ 2147483647 w 1026"/>
              <a:gd name="T21" fmla="*/ 2147483647 h 461"/>
              <a:gd name="T22" fmla="*/ 2147483647 w 1026"/>
              <a:gd name="T23" fmla="*/ 2147483647 h 461"/>
              <a:gd name="T24" fmla="*/ 2147483647 w 1026"/>
              <a:gd name="T25" fmla="*/ 2147483647 h 461"/>
              <a:gd name="T26" fmla="*/ 2147483647 w 1026"/>
              <a:gd name="T27" fmla="*/ 0 h 461"/>
              <a:gd name="T28" fmla="*/ 2147483647 w 1026"/>
              <a:gd name="T29" fmla="*/ 2147483647 h 461"/>
              <a:gd name="T30" fmla="*/ 2147483647 w 1026"/>
              <a:gd name="T31" fmla="*/ 2147483647 h 461"/>
              <a:gd name="T32" fmla="*/ 2147483647 w 1026"/>
              <a:gd name="T33" fmla="*/ 2147483647 h 461"/>
              <a:gd name="T34" fmla="*/ 2147483647 w 1026"/>
              <a:gd name="T35" fmla="*/ 2147483647 h 461"/>
              <a:gd name="T36" fmla="*/ 2147483647 w 1026"/>
              <a:gd name="T37" fmla="*/ 2147483647 h 461"/>
              <a:gd name="T38" fmla="*/ 2147483647 w 1026"/>
              <a:gd name="T39" fmla="*/ 2147483647 h 461"/>
              <a:gd name="T40" fmla="*/ 2147483647 w 1026"/>
              <a:gd name="T41" fmla="*/ 2147483647 h 461"/>
              <a:gd name="T42" fmla="*/ 2147483647 w 1026"/>
              <a:gd name="T43" fmla="*/ 2147483647 h 461"/>
              <a:gd name="T44" fmla="*/ 2147483647 w 1026"/>
              <a:gd name="T45" fmla="*/ 2147483647 h 461"/>
              <a:gd name="T46" fmla="*/ 2147483647 w 1026"/>
              <a:gd name="T47" fmla="*/ 2147483647 h 461"/>
              <a:gd name="T48" fmla="*/ 2147483647 w 1026"/>
              <a:gd name="T49" fmla="*/ 2147483647 h 461"/>
              <a:gd name="T50" fmla="*/ 2147483647 w 1026"/>
              <a:gd name="T51" fmla="*/ 2147483647 h 461"/>
              <a:gd name="T52" fmla="*/ 2147483647 w 1026"/>
              <a:gd name="T53" fmla="*/ 2147483647 h 461"/>
              <a:gd name="T54" fmla="*/ 2147483647 w 1026"/>
              <a:gd name="T55" fmla="*/ 2147483647 h 461"/>
              <a:gd name="T56" fmla="*/ 2147483647 w 1026"/>
              <a:gd name="T57" fmla="*/ 2147483647 h 461"/>
              <a:gd name="T58" fmla="*/ 2147483647 w 1026"/>
              <a:gd name="T59" fmla="*/ 2147483647 h 461"/>
              <a:gd name="T60" fmla="*/ 2147483647 w 1026"/>
              <a:gd name="T61" fmla="*/ 2147483647 h 461"/>
              <a:gd name="T62" fmla="*/ 2147483647 w 1026"/>
              <a:gd name="T63" fmla="*/ 2147483647 h 461"/>
              <a:gd name="T64" fmla="*/ 2147483647 w 1026"/>
              <a:gd name="T65" fmla="*/ 2147483647 h 461"/>
              <a:gd name="T66" fmla="*/ 2147483647 w 1026"/>
              <a:gd name="T67" fmla="*/ 2147483647 h 461"/>
              <a:gd name="T68" fmla="*/ 2147483647 w 1026"/>
              <a:gd name="T69" fmla="*/ 2147483647 h 461"/>
              <a:gd name="T70" fmla="*/ 2147483647 w 1026"/>
              <a:gd name="T71" fmla="*/ 2147483647 h 461"/>
              <a:gd name="T72" fmla="*/ 2147483647 w 1026"/>
              <a:gd name="T73" fmla="*/ 2147483647 h 461"/>
              <a:gd name="T74" fmla="*/ 2147483647 w 1026"/>
              <a:gd name="T75" fmla="*/ 2147483647 h 461"/>
              <a:gd name="T76" fmla="*/ 2147483647 w 1026"/>
              <a:gd name="T77" fmla="*/ 2147483647 h 461"/>
              <a:gd name="T78" fmla="*/ 2147483647 w 1026"/>
              <a:gd name="T79" fmla="*/ 2147483647 h 4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6"/>
              <a:gd name="T121" fmla="*/ 0 h 461"/>
              <a:gd name="T122" fmla="*/ 1026 w 1026"/>
              <a:gd name="T123" fmla="*/ 461 h 46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a:solidFill>
              <a:srgbClr val="333399"/>
            </a:solidFill>
            <a:round/>
            <a:headEnd/>
            <a:tailEnd/>
          </a:ln>
        </p:spPr>
        <p:txBody>
          <a:bodyPr wrap="none"/>
          <a:lstStyle/>
          <a:p>
            <a:endParaRPr lang="zh-CN" altLang="en-US"/>
          </a:p>
        </p:txBody>
      </p:sp>
      <p:sp>
        <p:nvSpPr>
          <p:cNvPr id="16394" name="Text Box 10"/>
          <p:cNvSpPr txBox="1">
            <a:spLocks noChangeArrowheads="1"/>
          </p:cNvSpPr>
          <p:nvPr/>
        </p:nvSpPr>
        <p:spPr bwMode="auto">
          <a:xfrm>
            <a:off x="2195513" y="2466975"/>
            <a:ext cx="4248150" cy="701675"/>
          </a:xfrm>
          <a:prstGeom prst="rect">
            <a:avLst/>
          </a:prstGeom>
          <a:noFill/>
          <a:ln w="9525">
            <a:noFill/>
            <a:miter lim="800000"/>
            <a:headEnd/>
            <a:tailEnd/>
          </a:ln>
        </p:spPr>
        <p:txBody>
          <a:bodyPr wrap="none">
            <a:spAutoFit/>
          </a:bodyPr>
          <a:lstStyle/>
          <a:p>
            <a:r>
              <a:rPr kumimoji="1" lang="zh-CN" altLang="en-US" sz="2000">
                <a:solidFill>
                  <a:srgbClr val="333399"/>
                </a:solidFill>
                <a:latin typeface="Times New Roman" pitchFamily="18" charset="0"/>
                <a:ea typeface="黑体" pitchFamily="49" charset="-122"/>
              </a:rPr>
              <a:t>实际的信道</a:t>
            </a:r>
          </a:p>
          <a:p>
            <a:r>
              <a:rPr kumimoji="1" lang="zh-CN" altLang="en-US" sz="2000">
                <a:solidFill>
                  <a:srgbClr val="333399"/>
                </a:solidFill>
                <a:latin typeface="Times New Roman" pitchFamily="18" charset="0"/>
                <a:ea typeface="黑体" pitchFamily="49" charset="-122"/>
              </a:rPr>
              <a:t>（带宽受限、有噪声、干扰和失真）</a:t>
            </a:r>
          </a:p>
        </p:txBody>
      </p:sp>
      <p:sp>
        <p:nvSpPr>
          <p:cNvPr id="16395" name="Text Box 11"/>
          <p:cNvSpPr txBox="1">
            <a:spLocks noChangeArrowheads="1"/>
          </p:cNvSpPr>
          <p:nvPr/>
        </p:nvSpPr>
        <p:spPr bwMode="auto">
          <a:xfrm>
            <a:off x="539750" y="3433763"/>
            <a:ext cx="1708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黑体" pitchFamily="49" charset="-122"/>
                <a:ea typeface="黑体" pitchFamily="49" charset="-122"/>
              </a:rPr>
              <a:t>发送信号波形</a:t>
            </a:r>
          </a:p>
        </p:txBody>
      </p:sp>
      <p:sp>
        <p:nvSpPr>
          <p:cNvPr id="16396" name="Text Box 12"/>
          <p:cNvSpPr txBox="1">
            <a:spLocks noChangeArrowheads="1"/>
          </p:cNvSpPr>
          <p:nvPr/>
        </p:nvSpPr>
        <p:spPr bwMode="auto">
          <a:xfrm>
            <a:off x="6464300" y="3448050"/>
            <a:ext cx="1924050" cy="396875"/>
          </a:xfrm>
          <a:prstGeom prst="rect">
            <a:avLst/>
          </a:prstGeom>
          <a:noFill/>
          <a:ln w="9525">
            <a:noFill/>
            <a:miter lim="800000"/>
            <a:headEnd/>
            <a:tailEnd/>
          </a:ln>
        </p:spPr>
        <p:txBody>
          <a:bodyPr>
            <a:spAutoFit/>
          </a:bodyPr>
          <a:lstStyle/>
          <a:p>
            <a:r>
              <a:rPr kumimoji="1" lang="zh-CN" altLang="en-US" sz="2000">
                <a:solidFill>
                  <a:srgbClr val="333399"/>
                </a:solidFill>
                <a:latin typeface="黑体" pitchFamily="49" charset="-122"/>
                <a:ea typeface="黑体" pitchFamily="49" charset="-122"/>
              </a:rPr>
              <a:t>接收信号波形</a:t>
            </a:r>
          </a:p>
        </p:txBody>
      </p:sp>
      <p:grpSp>
        <p:nvGrpSpPr>
          <p:cNvPr id="2" name="Group 24"/>
          <p:cNvGrpSpPr>
            <a:grpSpLocks/>
          </p:cNvGrpSpPr>
          <p:nvPr/>
        </p:nvGrpSpPr>
        <p:grpSpPr bwMode="auto">
          <a:xfrm>
            <a:off x="482600" y="4581525"/>
            <a:ext cx="7834313" cy="1423988"/>
            <a:chOff x="304" y="2886"/>
            <a:chExt cx="4935" cy="897"/>
          </a:xfrm>
        </p:grpSpPr>
        <p:sp>
          <p:nvSpPr>
            <p:cNvPr id="16398" name="AutoShape 13"/>
            <p:cNvSpPr>
              <a:spLocks noChangeArrowheads="1"/>
            </p:cNvSpPr>
            <p:nvPr/>
          </p:nvSpPr>
          <p:spPr bwMode="auto">
            <a:xfrm rot="-5400000">
              <a:off x="2600" y="2210"/>
              <a:ext cx="250" cy="2558"/>
            </a:xfrm>
            <a:prstGeom prst="can">
              <a:avLst>
                <a:gd name="adj" fmla="val 66508"/>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p>
              <a:endParaRPr lang="zh-CN" altLang="en-US"/>
            </a:p>
          </p:txBody>
        </p:sp>
        <p:sp>
          <p:nvSpPr>
            <p:cNvPr id="16399" name="Freeform 14"/>
            <p:cNvSpPr>
              <a:spLocks/>
            </p:cNvSpPr>
            <p:nvPr/>
          </p:nvSpPr>
          <p:spPr bwMode="auto">
            <a:xfrm>
              <a:off x="343" y="2991"/>
              <a:ext cx="970" cy="415"/>
            </a:xfrm>
            <a:custGeom>
              <a:avLst/>
              <a:gdLst>
                <a:gd name="T0" fmla="*/ 0 w 1056"/>
                <a:gd name="T1" fmla="*/ 310 h 480"/>
                <a:gd name="T2" fmla="*/ 111 w 1056"/>
                <a:gd name="T3" fmla="*/ 310 h 480"/>
                <a:gd name="T4" fmla="*/ 111 w 1056"/>
                <a:gd name="T5" fmla="*/ 0 h 480"/>
                <a:gd name="T6" fmla="*/ 298 w 1056"/>
                <a:gd name="T7" fmla="*/ 0 h 480"/>
                <a:gd name="T8" fmla="*/ 298 w 1056"/>
                <a:gd name="T9" fmla="*/ 310 h 480"/>
                <a:gd name="T10" fmla="*/ 483 w 1056"/>
                <a:gd name="T11" fmla="*/ 310 h 480"/>
                <a:gd name="T12" fmla="*/ 483 w 1056"/>
                <a:gd name="T13" fmla="*/ 0 h 480"/>
                <a:gd name="T14" fmla="*/ 670 w 1056"/>
                <a:gd name="T15" fmla="*/ 0 h 480"/>
                <a:gd name="T16" fmla="*/ 670 w 1056"/>
                <a:gd name="T17" fmla="*/ 310 h 480"/>
                <a:gd name="T18" fmla="*/ 818 w 1056"/>
                <a:gd name="T19" fmla="*/ 31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a:solidFill>
                <a:srgbClr val="333399"/>
              </a:solidFill>
              <a:round/>
              <a:headEnd/>
              <a:tailEnd/>
            </a:ln>
          </p:spPr>
          <p:txBody>
            <a:bodyPr wrap="none"/>
            <a:lstStyle/>
            <a:p>
              <a:endParaRPr lang="zh-CN" altLang="en-US"/>
            </a:p>
          </p:txBody>
        </p:sp>
        <p:sp>
          <p:nvSpPr>
            <p:cNvPr id="16400" name="Line 15"/>
            <p:cNvSpPr>
              <a:spLocks noChangeShapeType="1"/>
            </p:cNvSpPr>
            <p:nvPr/>
          </p:nvSpPr>
          <p:spPr bwMode="auto">
            <a:xfrm>
              <a:off x="343" y="3489"/>
              <a:ext cx="1235" cy="0"/>
            </a:xfrm>
            <a:prstGeom prst="line">
              <a:avLst/>
            </a:prstGeom>
            <a:noFill/>
            <a:ln w="28575">
              <a:solidFill>
                <a:srgbClr val="333399"/>
              </a:solidFill>
              <a:round/>
              <a:headEnd/>
              <a:tailEnd type="triangle" w="med" len="lg"/>
            </a:ln>
          </p:spPr>
          <p:txBody>
            <a:bodyPr wrap="none"/>
            <a:lstStyle/>
            <a:p>
              <a:endParaRPr lang="zh-CN" altLang="en-US"/>
            </a:p>
          </p:txBody>
        </p:sp>
        <p:sp>
          <p:nvSpPr>
            <p:cNvPr id="16401" name="Freeform 16"/>
            <p:cNvSpPr>
              <a:spLocks/>
            </p:cNvSpPr>
            <p:nvPr/>
          </p:nvSpPr>
          <p:spPr bwMode="auto">
            <a:xfrm>
              <a:off x="4180" y="2991"/>
              <a:ext cx="971" cy="415"/>
            </a:xfrm>
            <a:custGeom>
              <a:avLst/>
              <a:gdLst>
                <a:gd name="T0" fmla="*/ 0 w 1056"/>
                <a:gd name="T1" fmla="*/ 310 h 480"/>
                <a:gd name="T2" fmla="*/ 111 w 1056"/>
                <a:gd name="T3" fmla="*/ 310 h 480"/>
                <a:gd name="T4" fmla="*/ 111 w 1056"/>
                <a:gd name="T5" fmla="*/ 0 h 480"/>
                <a:gd name="T6" fmla="*/ 299 w 1056"/>
                <a:gd name="T7" fmla="*/ 0 h 480"/>
                <a:gd name="T8" fmla="*/ 299 w 1056"/>
                <a:gd name="T9" fmla="*/ 310 h 480"/>
                <a:gd name="T10" fmla="*/ 486 w 1056"/>
                <a:gd name="T11" fmla="*/ 310 h 480"/>
                <a:gd name="T12" fmla="*/ 486 w 1056"/>
                <a:gd name="T13" fmla="*/ 0 h 480"/>
                <a:gd name="T14" fmla="*/ 671 w 1056"/>
                <a:gd name="T15" fmla="*/ 0 h 480"/>
                <a:gd name="T16" fmla="*/ 671 w 1056"/>
                <a:gd name="T17" fmla="*/ 310 h 480"/>
                <a:gd name="T18" fmla="*/ 821 w 1056"/>
                <a:gd name="T19" fmla="*/ 31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a:solidFill>
                <a:srgbClr val="333399"/>
              </a:solidFill>
              <a:prstDash val="dashDot"/>
              <a:round/>
              <a:headEnd/>
              <a:tailEnd/>
            </a:ln>
          </p:spPr>
          <p:txBody>
            <a:bodyPr wrap="none"/>
            <a:lstStyle/>
            <a:p>
              <a:endParaRPr lang="zh-CN" altLang="en-US"/>
            </a:p>
          </p:txBody>
        </p:sp>
        <p:sp>
          <p:nvSpPr>
            <p:cNvPr id="16402" name="Line 17"/>
            <p:cNvSpPr>
              <a:spLocks noChangeShapeType="1"/>
            </p:cNvSpPr>
            <p:nvPr/>
          </p:nvSpPr>
          <p:spPr bwMode="auto">
            <a:xfrm>
              <a:off x="4004" y="3489"/>
              <a:ext cx="1235" cy="0"/>
            </a:xfrm>
            <a:prstGeom prst="line">
              <a:avLst/>
            </a:prstGeom>
            <a:noFill/>
            <a:ln w="28575">
              <a:solidFill>
                <a:srgbClr val="333399"/>
              </a:solidFill>
              <a:round/>
              <a:headEnd/>
              <a:tailEnd type="triangle" w="med" len="lg"/>
            </a:ln>
          </p:spPr>
          <p:txBody>
            <a:bodyPr wrap="none"/>
            <a:lstStyle/>
            <a:p>
              <a:endParaRPr lang="zh-CN" altLang="en-US"/>
            </a:p>
          </p:txBody>
        </p:sp>
        <p:sp>
          <p:nvSpPr>
            <p:cNvPr id="16403" name="Freeform 18"/>
            <p:cNvSpPr>
              <a:spLocks/>
            </p:cNvSpPr>
            <p:nvPr/>
          </p:nvSpPr>
          <p:spPr bwMode="auto">
            <a:xfrm>
              <a:off x="4186" y="3270"/>
              <a:ext cx="934" cy="124"/>
            </a:xfrm>
            <a:custGeom>
              <a:avLst/>
              <a:gdLst>
                <a:gd name="T0" fmla="*/ 0 w 1017"/>
                <a:gd name="T1" fmla="*/ 71 h 143"/>
                <a:gd name="T2" fmla="*/ 44 w 1017"/>
                <a:gd name="T3" fmla="*/ 85 h 143"/>
                <a:gd name="T4" fmla="*/ 65 w 1017"/>
                <a:gd name="T5" fmla="*/ 85 h 143"/>
                <a:gd name="T6" fmla="*/ 88 w 1017"/>
                <a:gd name="T7" fmla="*/ 60 h 143"/>
                <a:gd name="T8" fmla="*/ 126 w 1017"/>
                <a:gd name="T9" fmla="*/ 22 h 143"/>
                <a:gd name="T10" fmla="*/ 140 w 1017"/>
                <a:gd name="T11" fmla="*/ 37 h 143"/>
                <a:gd name="T12" fmla="*/ 147 w 1017"/>
                <a:gd name="T13" fmla="*/ 71 h 143"/>
                <a:gd name="T14" fmla="*/ 156 w 1017"/>
                <a:gd name="T15" fmla="*/ 49 h 143"/>
                <a:gd name="T16" fmla="*/ 170 w 1017"/>
                <a:gd name="T17" fmla="*/ 54 h 143"/>
                <a:gd name="T18" fmla="*/ 195 w 1017"/>
                <a:gd name="T19" fmla="*/ 52 h 143"/>
                <a:gd name="T20" fmla="*/ 253 w 1017"/>
                <a:gd name="T21" fmla="*/ 65 h 143"/>
                <a:gd name="T22" fmla="*/ 272 w 1017"/>
                <a:gd name="T23" fmla="*/ 79 h 143"/>
                <a:gd name="T24" fmla="*/ 316 w 1017"/>
                <a:gd name="T25" fmla="*/ 52 h 143"/>
                <a:gd name="T26" fmla="*/ 360 w 1017"/>
                <a:gd name="T27" fmla="*/ 67 h 143"/>
                <a:gd name="T28" fmla="*/ 393 w 1017"/>
                <a:gd name="T29" fmla="*/ 79 h 143"/>
                <a:gd name="T30" fmla="*/ 437 w 1017"/>
                <a:gd name="T31" fmla="*/ 79 h 143"/>
                <a:gd name="T32" fmla="*/ 477 w 1017"/>
                <a:gd name="T33" fmla="*/ 57 h 143"/>
                <a:gd name="T34" fmla="*/ 495 w 1017"/>
                <a:gd name="T35" fmla="*/ 46 h 143"/>
                <a:gd name="T36" fmla="*/ 509 w 1017"/>
                <a:gd name="T37" fmla="*/ 71 h 143"/>
                <a:gd name="T38" fmla="*/ 521 w 1017"/>
                <a:gd name="T39" fmla="*/ 31 h 143"/>
                <a:gd name="T40" fmla="*/ 542 w 1017"/>
                <a:gd name="T41" fmla="*/ 26 h 143"/>
                <a:gd name="T42" fmla="*/ 585 w 1017"/>
                <a:gd name="T43" fmla="*/ 42 h 143"/>
                <a:gd name="T44" fmla="*/ 621 w 1017"/>
                <a:gd name="T45" fmla="*/ 43 h 143"/>
                <a:gd name="T46" fmla="*/ 646 w 1017"/>
                <a:gd name="T47" fmla="*/ 63 h 143"/>
                <a:gd name="T48" fmla="*/ 677 w 1017"/>
                <a:gd name="T49" fmla="*/ 75 h 143"/>
                <a:gd name="T50" fmla="*/ 690 w 1017"/>
                <a:gd name="T51" fmla="*/ 55 h 143"/>
                <a:gd name="T52" fmla="*/ 707 w 1017"/>
                <a:gd name="T53" fmla="*/ 67 h 143"/>
                <a:gd name="T54" fmla="*/ 718 w 1017"/>
                <a:gd name="T55" fmla="*/ 43 h 143"/>
                <a:gd name="T56" fmla="*/ 753 w 1017"/>
                <a:gd name="T57" fmla="*/ 73 h 143"/>
                <a:gd name="T58" fmla="*/ 788 w 1017"/>
                <a:gd name="T59" fmla="*/ 79 h 1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17"/>
                <a:gd name="T91" fmla="*/ 0 h 143"/>
                <a:gd name="T92" fmla="*/ 1017 w 1017"/>
                <a:gd name="T93" fmla="*/ 143 h 14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a:solidFill>
                <a:srgbClr val="333399"/>
              </a:solidFill>
              <a:round/>
              <a:headEnd/>
              <a:tailEnd/>
            </a:ln>
          </p:spPr>
          <p:txBody>
            <a:bodyPr wrap="none"/>
            <a:lstStyle/>
            <a:p>
              <a:endParaRPr lang="zh-CN" altLang="en-US"/>
            </a:p>
          </p:txBody>
        </p:sp>
        <p:sp>
          <p:nvSpPr>
            <p:cNvPr id="16404" name="Text Box 19"/>
            <p:cNvSpPr txBox="1">
              <a:spLocks noChangeArrowheads="1"/>
            </p:cNvSpPr>
            <p:nvPr/>
          </p:nvSpPr>
          <p:spPr bwMode="auto">
            <a:xfrm>
              <a:off x="304" y="3503"/>
              <a:ext cx="1076" cy="250"/>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黑体" pitchFamily="49" charset="-122"/>
                  <a:ea typeface="黑体" pitchFamily="49" charset="-122"/>
                </a:rPr>
                <a:t>发送信号波形</a:t>
              </a:r>
            </a:p>
          </p:txBody>
        </p:sp>
        <p:sp>
          <p:nvSpPr>
            <p:cNvPr id="16405" name="Text Box 22"/>
            <p:cNvSpPr txBox="1">
              <a:spLocks noChangeArrowheads="1"/>
            </p:cNvSpPr>
            <p:nvPr/>
          </p:nvSpPr>
          <p:spPr bwMode="auto">
            <a:xfrm>
              <a:off x="1361" y="2886"/>
              <a:ext cx="2676" cy="442"/>
            </a:xfrm>
            <a:prstGeom prst="rect">
              <a:avLst/>
            </a:prstGeom>
            <a:noFill/>
            <a:ln w="9525">
              <a:noFill/>
              <a:miter lim="800000"/>
              <a:headEnd/>
              <a:tailEnd/>
            </a:ln>
          </p:spPr>
          <p:txBody>
            <a:bodyPr wrap="none">
              <a:spAutoFit/>
            </a:bodyPr>
            <a:lstStyle/>
            <a:p>
              <a:r>
                <a:rPr kumimoji="1" lang="zh-CN" altLang="en-US" sz="2000">
                  <a:solidFill>
                    <a:srgbClr val="333399"/>
                  </a:solidFill>
                  <a:latin typeface="Times New Roman" pitchFamily="18" charset="0"/>
                  <a:ea typeface="黑体" pitchFamily="49" charset="-122"/>
                </a:rPr>
                <a:t>实际的信道</a:t>
              </a:r>
            </a:p>
            <a:p>
              <a:r>
                <a:rPr kumimoji="1" lang="zh-CN" altLang="en-US" sz="2000">
                  <a:solidFill>
                    <a:srgbClr val="333399"/>
                  </a:solidFill>
                  <a:latin typeface="Times New Roman" pitchFamily="18" charset="0"/>
                  <a:ea typeface="黑体" pitchFamily="49" charset="-122"/>
                </a:rPr>
                <a:t>（带宽受限、有噪声、干扰和失真）</a:t>
              </a:r>
            </a:p>
          </p:txBody>
        </p:sp>
        <p:sp>
          <p:nvSpPr>
            <p:cNvPr id="16406" name="Text Box 23"/>
            <p:cNvSpPr txBox="1">
              <a:spLocks noChangeArrowheads="1"/>
            </p:cNvSpPr>
            <p:nvPr/>
          </p:nvSpPr>
          <p:spPr bwMode="auto">
            <a:xfrm>
              <a:off x="3991" y="3533"/>
              <a:ext cx="1167" cy="250"/>
            </a:xfrm>
            <a:prstGeom prst="rect">
              <a:avLst/>
            </a:prstGeom>
            <a:noFill/>
            <a:ln w="9525">
              <a:noFill/>
              <a:miter lim="800000"/>
              <a:headEnd/>
              <a:tailEnd/>
            </a:ln>
          </p:spPr>
          <p:txBody>
            <a:bodyPr>
              <a:spAutoFit/>
            </a:bodyPr>
            <a:lstStyle/>
            <a:p>
              <a:r>
                <a:rPr kumimoji="1" lang="zh-CN" altLang="en-US" sz="2000">
                  <a:solidFill>
                    <a:srgbClr val="333399"/>
                  </a:solidFill>
                  <a:latin typeface="黑体" pitchFamily="49" charset="-122"/>
                  <a:ea typeface="黑体" pitchFamily="49" charset="-122"/>
                </a:rPr>
                <a:t>接收信号波形</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4" end="4"/>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marL="838200" indent="-838200" algn="ctr" eaLnBrk="1" hangingPunct="1"/>
            <a:r>
              <a:rPr lang="zh-CN" altLang="en-US" dirty="0" smtClean="0"/>
              <a:t>信道能够通过的频率范围</a:t>
            </a:r>
          </a:p>
        </p:txBody>
      </p:sp>
      <p:sp>
        <p:nvSpPr>
          <p:cNvPr id="33795" name="Rectangle 3"/>
          <p:cNvSpPr>
            <a:spLocks noGrp="1" noChangeArrowheads="1"/>
          </p:cNvSpPr>
          <p:nvPr>
            <p:ph type="body" idx="1"/>
          </p:nvPr>
        </p:nvSpPr>
        <p:spPr>
          <a:xfrm>
            <a:off x="971550" y="1844675"/>
            <a:ext cx="7772400" cy="4724400"/>
          </a:xfrm>
        </p:spPr>
        <p:txBody>
          <a:bodyPr/>
          <a:lstStyle/>
          <a:p>
            <a:pPr eaLnBrk="1" hangingPunct="1"/>
            <a:r>
              <a:rPr lang="en-US" altLang="zh-CN" sz="2800" dirty="0" smtClean="0"/>
              <a:t>1924 </a:t>
            </a:r>
            <a:r>
              <a:rPr lang="zh-CN" altLang="en-US" sz="2800" dirty="0" smtClean="0"/>
              <a:t>年，奈奎斯特</a:t>
            </a:r>
            <a:r>
              <a:rPr lang="en-US" altLang="zh-CN" sz="2800" dirty="0" smtClean="0"/>
              <a:t>(</a:t>
            </a:r>
            <a:r>
              <a:rPr lang="en-US" altLang="zh-CN" sz="2800" dirty="0" err="1" smtClean="0"/>
              <a:t>Nyquist</a:t>
            </a:r>
            <a:r>
              <a:rPr lang="en-US" altLang="zh-CN" sz="2800" dirty="0" smtClean="0"/>
              <a:t>)</a:t>
            </a:r>
            <a:r>
              <a:rPr lang="zh-CN" altLang="en-US" sz="2800" dirty="0" smtClean="0"/>
              <a:t>就推导出了著名的</a:t>
            </a:r>
            <a:r>
              <a:rPr lang="zh-CN" altLang="en-US" sz="2800" dirty="0" smtClean="0">
                <a:solidFill>
                  <a:schemeClr val="hlink"/>
                </a:solidFill>
              </a:rPr>
              <a:t>奈氏准则</a:t>
            </a:r>
            <a:r>
              <a:rPr lang="zh-CN" altLang="en-US" sz="2800" dirty="0" smtClean="0"/>
              <a:t>。他给出了在假定的理想条件下，为了避免码间串扰，码元的传输速率的上限值。</a:t>
            </a:r>
          </a:p>
          <a:p>
            <a:pPr eaLnBrk="1" hangingPunct="1"/>
            <a:r>
              <a:rPr lang="zh-CN" altLang="en-US" sz="2800" dirty="0" smtClean="0"/>
              <a:t>在任何信道中，码元传输的速率是有上限的，否则就会出现</a:t>
            </a:r>
            <a:r>
              <a:rPr lang="zh-CN" altLang="en-US" sz="2800" dirty="0" smtClean="0">
                <a:solidFill>
                  <a:schemeClr val="hlink"/>
                </a:solidFill>
              </a:rPr>
              <a:t>码间串扰</a:t>
            </a:r>
            <a:r>
              <a:rPr lang="zh-CN" altLang="en-US" sz="2800" dirty="0" smtClean="0"/>
              <a:t>的问题，使接收端对码元的判决（即识别）成为不可能。</a:t>
            </a:r>
          </a:p>
          <a:p>
            <a:pPr eaLnBrk="1" hangingPunct="1"/>
            <a:r>
              <a:rPr lang="zh-CN" altLang="en-US" sz="2800" dirty="0" smtClean="0"/>
              <a:t>如果信道的频带越宽，也就是能够通过的信号高频分量越多，那么就可以用更高的速率传送码元而不出现码间串扰。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779838" y="3114675"/>
            <a:ext cx="3529012" cy="1081088"/>
          </a:xfrm>
          <a:prstGeom prst="rect">
            <a:avLst/>
          </a:prstGeom>
          <a:solidFill>
            <a:srgbClr val="FFCCFF"/>
          </a:solidFill>
          <a:ln w="9525">
            <a:noFill/>
            <a:miter lim="800000"/>
            <a:headEnd/>
            <a:tailEnd/>
          </a:ln>
        </p:spPr>
        <p:txBody>
          <a:bodyPr wrap="none" anchor="ctr"/>
          <a:lstStyle/>
          <a:p>
            <a:endParaRPr lang="zh-CN" altLang="en-US"/>
          </a:p>
        </p:txBody>
      </p:sp>
      <p:sp>
        <p:nvSpPr>
          <p:cNvPr id="18435" name="Rectangle 3"/>
          <p:cNvSpPr>
            <a:spLocks noGrp="1" noChangeArrowheads="1"/>
          </p:cNvSpPr>
          <p:nvPr>
            <p:ph type="title"/>
          </p:nvPr>
        </p:nvSpPr>
        <p:spPr>
          <a:xfrm>
            <a:off x="1116013" y="333375"/>
            <a:ext cx="7793037" cy="1143000"/>
          </a:xfrm>
        </p:spPr>
        <p:txBody>
          <a:bodyPr/>
          <a:lstStyle/>
          <a:p>
            <a:pPr algn="ctr"/>
            <a:r>
              <a:rPr lang="zh-CN" altLang="en-US" smtClean="0"/>
              <a:t>奈氏</a:t>
            </a:r>
            <a:r>
              <a:rPr lang="en-US" altLang="zh-CN" smtClean="0"/>
              <a:t>(Nyquist)</a:t>
            </a:r>
            <a:r>
              <a:rPr lang="zh-CN" altLang="en-US" smtClean="0"/>
              <a:t>准则 </a:t>
            </a:r>
          </a:p>
        </p:txBody>
      </p:sp>
      <p:sp>
        <p:nvSpPr>
          <p:cNvPr id="358404" name="Rectangle 4"/>
          <p:cNvSpPr>
            <a:spLocks noGrp="1" noChangeArrowheads="1"/>
          </p:cNvSpPr>
          <p:nvPr>
            <p:ph type="body" idx="1"/>
          </p:nvPr>
        </p:nvSpPr>
        <p:spPr>
          <a:xfrm>
            <a:off x="971550" y="4365625"/>
            <a:ext cx="7772400" cy="2232025"/>
          </a:xfrm>
        </p:spPr>
        <p:txBody>
          <a:bodyPr/>
          <a:lstStyle/>
          <a:p>
            <a:r>
              <a:rPr lang="zh-CN" altLang="en-US" dirty="0" smtClean="0"/>
              <a:t>每赫带宽的理想低通信道的最高码元传输速率是每秒 </a:t>
            </a:r>
            <a:r>
              <a:rPr lang="zh-CN" altLang="en-US" sz="1600" dirty="0" smtClean="0"/>
              <a:t> </a:t>
            </a:r>
            <a:r>
              <a:rPr lang="en-US" altLang="zh-CN" dirty="0" smtClean="0"/>
              <a:t>2</a:t>
            </a:r>
            <a:r>
              <a:rPr lang="en-US" altLang="zh-CN" sz="1600" b="1" dirty="0" smtClean="0"/>
              <a:t>  </a:t>
            </a:r>
            <a:r>
              <a:rPr lang="zh-CN" altLang="en-US" dirty="0" smtClean="0"/>
              <a:t>个码元。</a:t>
            </a:r>
          </a:p>
          <a:p>
            <a:r>
              <a:rPr lang="en-US" altLang="zh-CN" dirty="0" smtClean="0"/>
              <a:t>Baud </a:t>
            </a:r>
            <a:r>
              <a:rPr lang="zh-CN" altLang="en-US" dirty="0" smtClean="0"/>
              <a:t>是</a:t>
            </a:r>
            <a:r>
              <a:rPr lang="zh-CN" altLang="en-US" dirty="0" smtClean="0">
                <a:solidFill>
                  <a:schemeClr val="hlink"/>
                </a:solidFill>
              </a:rPr>
              <a:t>波特</a:t>
            </a:r>
            <a:r>
              <a:rPr lang="zh-CN" altLang="en-US" dirty="0" smtClean="0"/>
              <a:t>，是</a:t>
            </a:r>
            <a:r>
              <a:rPr lang="zh-CN" altLang="en-US" dirty="0" smtClean="0">
                <a:solidFill>
                  <a:schemeClr val="hlink"/>
                </a:solidFill>
              </a:rPr>
              <a:t>码元</a:t>
            </a:r>
            <a:r>
              <a:rPr lang="zh-CN" altLang="en-US" dirty="0" smtClean="0"/>
              <a:t>传输速率的单位，</a:t>
            </a:r>
            <a:r>
              <a:rPr lang="en-US" altLang="zh-CN" dirty="0" smtClean="0"/>
              <a:t>1 </a:t>
            </a:r>
            <a:r>
              <a:rPr lang="zh-CN" altLang="en-US" dirty="0" smtClean="0"/>
              <a:t>波特为每秒传送 </a:t>
            </a:r>
            <a:r>
              <a:rPr lang="en-US" altLang="zh-CN" dirty="0" smtClean="0"/>
              <a:t>1 </a:t>
            </a:r>
            <a:r>
              <a:rPr lang="zh-CN" altLang="en-US" dirty="0" smtClean="0"/>
              <a:t>个码元。 </a:t>
            </a:r>
          </a:p>
        </p:txBody>
      </p:sp>
      <p:sp>
        <p:nvSpPr>
          <p:cNvPr id="18437" name="Text Box 5"/>
          <p:cNvSpPr txBox="1">
            <a:spLocks noChangeArrowheads="1"/>
          </p:cNvSpPr>
          <p:nvPr/>
        </p:nvSpPr>
        <p:spPr bwMode="auto">
          <a:xfrm>
            <a:off x="1116013" y="1973263"/>
            <a:ext cx="7485062" cy="519112"/>
          </a:xfrm>
          <a:prstGeom prst="rect">
            <a:avLst/>
          </a:prstGeom>
          <a:noFill/>
          <a:ln w="9525">
            <a:noFill/>
            <a:miter lim="800000"/>
            <a:headEnd/>
            <a:tailEnd/>
          </a:ln>
        </p:spPr>
        <p:txBody>
          <a:bodyPr wrap="none">
            <a:spAutoFit/>
          </a:bodyPr>
          <a:lstStyle/>
          <a:p>
            <a:r>
              <a:rPr lang="zh-CN" altLang="en-US" sz="2800">
                <a:solidFill>
                  <a:schemeClr val="hlink"/>
                </a:solidFill>
                <a:latin typeface="Arial" pitchFamily="34" charset="0"/>
                <a:ea typeface="黑体" pitchFamily="49" charset="-122"/>
              </a:rPr>
              <a:t>理想低通信道</a:t>
            </a:r>
            <a:r>
              <a:rPr lang="zh-CN" altLang="en-US" sz="2800">
                <a:solidFill>
                  <a:srgbClr val="333399"/>
                </a:solidFill>
                <a:latin typeface="Arial" pitchFamily="34" charset="0"/>
                <a:ea typeface="黑体" pitchFamily="49" charset="-122"/>
              </a:rPr>
              <a:t>的最高码元传输速率 </a:t>
            </a:r>
            <a:r>
              <a:rPr lang="en-US" altLang="zh-CN" sz="2800">
                <a:solidFill>
                  <a:srgbClr val="333399"/>
                </a:solidFill>
                <a:latin typeface="Arial" pitchFamily="34" charset="0"/>
                <a:ea typeface="黑体" pitchFamily="49" charset="-122"/>
              </a:rPr>
              <a:t>= 2</a:t>
            </a:r>
            <a:r>
              <a:rPr lang="en-US" altLang="zh-CN" sz="2800" i="1">
                <a:solidFill>
                  <a:srgbClr val="333399"/>
                </a:solidFill>
                <a:latin typeface="Arial" pitchFamily="34" charset="0"/>
                <a:ea typeface="黑体" pitchFamily="49" charset="-122"/>
              </a:rPr>
              <a:t>W</a:t>
            </a:r>
            <a:r>
              <a:rPr lang="en-US" altLang="zh-CN" sz="2800">
                <a:solidFill>
                  <a:srgbClr val="333399"/>
                </a:solidFill>
                <a:latin typeface="Arial" pitchFamily="34" charset="0"/>
                <a:ea typeface="黑体" pitchFamily="49" charset="-122"/>
              </a:rPr>
              <a:t> Baud </a:t>
            </a:r>
          </a:p>
        </p:txBody>
      </p:sp>
      <p:sp>
        <p:nvSpPr>
          <p:cNvPr id="18438" name="Text Box 6"/>
          <p:cNvSpPr txBox="1">
            <a:spLocks noChangeArrowheads="1"/>
          </p:cNvSpPr>
          <p:nvPr/>
        </p:nvSpPr>
        <p:spPr bwMode="auto">
          <a:xfrm>
            <a:off x="1116013" y="2549525"/>
            <a:ext cx="6723062" cy="519113"/>
          </a:xfrm>
          <a:prstGeom prst="rect">
            <a:avLst/>
          </a:prstGeom>
          <a:noFill/>
          <a:ln w="9525">
            <a:noFill/>
            <a:miter lim="800000"/>
            <a:headEnd/>
            <a:tailEnd/>
          </a:ln>
        </p:spPr>
        <p:txBody>
          <a:bodyPr wrap="none">
            <a:spAutoFit/>
          </a:bodyPr>
          <a:lstStyle/>
          <a:p>
            <a:r>
              <a:rPr lang="en-US" altLang="zh-CN" sz="2800" i="1">
                <a:solidFill>
                  <a:srgbClr val="333399"/>
                </a:solidFill>
                <a:latin typeface="Arial" pitchFamily="34" charset="0"/>
                <a:ea typeface="黑体" pitchFamily="49" charset="-122"/>
              </a:rPr>
              <a:t>W </a:t>
            </a:r>
            <a:r>
              <a:rPr lang="zh-CN" altLang="en-US" sz="2800">
                <a:solidFill>
                  <a:srgbClr val="333399"/>
                </a:solidFill>
                <a:latin typeface="Arial" pitchFamily="34" charset="0"/>
                <a:ea typeface="黑体" pitchFamily="49" charset="-122"/>
              </a:rPr>
              <a:t>是理想低通信道的带宽，单位为赫</a:t>
            </a:r>
            <a:r>
              <a:rPr lang="en-US" altLang="zh-CN" sz="2800">
                <a:solidFill>
                  <a:srgbClr val="333399"/>
                </a:solidFill>
                <a:latin typeface="Arial" pitchFamily="34" charset="0"/>
                <a:ea typeface="黑体" pitchFamily="49" charset="-122"/>
              </a:rPr>
              <a:t>(Hz) </a:t>
            </a:r>
          </a:p>
        </p:txBody>
      </p:sp>
      <p:sp>
        <p:nvSpPr>
          <p:cNvPr id="18439" name="Line 7"/>
          <p:cNvSpPr>
            <a:spLocks noChangeShapeType="1"/>
          </p:cNvSpPr>
          <p:nvPr/>
        </p:nvSpPr>
        <p:spPr bwMode="auto">
          <a:xfrm>
            <a:off x="1258888" y="3697288"/>
            <a:ext cx="6192837" cy="0"/>
          </a:xfrm>
          <a:prstGeom prst="line">
            <a:avLst/>
          </a:prstGeom>
          <a:noFill/>
          <a:ln w="28575">
            <a:solidFill>
              <a:srgbClr val="333399"/>
            </a:solidFill>
            <a:round/>
            <a:headEnd/>
            <a:tailEnd type="triangle" w="med" len="lg"/>
          </a:ln>
        </p:spPr>
        <p:txBody>
          <a:bodyPr/>
          <a:lstStyle/>
          <a:p>
            <a:endParaRPr lang="zh-CN" altLang="en-US"/>
          </a:p>
        </p:txBody>
      </p:sp>
      <p:sp>
        <p:nvSpPr>
          <p:cNvPr id="18440" name="Text Box 8"/>
          <p:cNvSpPr txBox="1">
            <a:spLocks noChangeArrowheads="1"/>
          </p:cNvSpPr>
          <p:nvPr/>
        </p:nvSpPr>
        <p:spPr bwMode="auto">
          <a:xfrm>
            <a:off x="4716463" y="3187700"/>
            <a:ext cx="1479550" cy="533400"/>
          </a:xfrm>
          <a:prstGeom prst="rect">
            <a:avLst/>
          </a:prstGeom>
          <a:noFill/>
          <a:ln w="76200" cmpd="tri">
            <a:solidFill>
              <a:schemeClr val="hlink"/>
            </a:solidFill>
            <a:miter lim="800000"/>
            <a:headEnd/>
            <a:tailEnd/>
          </a:ln>
        </p:spPr>
        <p:txBody>
          <a:bodyPr wrap="none">
            <a:spAutoFit/>
          </a:bodyPr>
          <a:lstStyle/>
          <a:p>
            <a:r>
              <a:rPr lang="zh-CN" altLang="en-US">
                <a:solidFill>
                  <a:schemeClr val="hlink"/>
                </a:solidFill>
                <a:ea typeface="黑体" pitchFamily="49" charset="-122"/>
              </a:rPr>
              <a:t>不能通过</a:t>
            </a:r>
          </a:p>
        </p:txBody>
      </p:sp>
      <p:sp>
        <p:nvSpPr>
          <p:cNvPr id="18441" name="Text Box 9"/>
          <p:cNvSpPr txBox="1">
            <a:spLocks noChangeArrowheads="1"/>
          </p:cNvSpPr>
          <p:nvPr/>
        </p:nvSpPr>
        <p:spPr bwMode="auto">
          <a:xfrm>
            <a:off x="1889125" y="3187700"/>
            <a:ext cx="1098550" cy="457200"/>
          </a:xfrm>
          <a:prstGeom prst="rect">
            <a:avLst/>
          </a:prstGeom>
          <a:noFill/>
          <a:ln w="9525">
            <a:noFill/>
            <a:miter lim="800000"/>
            <a:headEnd/>
            <a:tailEnd/>
          </a:ln>
        </p:spPr>
        <p:txBody>
          <a:bodyPr wrap="none">
            <a:spAutoFit/>
          </a:bodyPr>
          <a:lstStyle/>
          <a:p>
            <a:r>
              <a:rPr lang="zh-CN" altLang="en-US">
                <a:solidFill>
                  <a:srgbClr val="333399"/>
                </a:solidFill>
                <a:ea typeface="黑体" pitchFamily="49" charset="-122"/>
              </a:rPr>
              <a:t>能通过</a:t>
            </a:r>
          </a:p>
        </p:txBody>
      </p:sp>
      <p:sp>
        <p:nvSpPr>
          <p:cNvPr id="18442" name="Text Box 10"/>
          <p:cNvSpPr txBox="1">
            <a:spLocks noChangeArrowheads="1"/>
          </p:cNvSpPr>
          <p:nvPr/>
        </p:nvSpPr>
        <p:spPr bwMode="auto">
          <a:xfrm>
            <a:off x="879475" y="3476625"/>
            <a:ext cx="325438" cy="396875"/>
          </a:xfrm>
          <a:prstGeom prst="rect">
            <a:avLst/>
          </a:prstGeom>
          <a:noFill/>
          <a:ln w="9525">
            <a:noFill/>
            <a:miter lim="800000"/>
            <a:headEnd/>
            <a:tailEnd/>
          </a:ln>
        </p:spPr>
        <p:txBody>
          <a:bodyPr wrap="none">
            <a:spAutoFit/>
          </a:bodyPr>
          <a:lstStyle/>
          <a:p>
            <a:r>
              <a:rPr lang="en-US" altLang="zh-CN" sz="2000">
                <a:latin typeface="Arial" pitchFamily="34" charset="0"/>
              </a:rPr>
              <a:t>0</a:t>
            </a:r>
          </a:p>
        </p:txBody>
      </p:sp>
      <p:sp>
        <p:nvSpPr>
          <p:cNvPr id="18443" name="Text Box 11"/>
          <p:cNvSpPr txBox="1">
            <a:spLocks noChangeArrowheads="1"/>
          </p:cNvSpPr>
          <p:nvPr/>
        </p:nvSpPr>
        <p:spPr bwMode="auto">
          <a:xfrm>
            <a:off x="7380288" y="3481388"/>
            <a:ext cx="1171575" cy="396875"/>
          </a:xfrm>
          <a:prstGeom prst="rect">
            <a:avLst/>
          </a:prstGeom>
          <a:noFill/>
          <a:ln w="9525">
            <a:noFill/>
            <a:miter lim="800000"/>
            <a:headEnd/>
            <a:tailEnd/>
          </a:ln>
        </p:spPr>
        <p:txBody>
          <a:bodyPr wrap="none">
            <a:spAutoFit/>
          </a:bodyPr>
          <a:lstStyle/>
          <a:p>
            <a:r>
              <a:rPr lang="zh-CN" altLang="en-US" sz="2000">
                <a:solidFill>
                  <a:srgbClr val="333399"/>
                </a:solidFill>
                <a:latin typeface="Arial" pitchFamily="34" charset="0"/>
                <a:ea typeface="黑体" pitchFamily="49" charset="-122"/>
              </a:rPr>
              <a:t>频率</a:t>
            </a:r>
            <a:r>
              <a:rPr lang="en-US" altLang="zh-CN" sz="2000">
                <a:solidFill>
                  <a:srgbClr val="333399"/>
                </a:solidFill>
                <a:latin typeface="Arial" pitchFamily="34" charset="0"/>
                <a:ea typeface="黑体" pitchFamily="49" charset="-122"/>
              </a:rPr>
              <a:t>(Hz)</a:t>
            </a:r>
          </a:p>
        </p:txBody>
      </p:sp>
      <p:sp>
        <p:nvSpPr>
          <p:cNvPr id="18444" name="Line 12"/>
          <p:cNvSpPr>
            <a:spLocks noChangeShapeType="1"/>
          </p:cNvSpPr>
          <p:nvPr/>
        </p:nvSpPr>
        <p:spPr bwMode="auto">
          <a:xfrm>
            <a:off x="3779838" y="3260725"/>
            <a:ext cx="0" cy="935038"/>
          </a:xfrm>
          <a:prstGeom prst="line">
            <a:avLst/>
          </a:prstGeom>
          <a:noFill/>
          <a:ln w="19050">
            <a:solidFill>
              <a:srgbClr val="333399"/>
            </a:solidFill>
            <a:prstDash val="dash"/>
            <a:round/>
            <a:headEnd/>
            <a:tailEnd/>
          </a:ln>
        </p:spPr>
        <p:txBody>
          <a:bodyPr/>
          <a:lstStyle/>
          <a:p>
            <a:endParaRPr lang="zh-CN" altLang="en-US"/>
          </a:p>
        </p:txBody>
      </p:sp>
      <p:sp>
        <p:nvSpPr>
          <p:cNvPr id="18445" name="Line 13"/>
          <p:cNvSpPr>
            <a:spLocks noChangeShapeType="1"/>
          </p:cNvSpPr>
          <p:nvPr/>
        </p:nvSpPr>
        <p:spPr bwMode="auto">
          <a:xfrm>
            <a:off x="1258888" y="3979863"/>
            <a:ext cx="2520950" cy="0"/>
          </a:xfrm>
          <a:prstGeom prst="line">
            <a:avLst/>
          </a:prstGeom>
          <a:noFill/>
          <a:ln w="19050">
            <a:solidFill>
              <a:srgbClr val="333399"/>
            </a:solidFill>
            <a:round/>
            <a:headEnd type="triangle" w="med" len="lg"/>
            <a:tailEnd type="triangle" w="med" len="lg"/>
          </a:ln>
        </p:spPr>
        <p:txBody>
          <a:bodyPr/>
          <a:lstStyle/>
          <a:p>
            <a:endParaRPr lang="zh-CN" altLang="en-US"/>
          </a:p>
        </p:txBody>
      </p:sp>
      <p:sp>
        <p:nvSpPr>
          <p:cNvPr id="18446" name="Text Box 14"/>
          <p:cNvSpPr txBox="1">
            <a:spLocks noChangeArrowheads="1"/>
          </p:cNvSpPr>
          <p:nvPr/>
        </p:nvSpPr>
        <p:spPr bwMode="auto">
          <a:xfrm>
            <a:off x="1835150" y="3763963"/>
            <a:ext cx="1216025" cy="457200"/>
          </a:xfrm>
          <a:prstGeom prst="rect">
            <a:avLst/>
          </a:prstGeom>
          <a:solidFill>
            <a:schemeClr val="bg1"/>
          </a:solidFill>
          <a:ln w="9525">
            <a:noFill/>
            <a:miter lim="800000"/>
            <a:headEnd/>
            <a:tailEnd/>
          </a:ln>
        </p:spPr>
        <p:txBody>
          <a:bodyPr wrap="none">
            <a:spAutoFit/>
          </a:bodyPr>
          <a:lstStyle/>
          <a:p>
            <a:r>
              <a:rPr lang="en-US" altLang="zh-CN" i="1">
                <a:solidFill>
                  <a:srgbClr val="333399"/>
                </a:solidFill>
                <a:latin typeface="Arial" pitchFamily="34" charset="0"/>
                <a:ea typeface="黑体" pitchFamily="49" charset="-122"/>
              </a:rPr>
              <a:t>W </a:t>
            </a:r>
            <a:r>
              <a:rPr lang="en-US" altLang="zh-CN">
                <a:solidFill>
                  <a:srgbClr val="333399"/>
                </a:solidFill>
                <a:latin typeface="Arial" pitchFamily="34" charset="0"/>
                <a:ea typeface="黑体" pitchFamily="49" charset="-122"/>
              </a:rPr>
              <a:t>(Hz) </a:t>
            </a:r>
          </a:p>
        </p:txBody>
      </p:sp>
      <p:sp>
        <p:nvSpPr>
          <p:cNvPr id="18447" name="Line 15"/>
          <p:cNvSpPr>
            <a:spLocks noChangeShapeType="1"/>
          </p:cNvSpPr>
          <p:nvPr/>
        </p:nvSpPr>
        <p:spPr bwMode="auto">
          <a:xfrm>
            <a:off x="1258888" y="3260725"/>
            <a:ext cx="0" cy="935038"/>
          </a:xfrm>
          <a:prstGeom prst="line">
            <a:avLst/>
          </a:prstGeom>
          <a:noFill/>
          <a:ln w="19050">
            <a:solidFill>
              <a:srgbClr val="333399"/>
            </a:solidFill>
            <a:prstDash val="dash"/>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779838" y="3114675"/>
            <a:ext cx="3529012" cy="1081088"/>
          </a:xfrm>
          <a:prstGeom prst="rect">
            <a:avLst/>
          </a:prstGeom>
          <a:solidFill>
            <a:srgbClr val="FFCCFF"/>
          </a:solidFill>
          <a:ln w="9525">
            <a:noFill/>
            <a:miter lim="800000"/>
            <a:headEnd/>
            <a:tailEnd/>
          </a:ln>
        </p:spPr>
        <p:txBody>
          <a:bodyPr wrap="none" anchor="ctr"/>
          <a:lstStyle/>
          <a:p>
            <a:endParaRPr lang="zh-CN" altLang="en-US"/>
          </a:p>
        </p:txBody>
      </p:sp>
      <p:sp>
        <p:nvSpPr>
          <p:cNvPr id="19459" name="Rectangle 3"/>
          <p:cNvSpPr>
            <a:spLocks noGrp="1" noChangeArrowheads="1"/>
          </p:cNvSpPr>
          <p:nvPr>
            <p:ph type="title"/>
          </p:nvPr>
        </p:nvSpPr>
        <p:spPr>
          <a:xfrm>
            <a:off x="1116013" y="333375"/>
            <a:ext cx="7793037" cy="1143000"/>
          </a:xfrm>
        </p:spPr>
        <p:txBody>
          <a:bodyPr/>
          <a:lstStyle/>
          <a:p>
            <a:pPr algn="ctr"/>
            <a:r>
              <a:rPr lang="zh-CN" altLang="en-US" smtClean="0"/>
              <a:t>奈氏</a:t>
            </a:r>
            <a:r>
              <a:rPr lang="en-US" altLang="zh-CN" smtClean="0"/>
              <a:t>(Nyquist)</a:t>
            </a:r>
            <a:r>
              <a:rPr lang="zh-CN" altLang="en-US" smtClean="0"/>
              <a:t>准则 </a:t>
            </a:r>
          </a:p>
        </p:txBody>
      </p:sp>
      <p:sp>
        <p:nvSpPr>
          <p:cNvPr id="358404" name="Rectangle 4"/>
          <p:cNvSpPr>
            <a:spLocks noGrp="1" noChangeArrowheads="1"/>
          </p:cNvSpPr>
          <p:nvPr>
            <p:ph type="body" idx="1"/>
          </p:nvPr>
        </p:nvSpPr>
        <p:spPr>
          <a:xfrm>
            <a:off x="971550" y="4365625"/>
            <a:ext cx="7772400" cy="2232025"/>
          </a:xfrm>
        </p:spPr>
        <p:txBody>
          <a:bodyPr/>
          <a:lstStyle/>
          <a:p>
            <a:r>
              <a:rPr lang="zh-CN" altLang="en-US" smtClean="0"/>
              <a:t>每赫带宽的理想低通信道的最高码元传输速率是每秒 </a:t>
            </a:r>
            <a:r>
              <a:rPr lang="zh-CN" altLang="en-US" sz="1600" smtClean="0"/>
              <a:t> </a:t>
            </a:r>
            <a:r>
              <a:rPr lang="en-US" altLang="zh-CN" smtClean="0"/>
              <a:t>2</a:t>
            </a:r>
            <a:r>
              <a:rPr lang="en-US" altLang="zh-CN" sz="1600" b="1" smtClean="0"/>
              <a:t>  </a:t>
            </a:r>
            <a:r>
              <a:rPr lang="zh-CN" altLang="en-US" smtClean="0"/>
              <a:t>个码元。</a:t>
            </a:r>
          </a:p>
          <a:p>
            <a:r>
              <a:rPr lang="en-US" altLang="zh-CN" smtClean="0"/>
              <a:t>Baud </a:t>
            </a:r>
            <a:r>
              <a:rPr lang="zh-CN" altLang="en-US" smtClean="0"/>
              <a:t>是</a:t>
            </a:r>
            <a:r>
              <a:rPr lang="zh-CN" altLang="en-US" smtClean="0">
                <a:solidFill>
                  <a:schemeClr val="hlink"/>
                </a:solidFill>
              </a:rPr>
              <a:t>波特</a:t>
            </a:r>
            <a:r>
              <a:rPr lang="zh-CN" altLang="en-US" smtClean="0"/>
              <a:t>，是</a:t>
            </a:r>
            <a:r>
              <a:rPr lang="zh-CN" altLang="en-US" smtClean="0">
                <a:solidFill>
                  <a:schemeClr val="hlink"/>
                </a:solidFill>
              </a:rPr>
              <a:t>码元</a:t>
            </a:r>
            <a:r>
              <a:rPr lang="zh-CN" altLang="en-US" smtClean="0"/>
              <a:t>传输速率的单位，</a:t>
            </a:r>
            <a:r>
              <a:rPr lang="en-US" altLang="zh-CN" smtClean="0"/>
              <a:t>1 </a:t>
            </a:r>
            <a:r>
              <a:rPr lang="zh-CN" altLang="en-US" smtClean="0"/>
              <a:t>波特为每秒传送 </a:t>
            </a:r>
            <a:r>
              <a:rPr lang="en-US" altLang="zh-CN" smtClean="0"/>
              <a:t>1 </a:t>
            </a:r>
            <a:r>
              <a:rPr lang="zh-CN" altLang="en-US" smtClean="0"/>
              <a:t>个码元。 </a:t>
            </a:r>
          </a:p>
        </p:txBody>
      </p:sp>
      <p:sp>
        <p:nvSpPr>
          <p:cNvPr id="19461" name="Text Box 5"/>
          <p:cNvSpPr txBox="1">
            <a:spLocks noChangeArrowheads="1"/>
          </p:cNvSpPr>
          <p:nvPr/>
        </p:nvSpPr>
        <p:spPr bwMode="auto">
          <a:xfrm>
            <a:off x="1116013" y="1973263"/>
            <a:ext cx="7485062" cy="519112"/>
          </a:xfrm>
          <a:prstGeom prst="rect">
            <a:avLst/>
          </a:prstGeom>
          <a:noFill/>
          <a:ln w="9525">
            <a:noFill/>
            <a:miter lim="800000"/>
            <a:headEnd/>
            <a:tailEnd/>
          </a:ln>
        </p:spPr>
        <p:txBody>
          <a:bodyPr wrap="none">
            <a:spAutoFit/>
          </a:bodyPr>
          <a:lstStyle/>
          <a:p>
            <a:r>
              <a:rPr lang="zh-CN" altLang="en-US" sz="2800">
                <a:solidFill>
                  <a:schemeClr val="hlink"/>
                </a:solidFill>
                <a:latin typeface="Arial" pitchFamily="34" charset="0"/>
                <a:ea typeface="黑体" pitchFamily="49" charset="-122"/>
              </a:rPr>
              <a:t>理想低通信道</a:t>
            </a:r>
            <a:r>
              <a:rPr lang="zh-CN" altLang="en-US" sz="2800">
                <a:solidFill>
                  <a:srgbClr val="333399"/>
                </a:solidFill>
                <a:latin typeface="Arial" pitchFamily="34" charset="0"/>
                <a:ea typeface="黑体" pitchFamily="49" charset="-122"/>
              </a:rPr>
              <a:t>的最高码元传输速率 </a:t>
            </a:r>
            <a:r>
              <a:rPr lang="en-US" altLang="zh-CN" sz="2800">
                <a:solidFill>
                  <a:srgbClr val="333399"/>
                </a:solidFill>
                <a:latin typeface="Arial" pitchFamily="34" charset="0"/>
                <a:ea typeface="黑体" pitchFamily="49" charset="-122"/>
              </a:rPr>
              <a:t>= 2</a:t>
            </a:r>
            <a:r>
              <a:rPr lang="en-US" altLang="zh-CN" sz="2800" i="1">
                <a:solidFill>
                  <a:srgbClr val="333399"/>
                </a:solidFill>
                <a:latin typeface="Arial" pitchFamily="34" charset="0"/>
                <a:ea typeface="黑体" pitchFamily="49" charset="-122"/>
              </a:rPr>
              <a:t>W</a:t>
            </a:r>
            <a:r>
              <a:rPr lang="en-US" altLang="zh-CN" sz="2800">
                <a:solidFill>
                  <a:srgbClr val="333399"/>
                </a:solidFill>
                <a:latin typeface="Arial" pitchFamily="34" charset="0"/>
                <a:ea typeface="黑体" pitchFamily="49" charset="-122"/>
              </a:rPr>
              <a:t> Baud </a:t>
            </a:r>
          </a:p>
        </p:txBody>
      </p:sp>
      <p:sp>
        <p:nvSpPr>
          <p:cNvPr id="19462" name="Text Box 6"/>
          <p:cNvSpPr txBox="1">
            <a:spLocks noChangeArrowheads="1"/>
          </p:cNvSpPr>
          <p:nvPr/>
        </p:nvSpPr>
        <p:spPr bwMode="auto">
          <a:xfrm>
            <a:off x="1116013" y="2549525"/>
            <a:ext cx="6723062" cy="519113"/>
          </a:xfrm>
          <a:prstGeom prst="rect">
            <a:avLst/>
          </a:prstGeom>
          <a:noFill/>
          <a:ln w="9525">
            <a:noFill/>
            <a:miter lim="800000"/>
            <a:headEnd/>
            <a:tailEnd/>
          </a:ln>
        </p:spPr>
        <p:txBody>
          <a:bodyPr wrap="none">
            <a:spAutoFit/>
          </a:bodyPr>
          <a:lstStyle/>
          <a:p>
            <a:r>
              <a:rPr lang="en-US" altLang="zh-CN" sz="2800" i="1">
                <a:solidFill>
                  <a:srgbClr val="333399"/>
                </a:solidFill>
                <a:latin typeface="Arial" pitchFamily="34" charset="0"/>
                <a:ea typeface="黑体" pitchFamily="49" charset="-122"/>
              </a:rPr>
              <a:t>W </a:t>
            </a:r>
            <a:r>
              <a:rPr lang="zh-CN" altLang="en-US" sz="2800">
                <a:solidFill>
                  <a:srgbClr val="333399"/>
                </a:solidFill>
                <a:latin typeface="Arial" pitchFamily="34" charset="0"/>
                <a:ea typeface="黑体" pitchFamily="49" charset="-122"/>
              </a:rPr>
              <a:t>是理想低通信道的带宽，单位为赫</a:t>
            </a:r>
            <a:r>
              <a:rPr lang="en-US" altLang="zh-CN" sz="2800">
                <a:solidFill>
                  <a:srgbClr val="333399"/>
                </a:solidFill>
                <a:latin typeface="Arial" pitchFamily="34" charset="0"/>
                <a:ea typeface="黑体" pitchFamily="49" charset="-122"/>
              </a:rPr>
              <a:t>(Hz) </a:t>
            </a:r>
          </a:p>
        </p:txBody>
      </p:sp>
      <p:sp>
        <p:nvSpPr>
          <p:cNvPr id="19463" name="Line 7"/>
          <p:cNvSpPr>
            <a:spLocks noChangeShapeType="1"/>
          </p:cNvSpPr>
          <p:nvPr/>
        </p:nvSpPr>
        <p:spPr bwMode="auto">
          <a:xfrm>
            <a:off x="1258888" y="3697288"/>
            <a:ext cx="6192837" cy="0"/>
          </a:xfrm>
          <a:prstGeom prst="line">
            <a:avLst/>
          </a:prstGeom>
          <a:noFill/>
          <a:ln w="28575">
            <a:solidFill>
              <a:srgbClr val="333399"/>
            </a:solidFill>
            <a:round/>
            <a:headEnd/>
            <a:tailEnd type="triangle" w="med" len="lg"/>
          </a:ln>
        </p:spPr>
        <p:txBody>
          <a:bodyPr/>
          <a:lstStyle/>
          <a:p>
            <a:endParaRPr lang="zh-CN" altLang="en-US"/>
          </a:p>
        </p:txBody>
      </p:sp>
      <p:sp>
        <p:nvSpPr>
          <p:cNvPr id="19464" name="Text Box 8"/>
          <p:cNvSpPr txBox="1">
            <a:spLocks noChangeArrowheads="1"/>
          </p:cNvSpPr>
          <p:nvPr/>
        </p:nvSpPr>
        <p:spPr bwMode="auto">
          <a:xfrm>
            <a:off x="4716463" y="3187700"/>
            <a:ext cx="1479550" cy="533400"/>
          </a:xfrm>
          <a:prstGeom prst="rect">
            <a:avLst/>
          </a:prstGeom>
          <a:noFill/>
          <a:ln w="76200" cmpd="tri">
            <a:solidFill>
              <a:schemeClr val="hlink"/>
            </a:solidFill>
            <a:miter lim="800000"/>
            <a:headEnd/>
            <a:tailEnd/>
          </a:ln>
        </p:spPr>
        <p:txBody>
          <a:bodyPr wrap="none">
            <a:spAutoFit/>
          </a:bodyPr>
          <a:lstStyle/>
          <a:p>
            <a:r>
              <a:rPr lang="zh-CN" altLang="en-US">
                <a:solidFill>
                  <a:schemeClr val="hlink"/>
                </a:solidFill>
                <a:ea typeface="黑体" pitchFamily="49" charset="-122"/>
              </a:rPr>
              <a:t>不能通过</a:t>
            </a:r>
          </a:p>
        </p:txBody>
      </p:sp>
      <p:sp>
        <p:nvSpPr>
          <p:cNvPr id="19465" name="Text Box 9"/>
          <p:cNvSpPr txBox="1">
            <a:spLocks noChangeArrowheads="1"/>
          </p:cNvSpPr>
          <p:nvPr/>
        </p:nvSpPr>
        <p:spPr bwMode="auto">
          <a:xfrm>
            <a:off x="1889125" y="3187700"/>
            <a:ext cx="1098550" cy="457200"/>
          </a:xfrm>
          <a:prstGeom prst="rect">
            <a:avLst/>
          </a:prstGeom>
          <a:noFill/>
          <a:ln w="9525">
            <a:noFill/>
            <a:miter lim="800000"/>
            <a:headEnd/>
            <a:tailEnd/>
          </a:ln>
        </p:spPr>
        <p:txBody>
          <a:bodyPr wrap="none">
            <a:spAutoFit/>
          </a:bodyPr>
          <a:lstStyle/>
          <a:p>
            <a:r>
              <a:rPr lang="zh-CN" altLang="en-US">
                <a:solidFill>
                  <a:srgbClr val="333399"/>
                </a:solidFill>
                <a:ea typeface="黑体" pitchFamily="49" charset="-122"/>
              </a:rPr>
              <a:t>能通过</a:t>
            </a:r>
          </a:p>
        </p:txBody>
      </p:sp>
      <p:sp>
        <p:nvSpPr>
          <p:cNvPr id="19466" name="Text Box 10"/>
          <p:cNvSpPr txBox="1">
            <a:spLocks noChangeArrowheads="1"/>
          </p:cNvSpPr>
          <p:nvPr/>
        </p:nvSpPr>
        <p:spPr bwMode="auto">
          <a:xfrm>
            <a:off x="879475" y="3476625"/>
            <a:ext cx="325438" cy="396875"/>
          </a:xfrm>
          <a:prstGeom prst="rect">
            <a:avLst/>
          </a:prstGeom>
          <a:noFill/>
          <a:ln w="9525">
            <a:noFill/>
            <a:miter lim="800000"/>
            <a:headEnd/>
            <a:tailEnd/>
          </a:ln>
        </p:spPr>
        <p:txBody>
          <a:bodyPr wrap="none">
            <a:spAutoFit/>
          </a:bodyPr>
          <a:lstStyle/>
          <a:p>
            <a:r>
              <a:rPr lang="en-US" altLang="zh-CN" sz="2000">
                <a:latin typeface="Arial" pitchFamily="34" charset="0"/>
              </a:rPr>
              <a:t>0</a:t>
            </a:r>
          </a:p>
        </p:txBody>
      </p:sp>
      <p:sp>
        <p:nvSpPr>
          <p:cNvPr id="19467" name="Text Box 11"/>
          <p:cNvSpPr txBox="1">
            <a:spLocks noChangeArrowheads="1"/>
          </p:cNvSpPr>
          <p:nvPr/>
        </p:nvSpPr>
        <p:spPr bwMode="auto">
          <a:xfrm>
            <a:off x="7380288" y="3481388"/>
            <a:ext cx="1171575" cy="396875"/>
          </a:xfrm>
          <a:prstGeom prst="rect">
            <a:avLst/>
          </a:prstGeom>
          <a:noFill/>
          <a:ln w="9525">
            <a:noFill/>
            <a:miter lim="800000"/>
            <a:headEnd/>
            <a:tailEnd/>
          </a:ln>
        </p:spPr>
        <p:txBody>
          <a:bodyPr wrap="none">
            <a:spAutoFit/>
          </a:bodyPr>
          <a:lstStyle/>
          <a:p>
            <a:r>
              <a:rPr lang="zh-CN" altLang="en-US" sz="2000">
                <a:solidFill>
                  <a:srgbClr val="333399"/>
                </a:solidFill>
                <a:latin typeface="Arial" pitchFamily="34" charset="0"/>
                <a:ea typeface="黑体" pitchFamily="49" charset="-122"/>
              </a:rPr>
              <a:t>频率</a:t>
            </a:r>
            <a:r>
              <a:rPr lang="en-US" altLang="zh-CN" sz="2000">
                <a:solidFill>
                  <a:srgbClr val="333399"/>
                </a:solidFill>
                <a:latin typeface="Arial" pitchFamily="34" charset="0"/>
                <a:ea typeface="黑体" pitchFamily="49" charset="-122"/>
              </a:rPr>
              <a:t>(Hz)</a:t>
            </a:r>
          </a:p>
        </p:txBody>
      </p:sp>
      <p:sp>
        <p:nvSpPr>
          <p:cNvPr id="19468" name="Line 12"/>
          <p:cNvSpPr>
            <a:spLocks noChangeShapeType="1"/>
          </p:cNvSpPr>
          <p:nvPr/>
        </p:nvSpPr>
        <p:spPr bwMode="auto">
          <a:xfrm>
            <a:off x="3779838" y="3260725"/>
            <a:ext cx="0" cy="935038"/>
          </a:xfrm>
          <a:prstGeom prst="line">
            <a:avLst/>
          </a:prstGeom>
          <a:noFill/>
          <a:ln w="19050">
            <a:solidFill>
              <a:srgbClr val="333399"/>
            </a:solidFill>
            <a:prstDash val="dash"/>
            <a:round/>
            <a:headEnd/>
            <a:tailEnd/>
          </a:ln>
        </p:spPr>
        <p:txBody>
          <a:bodyPr/>
          <a:lstStyle/>
          <a:p>
            <a:endParaRPr lang="zh-CN" altLang="en-US"/>
          </a:p>
        </p:txBody>
      </p:sp>
      <p:sp>
        <p:nvSpPr>
          <p:cNvPr id="19469" name="Line 13"/>
          <p:cNvSpPr>
            <a:spLocks noChangeShapeType="1"/>
          </p:cNvSpPr>
          <p:nvPr/>
        </p:nvSpPr>
        <p:spPr bwMode="auto">
          <a:xfrm>
            <a:off x="1258888" y="3979863"/>
            <a:ext cx="2520950" cy="0"/>
          </a:xfrm>
          <a:prstGeom prst="line">
            <a:avLst/>
          </a:prstGeom>
          <a:noFill/>
          <a:ln w="19050">
            <a:solidFill>
              <a:srgbClr val="333399"/>
            </a:solidFill>
            <a:round/>
            <a:headEnd type="triangle" w="med" len="lg"/>
            <a:tailEnd type="triangle" w="med" len="lg"/>
          </a:ln>
        </p:spPr>
        <p:txBody>
          <a:bodyPr/>
          <a:lstStyle/>
          <a:p>
            <a:endParaRPr lang="zh-CN" altLang="en-US"/>
          </a:p>
        </p:txBody>
      </p:sp>
      <p:sp>
        <p:nvSpPr>
          <p:cNvPr id="19470" name="Text Box 14"/>
          <p:cNvSpPr txBox="1">
            <a:spLocks noChangeArrowheads="1"/>
          </p:cNvSpPr>
          <p:nvPr/>
        </p:nvSpPr>
        <p:spPr bwMode="auto">
          <a:xfrm>
            <a:off x="1835150" y="3763963"/>
            <a:ext cx="1216025" cy="457200"/>
          </a:xfrm>
          <a:prstGeom prst="rect">
            <a:avLst/>
          </a:prstGeom>
          <a:solidFill>
            <a:schemeClr val="bg1"/>
          </a:solidFill>
          <a:ln w="9525">
            <a:noFill/>
            <a:miter lim="800000"/>
            <a:headEnd/>
            <a:tailEnd/>
          </a:ln>
        </p:spPr>
        <p:txBody>
          <a:bodyPr wrap="none">
            <a:spAutoFit/>
          </a:bodyPr>
          <a:lstStyle/>
          <a:p>
            <a:r>
              <a:rPr lang="en-US" altLang="zh-CN" i="1">
                <a:solidFill>
                  <a:srgbClr val="333399"/>
                </a:solidFill>
                <a:latin typeface="Arial" pitchFamily="34" charset="0"/>
                <a:ea typeface="黑体" pitchFamily="49" charset="-122"/>
              </a:rPr>
              <a:t>W </a:t>
            </a:r>
            <a:r>
              <a:rPr lang="en-US" altLang="zh-CN">
                <a:solidFill>
                  <a:srgbClr val="333399"/>
                </a:solidFill>
                <a:latin typeface="Arial" pitchFamily="34" charset="0"/>
                <a:ea typeface="黑体" pitchFamily="49" charset="-122"/>
              </a:rPr>
              <a:t>(Hz) </a:t>
            </a:r>
          </a:p>
        </p:txBody>
      </p:sp>
      <p:sp>
        <p:nvSpPr>
          <p:cNvPr id="19471" name="Line 15"/>
          <p:cNvSpPr>
            <a:spLocks noChangeShapeType="1"/>
          </p:cNvSpPr>
          <p:nvPr/>
        </p:nvSpPr>
        <p:spPr bwMode="auto">
          <a:xfrm>
            <a:off x="1258888" y="3260725"/>
            <a:ext cx="0" cy="935038"/>
          </a:xfrm>
          <a:prstGeom prst="line">
            <a:avLst/>
          </a:prstGeom>
          <a:noFill/>
          <a:ln w="19050">
            <a:solidFill>
              <a:srgbClr val="333399"/>
            </a:solidFill>
            <a:prstDash val="dash"/>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3779838" y="3114675"/>
            <a:ext cx="3529012" cy="1081088"/>
          </a:xfrm>
          <a:prstGeom prst="rect">
            <a:avLst/>
          </a:prstGeom>
          <a:solidFill>
            <a:srgbClr val="FFCCFF"/>
          </a:solidFill>
          <a:ln w="9525">
            <a:noFill/>
            <a:miter lim="800000"/>
            <a:headEnd/>
            <a:tailEnd/>
          </a:ln>
        </p:spPr>
        <p:txBody>
          <a:bodyPr wrap="none" anchor="ctr"/>
          <a:lstStyle/>
          <a:p>
            <a:endParaRPr lang="zh-CN" altLang="en-US"/>
          </a:p>
        </p:txBody>
      </p:sp>
      <p:sp>
        <p:nvSpPr>
          <p:cNvPr id="20483" name="Rectangle 3"/>
          <p:cNvSpPr>
            <a:spLocks noGrp="1" noChangeArrowheads="1"/>
          </p:cNvSpPr>
          <p:nvPr>
            <p:ph type="title"/>
          </p:nvPr>
        </p:nvSpPr>
        <p:spPr>
          <a:xfrm>
            <a:off x="1116013" y="333375"/>
            <a:ext cx="7793037" cy="1143000"/>
          </a:xfrm>
        </p:spPr>
        <p:txBody>
          <a:bodyPr/>
          <a:lstStyle/>
          <a:p>
            <a:pPr algn="ctr"/>
            <a:r>
              <a:rPr lang="zh-CN" altLang="en-US" smtClean="0"/>
              <a:t>奈氏</a:t>
            </a:r>
            <a:r>
              <a:rPr lang="en-US" altLang="zh-CN" smtClean="0"/>
              <a:t>(Nyquist)</a:t>
            </a:r>
            <a:r>
              <a:rPr lang="zh-CN" altLang="en-US" smtClean="0"/>
              <a:t>准则 </a:t>
            </a:r>
          </a:p>
        </p:txBody>
      </p:sp>
      <p:sp>
        <p:nvSpPr>
          <p:cNvPr id="358404" name="Rectangle 4"/>
          <p:cNvSpPr>
            <a:spLocks noGrp="1" noChangeArrowheads="1"/>
          </p:cNvSpPr>
          <p:nvPr>
            <p:ph type="body" idx="1"/>
          </p:nvPr>
        </p:nvSpPr>
        <p:spPr>
          <a:xfrm>
            <a:off x="971550" y="4365625"/>
            <a:ext cx="7772400" cy="2232025"/>
          </a:xfrm>
        </p:spPr>
        <p:txBody>
          <a:bodyPr/>
          <a:lstStyle/>
          <a:p>
            <a:r>
              <a:rPr lang="zh-CN" altLang="en-US" smtClean="0"/>
              <a:t>每赫带宽的理想低通信道的最高码元传输速率是每秒 </a:t>
            </a:r>
            <a:r>
              <a:rPr lang="zh-CN" altLang="en-US" sz="1600" smtClean="0"/>
              <a:t> </a:t>
            </a:r>
            <a:r>
              <a:rPr lang="en-US" altLang="zh-CN" smtClean="0"/>
              <a:t>2</a:t>
            </a:r>
            <a:r>
              <a:rPr lang="en-US" altLang="zh-CN" sz="1600" b="1" smtClean="0"/>
              <a:t>  </a:t>
            </a:r>
            <a:r>
              <a:rPr lang="zh-CN" altLang="en-US" smtClean="0"/>
              <a:t>个码元。</a:t>
            </a:r>
          </a:p>
          <a:p>
            <a:r>
              <a:rPr lang="en-US" altLang="zh-CN" smtClean="0"/>
              <a:t>Baud </a:t>
            </a:r>
            <a:r>
              <a:rPr lang="zh-CN" altLang="en-US" smtClean="0"/>
              <a:t>是</a:t>
            </a:r>
            <a:r>
              <a:rPr lang="zh-CN" altLang="en-US" smtClean="0">
                <a:solidFill>
                  <a:schemeClr val="hlink"/>
                </a:solidFill>
              </a:rPr>
              <a:t>波特</a:t>
            </a:r>
            <a:r>
              <a:rPr lang="zh-CN" altLang="en-US" smtClean="0"/>
              <a:t>，是</a:t>
            </a:r>
            <a:r>
              <a:rPr lang="zh-CN" altLang="en-US" smtClean="0">
                <a:solidFill>
                  <a:schemeClr val="hlink"/>
                </a:solidFill>
              </a:rPr>
              <a:t>码元</a:t>
            </a:r>
            <a:r>
              <a:rPr lang="zh-CN" altLang="en-US" smtClean="0"/>
              <a:t>传输速率的单位，</a:t>
            </a:r>
            <a:r>
              <a:rPr lang="en-US" altLang="zh-CN" smtClean="0"/>
              <a:t>1 </a:t>
            </a:r>
            <a:r>
              <a:rPr lang="zh-CN" altLang="en-US" smtClean="0"/>
              <a:t>波特为每秒传送 </a:t>
            </a:r>
            <a:r>
              <a:rPr lang="en-US" altLang="zh-CN" smtClean="0"/>
              <a:t>1 </a:t>
            </a:r>
            <a:r>
              <a:rPr lang="zh-CN" altLang="en-US" smtClean="0"/>
              <a:t>个码元。 </a:t>
            </a:r>
          </a:p>
        </p:txBody>
      </p:sp>
      <p:sp>
        <p:nvSpPr>
          <p:cNvPr id="20485" name="Text Box 5"/>
          <p:cNvSpPr txBox="1">
            <a:spLocks noChangeArrowheads="1"/>
          </p:cNvSpPr>
          <p:nvPr/>
        </p:nvSpPr>
        <p:spPr bwMode="auto">
          <a:xfrm>
            <a:off x="1116013" y="1973263"/>
            <a:ext cx="7485062" cy="519112"/>
          </a:xfrm>
          <a:prstGeom prst="rect">
            <a:avLst/>
          </a:prstGeom>
          <a:noFill/>
          <a:ln w="9525">
            <a:noFill/>
            <a:miter lim="800000"/>
            <a:headEnd/>
            <a:tailEnd/>
          </a:ln>
        </p:spPr>
        <p:txBody>
          <a:bodyPr wrap="none">
            <a:spAutoFit/>
          </a:bodyPr>
          <a:lstStyle/>
          <a:p>
            <a:r>
              <a:rPr lang="zh-CN" altLang="en-US" sz="2800">
                <a:solidFill>
                  <a:schemeClr val="hlink"/>
                </a:solidFill>
                <a:latin typeface="Arial" pitchFamily="34" charset="0"/>
                <a:ea typeface="黑体" pitchFamily="49" charset="-122"/>
              </a:rPr>
              <a:t>理想低通信道</a:t>
            </a:r>
            <a:r>
              <a:rPr lang="zh-CN" altLang="en-US" sz="2800">
                <a:solidFill>
                  <a:srgbClr val="333399"/>
                </a:solidFill>
                <a:latin typeface="Arial" pitchFamily="34" charset="0"/>
                <a:ea typeface="黑体" pitchFamily="49" charset="-122"/>
              </a:rPr>
              <a:t>的最高码元传输速率 </a:t>
            </a:r>
            <a:r>
              <a:rPr lang="en-US" altLang="zh-CN" sz="2800">
                <a:solidFill>
                  <a:srgbClr val="333399"/>
                </a:solidFill>
                <a:latin typeface="Arial" pitchFamily="34" charset="0"/>
                <a:ea typeface="黑体" pitchFamily="49" charset="-122"/>
              </a:rPr>
              <a:t>= 2</a:t>
            </a:r>
            <a:r>
              <a:rPr lang="en-US" altLang="zh-CN" sz="2800" i="1">
                <a:solidFill>
                  <a:srgbClr val="333399"/>
                </a:solidFill>
                <a:latin typeface="Arial" pitchFamily="34" charset="0"/>
                <a:ea typeface="黑体" pitchFamily="49" charset="-122"/>
              </a:rPr>
              <a:t>W</a:t>
            </a:r>
            <a:r>
              <a:rPr lang="en-US" altLang="zh-CN" sz="2800">
                <a:solidFill>
                  <a:srgbClr val="333399"/>
                </a:solidFill>
                <a:latin typeface="Arial" pitchFamily="34" charset="0"/>
                <a:ea typeface="黑体" pitchFamily="49" charset="-122"/>
              </a:rPr>
              <a:t> Baud </a:t>
            </a:r>
          </a:p>
        </p:txBody>
      </p:sp>
      <p:sp>
        <p:nvSpPr>
          <p:cNvPr id="20486" name="Text Box 6"/>
          <p:cNvSpPr txBox="1">
            <a:spLocks noChangeArrowheads="1"/>
          </p:cNvSpPr>
          <p:nvPr/>
        </p:nvSpPr>
        <p:spPr bwMode="auto">
          <a:xfrm>
            <a:off x="1116013" y="2549525"/>
            <a:ext cx="6723062" cy="519113"/>
          </a:xfrm>
          <a:prstGeom prst="rect">
            <a:avLst/>
          </a:prstGeom>
          <a:noFill/>
          <a:ln w="9525">
            <a:noFill/>
            <a:miter lim="800000"/>
            <a:headEnd/>
            <a:tailEnd/>
          </a:ln>
        </p:spPr>
        <p:txBody>
          <a:bodyPr wrap="none">
            <a:spAutoFit/>
          </a:bodyPr>
          <a:lstStyle/>
          <a:p>
            <a:r>
              <a:rPr lang="en-US" altLang="zh-CN" sz="2800" i="1">
                <a:solidFill>
                  <a:srgbClr val="333399"/>
                </a:solidFill>
                <a:latin typeface="Arial" pitchFamily="34" charset="0"/>
                <a:ea typeface="黑体" pitchFamily="49" charset="-122"/>
              </a:rPr>
              <a:t>W </a:t>
            </a:r>
            <a:r>
              <a:rPr lang="zh-CN" altLang="en-US" sz="2800">
                <a:solidFill>
                  <a:srgbClr val="333399"/>
                </a:solidFill>
                <a:latin typeface="Arial" pitchFamily="34" charset="0"/>
                <a:ea typeface="黑体" pitchFamily="49" charset="-122"/>
              </a:rPr>
              <a:t>是理想低通信道的带宽，单位为赫</a:t>
            </a:r>
            <a:r>
              <a:rPr lang="en-US" altLang="zh-CN" sz="2800">
                <a:solidFill>
                  <a:srgbClr val="333399"/>
                </a:solidFill>
                <a:latin typeface="Arial" pitchFamily="34" charset="0"/>
                <a:ea typeface="黑体" pitchFamily="49" charset="-122"/>
              </a:rPr>
              <a:t>(Hz) </a:t>
            </a:r>
          </a:p>
        </p:txBody>
      </p:sp>
      <p:sp>
        <p:nvSpPr>
          <p:cNvPr id="20487" name="Line 7"/>
          <p:cNvSpPr>
            <a:spLocks noChangeShapeType="1"/>
          </p:cNvSpPr>
          <p:nvPr/>
        </p:nvSpPr>
        <p:spPr bwMode="auto">
          <a:xfrm>
            <a:off x="1258888" y="3697288"/>
            <a:ext cx="6192837" cy="0"/>
          </a:xfrm>
          <a:prstGeom prst="line">
            <a:avLst/>
          </a:prstGeom>
          <a:noFill/>
          <a:ln w="28575">
            <a:solidFill>
              <a:srgbClr val="333399"/>
            </a:solidFill>
            <a:round/>
            <a:headEnd/>
            <a:tailEnd type="triangle" w="med" len="lg"/>
          </a:ln>
        </p:spPr>
        <p:txBody>
          <a:bodyPr/>
          <a:lstStyle/>
          <a:p>
            <a:endParaRPr lang="zh-CN" altLang="en-US"/>
          </a:p>
        </p:txBody>
      </p:sp>
      <p:sp>
        <p:nvSpPr>
          <p:cNvPr id="20488" name="Text Box 8"/>
          <p:cNvSpPr txBox="1">
            <a:spLocks noChangeArrowheads="1"/>
          </p:cNvSpPr>
          <p:nvPr/>
        </p:nvSpPr>
        <p:spPr bwMode="auto">
          <a:xfrm>
            <a:off x="4716463" y="3187700"/>
            <a:ext cx="1479550" cy="533400"/>
          </a:xfrm>
          <a:prstGeom prst="rect">
            <a:avLst/>
          </a:prstGeom>
          <a:noFill/>
          <a:ln w="76200" cmpd="tri">
            <a:solidFill>
              <a:schemeClr val="hlink"/>
            </a:solidFill>
            <a:miter lim="800000"/>
            <a:headEnd/>
            <a:tailEnd/>
          </a:ln>
        </p:spPr>
        <p:txBody>
          <a:bodyPr wrap="none">
            <a:spAutoFit/>
          </a:bodyPr>
          <a:lstStyle/>
          <a:p>
            <a:r>
              <a:rPr lang="zh-CN" altLang="en-US">
                <a:solidFill>
                  <a:schemeClr val="hlink"/>
                </a:solidFill>
                <a:ea typeface="黑体" pitchFamily="49" charset="-122"/>
              </a:rPr>
              <a:t>不能通过</a:t>
            </a:r>
          </a:p>
        </p:txBody>
      </p:sp>
      <p:sp>
        <p:nvSpPr>
          <p:cNvPr id="20489" name="Text Box 9"/>
          <p:cNvSpPr txBox="1">
            <a:spLocks noChangeArrowheads="1"/>
          </p:cNvSpPr>
          <p:nvPr/>
        </p:nvSpPr>
        <p:spPr bwMode="auto">
          <a:xfrm>
            <a:off x="1889125" y="3187700"/>
            <a:ext cx="1098550" cy="457200"/>
          </a:xfrm>
          <a:prstGeom prst="rect">
            <a:avLst/>
          </a:prstGeom>
          <a:noFill/>
          <a:ln w="9525">
            <a:noFill/>
            <a:miter lim="800000"/>
            <a:headEnd/>
            <a:tailEnd/>
          </a:ln>
        </p:spPr>
        <p:txBody>
          <a:bodyPr wrap="none">
            <a:spAutoFit/>
          </a:bodyPr>
          <a:lstStyle/>
          <a:p>
            <a:r>
              <a:rPr lang="zh-CN" altLang="en-US">
                <a:solidFill>
                  <a:srgbClr val="333399"/>
                </a:solidFill>
                <a:ea typeface="黑体" pitchFamily="49" charset="-122"/>
              </a:rPr>
              <a:t>能通过</a:t>
            </a:r>
          </a:p>
        </p:txBody>
      </p:sp>
      <p:sp>
        <p:nvSpPr>
          <p:cNvPr id="20490" name="Text Box 10"/>
          <p:cNvSpPr txBox="1">
            <a:spLocks noChangeArrowheads="1"/>
          </p:cNvSpPr>
          <p:nvPr/>
        </p:nvSpPr>
        <p:spPr bwMode="auto">
          <a:xfrm>
            <a:off x="879475" y="3476625"/>
            <a:ext cx="325438" cy="396875"/>
          </a:xfrm>
          <a:prstGeom prst="rect">
            <a:avLst/>
          </a:prstGeom>
          <a:noFill/>
          <a:ln w="9525">
            <a:noFill/>
            <a:miter lim="800000"/>
            <a:headEnd/>
            <a:tailEnd/>
          </a:ln>
        </p:spPr>
        <p:txBody>
          <a:bodyPr wrap="none">
            <a:spAutoFit/>
          </a:bodyPr>
          <a:lstStyle/>
          <a:p>
            <a:r>
              <a:rPr lang="en-US" altLang="zh-CN" sz="2000">
                <a:latin typeface="Arial" pitchFamily="34" charset="0"/>
              </a:rPr>
              <a:t>0</a:t>
            </a:r>
          </a:p>
        </p:txBody>
      </p:sp>
      <p:sp>
        <p:nvSpPr>
          <p:cNvPr id="20491" name="Text Box 11"/>
          <p:cNvSpPr txBox="1">
            <a:spLocks noChangeArrowheads="1"/>
          </p:cNvSpPr>
          <p:nvPr/>
        </p:nvSpPr>
        <p:spPr bwMode="auto">
          <a:xfrm>
            <a:off x="7380288" y="3481388"/>
            <a:ext cx="1171575" cy="396875"/>
          </a:xfrm>
          <a:prstGeom prst="rect">
            <a:avLst/>
          </a:prstGeom>
          <a:noFill/>
          <a:ln w="9525">
            <a:noFill/>
            <a:miter lim="800000"/>
            <a:headEnd/>
            <a:tailEnd/>
          </a:ln>
        </p:spPr>
        <p:txBody>
          <a:bodyPr wrap="none">
            <a:spAutoFit/>
          </a:bodyPr>
          <a:lstStyle/>
          <a:p>
            <a:r>
              <a:rPr lang="zh-CN" altLang="en-US" sz="2000">
                <a:solidFill>
                  <a:srgbClr val="333399"/>
                </a:solidFill>
                <a:latin typeface="Arial" pitchFamily="34" charset="0"/>
                <a:ea typeface="黑体" pitchFamily="49" charset="-122"/>
              </a:rPr>
              <a:t>频率</a:t>
            </a:r>
            <a:r>
              <a:rPr lang="en-US" altLang="zh-CN" sz="2000">
                <a:solidFill>
                  <a:srgbClr val="333399"/>
                </a:solidFill>
                <a:latin typeface="Arial" pitchFamily="34" charset="0"/>
                <a:ea typeface="黑体" pitchFamily="49" charset="-122"/>
              </a:rPr>
              <a:t>(Hz)</a:t>
            </a:r>
          </a:p>
        </p:txBody>
      </p:sp>
      <p:sp>
        <p:nvSpPr>
          <p:cNvPr id="20492" name="Line 12"/>
          <p:cNvSpPr>
            <a:spLocks noChangeShapeType="1"/>
          </p:cNvSpPr>
          <p:nvPr/>
        </p:nvSpPr>
        <p:spPr bwMode="auto">
          <a:xfrm>
            <a:off x="3779838" y="3260725"/>
            <a:ext cx="0" cy="935038"/>
          </a:xfrm>
          <a:prstGeom prst="line">
            <a:avLst/>
          </a:prstGeom>
          <a:noFill/>
          <a:ln w="19050">
            <a:solidFill>
              <a:srgbClr val="333399"/>
            </a:solidFill>
            <a:prstDash val="dash"/>
            <a:round/>
            <a:headEnd/>
            <a:tailEnd/>
          </a:ln>
        </p:spPr>
        <p:txBody>
          <a:bodyPr/>
          <a:lstStyle/>
          <a:p>
            <a:endParaRPr lang="zh-CN" altLang="en-US"/>
          </a:p>
        </p:txBody>
      </p:sp>
      <p:sp>
        <p:nvSpPr>
          <p:cNvPr id="20493" name="Line 13"/>
          <p:cNvSpPr>
            <a:spLocks noChangeShapeType="1"/>
          </p:cNvSpPr>
          <p:nvPr/>
        </p:nvSpPr>
        <p:spPr bwMode="auto">
          <a:xfrm>
            <a:off x="1258888" y="3979863"/>
            <a:ext cx="2520950" cy="0"/>
          </a:xfrm>
          <a:prstGeom prst="line">
            <a:avLst/>
          </a:prstGeom>
          <a:noFill/>
          <a:ln w="19050">
            <a:solidFill>
              <a:srgbClr val="333399"/>
            </a:solidFill>
            <a:round/>
            <a:headEnd type="triangle" w="med" len="lg"/>
            <a:tailEnd type="triangle" w="med" len="lg"/>
          </a:ln>
        </p:spPr>
        <p:txBody>
          <a:bodyPr/>
          <a:lstStyle/>
          <a:p>
            <a:endParaRPr lang="zh-CN" altLang="en-US"/>
          </a:p>
        </p:txBody>
      </p:sp>
      <p:sp>
        <p:nvSpPr>
          <p:cNvPr id="20494" name="Text Box 14"/>
          <p:cNvSpPr txBox="1">
            <a:spLocks noChangeArrowheads="1"/>
          </p:cNvSpPr>
          <p:nvPr/>
        </p:nvSpPr>
        <p:spPr bwMode="auto">
          <a:xfrm>
            <a:off x="1835150" y="3763963"/>
            <a:ext cx="1216025" cy="457200"/>
          </a:xfrm>
          <a:prstGeom prst="rect">
            <a:avLst/>
          </a:prstGeom>
          <a:solidFill>
            <a:schemeClr val="bg1"/>
          </a:solidFill>
          <a:ln w="9525">
            <a:noFill/>
            <a:miter lim="800000"/>
            <a:headEnd/>
            <a:tailEnd/>
          </a:ln>
        </p:spPr>
        <p:txBody>
          <a:bodyPr wrap="none">
            <a:spAutoFit/>
          </a:bodyPr>
          <a:lstStyle/>
          <a:p>
            <a:r>
              <a:rPr lang="en-US" altLang="zh-CN" i="1">
                <a:solidFill>
                  <a:srgbClr val="333399"/>
                </a:solidFill>
                <a:latin typeface="Arial" pitchFamily="34" charset="0"/>
                <a:ea typeface="黑体" pitchFamily="49" charset="-122"/>
              </a:rPr>
              <a:t>W </a:t>
            </a:r>
            <a:r>
              <a:rPr lang="en-US" altLang="zh-CN">
                <a:solidFill>
                  <a:srgbClr val="333399"/>
                </a:solidFill>
                <a:latin typeface="Arial" pitchFamily="34" charset="0"/>
                <a:ea typeface="黑体" pitchFamily="49" charset="-122"/>
              </a:rPr>
              <a:t>(Hz) </a:t>
            </a:r>
          </a:p>
        </p:txBody>
      </p:sp>
      <p:sp>
        <p:nvSpPr>
          <p:cNvPr id="20495" name="Line 15"/>
          <p:cNvSpPr>
            <a:spLocks noChangeShapeType="1"/>
          </p:cNvSpPr>
          <p:nvPr/>
        </p:nvSpPr>
        <p:spPr bwMode="auto">
          <a:xfrm>
            <a:off x="1258888" y="3260725"/>
            <a:ext cx="0" cy="935038"/>
          </a:xfrm>
          <a:prstGeom prst="line">
            <a:avLst/>
          </a:prstGeom>
          <a:noFill/>
          <a:ln w="19050">
            <a:solidFill>
              <a:srgbClr val="333399"/>
            </a:solidFill>
            <a:prstDash val="dash"/>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258888" y="3252788"/>
            <a:ext cx="1944687" cy="1087437"/>
          </a:xfrm>
          <a:prstGeom prst="rect">
            <a:avLst/>
          </a:prstGeom>
          <a:solidFill>
            <a:srgbClr val="FFCCFF"/>
          </a:solidFill>
          <a:ln w="9525">
            <a:noFill/>
            <a:miter lim="800000"/>
            <a:headEnd/>
            <a:tailEnd/>
          </a:ln>
        </p:spPr>
        <p:txBody>
          <a:bodyPr wrap="none" anchor="ctr"/>
          <a:lstStyle/>
          <a:p>
            <a:endParaRPr lang="zh-CN" altLang="en-US"/>
          </a:p>
        </p:txBody>
      </p:sp>
      <p:sp>
        <p:nvSpPr>
          <p:cNvPr id="21507" name="Rectangle 3"/>
          <p:cNvSpPr>
            <a:spLocks noChangeArrowheads="1"/>
          </p:cNvSpPr>
          <p:nvPr/>
        </p:nvSpPr>
        <p:spPr bwMode="auto">
          <a:xfrm>
            <a:off x="5724525" y="3233738"/>
            <a:ext cx="1727200" cy="1106487"/>
          </a:xfrm>
          <a:prstGeom prst="rect">
            <a:avLst/>
          </a:prstGeom>
          <a:solidFill>
            <a:srgbClr val="FFCCFF"/>
          </a:solidFill>
          <a:ln w="9525">
            <a:noFill/>
            <a:miter lim="800000"/>
            <a:headEnd/>
            <a:tailEnd/>
          </a:ln>
        </p:spPr>
        <p:txBody>
          <a:bodyPr wrap="none" anchor="ctr"/>
          <a:lstStyle/>
          <a:p>
            <a:endParaRPr lang="zh-CN" altLang="en-US"/>
          </a:p>
        </p:txBody>
      </p:sp>
      <p:sp>
        <p:nvSpPr>
          <p:cNvPr id="21508" name="Rectangle 4"/>
          <p:cNvSpPr>
            <a:spLocks noGrp="1" noChangeArrowheads="1"/>
          </p:cNvSpPr>
          <p:nvPr>
            <p:ph type="title"/>
          </p:nvPr>
        </p:nvSpPr>
        <p:spPr/>
        <p:txBody>
          <a:bodyPr/>
          <a:lstStyle/>
          <a:p>
            <a:pPr algn="ctr"/>
            <a:r>
              <a:rPr lang="zh-CN" altLang="en-US" smtClean="0"/>
              <a:t>另一种形式的奈氏准则 </a:t>
            </a:r>
          </a:p>
        </p:txBody>
      </p:sp>
      <p:sp>
        <p:nvSpPr>
          <p:cNvPr id="359429" name="Rectangle 5"/>
          <p:cNvSpPr>
            <a:spLocks noGrp="1" noChangeArrowheads="1"/>
          </p:cNvSpPr>
          <p:nvPr>
            <p:ph type="body" idx="1"/>
          </p:nvPr>
        </p:nvSpPr>
        <p:spPr>
          <a:xfrm>
            <a:off x="971550" y="4583113"/>
            <a:ext cx="7772400" cy="1366837"/>
          </a:xfrm>
        </p:spPr>
        <p:txBody>
          <a:bodyPr/>
          <a:lstStyle/>
          <a:p>
            <a:r>
              <a:rPr lang="zh-CN" altLang="en-US" dirty="0" smtClean="0"/>
              <a:t>每赫带宽的理想带通信道的最高码元传输速率是每秒</a:t>
            </a:r>
            <a:r>
              <a:rPr lang="zh-CN" altLang="en-US" sz="1800" dirty="0" smtClean="0"/>
              <a:t> </a:t>
            </a:r>
            <a:r>
              <a:rPr lang="en-US" altLang="zh-CN" dirty="0" smtClean="0"/>
              <a:t>1</a:t>
            </a:r>
            <a:r>
              <a:rPr lang="en-US" altLang="zh-CN" sz="1600" b="1" dirty="0" smtClean="0"/>
              <a:t> </a:t>
            </a:r>
            <a:r>
              <a:rPr lang="zh-CN" altLang="en-US" dirty="0" smtClean="0"/>
              <a:t>个码元。</a:t>
            </a:r>
          </a:p>
        </p:txBody>
      </p:sp>
      <p:sp>
        <p:nvSpPr>
          <p:cNvPr id="21510" name="Text Box 6"/>
          <p:cNvSpPr txBox="1">
            <a:spLocks noChangeArrowheads="1"/>
          </p:cNvSpPr>
          <p:nvPr/>
        </p:nvSpPr>
        <p:spPr bwMode="auto">
          <a:xfrm>
            <a:off x="755650" y="1973263"/>
            <a:ext cx="7997825" cy="519112"/>
          </a:xfrm>
          <a:prstGeom prst="rect">
            <a:avLst/>
          </a:prstGeom>
          <a:noFill/>
          <a:ln w="9525">
            <a:noFill/>
            <a:miter lim="800000"/>
            <a:headEnd/>
            <a:tailEnd/>
          </a:ln>
        </p:spPr>
        <p:txBody>
          <a:bodyPr wrap="none">
            <a:spAutoFit/>
          </a:bodyPr>
          <a:lstStyle/>
          <a:p>
            <a:r>
              <a:rPr lang="zh-CN" altLang="en-US" sz="2800">
                <a:solidFill>
                  <a:schemeClr val="hlink"/>
                </a:solidFill>
                <a:ea typeface="黑体" pitchFamily="49" charset="-122"/>
              </a:rPr>
              <a:t>理想带通特性信道</a:t>
            </a:r>
            <a:r>
              <a:rPr lang="zh-CN" altLang="en-US" sz="2800">
                <a:solidFill>
                  <a:srgbClr val="333399"/>
                </a:solidFill>
                <a:latin typeface="Arial" pitchFamily="34" charset="0"/>
                <a:ea typeface="黑体" pitchFamily="49" charset="-122"/>
              </a:rPr>
              <a:t>的最高码元传输速率 </a:t>
            </a:r>
            <a:r>
              <a:rPr lang="en-US" altLang="zh-CN" sz="2800">
                <a:solidFill>
                  <a:srgbClr val="333399"/>
                </a:solidFill>
                <a:latin typeface="Arial" pitchFamily="34" charset="0"/>
                <a:ea typeface="黑体" pitchFamily="49" charset="-122"/>
              </a:rPr>
              <a:t>= </a:t>
            </a:r>
            <a:r>
              <a:rPr lang="en-US" altLang="zh-CN" sz="2800" i="1">
                <a:solidFill>
                  <a:srgbClr val="333399"/>
                </a:solidFill>
                <a:latin typeface="Arial" pitchFamily="34" charset="0"/>
                <a:ea typeface="黑体" pitchFamily="49" charset="-122"/>
              </a:rPr>
              <a:t>W</a:t>
            </a:r>
            <a:r>
              <a:rPr lang="en-US" altLang="zh-CN" sz="2800">
                <a:solidFill>
                  <a:srgbClr val="333399"/>
                </a:solidFill>
                <a:latin typeface="Arial" pitchFamily="34" charset="0"/>
                <a:ea typeface="黑体" pitchFamily="49" charset="-122"/>
              </a:rPr>
              <a:t> Baud </a:t>
            </a:r>
          </a:p>
        </p:txBody>
      </p:sp>
      <p:sp>
        <p:nvSpPr>
          <p:cNvPr id="21511" name="Text Box 7"/>
          <p:cNvSpPr txBox="1">
            <a:spLocks noChangeArrowheads="1"/>
          </p:cNvSpPr>
          <p:nvPr/>
        </p:nvSpPr>
        <p:spPr bwMode="auto">
          <a:xfrm>
            <a:off x="1116013" y="2549525"/>
            <a:ext cx="6723062" cy="519113"/>
          </a:xfrm>
          <a:prstGeom prst="rect">
            <a:avLst/>
          </a:prstGeom>
          <a:noFill/>
          <a:ln w="9525">
            <a:noFill/>
            <a:miter lim="800000"/>
            <a:headEnd/>
            <a:tailEnd/>
          </a:ln>
        </p:spPr>
        <p:txBody>
          <a:bodyPr wrap="none">
            <a:spAutoFit/>
          </a:bodyPr>
          <a:lstStyle/>
          <a:p>
            <a:r>
              <a:rPr lang="en-US" altLang="zh-CN" sz="2800" i="1">
                <a:solidFill>
                  <a:srgbClr val="333399"/>
                </a:solidFill>
                <a:latin typeface="Arial" pitchFamily="34" charset="0"/>
                <a:ea typeface="黑体" pitchFamily="49" charset="-122"/>
              </a:rPr>
              <a:t>W </a:t>
            </a:r>
            <a:r>
              <a:rPr lang="zh-CN" altLang="en-US" sz="2800">
                <a:solidFill>
                  <a:srgbClr val="333399"/>
                </a:solidFill>
                <a:latin typeface="Arial" pitchFamily="34" charset="0"/>
                <a:ea typeface="黑体" pitchFamily="49" charset="-122"/>
              </a:rPr>
              <a:t>是理想带通信道的带宽，单位为赫</a:t>
            </a:r>
            <a:r>
              <a:rPr lang="en-US" altLang="zh-CN" sz="2800">
                <a:solidFill>
                  <a:srgbClr val="333399"/>
                </a:solidFill>
                <a:latin typeface="Arial" pitchFamily="34" charset="0"/>
                <a:ea typeface="黑体" pitchFamily="49" charset="-122"/>
              </a:rPr>
              <a:t>(Hz) </a:t>
            </a:r>
          </a:p>
        </p:txBody>
      </p:sp>
      <p:sp>
        <p:nvSpPr>
          <p:cNvPr id="21512" name="Line 8"/>
          <p:cNvSpPr>
            <a:spLocks noChangeShapeType="1"/>
          </p:cNvSpPr>
          <p:nvPr/>
        </p:nvSpPr>
        <p:spPr bwMode="auto">
          <a:xfrm flipV="1">
            <a:off x="1258888" y="3836988"/>
            <a:ext cx="6408737" cy="4762"/>
          </a:xfrm>
          <a:prstGeom prst="line">
            <a:avLst/>
          </a:prstGeom>
          <a:noFill/>
          <a:ln w="28575">
            <a:solidFill>
              <a:srgbClr val="333399"/>
            </a:solidFill>
            <a:round/>
            <a:headEnd/>
            <a:tailEnd type="triangle" w="med" len="lg"/>
          </a:ln>
        </p:spPr>
        <p:txBody>
          <a:bodyPr/>
          <a:lstStyle/>
          <a:p>
            <a:endParaRPr lang="zh-CN" altLang="en-US"/>
          </a:p>
        </p:txBody>
      </p:sp>
      <p:sp>
        <p:nvSpPr>
          <p:cNvPr id="21513" name="Text Box 9"/>
          <p:cNvSpPr txBox="1">
            <a:spLocks noChangeArrowheads="1"/>
          </p:cNvSpPr>
          <p:nvPr/>
        </p:nvSpPr>
        <p:spPr bwMode="auto">
          <a:xfrm>
            <a:off x="5867400" y="3332163"/>
            <a:ext cx="1479550" cy="533400"/>
          </a:xfrm>
          <a:prstGeom prst="rect">
            <a:avLst/>
          </a:prstGeom>
          <a:noFill/>
          <a:ln w="76200" cmpd="tri">
            <a:solidFill>
              <a:schemeClr val="hlink"/>
            </a:solidFill>
            <a:miter lim="800000"/>
            <a:headEnd/>
            <a:tailEnd/>
          </a:ln>
        </p:spPr>
        <p:txBody>
          <a:bodyPr wrap="none">
            <a:spAutoFit/>
          </a:bodyPr>
          <a:lstStyle/>
          <a:p>
            <a:r>
              <a:rPr lang="zh-CN" altLang="en-US">
                <a:solidFill>
                  <a:schemeClr val="hlink"/>
                </a:solidFill>
                <a:ea typeface="黑体" pitchFamily="49" charset="-122"/>
              </a:rPr>
              <a:t>不能通过</a:t>
            </a:r>
          </a:p>
        </p:txBody>
      </p:sp>
      <p:sp>
        <p:nvSpPr>
          <p:cNvPr id="21514" name="Text Box 10"/>
          <p:cNvSpPr txBox="1">
            <a:spLocks noChangeArrowheads="1"/>
          </p:cNvSpPr>
          <p:nvPr/>
        </p:nvSpPr>
        <p:spPr bwMode="auto">
          <a:xfrm>
            <a:off x="3833813" y="3332163"/>
            <a:ext cx="1098550" cy="457200"/>
          </a:xfrm>
          <a:prstGeom prst="rect">
            <a:avLst/>
          </a:prstGeom>
          <a:noFill/>
          <a:ln w="9525">
            <a:noFill/>
            <a:miter lim="800000"/>
            <a:headEnd/>
            <a:tailEnd/>
          </a:ln>
        </p:spPr>
        <p:txBody>
          <a:bodyPr wrap="none">
            <a:spAutoFit/>
          </a:bodyPr>
          <a:lstStyle/>
          <a:p>
            <a:r>
              <a:rPr lang="zh-CN" altLang="en-US">
                <a:solidFill>
                  <a:srgbClr val="333399"/>
                </a:solidFill>
                <a:ea typeface="黑体" pitchFamily="49" charset="-122"/>
              </a:rPr>
              <a:t>能通过</a:t>
            </a:r>
          </a:p>
        </p:txBody>
      </p:sp>
      <p:sp>
        <p:nvSpPr>
          <p:cNvPr id="21515" name="Text Box 11"/>
          <p:cNvSpPr txBox="1">
            <a:spLocks noChangeArrowheads="1"/>
          </p:cNvSpPr>
          <p:nvPr/>
        </p:nvSpPr>
        <p:spPr bwMode="auto">
          <a:xfrm>
            <a:off x="879475" y="3621088"/>
            <a:ext cx="325438" cy="396875"/>
          </a:xfrm>
          <a:prstGeom prst="rect">
            <a:avLst/>
          </a:prstGeom>
          <a:noFill/>
          <a:ln w="9525">
            <a:noFill/>
            <a:miter lim="800000"/>
            <a:headEnd/>
            <a:tailEnd/>
          </a:ln>
        </p:spPr>
        <p:txBody>
          <a:bodyPr wrap="none">
            <a:spAutoFit/>
          </a:bodyPr>
          <a:lstStyle/>
          <a:p>
            <a:r>
              <a:rPr lang="en-US" altLang="zh-CN" sz="2000">
                <a:latin typeface="Arial" pitchFamily="34" charset="0"/>
              </a:rPr>
              <a:t>0</a:t>
            </a:r>
          </a:p>
        </p:txBody>
      </p:sp>
      <p:sp>
        <p:nvSpPr>
          <p:cNvPr id="21516" name="Text Box 12"/>
          <p:cNvSpPr txBox="1">
            <a:spLocks noChangeArrowheads="1"/>
          </p:cNvSpPr>
          <p:nvPr/>
        </p:nvSpPr>
        <p:spPr bwMode="auto">
          <a:xfrm>
            <a:off x="7577138" y="3625850"/>
            <a:ext cx="1171575" cy="396875"/>
          </a:xfrm>
          <a:prstGeom prst="rect">
            <a:avLst/>
          </a:prstGeom>
          <a:noFill/>
          <a:ln w="9525">
            <a:noFill/>
            <a:miter lim="800000"/>
            <a:headEnd/>
            <a:tailEnd/>
          </a:ln>
        </p:spPr>
        <p:txBody>
          <a:bodyPr wrap="none">
            <a:spAutoFit/>
          </a:bodyPr>
          <a:lstStyle/>
          <a:p>
            <a:r>
              <a:rPr lang="zh-CN" altLang="en-US" sz="2000">
                <a:solidFill>
                  <a:srgbClr val="333399"/>
                </a:solidFill>
                <a:latin typeface="Arial" pitchFamily="34" charset="0"/>
                <a:ea typeface="黑体" pitchFamily="49" charset="-122"/>
              </a:rPr>
              <a:t>频率</a:t>
            </a:r>
            <a:r>
              <a:rPr lang="en-US" altLang="zh-CN" sz="2000">
                <a:solidFill>
                  <a:srgbClr val="333399"/>
                </a:solidFill>
                <a:latin typeface="Arial" pitchFamily="34" charset="0"/>
                <a:ea typeface="黑体" pitchFamily="49" charset="-122"/>
              </a:rPr>
              <a:t>(Hz)</a:t>
            </a:r>
          </a:p>
        </p:txBody>
      </p:sp>
      <p:sp>
        <p:nvSpPr>
          <p:cNvPr id="21517" name="Line 13"/>
          <p:cNvSpPr>
            <a:spLocks noChangeShapeType="1"/>
          </p:cNvSpPr>
          <p:nvPr/>
        </p:nvSpPr>
        <p:spPr bwMode="auto">
          <a:xfrm>
            <a:off x="5724525" y="3405188"/>
            <a:ext cx="0" cy="935037"/>
          </a:xfrm>
          <a:prstGeom prst="line">
            <a:avLst/>
          </a:prstGeom>
          <a:noFill/>
          <a:ln w="19050">
            <a:solidFill>
              <a:srgbClr val="333399"/>
            </a:solidFill>
            <a:prstDash val="dash"/>
            <a:round/>
            <a:headEnd/>
            <a:tailEnd/>
          </a:ln>
        </p:spPr>
        <p:txBody>
          <a:bodyPr/>
          <a:lstStyle/>
          <a:p>
            <a:endParaRPr lang="zh-CN" altLang="en-US"/>
          </a:p>
        </p:txBody>
      </p:sp>
      <p:sp>
        <p:nvSpPr>
          <p:cNvPr id="21518" name="Line 14"/>
          <p:cNvSpPr>
            <a:spLocks noChangeShapeType="1"/>
          </p:cNvSpPr>
          <p:nvPr/>
        </p:nvSpPr>
        <p:spPr bwMode="auto">
          <a:xfrm>
            <a:off x="3203575" y="4124325"/>
            <a:ext cx="2520950" cy="0"/>
          </a:xfrm>
          <a:prstGeom prst="line">
            <a:avLst/>
          </a:prstGeom>
          <a:noFill/>
          <a:ln w="19050">
            <a:solidFill>
              <a:srgbClr val="333399"/>
            </a:solidFill>
            <a:round/>
            <a:headEnd type="triangle" w="med" len="lg"/>
            <a:tailEnd type="triangle" w="med" len="lg"/>
          </a:ln>
        </p:spPr>
        <p:txBody>
          <a:bodyPr/>
          <a:lstStyle/>
          <a:p>
            <a:endParaRPr lang="zh-CN" altLang="en-US"/>
          </a:p>
        </p:txBody>
      </p:sp>
      <p:sp>
        <p:nvSpPr>
          <p:cNvPr id="21519" name="Text Box 15"/>
          <p:cNvSpPr txBox="1">
            <a:spLocks noChangeArrowheads="1"/>
          </p:cNvSpPr>
          <p:nvPr/>
        </p:nvSpPr>
        <p:spPr bwMode="auto">
          <a:xfrm>
            <a:off x="3779838" y="3908425"/>
            <a:ext cx="1216025" cy="457200"/>
          </a:xfrm>
          <a:prstGeom prst="rect">
            <a:avLst/>
          </a:prstGeom>
          <a:solidFill>
            <a:schemeClr val="bg1"/>
          </a:solidFill>
          <a:ln w="9525">
            <a:noFill/>
            <a:miter lim="800000"/>
            <a:headEnd/>
            <a:tailEnd/>
          </a:ln>
        </p:spPr>
        <p:txBody>
          <a:bodyPr wrap="none">
            <a:spAutoFit/>
          </a:bodyPr>
          <a:lstStyle/>
          <a:p>
            <a:r>
              <a:rPr lang="en-US" altLang="zh-CN" i="1">
                <a:solidFill>
                  <a:srgbClr val="333399"/>
                </a:solidFill>
                <a:latin typeface="Arial" pitchFamily="34" charset="0"/>
                <a:ea typeface="黑体" pitchFamily="49" charset="-122"/>
              </a:rPr>
              <a:t>W </a:t>
            </a:r>
            <a:r>
              <a:rPr lang="en-US" altLang="zh-CN">
                <a:solidFill>
                  <a:srgbClr val="333399"/>
                </a:solidFill>
                <a:latin typeface="Arial" pitchFamily="34" charset="0"/>
                <a:ea typeface="黑体" pitchFamily="49" charset="-122"/>
              </a:rPr>
              <a:t>(Hz) </a:t>
            </a:r>
          </a:p>
        </p:txBody>
      </p:sp>
      <p:sp>
        <p:nvSpPr>
          <p:cNvPr id="21520" name="Line 16"/>
          <p:cNvSpPr>
            <a:spLocks noChangeShapeType="1"/>
          </p:cNvSpPr>
          <p:nvPr/>
        </p:nvSpPr>
        <p:spPr bwMode="auto">
          <a:xfrm>
            <a:off x="1258888" y="3405188"/>
            <a:ext cx="0" cy="935037"/>
          </a:xfrm>
          <a:prstGeom prst="line">
            <a:avLst/>
          </a:prstGeom>
          <a:noFill/>
          <a:ln w="19050">
            <a:solidFill>
              <a:srgbClr val="333399"/>
            </a:solidFill>
            <a:prstDash val="dash"/>
            <a:round/>
            <a:headEnd/>
            <a:tailEnd/>
          </a:ln>
        </p:spPr>
        <p:txBody>
          <a:bodyPr/>
          <a:lstStyle/>
          <a:p>
            <a:endParaRPr lang="zh-CN" altLang="en-US"/>
          </a:p>
        </p:txBody>
      </p:sp>
      <p:sp>
        <p:nvSpPr>
          <p:cNvPr id="21521" name="Text Box 17"/>
          <p:cNvSpPr txBox="1">
            <a:spLocks noChangeArrowheads="1"/>
          </p:cNvSpPr>
          <p:nvPr/>
        </p:nvSpPr>
        <p:spPr bwMode="auto">
          <a:xfrm>
            <a:off x="1512888" y="3332163"/>
            <a:ext cx="1479550" cy="533400"/>
          </a:xfrm>
          <a:prstGeom prst="rect">
            <a:avLst/>
          </a:prstGeom>
          <a:noFill/>
          <a:ln w="76200" cmpd="tri">
            <a:solidFill>
              <a:schemeClr val="hlink"/>
            </a:solidFill>
            <a:miter lim="800000"/>
            <a:headEnd/>
            <a:tailEnd/>
          </a:ln>
        </p:spPr>
        <p:txBody>
          <a:bodyPr wrap="none">
            <a:spAutoFit/>
          </a:bodyPr>
          <a:lstStyle/>
          <a:p>
            <a:r>
              <a:rPr lang="zh-CN" altLang="en-US">
                <a:solidFill>
                  <a:schemeClr val="hlink"/>
                </a:solidFill>
                <a:ea typeface="黑体" pitchFamily="49" charset="-122"/>
              </a:rPr>
              <a:t>不能通过</a:t>
            </a:r>
          </a:p>
        </p:txBody>
      </p:sp>
      <p:sp>
        <p:nvSpPr>
          <p:cNvPr id="21522" name="Line 18"/>
          <p:cNvSpPr>
            <a:spLocks noChangeShapeType="1"/>
          </p:cNvSpPr>
          <p:nvPr/>
        </p:nvSpPr>
        <p:spPr bwMode="auto">
          <a:xfrm>
            <a:off x="3203575" y="3405188"/>
            <a:ext cx="0" cy="935037"/>
          </a:xfrm>
          <a:prstGeom prst="line">
            <a:avLst/>
          </a:prstGeom>
          <a:noFill/>
          <a:ln w="19050">
            <a:solidFill>
              <a:srgbClr val="333399"/>
            </a:solidFill>
            <a:prstDash val="dash"/>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94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150938" y="214313"/>
            <a:ext cx="6950075" cy="1462087"/>
          </a:xfrm>
        </p:spPr>
        <p:txBody>
          <a:bodyPr/>
          <a:lstStyle/>
          <a:p>
            <a:pPr algn="ctr" eaLnBrk="1" hangingPunct="1"/>
            <a:r>
              <a:rPr lang="en-US" altLang="zh-CN" dirty="0" smtClean="0"/>
              <a:t> </a:t>
            </a:r>
            <a:r>
              <a:rPr lang="zh-CN" altLang="en-US" dirty="0" smtClean="0"/>
              <a:t>香农 公式 </a:t>
            </a:r>
          </a:p>
        </p:txBody>
      </p:sp>
      <p:sp>
        <p:nvSpPr>
          <p:cNvPr id="113667" name="Rectangle 3"/>
          <p:cNvSpPr>
            <a:spLocks noGrp="1" noChangeArrowheads="1"/>
          </p:cNvSpPr>
          <p:nvPr>
            <p:ph type="body" idx="1"/>
          </p:nvPr>
        </p:nvSpPr>
        <p:spPr>
          <a:xfrm>
            <a:off x="900113" y="1916113"/>
            <a:ext cx="7772400" cy="4537075"/>
          </a:xfrm>
        </p:spPr>
        <p:txBody>
          <a:bodyPr/>
          <a:lstStyle/>
          <a:p>
            <a:pPr eaLnBrk="1" hangingPunct="1"/>
            <a:r>
              <a:rPr lang="zh-CN" altLang="en-US" smtClean="0"/>
              <a:t>香农</a:t>
            </a:r>
            <a:r>
              <a:rPr lang="en-US" altLang="zh-CN" smtClean="0"/>
              <a:t>(Shannon)</a:t>
            </a:r>
            <a:r>
              <a:rPr lang="zh-CN" altLang="en-US" smtClean="0"/>
              <a:t>用信息论的理论推导出了带宽受限且有高斯白噪声干扰的信道的</a:t>
            </a:r>
            <a:r>
              <a:rPr lang="zh-CN" altLang="en-US" smtClean="0">
                <a:solidFill>
                  <a:schemeClr val="hlink"/>
                </a:solidFill>
              </a:rPr>
              <a:t>极限</a:t>
            </a:r>
            <a:r>
              <a:rPr lang="zh-CN" altLang="en-US" smtClean="0"/>
              <a:t>、</a:t>
            </a:r>
            <a:r>
              <a:rPr lang="zh-CN" altLang="en-US" smtClean="0">
                <a:solidFill>
                  <a:schemeClr val="hlink"/>
                </a:solidFill>
              </a:rPr>
              <a:t>无差错的</a:t>
            </a:r>
            <a:r>
              <a:rPr lang="zh-CN" altLang="en-US" smtClean="0"/>
              <a:t>信息传输速率。</a:t>
            </a:r>
          </a:p>
          <a:p>
            <a:pPr eaLnBrk="1" hangingPunct="1"/>
            <a:r>
              <a:rPr lang="zh-CN" altLang="en-US" smtClean="0"/>
              <a:t>信道的极限信息传输速率 </a:t>
            </a:r>
            <a:r>
              <a:rPr lang="en-US" altLang="zh-CN" i="1" smtClean="0"/>
              <a:t>C </a:t>
            </a:r>
            <a:r>
              <a:rPr lang="zh-CN" altLang="en-US" smtClean="0"/>
              <a:t>可表达为</a:t>
            </a:r>
          </a:p>
          <a:p>
            <a:pPr eaLnBrk="1" hangingPunct="1">
              <a:spcBef>
                <a:spcPct val="25000"/>
              </a:spcBef>
              <a:spcAft>
                <a:spcPct val="25000"/>
              </a:spcAft>
            </a:pPr>
            <a:r>
              <a:rPr lang="zh-CN" altLang="en-US" i="1" smtClean="0"/>
              <a:t>        </a:t>
            </a:r>
            <a:r>
              <a:rPr lang="en-US" altLang="zh-CN" i="1" smtClean="0"/>
              <a:t>C</a:t>
            </a:r>
            <a:r>
              <a:rPr lang="en-US" altLang="zh-CN" smtClean="0"/>
              <a:t> = </a:t>
            </a:r>
            <a:r>
              <a:rPr lang="en-US" altLang="zh-CN" i="1" smtClean="0"/>
              <a:t>W</a:t>
            </a:r>
            <a:r>
              <a:rPr lang="en-US" altLang="zh-CN" smtClean="0"/>
              <a:t> log</a:t>
            </a:r>
            <a:r>
              <a:rPr lang="en-US" altLang="zh-CN" baseline="-25000" smtClean="0"/>
              <a:t>2</a:t>
            </a:r>
            <a:r>
              <a:rPr lang="en-US" altLang="zh-CN" smtClean="0"/>
              <a:t>(1+</a:t>
            </a:r>
            <a:r>
              <a:rPr lang="en-US" altLang="zh-CN" i="1" smtClean="0"/>
              <a:t>S</a:t>
            </a:r>
            <a:r>
              <a:rPr lang="en-US" altLang="zh-CN" smtClean="0"/>
              <a:t>/</a:t>
            </a:r>
            <a:r>
              <a:rPr lang="en-US" altLang="zh-CN" i="1" smtClean="0"/>
              <a:t>N</a:t>
            </a:r>
            <a:r>
              <a:rPr lang="en-US" altLang="zh-CN" smtClean="0"/>
              <a:t>)  b/s </a:t>
            </a:r>
          </a:p>
          <a:p>
            <a:pPr lvl="1" eaLnBrk="1" hangingPunct="1"/>
            <a:r>
              <a:rPr lang="en-US" altLang="zh-CN" i="1" smtClean="0">
                <a:solidFill>
                  <a:srgbClr val="333399"/>
                </a:solidFill>
                <a:latin typeface="Arial" pitchFamily="34" charset="0"/>
                <a:ea typeface="黑体" pitchFamily="49" charset="-122"/>
              </a:rPr>
              <a:t>W </a:t>
            </a:r>
            <a:r>
              <a:rPr lang="zh-CN" altLang="en-US" smtClean="0">
                <a:solidFill>
                  <a:srgbClr val="333399"/>
                </a:solidFill>
                <a:latin typeface="Arial" pitchFamily="34" charset="0"/>
                <a:ea typeface="黑体" pitchFamily="49" charset="-122"/>
              </a:rPr>
              <a:t>为信道的带宽（以 </a:t>
            </a:r>
            <a:r>
              <a:rPr lang="en-US" altLang="zh-CN" smtClean="0">
                <a:solidFill>
                  <a:srgbClr val="333399"/>
                </a:solidFill>
                <a:latin typeface="Arial" pitchFamily="34" charset="0"/>
                <a:ea typeface="黑体" pitchFamily="49" charset="-122"/>
              </a:rPr>
              <a:t>Hz </a:t>
            </a:r>
            <a:r>
              <a:rPr lang="zh-CN" altLang="en-US" smtClean="0">
                <a:solidFill>
                  <a:srgbClr val="333399"/>
                </a:solidFill>
                <a:latin typeface="Arial" pitchFamily="34" charset="0"/>
                <a:ea typeface="黑体" pitchFamily="49" charset="-122"/>
              </a:rPr>
              <a:t>为单位）；</a:t>
            </a:r>
          </a:p>
          <a:p>
            <a:pPr lvl="1" eaLnBrk="1" hangingPunct="1"/>
            <a:r>
              <a:rPr lang="en-US" altLang="zh-CN" i="1" smtClean="0">
                <a:solidFill>
                  <a:srgbClr val="333399"/>
                </a:solidFill>
                <a:latin typeface="Arial" pitchFamily="34" charset="0"/>
                <a:ea typeface="黑体" pitchFamily="49" charset="-122"/>
              </a:rPr>
              <a:t>S </a:t>
            </a:r>
            <a:r>
              <a:rPr lang="zh-CN" altLang="en-US" smtClean="0">
                <a:solidFill>
                  <a:srgbClr val="333399"/>
                </a:solidFill>
                <a:latin typeface="Arial" pitchFamily="34" charset="0"/>
                <a:ea typeface="黑体" pitchFamily="49" charset="-122"/>
              </a:rPr>
              <a:t>为信道内所传信号的平均功率；</a:t>
            </a:r>
          </a:p>
          <a:p>
            <a:pPr lvl="1" eaLnBrk="1" hangingPunct="1"/>
            <a:r>
              <a:rPr lang="en-US" altLang="zh-CN" i="1" smtClean="0">
                <a:solidFill>
                  <a:srgbClr val="333399"/>
                </a:solidFill>
                <a:latin typeface="Arial" pitchFamily="34" charset="0"/>
                <a:ea typeface="黑体" pitchFamily="49" charset="-122"/>
              </a:rPr>
              <a:t>N </a:t>
            </a:r>
            <a:r>
              <a:rPr lang="zh-CN" altLang="en-US" smtClean="0">
                <a:solidFill>
                  <a:srgbClr val="333399"/>
                </a:solidFill>
                <a:latin typeface="Arial" pitchFamily="34" charset="0"/>
                <a:ea typeface="黑体" pitchFamily="49" charset="-122"/>
              </a:rPr>
              <a:t>为信道内部的高斯噪声功率。</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ctr" eaLnBrk="1" hangingPunct="1"/>
            <a:r>
              <a:rPr lang="zh-CN" altLang="en-US" smtClean="0"/>
              <a:t>香农公式表明 </a:t>
            </a:r>
          </a:p>
        </p:txBody>
      </p:sp>
      <p:sp>
        <p:nvSpPr>
          <p:cNvPr id="114691" name="Rectangle 3"/>
          <p:cNvSpPr>
            <a:spLocks noGrp="1" noChangeArrowheads="1"/>
          </p:cNvSpPr>
          <p:nvPr>
            <p:ph type="body" idx="1"/>
          </p:nvPr>
        </p:nvSpPr>
        <p:spPr>
          <a:xfrm>
            <a:off x="900113" y="1844675"/>
            <a:ext cx="7772400" cy="4681538"/>
          </a:xfrm>
        </p:spPr>
        <p:txBody>
          <a:bodyPr/>
          <a:lstStyle/>
          <a:p>
            <a:pPr eaLnBrk="1" hangingPunct="1"/>
            <a:r>
              <a:rPr lang="zh-CN" altLang="en-US" sz="2800" smtClean="0"/>
              <a:t>信道的带宽或信道中的信噪比越大，则信息的极限传输速率就越高。 </a:t>
            </a:r>
          </a:p>
          <a:p>
            <a:pPr eaLnBrk="1" hangingPunct="1"/>
            <a:r>
              <a:rPr lang="zh-CN" altLang="en-US" sz="2800" smtClean="0"/>
              <a:t>只要信息传输速率低于信道的极限信息传输速率，就一定可以找到某种办法来实现无差错的传输。 </a:t>
            </a:r>
          </a:p>
          <a:p>
            <a:pPr eaLnBrk="1" hangingPunct="1"/>
            <a:r>
              <a:rPr lang="zh-CN" altLang="en-US" sz="2800" smtClean="0"/>
              <a:t>若信道带宽</a:t>
            </a:r>
            <a:r>
              <a:rPr lang="zh-CN" altLang="en-US" sz="1800" smtClean="0"/>
              <a:t> </a:t>
            </a:r>
            <a:r>
              <a:rPr lang="en-US" altLang="zh-CN" sz="2800" i="1" smtClean="0"/>
              <a:t>W</a:t>
            </a:r>
            <a:r>
              <a:rPr lang="en-US" altLang="zh-CN" sz="1800" i="1" smtClean="0"/>
              <a:t> </a:t>
            </a:r>
            <a:r>
              <a:rPr lang="zh-CN" altLang="en-US" sz="2800" smtClean="0"/>
              <a:t>或信噪比</a:t>
            </a:r>
            <a:r>
              <a:rPr lang="zh-CN" altLang="en-US" sz="1800" smtClean="0"/>
              <a:t> </a:t>
            </a:r>
            <a:r>
              <a:rPr lang="en-US" altLang="zh-CN" sz="2800" i="1" smtClean="0"/>
              <a:t>S</a:t>
            </a:r>
            <a:r>
              <a:rPr lang="en-US" altLang="zh-CN" sz="2800" smtClean="0"/>
              <a:t>/</a:t>
            </a:r>
            <a:r>
              <a:rPr lang="en-US" altLang="zh-CN" sz="2800" i="1" smtClean="0"/>
              <a:t>N</a:t>
            </a:r>
            <a:r>
              <a:rPr lang="en-US" altLang="zh-CN" sz="1800" i="1" smtClean="0"/>
              <a:t> </a:t>
            </a:r>
            <a:r>
              <a:rPr lang="zh-CN" altLang="en-US" sz="2800" smtClean="0"/>
              <a:t>没有上限（当然实际信道不可能是这样的），则信道的极限信息传输速率</a:t>
            </a:r>
            <a:r>
              <a:rPr lang="zh-CN" altLang="en-US" sz="1800" smtClean="0"/>
              <a:t> </a:t>
            </a:r>
            <a:r>
              <a:rPr lang="en-US" altLang="zh-CN" sz="2800" i="1" smtClean="0"/>
              <a:t>C</a:t>
            </a:r>
            <a:r>
              <a:rPr lang="en-US" altLang="zh-CN" sz="1800" i="1" smtClean="0"/>
              <a:t> </a:t>
            </a:r>
            <a:r>
              <a:rPr lang="zh-CN" altLang="en-US" sz="2800" smtClean="0"/>
              <a:t>也就没有上限。</a:t>
            </a:r>
          </a:p>
          <a:p>
            <a:pPr eaLnBrk="1" hangingPunct="1"/>
            <a:r>
              <a:rPr lang="zh-CN" altLang="en-US" sz="2800" smtClean="0"/>
              <a:t>实际信道上能够达到的信息传输速率要比香农的极限传输速率低不少。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请注意 </a:t>
            </a:r>
          </a:p>
        </p:txBody>
      </p:sp>
      <p:sp>
        <p:nvSpPr>
          <p:cNvPr id="24579" name="Rectangle 3"/>
          <p:cNvSpPr>
            <a:spLocks noGrp="1" noChangeArrowheads="1"/>
          </p:cNvSpPr>
          <p:nvPr>
            <p:ph type="body" idx="1"/>
          </p:nvPr>
        </p:nvSpPr>
        <p:spPr>
          <a:xfrm>
            <a:off x="900113" y="1916113"/>
            <a:ext cx="7772400" cy="3744912"/>
          </a:xfrm>
        </p:spPr>
        <p:txBody>
          <a:bodyPr/>
          <a:lstStyle/>
          <a:p>
            <a:pPr eaLnBrk="1" hangingPunct="1"/>
            <a:r>
              <a:rPr lang="zh-CN" altLang="en-US" smtClean="0"/>
              <a:t>对于频带宽度已确定的信道，如果信噪比不能再提高了，并且码元传输速率也达到了上限值，那么还有办法提高信息的传输速率。这就是用编码的方法让每一个码元携带更多比特的信息量。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lgn="ctr"/>
            <a:r>
              <a:rPr lang="zh-CN" altLang="en-US" smtClean="0">
                <a:latin typeface="黑体" pitchFamily="49" charset="-122"/>
              </a:rPr>
              <a:t>奈氏准则和香农公式</a:t>
            </a:r>
            <a:br>
              <a:rPr lang="zh-CN" altLang="en-US" smtClean="0">
                <a:latin typeface="黑体" pitchFamily="49" charset="-122"/>
              </a:rPr>
            </a:br>
            <a:r>
              <a:rPr lang="zh-CN" altLang="en-US" smtClean="0">
                <a:latin typeface="黑体" pitchFamily="49" charset="-122"/>
              </a:rPr>
              <a:t>在数据通信系统中的作用范围 </a:t>
            </a:r>
          </a:p>
        </p:txBody>
      </p:sp>
      <p:sp>
        <p:nvSpPr>
          <p:cNvPr id="25603" name="AutoShape 3"/>
          <p:cNvSpPr>
            <a:spLocks/>
          </p:cNvSpPr>
          <p:nvPr/>
        </p:nvSpPr>
        <p:spPr bwMode="auto">
          <a:xfrm rot="5400000">
            <a:off x="1640681" y="1589882"/>
            <a:ext cx="263525" cy="2274888"/>
          </a:xfrm>
          <a:prstGeom prst="leftBrace">
            <a:avLst>
              <a:gd name="adj1" fmla="val 71938"/>
              <a:gd name="adj2" fmla="val 50000"/>
            </a:avLst>
          </a:prstGeom>
          <a:noFill/>
          <a:ln w="28575">
            <a:solidFill>
              <a:srgbClr val="333399"/>
            </a:solidFill>
            <a:round/>
            <a:headEnd/>
            <a:tailEnd/>
          </a:ln>
        </p:spPr>
        <p:txBody>
          <a:bodyPr wrap="none" anchor="ctr"/>
          <a:lstStyle/>
          <a:p>
            <a:endParaRPr lang="zh-CN" altLang="en-US"/>
          </a:p>
        </p:txBody>
      </p:sp>
      <p:sp>
        <p:nvSpPr>
          <p:cNvPr id="25604" name="AutoShape 4"/>
          <p:cNvSpPr>
            <a:spLocks/>
          </p:cNvSpPr>
          <p:nvPr/>
        </p:nvSpPr>
        <p:spPr bwMode="auto">
          <a:xfrm rot="5400000">
            <a:off x="4488656" y="2105820"/>
            <a:ext cx="263525" cy="1243012"/>
          </a:xfrm>
          <a:prstGeom prst="leftBrace">
            <a:avLst>
              <a:gd name="adj1" fmla="val 39307"/>
              <a:gd name="adj2" fmla="val 50000"/>
            </a:avLst>
          </a:prstGeom>
          <a:noFill/>
          <a:ln w="28575">
            <a:solidFill>
              <a:srgbClr val="333399"/>
            </a:solidFill>
            <a:round/>
            <a:headEnd/>
            <a:tailEnd/>
          </a:ln>
        </p:spPr>
        <p:txBody>
          <a:bodyPr wrap="none" anchor="ctr"/>
          <a:lstStyle/>
          <a:p>
            <a:endParaRPr lang="zh-CN" altLang="en-US"/>
          </a:p>
        </p:txBody>
      </p:sp>
      <p:sp>
        <p:nvSpPr>
          <p:cNvPr id="25605" name="AutoShape 5"/>
          <p:cNvSpPr>
            <a:spLocks/>
          </p:cNvSpPr>
          <p:nvPr/>
        </p:nvSpPr>
        <p:spPr bwMode="auto">
          <a:xfrm rot="5400000">
            <a:off x="7271544" y="1585119"/>
            <a:ext cx="263525" cy="2284413"/>
          </a:xfrm>
          <a:prstGeom prst="leftBrace">
            <a:avLst>
              <a:gd name="adj1" fmla="val 72239"/>
              <a:gd name="adj2" fmla="val 50000"/>
            </a:avLst>
          </a:prstGeom>
          <a:noFill/>
          <a:ln w="28575">
            <a:solidFill>
              <a:srgbClr val="333399"/>
            </a:solidFill>
            <a:round/>
            <a:headEnd/>
            <a:tailEnd/>
          </a:ln>
        </p:spPr>
        <p:txBody>
          <a:bodyPr wrap="none" anchor="ctr"/>
          <a:lstStyle/>
          <a:p>
            <a:endParaRPr lang="zh-CN" altLang="en-US"/>
          </a:p>
        </p:txBody>
      </p:sp>
      <p:sp>
        <p:nvSpPr>
          <p:cNvPr id="25606" name="Rectangle 6"/>
          <p:cNvSpPr>
            <a:spLocks noChangeArrowheads="1"/>
          </p:cNvSpPr>
          <p:nvPr/>
        </p:nvSpPr>
        <p:spPr bwMode="auto">
          <a:xfrm>
            <a:off x="1331913" y="2178050"/>
            <a:ext cx="1044575" cy="3937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源系统</a:t>
            </a:r>
          </a:p>
        </p:txBody>
      </p:sp>
      <p:sp>
        <p:nvSpPr>
          <p:cNvPr id="25607" name="Rectangle 7"/>
          <p:cNvSpPr>
            <a:spLocks noChangeArrowheads="1"/>
          </p:cNvSpPr>
          <p:nvPr/>
        </p:nvSpPr>
        <p:spPr bwMode="auto">
          <a:xfrm>
            <a:off x="3995738" y="2157413"/>
            <a:ext cx="1219200" cy="3937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传输系统</a:t>
            </a:r>
          </a:p>
        </p:txBody>
      </p:sp>
      <p:sp>
        <p:nvSpPr>
          <p:cNvPr id="25608" name="Rectangle 8"/>
          <p:cNvSpPr>
            <a:spLocks noChangeArrowheads="1"/>
          </p:cNvSpPr>
          <p:nvPr/>
        </p:nvSpPr>
        <p:spPr bwMode="auto">
          <a:xfrm>
            <a:off x="6943725" y="2157413"/>
            <a:ext cx="1295400" cy="3937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目的系统</a:t>
            </a:r>
          </a:p>
        </p:txBody>
      </p:sp>
      <p:sp>
        <p:nvSpPr>
          <p:cNvPr id="25609" name="AutoShape 9"/>
          <p:cNvSpPr>
            <a:spLocks noChangeArrowheads="1"/>
          </p:cNvSpPr>
          <p:nvPr/>
        </p:nvSpPr>
        <p:spPr bwMode="auto">
          <a:xfrm>
            <a:off x="635000" y="2925763"/>
            <a:ext cx="804863" cy="876300"/>
          </a:xfrm>
          <a:prstGeom prst="cube">
            <a:avLst>
              <a:gd name="adj" fmla="val 13069"/>
            </a:avLst>
          </a:prstGeom>
          <a:solidFill>
            <a:srgbClr val="FFFF99"/>
          </a:solidFill>
          <a:ln w="9525">
            <a:solidFill>
              <a:schemeClr val="tx1"/>
            </a:solidFill>
            <a:miter lim="800000"/>
            <a:headEnd/>
            <a:tailEnd/>
          </a:ln>
        </p:spPr>
        <p:txBody>
          <a:bodyPr wrap="none" anchor="ctr"/>
          <a:lstStyle/>
          <a:p>
            <a:endParaRPr lang="zh-CN" altLang="en-US"/>
          </a:p>
        </p:txBody>
      </p:sp>
      <p:sp>
        <p:nvSpPr>
          <p:cNvPr id="25610" name="AutoShape 10"/>
          <p:cNvSpPr>
            <a:spLocks noChangeArrowheads="1"/>
          </p:cNvSpPr>
          <p:nvPr/>
        </p:nvSpPr>
        <p:spPr bwMode="auto">
          <a:xfrm>
            <a:off x="2024063" y="2925763"/>
            <a:ext cx="1035050" cy="876300"/>
          </a:xfrm>
          <a:prstGeom prst="cube">
            <a:avLst>
              <a:gd name="adj" fmla="val 13069"/>
            </a:avLst>
          </a:prstGeom>
          <a:solidFill>
            <a:srgbClr val="FFCCFF"/>
          </a:solidFill>
          <a:ln w="9525">
            <a:solidFill>
              <a:schemeClr val="tx1"/>
            </a:solidFill>
            <a:miter lim="800000"/>
            <a:headEnd/>
            <a:tailEnd/>
          </a:ln>
        </p:spPr>
        <p:txBody>
          <a:bodyPr wrap="none" anchor="ctr"/>
          <a:lstStyle/>
          <a:p>
            <a:endParaRPr lang="zh-CN" altLang="en-US"/>
          </a:p>
        </p:txBody>
      </p:sp>
      <p:sp>
        <p:nvSpPr>
          <p:cNvPr id="25611" name="AutoShape 11"/>
          <p:cNvSpPr>
            <a:spLocks noChangeArrowheads="1"/>
          </p:cNvSpPr>
          <p:nvPr/>
        </p:nvSpPr>
        <p:spPr bwMode="auto">
          <a:xfrm>
            <a:off x="4071938" y="2925763"/>
            <a:ext cx="1023937" cy="876300"/>
          </a:xfrm>
          <a:prstGeom prst="cube">
            <a:avLst>
              <a:gd name="adj" fmla="val 13069"/>
            </a:avLst>
          </a:prstGeom>
          <a:solidFill>
            <a:srgbClr val="CCECFF"/>
          </a:solidFill>
          <a:ln w="9525">
            <a:solidFill>
              <a:schemeClr val="tx1"/>
            </a:solidFill>
            <a:miter lim="800000"/>
            <a:headEnd/>
            <a:tailEnd/>
          </a:ln>
        </p:spPr>
        <p:txBody>
          <a:bodyPr wrap="none" anchor="ctr"/>
          <a:lstStyle/>
          <a:p>
            <a:endParaRPr lang="zh-CN" altLang="en-US"/>
          </a:p>
        </p:txBody>
      </p:sp>
      <p:sp>
        <p:nvSpPr>
          <p:cNvPr id="25612" name="AutoShape 12"/>
          <p:cNvSpPr>
            <a:spLocks noChangeArrowheads="1"/>
          </p:cNvSpPr>
          <p:nvPr/>
        </p:nvSpPr>
        <p:spPr bwMode="auto">
          <a:xfrm>
            <a:off x="6084888" y="2925763"/>
            <a:ext cx="1057275" cy="876300"/>
          </a:xfrm>
          <a:prstGeom prst="cube">
            <a:avLst>
              <a:gd name="adj" fmla="val 13069"/>
            </a:avLst>
          </a:prstGeom>
          <a:solidFill>
            <a:srgbClr val="FFCCFF"/>
          </a:solidFill>
          <a:ln w="9525">
            <a:solidFill>
              <a:schemeClr val="tx1"/>
            </a:solidFill>
            <a:miter lim="800000"/>
            <a:headEnd/>
            <a:tailEnd/>
          </a:ln>
        </p:spPr>
        <p:txBody>
          <a:bodyPr wrap="none" anchor="ctr"/>
          <a:lstStyle/>
          <a:p>
            <a:endParaRPr lang="zh-CN" altLang="en-US"/>
          </a:p>
        </p:txBody>
      </p:sp>
      <p:sp>
        <p:nvSpPr>
          <p:cNvPr id="25613" name="AutoShape 13"/>
          <p:cNvSpPr>
            <a:spLocks noChangeArrowheads="1"/>
          </p:cNvSpPr>
          <p:nvPr/>
        </p:nvSpPr>
        <p:spPr bwMode="auto">
          <a:xfrm>
            <a:off x="7707313" y="2925763"/>
            <a:ext cx="823912" cy="876300"/>
          </a:xfrm>
          <a:prstGeom prst="cube">
            <a:avLst>
              <a:gd name="adj" fmla="val 13069"/>
            </a:avLst>
          </a:prstGeom>
          <a:solidFill>
            <a:srgbClr val="FFFF99"/>
          </a:solidFill>
          <a:ln w="9525">
            <a:solidFill>
              <a:schemeClr val="tx1"/>
            </a:solidFill>
            <a:miter lim="800000"/>
            <a:headEnd/>
            <a:tailEnd/>
          </a:ln>
        </p:spPr>
        <p:txBody>
          <a:bodyPr wrap="none" anchor="ctr"/>
          <a:lstStyle/>
          <a:p>
            <a:endParaRPr lang="zh-CN" altLang="en-US"/>
          </a:p>
        </p:txBody>
      </p:sp>
      <p:sp>
        <p:nvSpPr>
          <p:cNvPr id="25614" name="Rectangle 14"/>
          <p:cNvSpPr>
            <a:spLocks noChangeArrowheads="1"/>
          </p:cNvSpPr>
          <p:nvPr/>
        </p:nvSpPr>
        <p:spPr bwMode="auto">
          <a:xfrm>
            <a:off x="4211638" y="3068638"/>
            <a:ext cx="787400" cy="6985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传输</a:t>
            </a:r>
          </a:p>
          <a:p>
            <a:pPr defTabSz="762000" eaLnBrk="0" hangingPunct="0"/>
            <a:r>
              <a:rPr lang="zh-CN" altLang="en-US" sz="2000">
                <a:solidFill>
                  <a:srgbClr val="333399"/>
                </a:solidFill>
                <a:latin typeface="黑体" pitchFamily="49" charset="-122"/>
                <a:ea typeface="黑体" pitchFamily="49" charset="-122"/>
              </a:rPr>
              <a:t>系统</a:t>
            </a:r>
          </a:p>
        </p:txBody>
      </p:sp>
      <p:sp>
        <p:nvSpPr>
          <p:cNvPr id="25615" name="Line 15"/>
          <p:cNvSpPr>
            <a:spLocks noChangeShapeType="1"/>
          </p:cNvSpPr>
          <p:nvPr/>
        </p:nvSpPr>
        <p:spPr bwMode="auto">
          <a:xfrm flipV="1">
            <a:off x="155575" y="3363913"/>
            <a:ext cx="479425" cy="6350"/>
          </a:xfrm>
          <a:prstGeom prst="line">
            <a:avLst/>
          </a:prstGeom>
          <a:noFill/>
          <a:ln w="28575">
            <a:solidFill>
              <a:srgbClr val="333399"/>
            </a:solidFill>
            <a:round/>
            <a:headEnd/>
            <a:tailEnd type="triangle" w="med" len="lg"/>
          </a:ln>
        </p:spPr>
        <p:txBody>
          <a:bodyPr/>
          <a:lstStyle/>
          <a:p>
            <a:endParaRPr lang="zh-CN" altLang="en-US"/>
          </a:p>
        </p:txBody>
      </p:sp>
      <p:sp>
        <p:nvSpPr>
          <p:cNvPr id="25616" name="Line 16"/>
          <p:cNvSpPr>
            <a:spLocks noChangeShapeType="1"/>
          </p:cNvSpPr>
          <p:nvPr/>
        </p:nvSpPr>
        <p:spPr bwMode="auto">
          <a:xfrm flipV="1">
            <a:off x="1385888" y="3363913"/>
            <a:ext cx="660400" cy="0"/>
          </a:xfrm>
          <a:prstGeom prst="line">
            <a:avLst/>
          </a:prstGeom>
          <a:noFill/>
          <a:ln w="28575">
            <a:solidFill>
              <a:srgbClr val="333399"/>
            </a:solidFill>
            <a:round/>
            <a:headEnd/>
            <a:tailEnd type="triangle" w="med" len="lg"/>
          </a:ln>
        </p:spPr>
        <p:txBody>
          <a:bodyPr/>
          <a:lstStyle/>
          <a:p>
            <a:endParaRPr lang="zh-CN" altLang="en-US"/>
          </a:p>
        </p:txBody>
      </p:sp>
      <p:sp>
        <p:nvSpPr>
          <p:cNvPr id="25617" name="Line 17"/>
          <p:cNvSpPr>
            <a:spLocks noChangeShapeType="1"/>
          </p:cNvSpPr>
          <p:nvPr/>
        </p:nvSpPr>
        <p:spPr bwMode="auto">
          <a:xfrm>
            <a:off x="2916238" y="3357563"/>
            <a:ext cx="1139825" cy="6350"/>
          </a:xfrm>
          <a:prstGeom prst="line">
            <a:avLst/>
          </a:prstGeom>
          <a:noFill/>
          <a:ln w="28575">
            <a:solidFill>
              <a:srgbClr val="333399"/>
            </a:solidFill>
            <a:round/>
            <a:headEnd/>
            <a:tailEnd type="triangle" w="med" len="lg"/>
          </a:ln>
        </p:spPr>
        <p:txBody>
          <a:bodyPr/>
          <a:lstStyle/>
          <a:p>
            <a:endParaRPr lang="zh-CN" altLang="en-US"/>
          </a:p>
        </p:txBody>
      </p:sp>
      <p:sp>
        <p:nvSpPr>
          <p:cNvPr id="25618" name="Line 18"/>
          <p:cNvSpPr>
            <a:spLocks noChangeShapeType="1"/>
          </p:cNvSpPr>
          <p:nvPr/>
        </p:nvSpPr>
        <p:spPr bwMode="auto">
          <a:xfrm>
            <a:off x="5003800" y="3357563"/>
            <a:ext cx="1081088" cy="0"/>
          </a:xfrm>
          <a:prstGeom prst="line">
            <a:avLst/>
          </a:prstGeom>
          <a:noFill/>
          <a:ln w="28575">
            <a:solidFill>
              <a:srgbClr val="333399"/>
            </a:solidFill>
            <a:round/>
            <a:headEnd/>
            <a:tailEnd type="triangle" w="med" len="lg"/>
          </a:ln>
        </p:spPr>
        <p:txBody>
          <a:bodyPr/>
          <a:lstStyle/>
          <a:p>
            <a:endParaRPr lang="zh-CN" altLang="en-US"/>
          </a:p>
        </p:txBody>
      </p:sp>
      <p:sp>
        <p:nvSpPr>
          <p:cNvPr id="25619" name="Line 19"/>
          <p:cNvSpPr>
            <a:spLocks noChangeShapeType="1"/>
          </p:cNvSpPr>
          <p:nvPr/>
        </p:nvSpPr>
        <p:spPr bwMode="auto">
          <a:xfrm>
            <a:off x="7097713" y="3363913"/>
            <a:ext cx="609600" cy="0"/>
          </a:xfrm>
          <a:prstGeom prst="line">
            <a:avLst/>
          </a:prstGeom>
          <a:noFill/>
          <a:ln w="28575">
            <a:solidFill>
              <a:srgbClr val="333399"/>
            </a:solidFill>
            <a:round/>
            <a:headEnd/>
            <a:tailEnd type="triangle" w="med" len="lg"/>
          </a:ln>
        </p:spPr>
        <p:txBody>
          <a:bodyPr/>
          <a:lstStyle/>
          <a:p>
            <a:endParaRPr lang="zh-CN" altLang="en-US"/>
          </a:p>
        </p:txBody>
      </p:sp>
      <p:sp>
        <p:nvSpPr>
          <p:cNvPr id="25620" name="Rectangle 20"/>
          <p:cNvSpPr>
            <a:spLocks noChangeArrowheads="1"/>
          </p:cNvSpPr>
          <p:nvPr/>
        </p:nvSpPr>
        <p:spPr bwMode="auto">
          <a:xfrm>
            <a:off x="611188" y="3195638"/>
            <a:ext cx="762000" cy="3937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源点</a:t>
            </a:r>
          </a:p>
        </p:txBody>
      </p:sp>
      <p:sp>
        <p:nvSpPr>
          <p:cNvPr id="25621" name="Rectangle 21"/>
          <p:cNvSpPr>
            <a:spLocks noChangeArrowheads="1"/>
          </p:cNvSpPr>
          <p:nvPr/>
        </p:nvSpPr>
        <p:spPr bwMode="auto">
          <a:xfrm>
            <a:off x="7740650" y="3168650"/>
            <a:ext cx="762000" cy="3937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终点</a:t>
            </a:r>
          </a:p>
        </p:txBody>
      </p:sp>
      <p:sp>
        <p:nvSpPr>
          <p:cNvPr id="25622" name="Rectangle 22"/>
          <p:cNvSpPr>
            <a:spLocks noChangeArrowheads="1"/>
          </p:cNvSpPr>
          <p:nvPr/>
        </p:nvSpPr>
        <p:spPr bwMode="auto">
          <a:xfrm>
            <a:off x="1997075" y="3160713"/>
            <a:ext cx="990600" cy="3937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发送器</a:t>
            </a:r>
          </a:p>
        </p:txBody>
      </p:sp>
      <p:sp>
        <p:nvSpPr>
          <p:cNvPr id="25623" name="Rectangle 23"/>
          <p:cNvSpPr>
            <a:spLocks noChangeArrowheads="1"/>
          </p:cNvSpPr>
          <p:nvPr/>
        </p:nvSpPr>
        <p:spPr bwMode="auto">
          <a:xfrm>
            <a:off x="6084888" y="3165475"/>
            <a:ext cx="990600" cy="3937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接收器</a:t>
            </a:r>
          </a:p>
        </p:txBody>
      </p:sp>
      <p:sp>
        <p:nvSpPr>
          <p:cNvPr id="25624" name="Rectangle 24"/>
          <p:cNvSpPr>
            <a:spLocks noChangeArrowheads="1"/>
          </p:cNvSpPr>
          <p:nvPr/>
        </p:nvSpPr>
        <p:spPr bwMode="auto">
          <a:xfrm>
            <a:off x="146050" y="3419475"/>
            <a:ext cx="609600" cy="13081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输入信息</a:t>
            </a:r>
          </a:p>
        </p:txBody>
      </p:sp>
      <p:sp>
        <p:nvSpPr>
          <p:cNvPr id="25625" name="Rectangle 25"/>
          <p:cNvSpPr>
            <a:spLocks noChangeArrowheads="1"/>
          </p:cNvSpPr>
          <p:nvPr/>
        </p:nvSpPr>
        <p:spPr bwMode="auto">
          <a:xfrm>
            <a:off x="8534400" y="3413125"/>
            <a:ext cx="609600" cy="130810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输出信息</a:t>
            </a:r>
          </a:p>
        </p:txBody>
      </p:sp>
      <p:grpSp>
        <p:nvGrpSpPr>
          <p:cNvPr id="2" name="Group 26"/>
          <p:cNvGrpSpPr>
            <a:grpSpLocks/>
          </p:cNvGrpSpPr>
          <p:nvPr/>
        </p:nvGrpSpPr>
        <p:grpSpPr bwMode="auto">
          <a:xfrm>
            <a:off x="1454150" y="3389313"/>
            <a:ext cx="6391275" cy="1350962"/>
            <a:chOff x="916" y="2135"/>
            <a:chExt cx="4026" cy="851"/>
          </a:xfrm>
        </p:grpSpPr>
        <p:sp>
          <p:nvSpPr>
            <p:cNvPr id="25641" name="Rectangle 27"/>
            <p:cNvSpPr>
              <a:spLocks noChangeArrowheads="1"/>
            </p:cNvSpPr>
            <p:nvPr/>
          </p:nvSpPr>
          <p:spPr bwMode="auto">
            <a:xfrm>
              <a:off x="916" y="2135"/>
              <a:ext cx="384" cy="824"/>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输入数据</a:t>
              </a:r>
            </a:p>
          </p:txBody>
        </p:sp>
        <p:sp>
          <p:nvSpPr>
            <p:cNvPr id="25642" name="Rectangle 28"/>
            <p:cNvSpPr>
              <a:spLocks noChangeArrowheads="1"/>
            </p:cNvSpPr>
            <p:nvPr/>
          </p:nvSpPr>
          <p:spPr bwMode="auto">
            <a:xfrm>
              <a:off x="4558" y="2162"/>
              <a:ext cx="384" cy="824"/>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输出数据</a:t>
              </a:r>
            </a:p>
          </p:txBody>
        </p:sp>
      </p:grpSp>
      <p:grpSp>
        <p:nvGrpSpPr>
          <p:cNvPr id="3" name="Group 29"/>
          <p:cNvGrpSpPr>
            <a:grpSpLocks/>
          </p:cNvGrpSpPr>
          <p:nvPr/>
        </p:nvGrpSpPr>
        <p:grpSpPr bwMode="auto">
          <a:xfrm>
            <a:off x="2987675" y="3370263"/>
            <a:ext cx="3097213" cy="744537"/>
            <a:chOff x="1882" y="2123"/>
            <a:chExt cx="1951" cy="469"/>
          </a:xfrm>
        </p:grpSpPr>
        <p:sp>
          <p:nvSpPr>
            <p:cNvPr id="25639" name="Rectangle 30"/>
            <p:cNvSpPr>
              <a:spLocks noChangeArrowheads="1"/>
            </p:cNvSpPr>
            <p:nvPr/>
          </p:nvSpPr>
          <p:spPr bwMode="auto">
            <a:xfrm>
              <a:off x="1882" y="2152"/>
              <a:ext cx="680" cy="44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发送的</a:t>
              </a:r>
            </a:p>
            <a:p>
              <a:pPr defTabSz="762000" eaLnBrk="0" hangingPunct="0"/>
              <a:r>
                <a:rPr lang="zh-CN" altLang="en-US" sz="2000">
                  <a:solidFill>
                    <a:srgbClr val="333399"/>
                  </a:solidFill>
                  <a:latin typeface="黑体" pitchFamily="49" charset="-122"/>
                  <a:ea typeface="黑体" pitchFamily="49" charset="-122"/>
                </a:rPr>
                <a:t>信号</a:t>
              </a:r>
            </a:p>
          </p:txBody>
        </p:sp>
        <p:sp>
          <p:nvSpPr>
            <p:cNvPr id="25640" name="Rectangle 31"/>
            <p:cNvSpPr>
              <a:spLocks noChangeArrowheads="1"/>
            </p:cNvSpPr>
            <p:nvPr/>
          </p:nvSpPr>
          <p:spPr bwMode="auto">
            <a:xfrm>
              <a:off x="3214" y="2123"/>
              <a:ext cx="619" cy="440"/>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黑体" pitchFamily="49" charset="-122"/>
                  <a:ea typeface="黑体" pitchFamily="49" charset="-122"/>
                </a:rPr>
                <a:t>接收的</a:t>
              </a:r>
            </a:p>
            <a:p>
              <a:pPr defTabSz="762000" eaLnBrk="0" hangingPunct="0"/>
              <a:r>
                <a:rPr lang="zh-CN" altLang="en-US" sz="2000">
                  <a:solidFill>
                    <a:srgbClr val="333399"/>
                  </a:solidFill>
                  <a:latin typeface="黑体" pitchFamily="49" charset="-122"/>
                  <a:ea typeface="黑体" pitchFamily="49" charset="-122"/>
                </a:rPr>
                <a:t>信号</a:t>
              </a:r>
            </a:p>
          </p:txBody>
        </p:sp>
      </p:grpSp>
      <p:grpSp>
        <p:nvGrpSpPr>
          <p:cNvPr id="4" name="Group 32"/>
          <p:cNvGrpSpPr>
            <a:grpSpLocks/>
          </p:cNvGrpSpPr>
          <p:nvPr/>
        </p:nvGrpSpPr>
        <p:grpSpPr bwMode="auto">
          <a:xfrm>
            <a:off x="2916238" y="3860800"/>
            <a:ext cx="3168650" cy="971550"/>
            <a:chOff x="1837" y="2432"/>
            <a:chExt cx="1996" cy="612"/>
          </a:xfrm>
        </p:grpSpPr>
        <p:sp>
          <p:nvSpPr>
            <p:cNvPr id="25635" name="Line 33"/>
            <p:cNvSpPr>
              <a:spLocks noChangeShapeType="1"/>
            </p:cNvSpPr>
            <p:nvPr/>
          </p:nvSpPr>
          <p:spPr bwMode="auto">
            <a:xfrm>
              <a:off x="1837" y="2454"/>
              <a:ext cx="5" cy="522"/>
            </a:xfrm>
            <a:prstGeom prst="line">
              <a:avLst/>
            </a:prstGeom>
            <a:noFill/>
            <a:ln w="19050">
              <a:solidFill>
                <a:srgbClr val="333399"/>
              </a:solidFill>
              <a:round/>
              <a:headEnd/>
              <a:tailEnd/>
            </a:ln>
          </p:spPr>
          <p:txBody>
            <a:bodyPr wrap="none"/>
            <a:lstStyle/>
            <a:p>
              <a:endParaRPr lang="zh-CN" altLang="en-US"/>
            </a:p>
          </p:txBody>
        </p:sp>
        <p:sp>
          <p:nvSpPr>
            <p:cNvPr id="25636" name="Line 34"/>
            <p:cNvSpPr>
              <a:spLocks noChangeShapeType="1"/>
            </p:cNvSpPr>
            <p:nvPr/>
          </p:nvSpPr>
          <p:spPr bwMode="auto">
            <a:xfrm>
              <a:off x="3833" y="2432"/>
              <a:ext cx="0" cy="480"/>
            </a:xfrm>
            <a:prstGeom prst="line">
              <a:avLst/>
            </a:prstGeom>
            <a:noFill/>
            <a:ln w="19050">
              <a:solidFill>
                <a:srgbClr val="333399"/>
              </a:solidFill>
              <a:round/>
              <a:headEnd/>
              <a:tailEnd/>
            </a:ln>
          </p:spPr>
          <p:txBody>
            <a:bodyPr wrap="none"/>
            <a:lstStyle/>
            <a:p>
              <a:endParaRPr lang="zh-CN" altLang="en-US"/>
            </a:p>
          </p:txBody>
        </p:sp>
        <p:sp>
          <p:nvSpPr>
            <p:cNvPr id="25637" name="Line 35"/>
            <p:cNvSpPr>
              <a:spLocks noChangeShapeType="1"/>
            </p:cNvSpPr>
            <p:nvPr/>
          </p:nvSpPr>
          <p:spPr bwMode="auto">
            <a:xfrm>
              <a:off x="1837" y="2840"/>
              <a:ext cx="1996" cy="0"/>
            </a:xfrm>
            <a:prstGeom prst="line">
              <a:avLst/>
            </a:prstGeom>
            <a:noFill/>
            <a:ln w="28575">
              <a:solidFill>
                <a:schemeClr val="hlink"/>
              </a:solidFill>
              <a:round/>
              <a:headEnd type="triangle" w="med" len="lg"/>
              <a:tailEnd type="triangle" w="med" len="lg"/>
            </a:ln>
          </p:spPr>
          <p:txBody>
            <a:bodyPr wrap="none"/>
            <a:lstStyle/>
            <a:p>
              <a:endParaRPr lang="zh-CN" altLang="en-US"/>
            </a:p>
          </p:txBody>
        </p:sp>
        <p:sp>
          <p:nvSpPr>
            <p:cNvPr id="25638" name="Rectangle 36"/>
            <p:cNvSpPr>
              <a:spLocks noChangeArrowheads="1"/>
            </p:cNvSpPr>
            <p:nvPr/>
          </p:nvSpPr>
          <p:spPr bwMode="auto">
            <a:xfrm>
              <a:off x="2245" y="2604"/>
              <a:ext cx="1288" cy="440"/>
            </a:xfrm>
            <a:prstGeom prst="rect">
              <a:avLst/>
            </a:prstGeom>
            <a:solidFill>
              <a:schemeClr val="bg1"/>
            </a:solidFill>
            <a:ln w="12700">
              <a:noFill/>
              <a:miter lim="800000"/>
              <a:headEnd/>
              <a:tailEnd/>
            </a:ln>
          </p:spPr>
          <p:txBody>
            <a:bodyPr lIns="90488" tIns="44450" rIns="90488" bIns="44450">
              <a:spAutoFit/>
            </a:bodyPr>
            <a:lstStyle/>
            <a:p>
              <a:pPr defTabSz="762000" eaLnBrk="0" hangingPunct="0"/>
              <a:r>
                <a:rPr lang="zh-CN" altLang="en-US" sz="2000">
                  <a:solidFill>
                    <a:schemeClr val="hlink"/>
                  </a:solidFill>
                  <a:latin typeface="黑体" pitchFamily="49" charset="-122"/>
                  <a:ea typeface="黑体" pitchFamily="49" charset="-122"/>
                </a:rPr>
                <a:t>码元传输速率受</a:t>
              </a:r>
            </a:p>
            <a:p>
              <a:pPr defTabSz="762000" eaLnBrk="0" hangingPunct="0"/>
              <a:r>
                <a:rPr lang="zh-CN" altLang="en-US" sz="2000">
                  <a:solidFill>
                    <a:schemeClr val="hlink"/>
                  </a:solidFill>
                  <a:latin typeface="黑体" pitchFamily="49" charset="-122"/>
                  <a:ea typeface="黑体" pitchFamily="49" charset="-122"/>
                </a:rPr>
                <a:t>奈氏准则的限制</a:t>
              </a:r>
            </a:p>
          </p:txBody>
        </p:sp>
      </p:grpSp>
      <p:grpSp>
        <p:nvGrpSpPr>
          <p:cNvPr id="5" name="Group 37"/>
          <p:cNvGrpSpPr>
            <a:grpSpLocks/>
          </p:cNvGrpSpPr>
          <p:nvPr/>
        </p:nvGrpSpPr>
        <p:grpSpPr bwMode="auto">
          <a:xfrm>
            <a:off x="1385888" y="3789363"/>
            <a:ext cx="5788025" cy="1727200"/>
            <a:chOff x="873" y="2387"/>
            <a:chExt cx="3646" cy="1088"/>
          </a:xfrm>
        </p:grpSpPr>
        <p:sp>
          <p:nvSpPr>
            <p:cNvPr id="25631" name="Line 38"/>
            <p:cNvSpPr>
              <a:spLocks noChangeShapeType="1"/>
            </p:cNvSpPr>
            <p:nvPr/>
          </p:nvSpPr>
          <p:spPr bwMode="auto">
            <a:xfrm>
              <a:off x="873" y="2387"/>
              <a:ext cx="3" cy="941"/>
            </a:xfrm>
            <a:prstGeom prst="line">
              <a:avLst/>
            </a:prstGeom>
            <a:noFill/>
            <a:ln w="19050">
              <a:solidFill>
                <a:srgbClr val="333399"/>
              </a:solidFill>
              <a:round/>
              <a:headEnd/>
              <a:tailEnd/>
            </a:ln>
          </p:spPr>
          <p:txBody>
            <a:bodyPr wrap="none"/>
            <a:lstStyle/>
            <a:p>
              <a:endParaRPr lang="zh-CN" altLang="en-US"/>
            </a:p>
          </p:txBody>
        </p:sp>
        <p:sp>
          <p:nvSpPr>
            <p:cNvPr id="25632" name="Line 39"/>
            <p:cNvSpPr>
              <a:spLocks noChangeShapeType="1"/>
            </p:cNvSpPr>
            <p:nvPr/>
          </p:nvSpPr>
          <p:spPr bwMode="auto">
            <a:xfrm>
              <a:off x="4519" y="2387"/>
              <a:ext cx="0" cy="908"/>
            </a:xfrm>
            <a:prstGeom prst="line">
              <a:avLst/>
            </a:prstGeom>
            <a:noFill/>
            <a:ln w="19050">
              <a:solidFill>
                <a:srgbClr val="333399"/>
              </a:solidFill>
              <a:round/>
              <a:headEnd/>
              <a:tailEnd/>
            </a:ln>
          </p:spPr>
          <p:txBody>
            <a:bodyPr wrap="none"/>
            <a:lstStyle/>
            <a:p>
              <a:endParaRPr lang="zh-CN" altLang="en-US"/>
            </a:p>
          </p:txBody>
        </p:sp>
        <p:sp>
          <p:nvSpPr>
            <p:cNvPr id="25633" name="Line 40"/>
            <p:cNvSpPr>
              <a:spLocks noChangeShapeType="1"/>
            </p:cNvSpPr>
            <p:nvPr/>
          </p:nvSpPr>
          <p:spPr bwMode="auto">
            <a:xfrm>
              <a:off x="873" y="3203"/>
              <a:ext cx="3646" cy="0"/>
            </a:xfrm>
            <a:prstGeom prst="line">
              <a:avLst/>
            </a:prstGeom>
            <a:noFill/>
            <a:ln w="28575">
              <a:solidFill>
                <a:schemeClr val="hlink"/>
              </a:solidFill>
              <a:round/>
              <a:headEnd type="triangle" w="med" len="lg"/>
              <a:tailEnd type="triangle" w="med" len="lg"/>
            </a:ln>
          </p:spPr>
          <p:txBody>
            <a:bodyPr wrap="none"/>
            <a:lstStyle/>
            <a:p>
              <a:endParaRPr lang="zh-CN" altLang="en-US"/>
            </a:p>
          </p:txBody>
        </p:sp>
        <p:sp>
          <p:nvSpPr>
            <p:cNvPr id="25634" name="Rectangle 41"/>
            <p:cNvSpPr>
              <a:spLocks noChangeArrowheads="1"/>
            </p:cNvSpPr>
            <p:nvPr/>
          </p:nvSpPr>
          <p:spPr bwMode="auto">
            <a:xfrm>
              <a:off x="2121" y="3035"/>
              <a:ext cx="1439" cy="440"/>
            </a:xfrm>
            <a:prstGeom prst="rect">
              <a:avLst/>
            </a:prstGeom>
            <a:solidFill>
              <a:schemeClr val="bg1"/>
            </a:solidFill>
            <a:ln w="12700">
              <a:noFill/>
              <a:miter lim="800000"/>
              <a:headEnd/>
              <a:tailEnd/>
            </a:ln>
          </p:spPr>
          <p:txBody>
            <a:bodyPr lIns="90488" tIns="44450" rIns="90488" bIns="44450">
              <a:spAutoFit/>
            </a:bodyPr>
            <a:lstStyle/>
            <a:p>
              <a:pPr defTabSz="762000" eaLnBrk="0" hangingPunct="0"/>
              <a:r>
                <a:rPr lang="zh-CN" altLang="en-US" sz="2000">
                  <a:solidFill>
                    <a:schemeClr val="hlink"/>
                  </a:solidFill>
                  <a:latin typeface="黑体" pitchFamily="49" charset="-122"/>
                  <a:ea typeface="黑体" pitchFamily="49" charset="-122"/>
                </a:rPr>
                <a:t>信息传输速率受</a:t>
              </a:r>
            </a:p>
            <a:p>
              <a:pPr defTabSz="762000" eaLnBrk="0" hangingPunct="0"/>
              <a:r>
                <a:rPr lang="zh-CN" altLang="en-US" sz="2000">
                  <a:solidFill>
                    <a:schemeClr val="hlink"/>
                  </a:solidFill>
                  <a:latin typeface="黑体" pitchFamily="49" charset="-122"/>
                  <a:ea typeface="黑体" pitchFamily="49" charset="-122"/>
                </a:rPr>
                <a:t>香农公式的限制</a:t>
              </a:r>
            </a:p>
          </p:txBody>
        </p:sp>
      </p:grpSp>
      <p:sp>
        <p:nvSpPr>
          <p:cNvPr id="25630" name="Line 42"/>
          <p:cNvSpPr>
            <a:spLocks noChangeShapeType="1"/>
          </p:cNvSpPr>
          <p:nvPr/>
        </p:nvSpPr>
        <p:spPr bwMode="auto">
          <a:xfrm>
            <a:off x="8507413" y="3363913"/>
            <a:ext cx="609600" cy="0"/>
          </a:xfrm>
          <a:prstGeom prst="line">
            <a:avLst/>
          </a:prstGeom>
          <a:noFill/>
          <a:ln w="28575">
            <a:solidFill>
              <a:srgbClr val="333399"/>
            </a:solidFill>
            <a:round/>
            <a:headEnd/>
            <a:tailEnd type="triangle" w="med" len="lg"/>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par>
                          <p:cTn id="10" fill="hold">
                            <p:stCondLst>
                              <p:cond delay="6000"/>
                            </p:stCondLst>
                            <p:childTnLst>
                              <p:par>
                                <p:cTn id="11" presetID="35" presetClass="emph" presetSubtype="0" repeatCount="3000" fill="hold" nodeType="afterEffect">
                                  <p:stCondLst>
                                    <p:cond delay="0"/>
                                  </p:stCondLst>
                                  <p:childTnLst>
                                    <p:anim calcmode="discrete" valueType="str">
                                      <p:cBhvr>
                                        <p:cTn id="12" dur="1000" fill="hold"/>
                                        <p:tgtEl>
                                          <p:spTgt spid="2"/>
                                        </p:tgtEl>
                                        <p:attrNameLst>
                                          <p:attrName>style.visibility</p:attrName>
                                        </p:attrNameLst>
                                      </p:cBhvr>
                                      <p:tavLst>
                                        <p:tav tm="0">
                                          <p:val>
                                            <p:strVal val="hidden"/>
                                          </p:val>
                                        </p:tav>
                                        <p:tav tm="50000">
                                          <p:val>
                                            <p:strVal val="visible"/>
                                          </p:val>
                                        </p:tav>
                                      </p:tavLst>
                                    </p:anim>
                                  </p:childTnLst>
                                </p:cTn>
                              </p:par>
                            </p:childTnLst>
                          </p:cTn>
                        </p:par>
                        <p:par>
                          <p:cTn id="13" fill="hold">
                            <p:stCondLst>
                              <p:cond delay="9000"/>
                            </p:stCondLst>
                            <p:childTnLst>
                              <p:par>
                                <p:cTn id="14" presetID="35" presetClass="emph" presetSubtype="0" repeatCount="3000" fill="hold" nodeType="afterEffect">
                                  <p:stCondLst>
                                    <p:cond delay="0"/>
                                  </p:stCondLst>
                                  <p:childTnLst>
                                    <p:anim calcmode="discrete" valueType="str">
                                      <p:cBhvr>
                                        <p:cTn id="15"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dirty="0" smtClean="0">
                <a:ea typeface="宋体" pitchFamily="2" charset="-122"/>
              </a:rPr>
              <a:t>（</a:t>
            </a:r>
            <a:r>
              <a:rPr lang="en-US" altLang="zh-CN" dirty="0" smtClean="0">
                <a:ea typeface="宋体" pitchFamily="2" charset="-122"/>
              </a:rPr>
              <a:t>3</a:t>
            </a:r>
            <a:r>
              <a:rPr lang="zh-CN" altLang="en-US" dirty="0" smtClean="0">
                <a:ea typeface="宋体" pitchFamily="2" charset="-122"/>
              </a:rPr>
              <a:t>）</a:t>
            </a:r>
            <a:r>
              <a:rPr lang="en-US" altLang="zh-CN" dirty="0" smtClean="0">
                <a:ea typeface="宋体" pitchFamily="2" charset="-122"/>
              </a:rPr>
              <a:t>Asynchronous </a:t>
            </a:r>
            <a:r>
              <a:rPr lang="en-US" altLang="zh-CN" dirty="0">
                <a:ea typeface="宋体" pitchFamily="2" charset="-122"/>
              </a:rPr>
              <a:t>and Synchronous Transmission</a:t>
            </a:r>
          </a:p>
        </p:txBody>
      </p:sp>
      <p:sp>
        <p:nvSpPr>
          <p:cNvPr id="5123" name="Rectangle 3"/>
          <p:cNvSpPr>
            <a:spLocks noGrp="1" noChangeArrowheads="1"/>
          </p:cNvSpPr>
          <p:nvPr>
            <p:ph type="body" idx="1"/>
          </p:nvPr>
        </p:nvSpPr>
        <p:spPr/>
        <p:txBody>
          <a:bodyPr/>
          <a:lstStyle/>
          <a:p>
            <a:r>
              <a:rPr lang="en-US" altLang="zh-CN">
                <a:ea typeface="宋体" pitchFamily="2" charset="-122"/>
              </a:rPr>
              <a:t>Timing problems require a mechanism to synchronize the transmitter and receiver</a:t>
            </a:r>
          </a:p>
          <a:p>
            <a:r>
              <a:rPr lang="en-US" altLang="zh-CN">
                <a:ea typeface="宋体" pitchFamily="2" charset="-122"/>
              </a:rPr>
              <a:t>Two solutions</a:t>
            </a:r>
          </a:p>
          <a:p>
            <a:pPr lvl="1"/>
            <a:r>
              <a:rPr lang="en-US" altLang="zh-CN">
                <a:ea typeface="宋体" pitchFamily="2" charset="-122"/>
              </a:rPr>
              <a:t>Asynchronous</a:t>
            </a:r>
            <a:r>
              <a:rPr lang="zh-CN" altLang="en-US">
                <a:ea typeface="宋体" pitchFamily="2" charset="-122"/>
              </a:rPr>
              <a:t>异步</a:t>
            </a:r>
          </a:p>
          <a:p>
            <a:pPr lvl="1"/>
            <a:r>
              <a:rPr lang="en-US" altLang="zh-CN">
                <a:ea typeface="宋体" pitchFamily="2" charset="-122"/>
              </a:rPr>
              <a:t>Synchronous</a:t>
            </a:r>
            <a:r>
              <a:rPr lang="zh-CN" altLang="en-US">
                <a:ea typeface="宋体" pitchFamily="2" charset="-122"/>
              </a:rPr>
              <a:t>同步</a:t>
            </a:r>
          </a:p>
          <a:p>
            <a:pPr lvl="1"/>
            <a:endParaRPr lang="zh-CN" altLang="en-US">
              <a:ea typeface="宋体"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zh-CN" dirty="0">
                <a:ea typeface="宋体" pitchFamily="2" charset="-122"/>
              </a:rPr>
              <a:t>Asynchronous</a:t>
            </a:r>
          </a:p>
        </p:txBody>
      </p:sp>
      <p:sp>
        <p:nvSpPr>
          <p:cNvPr id="6147" name="Rectangle 3"/>
          <p:cNvSpPr>
            <a:spLocks noGrp="1" noChangeArrowheads="1"/>
          </p:cNvSpPr>
          <p:nvPr>
            <p:ph type="body" idx="1"/>
          </p:nvPr>
        </p:nvSpPr>
        <p:spPr/>
        <p:txBody>
          <a:bodyPr/>
          <a:lstStyle/>
          <a:p>
            <a:r>
              <a:rPr lang="zh-CN" altLang="en-US" dirty="0" smtClean="0">
                <a:ea typeface="宋体" pitchFamily="2" charset="-122"/>
              </a:rPr>
              <a:t>数据</a:t>
            </a:r>
            <a:r>
              <a:rPr lang="zh-CN" altLang="en-US" dirty="0">
                <a:ea typeface="宋体" pitchFamily="2" charset="-122"/>
              </a:rPr>
              <a:t>一次传输一</a:t>
            </a:r>
            <a:r>
              <a:rPr lang="zh-CN" altLang="en-US" dirty="0" smtClean="0">
                <a:ea typeface="宋体" pitchFamily="2" charset="-122"/>
              </a:rPr>
              <a:t>个字符</a:t>
            </a:r>
            <a:r>
              <a:rPr lang="en-US" altLang="zh-CN" dirty="0" smtClean="0">
                <a:ea typeface="宋体" pitchFamily="2" charset="-122"/>
              </a:rPr>
              <a:t>on </a:t>
            </a:r>
            <a:r>
              <a:rPr lang="en-US" altLang="zh-CN" dirty="0">
                <a:ea typeface="宋体" pitchFamily="2" charset="-122"/>
              </a:rPr>
              <a:t>character </a:t>
            </a:r>
            <a:endParaRPr lang="en-US" altLang="zh-CN" dirty="0" smtClean="0">
              <a:ea typeface="宋体" pitchFamily="2" charset="-122"/>
            </a:endParaRPr>
          </a:p>
          <a:p>
            <a:pPr lvl="1"/>
            <a:r>
              <a:rPr lang="en-US" altLang="zh-CN" dirty="0" smtClean="0">
                <a:ea typeface="宋体" pitchFamily="2" charset="-122"/>
              </a:rPr>
              <a:t>5 </a:t>
            </a:r>
            <a:r>
              <a:rPr lang="en-US" altLang="zh-CN" dirty="0">
                <a:ea typeface="宋体" pitchFamily="2" charset="-122"/>
              </a:rPr>
              <a:t>to 8 </a:t>
            </a:r>
            <a:r>
              <a:rPr lang="en-US" altLang="zh-CN" dirty="0" smtClean="0">
                <a:ea typeface="宋体" pitchFamily="2" charset="-122"/>
              </a:rPr>
              <a:t>bits/</a:t>
            </a:r>
            <a:r>
              <a:rPr lang="zh-CN" altLang="en-US" dirty="0" smtClean="0">
                <a:ea typeface="宋体" pitchFamily="2" charset="-122"/>
              </a:rPr>
              <a:t> </a:t>
            </a:r>
            <a:r>
              <a:rPr lang="en-US" altLang="zh-CN" dirty="0" smtClean="0">
                <a:ea typeface="宋体" pitchFamily="2" charset="-122"/>
              </a:rPr>
              <a:t>1</a:t>
            </a:r>
            <a:r>
              <a:rPr lang="zh-CN" altLang="en-US" dirty="0" smtClean="0">
                <a:ea typeface="宋体" pitchFamily="2" charset="-122"/>
              </a:rPr>
              <a:t> </a:t>
            </a:r>
            <a:r>
              <a:rPr lang="en-US" altLang="zh-CN" dirty="0" smtClean="0">
                <a:ea typeface="宋体" pitchFamily="2" charset="-122"/>
              </a:rPr>
              <a:t>char</a:t>
            </a:r>
            <a:endParaRPr lang="en-US" altLang="zh-CN" dirty="0">
              <a:ea typeface="宋体" pitchFamily="2" charset="-122"/>
            </a:endParaRPr>
          </a:p>
          <a:p>
            <a:r>
              <a:rPr lang="en-US" altLang="zh-CN" dirty="0">
                <a:ea typeface="宋体" pitchFamily="2" charset="-122"/>
              </a:rPr>
              <a:t>Timing only needs maintaining within each character</a:t>
            </a:r>
            <a:r>
              <a:rPr lang="zh-CN" altLang="en-US" dirty="0">
                <a:ea typeface="宋体" pitchFamily="2" charset="-122"/>
              </a:rPr>
              <a:t>只需在每个字符内保持时序正确或同步</a:t>
            </a:r>
          </a:p>
          <a:p>
            <a:r>
              <a:rPr lang="en-US" altLang="zh-CN" dirty="0">
                <a:ea typeface="宋体" pitchFamily="2" charset="-122"/>
              </a:rPr>
              <a:t>Resynchronize with each character</a:t>
            </a:r>
            <a:r>
              <a:rPr lang="zh-CN" altLang="en-US" dirty="0">
                <a:ea typeface="宋体" pitchFamily="2" charset="-122"/>
              </a:rPr>
              <a:t>每个新字符开始时，接收器都有机会重新取得同步</a:t>
            </a:r>
          </a:p>
          <a:p>
            <a:endParaRPr lang="zh-CN" altLang="en-US" dirty="0">
              <a:ea typeface="宋体"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899592" y="404664"/>
            <a:ext cx="7793037" cy="983704"/>
          </a:xfrm>
        </p:spPr>
        <p:txBody>
          <a:bodyPr/>
          <a:lstStyle/>
          <a:p>
            <a:r>
              <a:rPr lang="en-US" altLang="zh-CN" dirty="0">
                <a:ea typeface="宋体" pitchFamily="2" charset="-122"/>
              </a:rPr>
              <a:t>Asynchronous (diagram)</a:t>
            </a:r>
          </a:p>
        </p:txBody>
      </p:sp>
      <p:pic>
        <p:nvPicPr>
          <p:cNvPr id="7172" name="Picture 4"/>
          <p:cNvPicPr>
            <a:picLocks noChangeAspect="1" noChangeArrowheads="1"/>
          </p:cNvPicPr>
          <p:nvPr/>
        </p:nvPicPr>
        <p:blipFill>
          <a:blip r:embed="rId2" cstate="print"/>
          <a:srcRect b="9627"/>
          <a:stretch>
            <a:fillRect/>
          </a:stretch>
        </p:blipFill>
        <p:spPr bwMode="auto">
          <a:xfrm>
            <a:off x="2339752" y="1340768"/>
            <a:ext cx="6408712" cy="5441950"/>
          </a:xfrm>
          <a:prstGeom prst="rect">
            <a:avLst/>
          </a:prstGeom>
          <a:noFill/>
          <a:ln w="9525">
            <a:noFill/>
            <a:miter lim="800000"/>
            <a:headEnd/>
            <a:tailEnd/>
          </a:ln>
          <a:effectLst/>
        </p:spPr>
      </p:pic>
      <p:sp>
        <p:nvSpPr>
          <p:cNvPr id="7173" name="Text Box 5"/>
          <p:cNvSpPr txBox="1">
            <a:spLocks noChangeArrowheads="1"/>
          </p:cNvSpPr>
          <p:nvPr/>
        </p:nvSpPr>
        <p:spPr bwMode="auto">
          <a:xfrm>
            <a:off x="152400" y="4876800"/>
            <a:ext cx="1447800" cy="244475"/>
          </a:xfrm>
          <a:prstGeom prst="rect">
            <a:avLst/>
          </a:prstGeom>
          <a:noFill/>
          <a:ln w="9525">
            <a:noFill/>
            <a:miter lim="800000"/>
            <a:headEnd/>
            <a:tailEnd/>
          </a:ln>
          <a:effectLst/>
        </p:spPr>
        <p:txBody>
          <a:bodyPr lIns="90000" tIns="46800" rIns="90000" bIns="46800">
            <a:spAutoFit/>
          </a:bodyPr>
          <a:lstStyle/>
          <a:p>
            <a:pPr>
              <a:spcBef>
                <a:spcPct val="50000"/>
              </a:spcBef>
            </a:pPr>
            <a:endParaRPr lang="zh-CN" altLang="en-US" sz="1000">
              <a:ea typeface="宋体" pitchFamily="2" charset="-122"/>
            </a:endParaRPr>
          </a:p>
        </p:txBody>
      </p:sp>
      <p:sp>
        <p:nvSpPr>
          <p:cNvPr id="7174" name="Text Box 6"/>
          <p:cNvSpPr txBox="1">
            <a:spLocks noChangeArrowheads="1"/>
          </p:cNvSpPr>
          <p:nvPr/>
        </p:nvSpPr>
        <p:spPr bwMode="auto">
          <a:xfrm>
            <a:off x="228600" y="3645024"/>
            <a:ext cx="2039144" cy="2864503"/>
          </a:xfrm>
          <a:prstGeom prst="rect">
            <a:avLst/>
          </a:prstGeom>
          <a:noFill/>
          <a:ln w="9525">
            <a:noFill/>
            <a:miter lim="800000"/>
            <a:headEnd/>
            <a:tailEnd/>
          </a:ln>
          <a:effectLst/>
        </p:spPr>
        <p:txBody>
          <a:bodyPr wrap="square" lIns="90000" tIns="46800" rIns="90000" bIns="46800">
            <a:spAutoFit/>
          </a:bodyPr>
          <a:lstStyle/>
          <a:p>
            <a:pPr>
              <a:spcBef>
                <a:spcPct val="50000"/>
              </a:spcBef>
            </a:pPr>
            <a:r>
              <a:rPr lang="zh-CN" altLang="en-US" sz="1800" dirty="0">
                <a:ea typeface="宋体" pitchFamily="2" charset="-122"/>
              </a:rPr>
              <a:t>设比特率为10</a:t>
            </a:r>
            <a:r>
              <a:rPr lang="en-US" altLang="zh-CN" sz="1800" dirty="0">
                <a:ea typeface="宋体" pitchFamily="2" charset="-122"/>
              </a:rPr>
              <a:t>kb/s，</a:t>
            </a:r>
            <a:r>
              <a:rPr lang="zh-CN" altLang="en-US" sz="1800" dirty="0">
                <a:ea typeface="宋体" pitchFamily="2" charset="-122"/>
              </a:rPr>
              <a:t>每个比特宽度为100</a:t>
            </a:r>
            <a:r>
              <a:rPr lang="en-US" altLang="zh-CN" sz="1800" dirty="0">
                <a:ea typeface="宋体" pitchFamily="2" charset="-122"/>
              </a:rPr>
              <a:t>us，</a:t>
            </a:r>
            <a:r>
              <a:rPr lang="zh-CN" altLang="en-US" sz="1800" dirty="0">
                <a:ea typeface="宋体" pitchFamily="2" charset="-122"/>
              </a:rPr>
              <a:t>如接收器比发送器快或慢了5%，第8个字符的取样位置会有45%的偏移，但仍能正确取样，如有6%，每隔94</a:t>
            </a:r>
            <a:r>
              <a:rPr lang="en-US" altLang="zh-CN" sz="1800" dirty="0">
                <a:ea typeface="宋体" pitchFamily="2" charset="-122"/>
              </a:rPr>
              <a:t>us</a:t>
            </a:r>
            <a:r>
              <a:rPr lang="zh-CN" altLang="en-US" sz="1800" dirty="0">
                <a:ea typeface="宋体" pitchFamily="2" charset="-122"/>
              </a:rPr>
              <a:t>取样一次，则第8个比特出错。</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a:ea typeface="宋体" pitchFamily="2" charset="-122"/>
              </a:rPr>
              <a:t>Asynchronous - Behavior</a:t>
            </a:r>
          </a:p>
        </p:txBody>
      </p:sp>
      <p:sp>
        <p:nvSpPr>
          <p:cNvPr id="8195" name="Rectangle 3"/>
          <p:cNvSpPr>
            <a:spLocks noGrp="1" noChangeArrowheads="1"/>
          </p:cNvSpPr>
          <p:nvPr>
            <p:ph type="body" idx="1"/>
          </p:nvPr>
        </p:nvSpPr>
        <p:spPr/>
        <p:txBody>
          <a:bodyPr/>
          <a:lstStyle/>
          <a:p>
            <a:pPr marL="533400" indent="-533400"/>
            <a:r>
              <a:rPr lang="en-US" altLang="zh-CN" sz="2400">
                <a:ea typeface="宋体" pitchFamily="2" charset="-122"/>
              </a:rPr>
              <a:t>In a steady stream, interval between characters is uniform (length of stop element)</a:t>
            </a:r>
          </a:p>
          <a:p>
            <a:pPr marL="533400" indent="-533400"/>
            <a:r>
              <a:rPr lang="en-US" altLang="zh-CN" sz="2400">
                <a:ea typeface="宋体" pitchFamily="2" charset="-122"/>
              </a:rPr>
              <a:t>In idle state, receiver looks for transition 1 to 0</a:t>
            </a:r>
          </a:p>
          <a:p>
            <a:pPr marL="533400" indent="-533400"/>
            <a:r>
              <a:rPr lang="en-US" altLang="zh-CN" sz="2400">
                <a:ea typeface="宋体" pitchFamily="2" charset="-122"/>
              </a:rPr>
              <a:t>Then samples next seven intervals (char length)</a:t>
            </a:r>
          </a:p>
          <a:p>
            <a:pPr marL="533400" indent="-533400"/>
            <a:r>
              <a:rPr lang="en-US" altLang="zh-CN" sz="2400">
                <a:ea typeface="宋体" pitchFamily="2" charset="-122"/>
              </a:rPr>
              <a:t>Then looks for next 1 to 0 for next char</a:t>
            </a:r>
          </a:p>
          <a:p>
            <a:pPr marL="533400" indent="-533400">
              <a:buFontTx/>
              <a:buNone/>
            </a:pPr>
            <a:r>
              <a:rPr lang="zh-CN" altLang="en-US" sz="2400">
                <a:ea typeface="宋体" pitchFamily="2" charset="-122"/>
              </a:rPr>
              <a:t>优点：</a:t>
            </a:r>
          </a:p>
          <a:p>
            <a:pPr marL="533400" indent="-533400">
              <a:buFontTx/>
              <a:buAutoNum type="arabicPeriod"/>
            </a:pPr>
            <a:r>
              <a:rPr lang="en-US" altLang="zh-CN" sz="2400">
                <a:ea typeface="宋体" pitchFamily="2" charset="-122"/>
              </a:rPr>
              <a:t>Simple</a:t>
            </a:r>
          </a:p>
          <a:p>
            <a:pPr marL="533400" indent="-533400">
              <a:buFontTx/>
              <a:buAutoNum type="arabicPeriod"/>
            </a:pPr>
            <a:r>
              <a:rPr lang="en-US" altLang="zh-CN" sz="2400">
                <a:ea typeface="宋体" pitchFamily="2" charset="-122"/>
              </a:rPr>
              <a:t>Cheap</a:t>
            </a:r>
          </a:p>
          <a:p>
            <a:pPr marL="533400" indent="-533400">
              <a:buFontTx/>
              <a:buAutoNum type="arabicPeriod"/>
            </a:pPr>
            <a:r>
              <a:rPr lang="en-US" altLang="zh-CN" sz="2400">
                <a:ea typeface="宋体" pitchFamily="2" charset="-122"/>
              </a:rPr>
              <a:t>Overhead</a:t>
            </a:r>
            <a:r>
              <a:rPr lang="zh-CN" altLang="en-US" sz="2400">
                <a:ea typeface="宋体" pitchFamily="2" charset="-122"/>
              </a:rPr>
              <a:t>开销 </a:t>
            </a:r>
            <a:r>
              <a:rPr lang="en-US" altLang="zh-CN" sz="2400">
                <a:ea typeface="宋体" pitchFamily="2" charset="-122"/>
              </a:rPr>
              <a:t>of 2 or 3 bits per char (~20%)</a:t>
            </a:r>
          </a:p>
          <a:p>
            <a:pPr marL="533400" indent="-533400">
              <a:buFontTx/>
              <a:buAutoNum type="arabicPeriod"/>
            </a:pPr>
            <a:r>
              <a:rPr lang="en-US" altLang="zh-CN" sz="2400">
                <a:ea typeface="宋体" pitchFamily="2" charset="-122"/>
              </a:rPr>
              <a:t>Good for data with large gaps</a:t>
            </a:r>
            <a:r>
              <a:rPr lang="zh-CN" altLang="en-US" sz="2400">
                <a:ea typeface="宋体" pitchFamily="2" charset="-122"/>
              </a:rPr>
              <a:t>间隔 (如</a:t>
            </a:r>
            <a:r>
              <a:rPr lang="en-US" altLang="zh-CN" sz="2400">
                <a:ea typeface="宋体" pitchFamily="2" charset="-122"/>
              </a:rPr>
              <a:t>keyboard)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27584" y="0"/>
            <a:ext cx="7793037" cy="1462087"/>
          </a:xfrm>
        </p:spPr>
        <p:txBody>
          <a:bodyPr/>
          <a:lstStyle/>
          <a:p>
            <a:r>
              <a:rPr lang="en-US" altLang="zh-CN" dirty="0">
                <a:ea typeface="宋体" pitchFamily="2" charset="-122"/>
              </a:rPr>
              <a:t>Synchronous - Bit Level</a:t>
            </a:r>
          </a:p>
        </p:txBody>
      </p:sp>
      <p:sp>
        <p:nvSpPr>
          <p:cNvPr id="9219" name="Rectangle 3"/>
          <p:cNvSpPr>
            <a:spLocks noGrp="1" noChangeArrowheads="1"/>
          </p:cNvSpPr>
          <p:nvPr>
            <p:ph type="body" idx="1"/>
          </p:nvPr>
        </p:nvSpPr>
        <p:spPr/>
        <p:txBody>
          <a:bodyPr/>
          <a:lstStyle/>
          <a:p>
            <a:pPr>
              <a:lnSpc>
                <a:spcPct val="90000"/>
              </a:lnSpc>
            </a:pPr>
            <a:r>
              <a:rPr lang="en-US" altLang="zh-CN" dirty="0" smtClean="0">
                <a:solidFill>
                  <a:srgbClr val="FF0000"/>
                </a:solidFill>
                <a:ea typeface="宋体" pitchFamily="2" charset="-122"/>
              </a:rPr>
              <a:t>Block </a:t>
            </a:r>
            <a:r>
              <a:rPr lang="en-US" altLang="zh-CN" dirty="0">
                <a:solidFill>
                  <a:srgbClr val="FF0000"/>
                </a:solidFill>
                <a:ea typeface="宋体" pitchFamily="2" charset="-122"/>
              </a:rPr>
              <a:t>of data </a:t>
            </a:r>
            <a:r>
              <a:rPr lang="en-US" altLang="zh-CN" dirty="0">
                <a:ea typeface="宋体" pitchFamily="2" charset="-122"/>
              </a:rPr>
              <a:t>transmitted without start or stop </a:t>
            </a:r>
            <a:r>
              <a:rPr lang="en-US" altLang="zh-CN" dirty="0" smtClean="0">
                <a:ea typeface="宋体" pitchFamily="2" charset="-122"/>
              </a:rPr>
              <a:t>bits</a:t>
            </a:r>
            <a:endParaRPr lang="en-US" altLang="zh-CN" dirty="0">
              <a:ea typeface="宋体" pitchFamily="2" charset="-122"/>
            </a:endParaRPr>
          </a:p>
          <a:p>
            <a:pPr>
              <a:lnSpc>
                <a:spcPct val="90000"/>
              </a:lnSpc>
            </a:pPr>
            <a:r>
              <a:rPr lang="en-US" altLang="zh-CN" dirty="0">
                <a:ea typeface="宋体" pitchFamily="2" charset="-122"/>
              </a:rPr>
              <a:t>Clocks must be synchronized</a:t>
            </a:r>
          </a:p>
          <a:p>
            <a:pPr>
              <a:lnSpc>
                <a:spcPct val="90000"/>
              </a:lnSpc>
            </a:pPr>
            <a:r>
              <a:rPr lang="en-US" altLang="zh-CN" dirty="0">
                <a:ea typeface="宋体" pitchFamily="2" charset="-122"/>
              </a:rPr>
              <a:t>Can use </a:t>
            </a:r>
            <a:r>
              <a:rPr lang="en-US" altLang="zh-CN" dirty="0">
                <a:solidFill>
                  <a:srgbClr val="FF0000"/>
                </a:solidFill>
                <a:ea typeface="宋体" pitchFamily="2" charset="-122"/>
              </a:rPr>
              <a:t>separate</a:t>
            </a:r>
            <a:r>
              <a:rPr lang="en-US" altLang="zh-CN" dirty="0">
                <a:ea typeface="宋体" pitchFamily="2" charset="-122"/>
              </a:rPr>
              <a:t> </a:t>
            </a:r>
            <a:r>
              <a:rPr lang="en-US" altLang="zh-CN" dirty="0">
                <a:solidFill>
                  <a:srgbClr val="FF0000"/>
                </a:solidFill>
                <a:ea typeface="宋体" pitchFamily="2" charset="-122"/>
              </a:rPr>
              <a:t>clock</a:t>
            </a:r>
            <a:r>
              <a:rPr lang="en-US" altLang="zh-CN" dirty="0">
                <a:ea typeface="宋体" pitchFamily="2" charset="-122"/>
              </a:rPr>
              <a:t> line</a:t>
            </a:r>
          </a:p>
          <a:p>
            <a:pPr lvl="1">
              <a:lnSpc>
                <a:spcPct val="90000"/>
              </a:lnSpc>
            </a:pPr>
            <a:r>
              <a:rPr lang="en-US" altLang="zh-CN" dirty="0">
                <a:ea typeface="宋体" pitchFamily="2" charset="-122"/>
              </a:rPr>
              <a:t>Good over short distances</a:t>
            </a:r>
          </a:p>
          <a:p>
            <a:pPr lvl="1">
              <a:lnSpc>
                <a:spcPct val="90000"/>
              </a:lnSpc>
            </a:pPr>
            <a:r>
              <a:rPr lang="en-US" altLang="zh-CN" dirty="0">
                <a:ea typeface="宋体" pitchFamily="2" charset="-122"/>
              </a:rPr>
              <a:t>Subject to impairments</a:t>
            </a:r>
            <a:r>
              <a:rPr lang="zh-CN" altLang="en-US" dirty="0">
                <a:ea typeface="宋体" pitchFamily="2" charset="-122"/>
              </a:rPr>
              <a:t>长距离传输时时钟脉冲与数据信号一样会受到损伤</a:t>
            </a:r>
            <a:endParaRPr lang="en-US" altLang="zh-CN" dirty="0">
              <a:ea typeface="宋体" pitchFamily="2" charset="-122"/>
            </a:endParaRPr>
          </a:p>
          <a:p>
            <a:pPr>
              <a:lnSpc>
                <a:spcPct val="90000"/>
              </a:lnSpc>
            </a:pPr>
            <a:r>
              <a:rPr lang="en-US" altLang="zh-CN" dirty="0">
                <a:solidFill>
                  <a:srgbClr val="FF0000"/>
                </a:solidFill>
                <a:ea typeface="宋体" pitchFamily="2" charset="-122"/>
              </a:rPr>
              <a:t>Embed clock </a:t>
            </a:r>
            <a:r>
              <a:rPr lang="en-US" altLang="zh-CN" dirty="0">
                <a:ea typeface="宋体" pitchFamily="2" charset="-122"/>
              </a:rPr>
              <a:t>signal in data</a:t>
            </a:r>
          </a:p>
          <a:p>
            <a:pPr lvl="1">
              <a:lnSpc>
                <a:spcPct val="90000"/>
              </a:lnSpc>
            </a:pPr>
            <a:r>
              <a:rPr lang="en-US" altLang="zh-CN" dirty="0">
                <a:ea typeface="宋体" pitchFamily="2" charset="-122"/>
              </a:rPr>
              <a:t>Manchester encoding</a:t>
            </a:r>
          </a:p>
          <a:p>
            <a:pPr lvl="1">
              <a:lnSpc>
                <a:spcPct val="90000"/>
              </a:lnSpc>
            </a:pPr>
            <a:r>
              <a:rPr lang="en-US" altLang="zh-CN" dirty="0">
                <a:ea typeface="宋体" pitchFamily="2" charset="-122"/>
              </a:rPr>
              <a:t>Carrier frequency (analog)</a:t>
            </a:r>
            <a:endParaRPr lang="zh-CN" altLang="en-US" dirty="0">
              <a:ea typeface="宋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a:ea typeface="宋体" pitchFamily="2" charset="-122"/>
              </a:rPr>
              <a:t>Synchronous - Block Level</a:t>
            </a:r>
          </a:p>
        </p:txBody>
      </p:sp>
      <p:sp>
        <p:nvSpPr>
          <p:cNvPr id="10243" name="Rectangle 3"/>
          <p:cNvSpPr>
            <a:spLocks noGrp="1" noChangeArrowheads="1"/>
          </p:cNvSpPr>
          <p:nvPr>
            <p:ph type="body" idx="1"/>
          </p:nvPr>
        </p:nvSpPr>
        <p:spPr>
          <a:xfrm>
            <a:off x="539552" y="1844824"/>
            <a:ext cx="8347844" cy="4114800"/>
          </a:xfrm>
        </p:spPr>
        <p:txBody>
          <a:bodyPr/>
          <a:lstStyle/>
          <a:p>
            <a:r>
              <a:rPr lang="en-US" altLang="zh-CN" sz="2800" dirty="0">
                <a:ea typeface="宋体" pitchFamily="2" charset="-122"/>
              </a:rPr>
              <a:t>Need </a:t>
            </a:r>
            <a:r>
              <a:rPr lang="en-US" altLang="zh-CN" sz="2800" dirty="0">
                <a:solidFill>
                  <a:srgbClr val="FF0000"/>
                </a:solidFill>
                <a:ea typeface="宋体" pitchFamily="2" charset="-122"/>
              </a:rPr>
              <a:t>to indicate </a:t>
            </a:r>
            <a:r>
              <a:rPr lang="en-US" altLang="zh-CN" sz="2800" dirty="0">
                <a:ea typeface="宋体" pitchFamily="2" charset="-122"/>
              </a:rPr>
              <a:t>start and end of block</a:t>
            </a:r>
          </a:p>
          <a:p>
            <a:r>
              <a:rPr lang="en-US" altLang="zh-CN" sz="2800" dirty="0">
                <a:ea typeface="宋体" pitchFamily="2" charset="-122"/>
              </a:rPr>
              <a:t>Use </a:t>
            </a:r>
            <a:r>
              <a:rPr lang="en-US" altLang="zh-CN" sz="2800" dirty="0" smtClean="0">
                <a:ea typeface="宋体" pitchFamily="2" charset="-122"/>
              </a:rPr>
              <a:t>preamble(</a:t>
            </a:r>
            <a:r>
              <a:rPr lang="zh-CN" altLang="en-US" sz="2800" dirty="0" smtClean="0">
                <a:ea typeface="宋体" pitchFamily="2" charset="-122"/>
              </a:rPr>
              <a:t>前同步码</a:t>
            </a:r>
            <a:r>
              <a:rPr lang="en-US" altLang="zh-CN" sz="2800" dirty="0" smtClean="0">
                <a:ea typeface="宋体" pitchFamily="2" charset="-122"/>
              </a:rPr>
              <a:t>) and </a:t>
            </a:r>
            <a:r>
              <a:rPr lang="en-US" altLang="zh-CN" sz="2800" dirty="0" err="1" smtClean="0">
                <a:ea typeface="宋体" pitchFamily="2" charset="-122"/>
              </a:rPr>
              <a:t>postamble</a:t>
            </a:r>
            <a:r>
              <a:rPr lang="en-US" altLang="zh-CN" sz="2800" dirty="0" smtClean="0">
                <a:ea typeface="宋体" pitchFamily="2" charset="-122"/>
              </a:rPr>
              <a:t>(</a:t>
            </a:r>
            <a:r>
              <a:rPr lang="zh-CN" altLang="en-US" sz="2800" dirty="0" smtClean="0">
                <a:ea typeface="宋体" pitchFamily="2" charset="-122"/>
              </a:rPr>
              <a:t>后同步码</a:t>
            </a:r>
            <a:r>
              <a:rPr lang="en-US" altLang="zh-CN" sz="2800" dirty="0" smtClean="0">
                <a:ea typeface="宋体" pitchFamily="2" charset="-122"/>
              </a:rPr>
              <a:t>)</a:t>
            </a:r>
            <a:endParaRPr lang="zh-CN" altLang="en-US" sz="2800" dirty="0">
              <a:ea typeface="宋体" pitchFamily="2" charset="-122"/>
            </a:endParaRPr>
          </a:p>
          <a:p>
            <a:pPr lvl="1"/>
            <a:r>
              <a:rPr lang="en-US" altLang="zh-CN" sz="2400" dirty="0">
                <a:ea typeface="宋体" pitchFamily="2" charset="-122"/>
              </a:rPr>
              <a:t>e.g. series of SYN (hex 16) characters</a:t>
            </a:r>
          </a:p>
          <a:p>
            <a:pPr lvl="1"/>
            <a:r>
              <a:rPr lang="en-US" altLang="zh-CN" sz="2400" dirty="0">
                <a:ea typeface="宋体" pitchFamily="2" charset="-122"/>
              </a:rPr>
              <a:t>e.g. block of 11111111 patterns ending in 11111110</a:t>
            </a:r>
          </a:p>
          <a:p>
            <a:r>
              <a:rPr lang="zh-CN" altLang="en-US" sz="2800" dirty="0" smtClean="0">
                <a:ea typeface="宋体" pitchFamily="2" charset="-122"/>
              </a:rPr>
              <a:t>带</a:t>
            </a:r>
            <a:r>
              <a:rPr lang="zh-CN" altLang="en-US" sz="2800" dirty="0">
                <a:ea typeface="宋体" pitchFamily="2" charset="-122"/>
              </a:rPr>
              <a:t>上控制</a:t>
            </a:r>
            <a:r>
              <a:rPr lang="zh-CN" altLang="en-US" sz="2800" dirty="0" smtClean="0">
                <a:ea typeface="宋体" pitchFamily="2" charset="-122"/>
              </a:rPr>
              <a:t>信息</a:t>
            </a:r>
            <a:endParaRPr lang="en-US" altLang="zh-CN" sz="2800" dirty="0" smtClean="0">
              <a:ea typeface="宋体" pitchFamily="2" charset="-122"/>
            </a:endParaRPr>
          </a:p>
          <a:p>
            <a:pPr lvl="1"/>
            <a:r>
              <a:rPr lang="en-US" altLang="zh-CN" sz="2400" dirty="0" smtClean="0">
                <a:ea typeface="宋体" pitchFamily="2" charset="-122"/>
              </a:rPr>
              <a:t>Frame=</a:t>
            </a:r>
            <a:r>
              <a:rPr lang="en-US" altLang="zh-CN" sz="2400" dirty="0" err="1" smtClean="0">
                <a:ea typeface="宋体" pitchFamily="2" charset="-122"/>
              </a:rPr>
              <a:t>preamble+control</a:t>
            </a:r>
            <a:r>
              <a:rPr lang="en-US" altLang="zh-CN" sz="2400" dirty="0" smtClean="0">
                <a:ea typeface="宋体" pitchFamily="2" charset="-122"/>
              </a:rPr>
              <a:t> </a:t>
            </a:r>
            <a:r>
              <a:rPr lang="en-US" altLang="zh-CN" sz="2400" dirty="0">
                <a:ea typeface="宋体" pitchFamily="2" charset="-122"/>
              </a:rPr>
              <a:t>info+ data+ </a:t>
            </a:r>
            <a:r>
              <a:rPr lang="en-US" altLang="zh-CN" sz="2400" dirty="0" err="1">
                <a:ea typeface="宋体" pitchFamily="2" charset="-122"/>
              </a:rPr>
              <a:t>postamble</a:t>
            </a:r>
            <a:endParaRPr lang="en-US" altLang="zh-CN" sz="2400" dirty="0">
              <a:ea typeface="宋体" pitchFamily="2" charset="-122"/>
            </a:endParaRPr>
          </a:p>
          <a:p>
            <a:r>
              <a:rPr lang="en-US" altLang="zh-CN" sz="2800" dirty="0">
                <a:ea typeface="宋体" pitchFamily="2" charset="-122"/>
              </a:rPr>
              <a:t>More efficient (lower overhead) than </a:t>
            </a:r>
            <a:r>
              <a:rPr lang="en-US" altLang="zh-CN" sz="2800" dirty="0" err="1">
                <a:ea typeface="宋体" pitchFamily="2" charset="-122"/>
              </a:rPr>
              <a:t>async</a:t>
            </a:r>
            <a:endParaRPr lang="en-US" altLang="zh-CN" sz="2800" dirty="0">
              <a:ea typeface="宋体" pitchFamily="2" charset="-122"/>
            </a:endParaRPr>
          </a:p>
          <a:p>
            <a:pPr lvl="1"/>
            <a:r>
              <a:rPr lang="en-US" altLang="zh-CN" sz="2400" dirty="0">
                <a:ea typeface="宋体" pitchFamily="2" charset="-122"/>
              </a:rPr>
              <a:t>HDLC: 1000</a:t>
            </a:r>
            <a:r>
              <a:rPr lang="zh-CN" altLang="en-US" sz="2400" dirty="0">
                <a:ea typeface="宋体" pitchFamily="2" charset="-122"/>
              </a:rPr>
              <a:t>个字符，48比特开销，开销占48/8048=0.6%</a:t>
            </a:r>
            <a:endParaRPr lang="zh-CN" altLang="en-US" dirty="0">
              <a:ea typeface="宋体"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zh-CN">
                <a:ea typeface="宋体" pitchFamily="2" charset="-122"/>
              </a:rPr>
              <a:t>Synchronous (diagram)</a:t>
            </a:r>
          </a:p>
        </p:txBody>
      </p:sp>
      <p:pic>
        <p:nvPicPr>
          <p:cNvPr id="11268" name="Picture 4"/>
          <p:cNvPicPr>
            <a:picLocks noChangeAspect="1" noChangeArrowheads="1"/>
          </p:cNvPicPr>
          <p:nvPr/>
        </p:nvPicPr>
        <p:blipFill>
          <a:blip r:embed="rId2" cstate="print"/>
          <a:srcRect b="58139"/>
          <a:stretch>
            <a:fillRect/>
          </a:stretch>
        </p:blipFill>
        <p:spPr bwMode="auto">
          <a:xfrm>
            <a:off x="457200" y="3124200"/>
            <a:ext cx="8229600" cy="11430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ctr" eaLnBrk="1" hangingPunct="1"/>
            <a:r>
              <a:rPr lang="en-US" altLang="zh-CN" dirty="0" smtClean="0"/>
              <a:t>3. </a:t>
            </a:r>
            <a:r>
              <a:rPr lang="zh-CN" altLang="en-US" dirty="0" smtClean="0"/>
              <a:t>物理层下面的传输媒体</a:t>
            </a:r>
          </a:p>
        </p:txBody>
      </p:sp>
      <p:sp>
        <p:nvSpPr>
          <p:cNvPr id="26627" name="Line 6"/>
          <p:cNvSpPr>
            <a:spLocks noChangeShapeType="1"/>
          </p:cNvSpPr>
          <p:nvPr/>
        </p:nvSpPr>
        <p:spPr bwMode="auto">
          <a:xfrm>
            <a:off x="5854700" y="3452813"/>
            <a:ext cx="2349500" cy="838200"/>
          </a:xfrm>
          <a:prstGeom prst="line">
            <a:avLst/>
          </a:prstGeom>
          <a:noFill/>
          <a:ln w="9525" cap="rnd">
            <a:solidFill>
              <a:schemeClr val="tx1"/>
            </a:solidFill>
            <a:prstDash val="sysDot"/>
            <a:round/>
            <a:headEnd/>
            <a:tailEnd/>
          </a:ln>
        </p:spPr>
        <p:txBody>
          <a:bodyPr wrap="none" anchor="ctr"/>
          <a:lstStyle/>
          <a:p>
            <a:endParaRPr lang="zh-CN" altLang="en-US"/>
          </a:p>
        </p:txBody>
      </p:sp>
      <p:sp>
        <p:nvSpPr>
          <p:cNvPr id="26628" name="Rectangle 7"/>
          <p:cNvSpPr>
            <a:spLocks noChangeArrowheads="1"/>
          </p:cNvSpPr>
          <p:nvPr/>
        </p:nvSpPr>
        <p:spPr bwMode="auto">
          <a:xfrm>
            <a:off x="7543800" y="3978275"/>
            <a:ext cx="361950" cy="238125"/>
          </a:xfrm>
          <a:prstGeom prst="rect">
            <a:avLst/>
          </a:prstGeom>
          <a:solidFill>
            <a:schemeClr val="bg1"/>
          </a:solidFill>
          <a:ln w="9525">
            <a:noFill/>
            <a:miter lim="800000"/>
            <a:headEnd/>
            <a:tailEnd/>
          </a:ln>
        </p:spPr>
        <p:txBody>
          <a:bodyPr wrap="none" anchor="ctr"/>
          <a:lstStyle/>
          <a:p>
            <a:endParaRPr lang="zh-CN" altLang="en-US"/>
          </a:p>
        </p:txBody>
      </p:sp>
      <p:sp>
        <p:nvSpPr>
          <p:cNvPr id="26629" name="Line 8"/>
          <p:cNvSpPr>
            <a:spLocks noChangeShapeType="1"/>
          </p:cNvSpPr>
          <p:nvPr/>
        </p:nvSpPr>
        <p:spPr bwMode="auto">
          <a:xfrm flipV="1">
            <a:off x="1166813" y="3452813"/>
            <a:ext cx="1171575" cy="838200"/>
          </a:xfrm>
          <a:prstGeom prst="line">
            <a:avLst/>
          </a:prstGeom>
          <a:noFill/>
          <a:ln w="9525" cap="rnd">
            <a:solidFill>
              <a:schemeClr val="tx1"/>
            </a:solidFill>
            <a:prstDash val="sysDot"/>
            <a:round/>
            <a:headEnd/>
            <a:tailEnd/>
          </a:ln>
        </p:spPr>
        <p:txBody>
          <a:bodyPr wrap="none" anchor="ctr"/>
          <a:lstStyle/>
          <a:p>
            <a:endParaRPr lang="zh-CN" altLang="en-US"/>
          </a:p>
        </p:txBody>
      </p:sp>
      <p:sp>
        <p:nvSpPr>
          <p:cNvPr id="26630" name="Rectangle 9"/>
          <p:cNvSpPr>
            <a:spLocks noChangeArrowheads="1"/>
          </p:cNvSpPr>
          <p:nvPr/>
        </p:nvSpPr>
        <p:spPr bwMode="auto">
          <a:xfrm>
            <a:off x="1066800" y="3978275"/>
            <a:ext cx="323850" cy="219075"/>
          </a:xfrm>
          <a:prstGeom prst="rect">
            <a:avLst/>
          </a:prstGeom>
          <a:solidFill>
            <a:schemeClr val="bg1"/>
          </a:solidFill>
          <a:ln w="9525">
            <a:noFill/>
            <a:miter lim="800000"/>
            <a:headEnd/>
            <a:tailEnd/>
          </a:ln>
        </p:spPr>
        <p:txBody>
          <a:bodyPr wrap="none" anchor="ctr"/>
          <a:lstStyle/>
          <a:p>
            <a:endParaRPr lang="zh-CN" altLang="en-US"/>
          </a:p>
        </p:txBody>
      </p:sp>
      <p:sp>
        <p:nvSpPr>
          <p:cNvPr id="26631" name="Line 10"/>
          <p:cNvSpPr>
            <a:spLocks noChangeShapeType="1"/>
          </p:cNvSpPr>
          <p:nvPr/>
        </p:nvSpPr>
        <p:spPr bwMode="auto">
          <a:xfrm>
            <a:off x="2336800" y="4271963"/>
            <a:ext cx="0" cy="1752600"/>
          </a:xfrm>
          <a:prstGeom prst="line">
            <a:avLst/>
          </a:prstGeom>
          <a:noFill/>
          <a:ln w="19050">
            <a:solidFill>
              <a:schemeClr val="tx1"/>
            </a:solidFill>
            <a:round/>
            <a:headEnd/>
            <a:tailEnd/>
          </a:ln>
        </p:spPr>
        <p:txBody>
          <a:bodyPr wrap="none" anchor="ctr"/>
          <a:lstStyle/>
          <a:p>
            <a:endParaRPr lang="zh-CN" altLang="en-US"/>
          </a:p>
        </p:txBody>
      </p:sp>
      <p:sp>
        <p:nvSpPr>
          <p:cNvPr id="26632" name="Rectangle 11"/>
          <p:cNvSpPr>
            <a:spLocks noChangeArrowheads="1"/>
          </p:cNvSpPr>
          <p:nvPr/>
        </p:nvSpPr>
        <p:spPr bwMode="auto">
          <a:xfrm>
            <a:off x="2217738" y="5026025"/>
            <a:ext cx="320675" cy="560388"/>
          </a:xfrm>
          <a:prstGeom prst="rect">
            <a:avLst/>
          </a:prstGeom>
          <a:solidFill>
            <a:schemeClr val="bg1"/>
          </a:solidFill>
          <a:ln w="9525">
            <a:noFill/>
            <a:miter lim="800000"/>
            <a:headEnd/>
            <a:tailEnd/>
          </a:ln>
        </p:spPr>
        <p:txBody>
          <a:bodyPr wrap="none" anchor="ctr"/>
          <a:lstStyle/>
          <a:p>
            <a:endParaRPr lang="zh-CN" altLang="en-US"/>
          </a:p>
        </p:txBody>
      </p:sp>
      <p:sp>
        <p:nvSpPr>
          <p:cNvPr id="26633" name="Line 12"/>
          <p:cNvSpPr>
            <a:spLocks noChangeShapeType="1"/>
          </p:cNvSpPr>
          <p:nvPr/>
        </p:nvSpPr>
        <p:spPr bwMode="auto">
          <a:xfrm>
            <a:off x="1757363" y="4275138"/>
            <a:ext cx="0" cy="1752600"/>
          </a:xfrm>
          <a:prstGeom prst="line">
            <a:avLst/>
          </a:prstGeom>
          <a:noFill/>
          <a:ln w="19050">
            <a:solidFill>
              <a:schemeClr val="tx1"/>
            </a:solidFill>
            <a:round/>
            <a:headEnd/>
            <a:tailEnd/>
          </a:ln>
        </p:spPr>
        <p:txBody>
          <a:bodyPr wrap="none" anchor="ctr"/>
          <a:lstStyle/>
          <a:p>
            <a:endParaRPr lang="zh-CN" altLang="en-US"/>
          </a:p>
        </p:txBody>
      </p:sp>
      <p:sp>
        <p:nvSpPr>
          <p:cNvPr id="26634" name="Rectangle 13"/>
          <p:cNvSpPr>
            <a:spLocks noChangeArrowheads="1"/>
          </p:cNvSpPr>
          <p:nvPr/>
        </p:nvSpPr>
        <p:spPr bwMode="auto">
          <a:xfrm>
            <a:off x="1671638" y="5045075"/>
            <a:ext cx="198437" cy="568325"/>
          </a:xfrm>
          <a:prstGeom prst="rect">
            <a:avLst/>
          </a:prstGeom>
          <a:solidFill>
            <a:schemeClr val="bg1"/>
          </a:solidFill>
          <a:ln w="9525">
            <a:noFill/>
            <a:miter lim="800000"/>
            <a:headEnd/>
            <a:tailEnd/>
          </a:ln>
        </p:spPr>
        <p:txBody>
          <a:bodyPr wrap="none" anchor="ctr"/>
          <a:lstStyle/>
          <a:p>
            <a:endParaRPr lang="zh-CN" altLang="en-US"/>
          </a:p>
        </p:txBody>
      </p:sp>
      <p:sp>
        <p:nvSpPr>
          <p:cNvPr id="26635" name="Rectangle 14"/>
          <p:cNvSpPr>
            <a:spLocks noChangeArrowheads="1"/>
          </p:cNvSpPr>
          <p:nvPr/>
        </p:nvSpPr>
        <p:spPr bwMode="auto">
          <a:xfrm>
            <a:off x="1657350" y="4314825"/>
            <a:ext cx="223838" cy="311150"/>
          </a:xfrm>
          <a:prstGeom prst="rect">
            <a:avLst/>
          </a:prstGeom>
          <a:solidFill>
            <a:schemeClr val="bg1"/>
          </a:solidFill>
          <a:ln w="9525">
            <a:noFill/>
            <a:miter lim="800000"/>
            <a:headEnd/>
            <a:tailEnd/>
          </a:ln>
        </p:spPr>
        <p:txBody>
          <a:bodyPr wrap="none" anchor="ctr"/>
          <a:lstStyle/>
          <a:p>
            <a:endParaRPr lang="zh-CN" altLang="en-US"/>
          </a:p>
        </p:txBody>
      </p:sp>
      <p:sp>
        <p:nvSpPr>
          <p:cNvPr id="26636" name="Line 15"/>
          <p:cNvSpPr>
            <a:spLocks noChangeShapeType="1"/>
          </p:cNvSpPr>
          <p:nvPr/>
        </p:nvSpPr>
        <p:spPr bwMode="auto">
          <a:xfrm>
            <a:off x="2925763" y="4278313"/>
            <a:ext cx="0" cy="1752600"/>
          </a:xfrm>
          <a:prstGeom prst="line">
            <a:avLst/>
          </a:prstGeom>
          <a:noFill/>
          <a:ln w="19050">
            <a:solidFill>
              <a:schemeClr val="tx1"/>
            </a:solidFill>
            <a:round/>
            <a:headEnd/>
            <a:tailEnd/>
          </a:ln>
        </p:spPr>
        <p:txBody>
          <a:bodyPr wrap="none" anchor="ctr"/>
          <a:lstStyle/>
          <a:p>
            <a:endParaRPr lang="zh-CN" altLang="en-US"/>
          </a:p>
        </p:txBody>
      </p:sp>
      <p:sp>
        <p:nvSpPr>
          <p:cNvPr id="26637" name="Rectangle 16"/>
          <p:cNvSpPr>
            <a:spLocks noChangeArrowheads="1"/>
          </p:cNvSpPr>
          <p:nvPr/>
        </p:nvSpPr>
        <p:spPr bwMode="auto">
          <a:xfrm>
            <a:off x="2514600" y="4667250"/>
            <a:ext cx="833438" cy="282575"/>
          </a:xfrm>
          <a:prstGeom prst="rect">
            <a:avLst/>
          </a:prstGeom>
          <a:solidFill>
            <a:schemeClr val="bg1"/>
          </a:solidFill>
          <a:ln w="9525">
            <a:noFill/>
            <a:miter lim="800000"/>
            <a:headEnd/>
            <a:tailEnd/>
          </a:ln>
        </p:spPr>
        <p:txBody>
          <a:bodyPr wrap="none" anchor="ctr"/>
          <a:lstStyle/>
          <a:p>
            <a:endParaRPr lang="zh-CN" altLang="en-US"/>
          </a:p>
        </p:txBody>
      </p:sp>
      <p:sp>
        <p:nvSpPr>
          <p:cNvPr id="26638" name="Line 17"/>
          <p:cNvSpPr>
            <a:spLocks noChangeShapeType="1"/>
          </p:cNvSpPr>
          <p:nvPr/>
        </p:nvSpPr>
        <p:spPr bwMode="auto">
          <a:xfrm>
            <a:off x="3509963" y="4284663"/>
            <a:ext cx="0" cy="1752600"/>
          </a:xfrm>
          <a:prstGeom prst="line">
            <a:avLst/>
          </a:prstGeom>
          <a:noFill/>
          <a:ln w="19050">
            <a:solidFill>
              <a:schemeClr val="tx1"/>
            </a:solidFill>
            <a:round/>
            <a:headEnd/>
            <a:tailEnd/>
          </a:ln>
        </p:spPr>
        <p:txBody>
          <a:bodyPr wrap="none" anchor="ctr"/>
          <a:lstStyle/>
          <a:p>
            <a:endParaRPr lang="zh-CN" altLang="en-US"/>
          </a:p>
        </p:txBody>
      </p:sp>
      <p:sp>
        <p:nvSpPr>
          <p:cNvPr id="26639" name="Rectangle 18"/>
          <p:cNvSpPr>
            <a:spLocks noChangeArrowheads="1"/>
          </p:cNvSpPr>
          <p:nvPr/>
        </p:nvSpPr>
        <p:spPr bwMode="auto">
          <a:xfrm>
            <a:off x="3373438" y="5053013"/>
            <a:ext cx="266700" cy="496887"/>
          </a:xfrm>
          <a:prstGeom prst="rect">
            <a:avLst/>
          </a:prstGeom>
          <a:solidFill>
            <a:schemeClr val="bg1"/>
          </a:solidFill>
          <a:ln w="9525">
            <a:noFill/>
            <a:miter lim="800000"/>
            <a:headEnd/>
            <a:tailEnd/>
          </a:ln>
        </p:spPr>
        <p:txBody>
          <a:bodyPr wrap="none" anchor="ctr"/>
          <a:lstStyle/>
          <a:p>
            <a:endParaRPr lang="zh-CN" altLang="en-US"/>
          </a:p>
        </p:txBody>
      </p:sp>
      <p:sp>
        <p:nvSpPr>
          <p:cNvPr id="26640" name="Line 19"/>
          <p:cNvSpPr>
            <a:spLocks noChangeShapeType="1"/>
          </p:cNvSpPr>
          <p:nvPr/>
        </p:nvSpPr>
        <p:spPr bwMode="auto">
          <a:xfrm>
            <a:off x="4683125" y="4278313"/>
            <a:ext cx="0" cy="1752600"/>
          </a:xfrm>
          <a:prstGeom prst="line">
            <a:avLst/>
          </a:prstGeom>
          <a:noFill/>
          <a:ln w="19050">
            <a:solidFill>
              <a:schemeClr val="tx1"/>
            </a:solidFill>
            <a:round/>
            <a:headEnd/>
            <a:tailEnd/>
          </a:ln>
        </p:spPr>
        <p:txBody>
          <a:bodyPr wrap="none" anchor="ctr"/>
          <a:lstStyle/>
          <a:p>
            <a:endParaRPr lang="zh-CN" altLang="en-US"/>
          </a:p>
        </p:txBody>
      </p:sp>
      <p:sp>
        <p:nvSpPr>
          <p:cNvPr id="26641" name="Rectangle 20"/>
          <p:cNvSpPr>
            <a:spLocks noChangeArrowheads="1"/>
          </p:cNvSpPr>
          <p:nvPr/>
        </p:nvSpPr>
        <p:spPr bwMode="auto">
          <a:xfrm>
            <a:off x="4603750" y="4740275"/>
            <a:ext cx="230188" cy="277813"/>
          </a:xfrm>
          <a:prstGeom prst="rect">
            <a:avLst/>
          </a:prstGeom>
          <a:solidFill>
            <a:schemeClr val="bg1"/>
          </a:solidFill>
          <a:ln w="9525">
            <a:noFill/>
            <a:miter lim="800000"/>
            <a:headEnd/>
            <a:tailEnd/>
          </a:ln>
        </p:spPr>
        <p:txBody>
          <a:bodyPr wrap="none" anchor="ctr"/>
          <a:lstStyle/>
          <a:p>
            <a:endParaRPr lang="zh-CN" altLang="en-US"/>
          </a:p>
        </p:txBody>
      </p:sp>
      <p:sp>
        <p:nvSpPr>
          <p:cNvPr id="26642" name="Line 21"/>
          <p:cNvSpPr>
            <a:spLocks noChangeShapeType="1"/>
          </p:cNvSpPr>
          <p:nvPr/>
        </p:nvSpPr>
        <p:spPr bwMode="auto">
          <a:xfrm>
            <a:off x="1158875" y="3071813"/>
            <a:ext cx="7543800" cy="0"/>
          </a:xfrm>
          <a:prstGeom prst="line">
            <a:avLst/>
          </a:prstGeom>
          <a:noFill/>
          <a:ln w="19050">
            <a:solidFill>
              <a:schemeClr val="tx1"/>
            </a:solidFill>
            <a:round/>
            <a:headEnd/>
            <a:tailEnd/>
          </a:ln>
        </p:spPr>
        <p:txBody>
          <a:bodyPr wrap="none" anchor="ctr"/>
          <a:lstStyle/>
          <a:p>
            <a:endParaRPr lang="zh-CN" altLang="en-US"/>
          </a:p>
        </p:txBody>
      </p:sp>
      <p:sp>
        <p:nvSpPr>
          <p:cNvPr id="26643" name="Line 22"/>
          <p:cNvSpPr>
            <a:spLocks noChangeShapeType="1"/>
          </p:cNvSpPr>
          <p:nvPr/>
        </p:nvSpPr>
        <p:spPr bwMode="auto">
          <a:xfrm>
            <a:off x="1177925" y="3452813"/>
            <a:ext cx="7543800" cy="0"/>
          </a:xfrm>
          <a:prstGeom prst="line">
            <a:avLst/>
          </a:prstGeom>
          <a:noFill/>
          <a:ln w="19050">
            <a:solidFill>
              <a:schemeClr val="tx1"/>
            </a:solidFill>
            <a:round/>
            <a:headEnd/>
            <a:tailEnd/>
          </a:ln>
        </p:spPr>
        <p:txBody>
          <a:bodyPr wrap="none" anchor="ctr"/>
          <a:lstStyle/>
          <a:p>
            <a:endParaRPr lang="zh-CN" altLang="en-US"/>
          </a:p>
        </p:txBody>
      </p:sp>
      <p:sp>
        <p:nvSpPr>
          <p:cNvPr id="26644" name="Line 23"/>
          <p:cNvSpPr>
            <a:spLocks noChangeShapeType="1"/>
          </p:cNvSpPr>
          <p:nvPr/>
        </p:nvSpPr>
        <p:spPr bwMode="auto">
          <a:xfrm>
            <a:off x="1155700" y="3071813"/>
            <a:ext cx="0" cy="609600"/>
          </a:xfrm>
          <a:prstGeom prst="line">
            <a:avLst/>
          </a:prstGeom>
          <a:noFill/>
          <a:ln w="9525">
            <a:solidFill>
              <a:schemeClr val="tx1"/>
            </a:solidFill>
            <a:round/>
            <a:headEnd/>
            <a:tailEnd/>
          </a:ln>
        </p:spPr>
        <p:txBody>
          <a:bodyPr wrap="none" anchor="ctr"/>
          <a:lstStyle/>
          <a:p>
            <a:endParaRPr lang="zh-CN" altLang="en-US"/>
          </a:p>
        </p:txBody>
      </p:sp>
      <p:sp>
        <p:nvSpPr>
          <p:cNvPr id="26645" name="Line 24"/>
          <p:cNvSpPr>
            <a:spLocks noChangeShapeType="1"/>
          </p:cNvSpPr>
          <p:nvPr/>
        </p:nvSpPr>
        <p:spPr bwMode="auto">
          <a:xfrm>
            <a:off x="3365500" y="3076575"/>
            <a:ext cx="0" cy="376238"/>
          </a:xfrm>
          <a:prstGeom prst="line">
            <a:avLst/>
          </a:prstGeom>
          <a:noFill/>
          <a:ln w="9525">
            <a:solidFill>
              <a:schemeClr val="tx1"/>
            </a:solidFill>
            <a:round/>
            <a:headEnd/>
            <a:tailEnd/>
          </a:ln>
        </p:spPr>
        <p:txBody>
          <a:bodyPr wrap="none" anchor="ctr"/>
          <a:lstStyle/>
          <a:p>
            <a:endParaRPr lang="zh-CN" altLang="en-US"/>
          </a:p>
        </p:txBody>
      </p:sp>
      <p:sp>
        <p:nvSpPr>
          <p:cNvPr id="26646" name="Line 25"/>
          <p:cNvSpPr>
            <a:spLocks noChangeShapeType="1"/>
          </p:cNvSpPr>
          <p:nvPr/>
        </p:nvSpPr>
        <p:spPr bwMode="auto">
          <a:xfrm>
            <a:off x="2346325" y="3087688"/>
            <a:ext cx="0" cy="384175"/>
          </a:xfrm>
          <a:prstGeom prst="line">
            <a:avLst/>
          </a:prstGeom>
          <a:noFill/>
          <a:ln w="9525">
            <a:solidFill>
              <a:schemeClr val="tx1"/>
            </a:solidFill>
            <a:round/>
            <a:headEnd/>
            <a:tailEnd/>
          </a:ln>
        </p:spPr>
        <p:txBody>
          <a:bodyPr wrap="none" anchor="ctr"/>
          <a:lstStyle/>
          <a:p>
            <a:endParaRPr lang="zh-CN" altLang="en-US"/>
          </a:p>
        </p:txBody>
      </p:sp>
      <p:sp>
        <p:nvSpPr>
          <p:cNvPr id="26647" name="Line 26"/>
          <p:cNvSpPr>
            <a:spLocks noChangeShapeType="1"/>
          </p:cNvSpPr>
          <p:nvPr/>
        </p:nvSpPr>
        <p:spPr bwMode="auto">
          <a:xfrm>
            <a:off x="5489575" y="3071813"/>
            <a:ext cx="0" cy="381000"/>
          </a:xfrm>
          <a:prstGeom prst="line">
            <a:avLst/>
          </a:prstGeom>
          <a:noFill/>
          <a:ln w="9525">
            <a:solidFill>
              <a:schemeClr val="tx1"/>
            </a:solidFill>
            <a:round/>
            <a:headEnd/>
            <a:tailEnd/>
          </a:ln>
        </p:spPr>
        <p:txBody>
          <a:bodyPr wrap="none" anchor="ctr"/>
          <a:lstStyle/>
          <a:p>
            <a:endParaRPr lang="zh-CN" altLang="en-US"/>
          </a:p>
        </p:txBody>
      </p:sp>
      <p:sp>
        <p:nvSpPr>
          <p:cNvPr id="26648" name="Line 27"/>
          <p:cNvSpPr>
            <a:spLocks noChangeShapeType="1"/>
          </p:cNvSpPr>
          <p:nvPr/>
        </p:nvSpPr>
        <p:spPr bwMode="auto">
          <a:xfrm>
            <a:off x="7699375" y="3081338"/>
            <a:ext cx="0" cy="366712"/>
          </a:xfrm>
          <a:prstGeom prst="line">
            <a:avLst/>
          </a:prstGeom>
          <a:noFill/>
          <a:ln w="9525">
            <a:solidFill>
              <a:schemeClr val="tx1"/>
            </a:solidFill>
            <a:round/>
            <a:headEnd/>
            <a:tailEnd/>
          </a:ln>
        </p:spPr>
        <p:txBody>
          <a:bodyPr wrap="none" anchor="ctr"/>
          <a:lstStyle/>
          <a:p>
            <a:endParaRPr lang="zh-CN" altLang="en-US"/>
          </a:p>
        </p:txBody>
      </p:sp>
      <p:sp>
        <p:nvSpPr>
          <p:cNvPr id="26649" name="Line 28"/>
          <p:cNvSpPr>
            <a:spLocks noChangeShapeType="1"/>
          </p:cNvSpPr>
          <p:nvPr/>
        </p:nvSpPr>
        <p:spPr bwMode="auto">
          <a:xfrm flipV="1">
            <a:off x="1162050" y="4278313"/>
            <a:ext cx="7050088" cy="4762"/>
          </a:xfrm>
          <a:prstGeom prst="line">
            <a:avLst/>
          </a:prstGeom>
          <a:noFill/>
          <a:ln w="19050">
            <a:solidFill>
              <a:schemeClr val="tx1"/>
            </a:solidFill>
            <a:round/>
            <a:headEnd/>
            <a:tailEnd/>
          </a:ln>
        </p:spPr>
        <p:txBody>
          <a:bodyPr wrap="none" anchor="ctr"/>
          <a:lstStyle/>
          <a:p>
            <a:endParaRPr lang="zh-CN" altLang="en-US"/>
          </a:p>
        </p:txBody>
      </p:sp>
      <p:sp>
        <p:nvSpPr>
          <p:cNvPr id="26650" name="Text Box 29"/>
          <p:cNvSpPr txBox="1">
            <a:spLocks noChangeArrowheads="1"/>
          </p:cNvSpPr>
          <p:nvPr/>
        </p:nvSpPr>
        <p:spPr bwMode="auto">
          <a:xfrm>
            <a:off x="2524125" y="3090863"/>
            <a:ext cx="7937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无线电</a:t>
            </a:r>
          </a:p>
        </p:txBody>
      </p:sp>
      <p:sp>
        <p:nvSpPr>
          <p:cNvPr id="26651" name="Text Box 30"/>
          <p:cNvSpPr txBox="1">
            <a:spLocks noChangeArrowheads="1"/>
          </p:cNvSpPr>
          <p:nvPr/>
        </p:nvSpPr>
        <p:spPr bwMode="auto">
          <a:xfrm>
            <a:off x="3505200" y="3090863"/>
            <a:ext cx="5905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微波</a:t>
            </a:r>
          </a:p>
        </p:txBody>
      </p:sp>
      <p:sp>
        <p:nvSpPr>
          <p:cNvPr id="26652" name="Line 31"/>
          <p:cNvSpPr>
            <a:spLocks noChangeShapeType="1"/>
          </p:cNvSpPr>
          <p:nvPr/>
        </p:nvSpPr>
        <p:spPr bwMode="auto">
          <a:xfrm>
            <a:off x="4419600" y="3071813"/>
            <a:ext cx="0" cy="381000"/>
          </a:xfrm>
          <a:prstGeom prst="line">
            <a:avLst/>
          </a:prstGeom>
          <a:noFill/>
          <a:ln w="9525">
            <a:solidFill>
              <a:schemeClr val="tx1"/>
            </a:solidFill>
            <a:round/>
            <a:headEnd/>
            <a:tailEnd/>
          </a:ln>
        </p:spPr>
        <p:txBody>
          <a:bodyPr wrap="none" anchor="ctr"/>
          <a:lstStyle/>
          <a:p>
            <a:endParaRPr lang="zh-CN" altLang="en-US"/>
          </a:p>
        </p:txBody>
      </p:sp>
      <p:sp>
        <p:nvSpPr>
          <p:cNvPr id="26653" name="Line 32"/>
          <p:cNvSpPr>
            <a:spLocks noChangeShapeType="1"/>
          </p:cNvSpPr>
          <p:nvPr/>
        </p:nvSpPr>
        <p:spPr bwMode="auto">
          <a:xfrm>
            <a:off x="5391150" y="3071813"/>
            <a:ext cx="0" cy="381000"/>
          </a:xfrm>
          <a:prstGeom prst="line">
            <a:avLst/>
          </a:prstGeom>
          <a:noFill/>
          <a:ln w="9525">
            <a:solidFill>
              <a:schemeClr val="tx1"/>
            </a:solidFill>
            <a:round/>
            <a:headEnd/>
            <a:tailEnd/>
          </a:ln>
        </p:spPr>
        <p:txBody>
          <a:bodyPr wrap="none" anchor="ctr"/>
          <a:lstStyle/>
          <a:p>
            <a:endParaRPr lang="zh-CN" altLang="en-US"/>
          </a:p>
        </p:txBody>
      </p:sp>
      <p:sp>
        <p:nvSpPr>
          <p:cNvPr id="26654" name="Text Box 33"/>
          <p:cNvSpPr txBox="1">
            <a:spLocks noChangeArrowheads="1"/>
          </p:cNvSpPr>
          <p:nvPr/>
        </p:nvSpPr>
        <p:spPr bwMode="auto">
          <a:xfrm>
            <a:off x="4546600" y="3090863"/>
            <a:ext cx="7937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红外线</a:t>
            </a:r>
          </a:p>
        </p:txBody>
      </p:sp>
      <p:sp>
        <p:nvSpPr>
          <p:cNvPr id="26655" name="Text Box 34"/>
          <p:cNvSpPr txBox="1">
            <a:spLocks noChangeArrowheads="1"/>
          </p:cNvSpPr>
          <p:nvPr/>
        </p:nvSpPr>
        <p:spPr bwMode="auto">
          <a:xfrm>
            <a:off x="4813300" y="3605213"/>
            <a:ext cx="7937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可见光</a:t>
            </a:r>
          </a:p>
        </p:txBody>
      </p:sp>
      <p:sp>
        <p:nvSpPr>
          <p:cNvPr id="26656" name="Text Box 35"/>
          <p:cNvSpPr txBox="1">
            <a:spLocks noChangeArrowheads="1"/>
          </p:cNvSpPr>
          <p:nvPr/>
        </p:nvSpPr>
        <p:spPr bwMode="auto">
          <a:xfrm>
            <a:off x="5613400" y="3605213"/>
            <a:ext cx="7937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紫外线</a:t>
            </a:r>
          </a:p>
        </p:txBody>
      </p:sp>
      <p:sp>
        <p:nvSpPr>
          <p:cNvPr id="26657" name="Line 36"/>
          <p:cNvSpPr>
            <a:spLocks noChangeShapeType="1"/>
          </p:cNvSpPr>
          <p:nvPr/>
        </p:nvSpPr>
        <p:spPr bwMode="auto">
          <a:xfrm>
            <a:off x="5867400" y="3071813"/>
            <a:ext cx="0" cy="385762"/>
          </a:xfrm>
          <a:prstGeom prst="line">
            <a:avLst/>
          </a:prstGeom>
          <a:noFill/>
          <a:ln w="9525">
            <a:solidFill>
              <a:schemeClr val="tx1"/>
            </a:solidFill>
            <a:round/>
            <a:headEnd/>
            <a:tailEnd/>
          </a:ln>
        </p:spPr>
        <p:txBody>
          <a:bodyPr wrap="none" anchor="ctr"/>
          <a:lstStyle/>
          <a:p>
            <a:endParaRPr lang="zh-CN" altLang="en-US"/>
          </a:p>
        </p:txBody>
      </p:sp>
      <p:sp>
        <p:nvSpPr>
          <p:cNvPr id="26658" name="Text Box 37"/>
          <p:cNvSpPr txBox="1">
            <a:spLocks noChangeArrowheads="1"/>
          </p:cNvSpPr>
          <p:nvPr/>
        </p:nvSpPr>
        <p:spPr bwMode="auto">
          <a:xfrm>
            <a:off x="6324600" y="3090863"/>
            <a:ext cx="736600" cy="336550"/>
          </a:xfrm>
          <a:prstGeom prst="rect">
            <a:avLst/>
          </a:prstGeom>
          <a:noFill/>
          <a:ln w="9525">
            <a:noFill/>
            <a:miter lim="800000"/>
            <a:headEnd/>
            <a:tailEnd/>
          </a:ln>
        </p:spPr>
        <p:txBody>
          <a:bodyPr wrap="none">
            <a:spAutoFit/>
          </a:bodyPr>
          <a:lstStyle/>
          <a:p>
            <a:pPr algn="l"/>
            <a:r>
              <a:rPr kumimoji="1" lang="en-US" altLang="zh-CN" sz="1600">
                <a:solidFill>
                  <a:srgbClr val="333399"/>
                </a:solidFill>
                <a:latin typeface="Times New Roman" pitchFamily="18" charset="0"/>
                <a:ea typeface="黑体" pitchFamily="49" charset="-122"/>
              </a:rPr>
              <a:t>X</a:t>
            </a:r>
            <a:r>
              <a:rPr kumimoji="1" lang="zh-CN" altLang="en-US" sz="1600">
                <a:solidFill>
                  <a:srgbClr val="333399"/>
                </a:solidFill>
                <a:latin typeface="Times New Roman" pitchFamily="18" charset="0"/>
                <a:ea typeface="黑体" pitchFamily="49" charset="-122"/>
              </a:rPr>
              <a:t>射线</a:t>
            </a:r>
          </a:p>
        </p:txBody>
      </p:sp>
      <p:sp>
        <p:nvSpPr>
          <p:cNvPr id="26659" name="Text Box 38"/>
          <p:cNvSpPr txBox="1">
            <a:spLocks noChangeArrowheads="1"/>
          </p:cNvSpPr>
          <p:nvPr/>
        </p:nvSpPr>
        <p:spPr bwMode="auto">
          <a:xfrm>
            <a:off x="7848600" y="3059113"/>
            <a:ext cx="268288" cy="336550"/>
          </a:xfrm>
          <a:prstGeom prst="rect">
            <a:avLst/>
          </a:prstGeom>
          <a:noFill/>
          <a:ln w="9525">
            <a:noFill/>
            <a:miter lim="800000"/>
            <a:headEnd/>
            <a:tailEnd/>
          </a:ln>
        </p:spPr>
        <p:txBody>
          <a:bodyPr wrap="none">
            <a:spAutoFit/>
          </a:bodyPr>
          <a:lstStyle/>
          <a:p>
            <a:pPr algn="l"/>
            <a:r>
              <a:rPr kumimoji="1" lang="en-US" altLang="zh-CN" sz="1600">
                <a:solidFill>
                  <a:srgbClr val="333399"/>
                </a:solidFill>
                <a:latin typeface="Times New Roman" pitchFamily="18" charset="0"/>
                <a:ea typeface="黑体" pitchFamily="49" charset="-122"/>
                <a:sym typeface="Symbol" pitchFamily="18" charset="2"/>
              </a:rPr>
              <a:t></a:t>
            </a:r>
          </a:p>
        </p:txBody>
      </p:sp>
      <p:sp>
        <p:nvSpPr>
          <p:cNvPr id="26660" name="Text Box 39"/>
          <p:cNvSpPr txBox="1">
            <a:spLocks noChangeArrowheads="1"/>
          </p:cNvSpPr>
          <p:nvPr/>
        </p:nvSpPr>
        <p:spPr bwMode="auto">
          <a:xfrm>
            <a:off x="7997825" y="3090863"/>
            <a:ext cx="5905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射线</a:t>
            </a:r>
          </a:p>
        </p:txBody>
      </p:sp>
      <p:sp>
        <p:nvSpPr>
          <p:cNvPr id="26661" name="Text Box 40"/>
          <p:cNvSpPr txBox="1">
            <a:spLocks noChangeArrowheads="1"/>
          </p:cNvSpPr>
          <p:nvPr/>
        </p:nvSpPr>
        <p:spPr bwMode="auto">
          <a:xfrm>
            <a:off x="1382713" y="4278313"/>
            <a:ext cx="7937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双绞线</a:t>
            </a:r>
          </a:p>
        </p:txBody>
      </p:sp>
      <p:sp>
        <p:nvSpPr>
          <p:cNvPr id="26662" name="Line 41"/>
          <p:cNvSpPr>
            <a:spLocks noChangeShapeType="1"/>
          </p:cNvSpPr>
          <p:nvPr/>
        </p:nvSpPr>
        <p:spPr bwMode="auto">
          <a:xfrm>
            <a:off x="1162050" y="4595813"/>
            <a:ext cx="1352550" cy="0"/>
          </a:xfrm>
          <a:prstGeom prst="line">
            <a:avLst/>
          </a:prstGeom>
          <a:noFill/>
          <a:ln w="9525">
            <a:solidFill>
              <a:schemeClr val="tx1"/>
            </a:solidFill>
            <a:round/>
            <a:headEnd/>
            <a:tailEnd type="triangle" w="med" len="lg"/>
          </a:ln>
        </p:spPr>
        <p:txBody>
          <a:bodyPr wrap="none" anchor="ctr"/>
          <a:lstStyle/>
          <a:p>
            <a:endParaRPr lang="zh-CN" altLang="en-US"/>
          </a:p>
        </p:txBody>
      </p:sp>
      <p:sp>
        <p:nvSpPr>
          <p:cNvPr id="26663" name="Text Box 42"/>
          <p:cNvSpPr txBox="1">
            <a:spLocks noChangeArrowheads="1"/>
          </p:cNvSpPr>
          <p:nvPr/>
        </p:nvSpPr>
        <p:spPr bwMode="auto">
          <a:xfrm>
            <a:off x="2422525" y="4619625"/>
            <a:ext cx="9969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同轴电缆</a:t>
            </a:r>
          </a:p>
        </p:txBody>
      </p:sp>
      <p:sp>
        <p:nvSpPr>
          <p:cNvPr id="26664" name="Line 43"/>
          <p:cNvSpPr>
            <a:spLocks noChangeShapeType="1"/>
          </p:cNvSpPr>
          <p:nvPr/>
        </p:nvSpPr>
        <p:spPr bwMode="auto">
          <a:xfrm>
            <a:off x="1752600" y="4968875"/>
            <a:ext cx="22860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65" name="Text Box 44"/>
          <p:cNvSpPr txBox="1">
            <a:spLocks noChangeArrowheads="1"/>
          </p:cNvSpPr>
          <p:nvPr/>
        </p:nvSpPr>
        <p:spPr bwMode="auto">
          <a:xfrm>
            <a:off x="4114800" y="4283075"/>
            <a:ext cx="5905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卫星</a:t>
            </a:r>
          </a:p>
        </p:txBody>
      </p:sp>
      <p:sp>
        <p:nvSpPr>
          <p:cNvPr id="26666" name="Line 45"/>
          <p:cNvSpPr>
            <a:spLocks noChangeShapeType="1"/>
          </p:cNvSpPr>
          <p:nvPr/>
        </p:nvSpPr>
        <p:spPr bwMode="auto">
          <a:xfrm>
            <a:off x="3886200" y="4625975"/>
            <a:ext cx="11430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67" name="Text Box 46"/>
          <p:cNvSpPr txBox="1">
            <a:spLocks noChangeArrowheads="1"/>
          </p:cNvSpPr>
          <p:nvPr/>
        </p:nvSpPr>
        <p:spPr bwMode="auto">
          <a:xfrm>
            <a:off x="4264025" y="4702175"/>
            <a:ext cx="9969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地面微波</a:t>
            </a:r>
          </a:p>
        </p:txBody>
      </p:sp>
      <p:sp>
        <p:nvSpPr>
          <p:cNvPr id="26668" name="Line 47"/>
          <p:cNvSpPr>
            <a:spLocks noChangeShapeType="1"/>
          </p:cNvSpPr>
          <p:nvPr/>
        </p:nvSpPr>
        <p:spPr bwMode="auto">
          <a:xfrm>
            <a:off x="4254500" y="5053013"/>
            <a:ext cx="9398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69" name="Text Box 48"/>
          <p:cNvSpPr txBox="1">
            <a:spLocks noChangeArrowheads="1"/>
          </p:cNvSpPr>
          <p:nvPr/>
        </p:nvSpPr>
        <p:spPr bwMode="auto">
          <a:xfrm>
            <a:off x="1981200" y="5084763"/>
            <a:ext cx="793750" cy="533400"/>
          </a:xfrm>
          <a:prstGeom prst="rect">
            <a:avLst/>
          </a:prstGeom>
          <a:noFill/>
          <a:ln w="9525">
            <a:noFill/>
            <a:miter lim="800000"/>
            <a:headEnd/>
            <a:tailEnd/>
          </a:ln>
        </p:spPr>
        <p:txBody>
          <a:bodyPr wrap="none">
            <a:spAutoFit/>
          </a:bodyPr>
          <a:lstStyle/>
          <a:p>
            <a:pPr algn="l">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调幅</a:t>
            </a:r>
          </a:p>
          <a:p>
            <a:pPr algn="l">
              <a:lnSpc>
                <a:spcPct val="90000"/>
              </a:lnSpc>
            </a:pPr>
            <a:r>
              <a:rPr kumimoji="1" lang="zh-CN" altLang="en-US" sz="1600">
                <a:solidFill>
                  <a:srgbClr val="333399"/>
                </a:solidFill>
                <a:latin typeface="Times New Roman" pitchFamily="18" charset="0"/>
                <a:ea typeface="黑体" pitchFamily="49" charset="-122"/>
              </a:rPr>
              <a:t>无线电</a:t>
            </a:r>
          </a:p>
        </p:txBody>
      </p:sp>
      <p:sp>
        <p:nvSpPr>
          <p:cNvPr id="26670" name="Text Box 49"/>
          <p:cNvSpPr txBox="1">
            <a:spLocks noChangeArrowheads="1"/>
          </p:cNvSpPr>
          <p:nvPr/>
        </p:nvSpPr>
        <p:spPr bwMode="auto">
          <a:xfrm>
            <a:off x="3048000" y="5032375"/>
            <a:ext cx="793750" cy="533400"/>
          </a:xfrm>
          <a:prstGeom prst="rect">
            <a:avLst/>
          </a:prstGeom>
          <a:noFill/>
          <a:ln w="9525">
            <a:noFill/>
            <a:miter lim="800000"/>
            <a:headEnd/>
            <a:tailEnd/>
          </a:ln>
        </p:spPr>
        <p:txBody>
          <a:bodyPr wrap="none">
            <a:spAutoFit/>
          </a:bodyPr>
          <a:lstStyle/>
          <a:p>
            <a:pPr algn="l">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调频</a:t>
            </a:r>
          </a:p>
          <a:p>
            <a:pPr algn="l">
              <a:lnSpc>
                <a:spcPct val="90000"/>
              </a:lnSpc>
            </a:pPr>
            <a:r>
              <a:rPr kumimoji="1" lang="zh-CN" altLang="en-US" sz="1600">
                <a:solidFill>
                  <a:srgbClr val="333399"/>
                </a:solidFill>
                <a:latin typeface="Times New Roman" pitchFamily="18" charset="0"/>
                <a:ea typeface="黑体" pitchFamily="49" charset="-122"/>
              </a:rPr>
              <a:t>无线电</a:t>
            </a:r>
          </a:p>
        </p:txBody>
      </p:sp>
      <p:sp>
        <p:nvSpPr>
          <p:cNvPr id="26671" name="Text Box 50"/>
          <p:cNvSpPr txBox="1">
            <a:spLocks noChangeArrowheads="1"/>
          </p:cNvSpPr>
          <p:nvPr/>
        </p:nvSpPr>
        <p:spPr bwMode="auto">
          <a:xfrm>
            <a:off x="1254125" y="5087938"/>
            <a:ext cx="793750" cy="533400"/>
          </a:xfrm>
          <a:prstGeom prst="rect">
            <a:avLst/>
          </a:prstGeom>
          <a:noFill/>
          <a:ln w="9525">
            <a:noFill/>
            <a:miter lim="800000"/>
            <a:headEnd/>
            <a:tailEnd/>
          </a:ln>
        </p:spPr>
        <p:txBody>
          <a:bodyPr wrap="none">
            <a:spAutoFit/>
          </a:bodyPr>
          <a:lstStyle/>
          <a:p>
            <a:pPr algn="l">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海事</a:t>
            </a:r>
          </a:p>
          <a:p>
            <a:pPr algn="l">
              <a:lnSpc>
                <a:spcPct val="90000"/>
              </a:lnSpc>
            </a:pPr>
            <a:r>
              <a:rPr kumimoji="1" lang="zh-CN" altLang="en-US" sz="1600">
                <a:solidFill>
                  <a:srgbClr val="333399"/>
                </a:solidFill>
                <a:latin typeface="Times New Roman" pitchFamily="18" charset="0"/>
                <a:ea typeface="黑体" pitchFamily="49" charset="-122"/>
              </a:rPr>
              <a:t>无线电</a:t>
            </a:r>
          </a:p>
        </p:txBody>
      </p:sp>
      <p:sp>
        <p:nvSpPr>
          <p:cNvPr id="26672" name="Line 51"/>
          <p:cNvSpPr>
            <a:spLocks noChangeShapeType="1"/>
          </p:cNvSpPr>
          <p:nvPr/>
        </p:nvSpPr>
        <p:spPr bwMode="auto">
          <a:xfrm>
            <a:off x="3314700" y="5586413"/>
            <a:ext cx="4318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73" name="Text Box 52"/>
          <p:cNvSpPr txBox="1">
            <a:spLocks noChangeArrowheads="1"/>
          </p:cNvSpPr>
          <p:nvPr/>
        </p:nvSpPr>
        <p:spPr bwMode="auto">
          <a:xfrm>
            <a:off x="7035800" y="4306888"/>
            <a:ext cx="5905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光纤</a:t>
            </a:r>
          </a:p>
        </p:txBody>
      </p:sp>
      <p:sp>
        <p:nvSpPr>
          <p:cNvPr id="26674" name="Line 53"/>
          <p:cNvSpPr>
            <a:spLocks noChangeShapeType="1"/>
          </p:cNvSpPr>
          <p:nvPr/>
        </p:nvSpPr>
        <p:spPr bwMode="auto">
          <a:xfrm>
            <a:off x="7010400" y="4638675"/>
            <a:ext cx="5969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75" name="Text Box 54"/>
          <p:cNvSpPr txBox="1">
            <a:spLocks noChangeArrowheads="1"/>
          </p:cNvSpPr>
          <p:nvPr/>
        </p:nvSpPr>
        <p:spPr bwMode="auto">
          <a:xfrm>
            <a:off x="3505200" y="5630863"/>
            <a:ext cx="5905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电视</a:t>
            </a:r>
          </a:p>
        </p:txBody>
      </p:sp>
      <p:sp>
        <p:nvSpPr>
          <p:cNvPr id="26676" name="Line 55"/>
          <p:cNvSpPr>
            <a:spLocks noChangeShapeType="1"/>
          </p:cNvSpPr>
          <p:nvPr/>
        </p:nvSpPr>
        <p:spPr bwMode="auto">
          <a:xfrm flipV="1">
            <a:off x="5257800" y="3224213"/>
            <a:ext cx="190500" cy="457200"/>
          </a:xfrm>
          <a:prstGeom prst="line">
            <a:avLst/>
          </a:prstGeom>
          <a:noFill/>
          <a:ln w="9525">
            <a:solidFill>
              <a:schemeClr val="tx1"/>
            </a:solidFill>
            <a:round/>
            <a:headEnd/>
            <a:tailEnd type="triangle" w="med" len="lg"/>
          </a:ln>
        </p:spPr>
        <p:txBody>
          <a:bodyPr wrap="none" anchor="ctr"/>
          <a:lstStyle/>
          <a:p>
            <a:endParaRPr lang="zh-CN" altLang="en-US"/>
          </a:p>
        </p:txBody>
      </p:sp>
      <p:sp>
        <p:nvSpPr>
          <p:cNvPr id="26677" name="Line 56"/>
          <p:cNvSpPr>
            <a:spLocks noChangeShapeType="1"/>
          </p:cNvSpPr>
          <p:nvPr/>
        </p:nvSpPr>
        <p:spPr bwMode="auto">
          <a:xfrm flipH="1" flipV="1">
            <a:off x="5689600" y="3224213"/>
            <a:ext cx="82550" cy="454025"/>
          </a:xfrm>
          <a:prstGeom prst="line">
            <a:avLst/>
          </a:prstGeom>
          <a:noFill/>
          <a:ln w="9525">
            <a:solidFill>
              <a:schemeClr val="tx1"/>
            </a:solidFill>
            <a:round/>
            <a:headEnd/>
            <a:tailEnd type="triangle" w="med" len="lg"/>
          </a:ln>
        </p:spPr>
        <p:txBody>
          <a:bodyPr wrap="none" anchor="ctr"/>
          <a:lstStyle/>
          <a:p>
            <a:endParaRPr lang="zh-CN" altLang="en-US"/>
          </a:p>
        </p:txBody>
      </p:sp>
      <p:sp>
        <p:nvSpPr>
          <p:cNvPr id="26678" name="Line 57"/>
          <p:cNvSpPr>
            <a:spLocks noChangeShapeType="1"/>
          </p:cNvSpPr>
          <p:nvPr/>
        </p:nvSpPr>
        <p:spPr bwMode="auto">
          <a:xfrm>
            <a:off x="1295400" y="5662613"/>
            <a:ext cx="6858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79" name="Line 58"/>
          <p:cNvSpPr>
            <a:spLocks noChangeShapeType="1"/>
          </p:cNvSpPr>
          <p:nvPr/>
        </p:nvSpPr>
        <p:spPr bwMode="auto">
          <a:xfrm>
            <a:off x="2133600" y="5662613"/>
            <a:ext cx="4572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80" name="Line 59"/>
          <p:cNvSpPr>
            <a:spLocks noChangeShapeType="1"/>
          </p:cNvSpPr>
          <p:nvPr/>
        </p:nvSpPr>
        <p:spPr bwMode="auto">
          <a:xfrm>
            <a:off x="3352800" y="5967413"/>
            <a:ext cx="749300" cy="0"/>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681" name="Line 60"/>
          <p:cNvSpPr>
            <a:spLocks noChangeShapeType="1"/>
          </p:cNvSpPr>
          <p:nvPr/>
        </p:nvSpPr>
        <p:spPr bwMode="auto">
          <a:xfrm>
            <a:off x="1157288" y="6035675"/>
            <a:ext cx="7059612" cy="0"/>
          </a:xfrm>
          <a:prstGeom prst="line">
            <a:avLst/>
          </a:prstGeom>
          <a:noFill/>
          <a:ln w="19050">
            <a:solidFill>
              <a:schemeClr val="tx1"/>
            </a:solidFill>
            <a:round/>
            <a:headEnd/>
            <a:tailEnd/>
          </a:ln>
        </p:spPr>
        <p:txBody>
          <a:bodyPr wrap="none" anchor="ctr"/>
          <a:lstStyle/>
          <a:p>
            <a:endParaRPr lang="zh-CN" altLang="en-US"/>
          </a:p>
        </p:txBody>
      </p:sp>
      <p:sp>
        <p:nvSpPr>
          <p:cNvPr id="26682" name="Line 61"/>
          <p:cNvSpPr>
            <a:spLocks noChangeShapeType="1"/>
          </p:cNvSpPr>
          <p:nvPr/>
        </p:nvSpPr>
        <p:spPr bwMode="auto">
          <a:xfrm>
            <a:off x="1168400" y="4283075"/>
            <a:ext cx="0" cy="1752600"/>
          </a:xfrm>
          <a:prstGeom prst="line">
            <a:avLst/>
          </a:prstGeom>
          <a:noFill/>
          <a:ln w="19050">
            <a:solidFill>
              <a:schemeClr val="tx1"/>
            </a:solidFill>
            <a:round/>
            <a:headEnd/>
            <a:tailEnd/>
          </a:ln>
        </p:spPr>
        <p:txBody>
          <a:bodyPr wrap="none" anchor="ctr"/>
          <a:lstStyle/>
          <a:p>
            <a:endParaRPr lang="zh-CN" altLang="en-US"/>
          </a:p>
        </p:txBody>
      </p:sp>
      <p:sp>
        <p:nvSpPr>
          <p:cNvPr id="26683" name="Line 62"/>
          <p:cNvSpPr>
            <a:spLocks noChangeShapeType="1"/>
          </p:cNvSpPr>
          <p:nvPr/>
        </p:nvSpPr>
        <p:spPr bwMode="auto">
          <a:xfrm>
            <a:off x="4098925" y="4276725"/>
            <a:ext cx="0" cy="1752600"/>
          </a:xfrm>
          <a:prstGeom prst="line">
            <a:avLst/>
          </a:prstGeom>
          <a:noFill/>
          <a:ln w="19050">
            <a:solidFill>
              <a:schemeClr val="tx1"/>
            </a:solidFill>
            <a:round/>
            <a:headEnd/>
            <a:tailEnd/>
          </a:ln>
        </p:spPr>
        <p:txBody>
          <a:bodyPr wrap="none" anchor="ctr"/>
          <a:lstStyle/>
          <a:p>
            <a:endParaRPr lang="zh-CN" altLang="en-US"/>
          </a:p>
        </p:txBody>
      </p:sp>
      <p:sp>
        <p:nvSpPr>
          <p:cNvPr id="26684" name="Line 63"/>
          <p:cNvSpPr>
            <a:spLocks noChangeShapeType="1"/>
          </p:cNvSpPr>
          <p:nvPr/>
        </p:nvSpPr>
        <p:spPr bwMode="auto">
          <a:xfrm>
            <a:off x="5267325" y="4284663"/>
            <a:ext cx="0" cy="1752600"/>
          </a:xfrm>
          <a:prstGeom prst="line">
            <a:avLst/>
          </a:prstGeom>
          <a:noFill/>
          <a:ln w="19050">
            <a:solidFill>
              <a:schemeClr val="tx1"/>
            </a:solidFill>
            <a:round/>
            <a:headEnd/>
            <a:tailEnd/>
          </a:ln>
        </p:spPr>
        <p:txBody>
          <a:bodyPr wrap="none" anchor="ctr"/>
          <a:lstStyle/>
          <a:p>
            <a:endParaRPr lang="zh-CN" altLang="en-US"/>
          </a:p>
        </p:txBody>
      </p:sp>
      <p:sp>
        <p:nvSpPr>
          <p:cNvPr id="26685" name="Line 64"/>
          <p:cNvSpPr>
            <a:spLocks noChangeShapeType="1"/>
          </p:cNvSpPr>
          <p:nvPr/>
        </p:nvSpPr>
        <p:spPr bwMode="auto">
          <a:xfrm>
            <a:off x="5851525" y="4281488"/>
            <a:ext cx="0" cy="1752600"/>
          </a:xfrm>
          <a:prstGeom prst="line">
            <a:avLst/>
          </a:prstGeom>
          <a:noFill/>
          <a:ln w="19050">
            <a:solidFill>
              <a:schemeClr val="tx1"/>
            </a:solidFill>
            <a:round/>
            <a:headEnd/>
            <a:tailEnd/>
          </a:ln>
        </p:spPr>
        <p:txBody>
          <a:bodyPr wrap="none" anchor="ctr"/>
          <a:lstStyle/>
          <a:p>
            <a:endParaRPr lang="zh-CN" altLang="en-US"/>
          </a:p>
        </p:txBody>
      </p:sp>
      <p:sp>
        <p:nvSpPr>
          <p:cNvPr id="26686" name="Line 65"/>
          <p:cNvSpPr>
            <a:spLocks noChangeShapeType="1"/>
          </p:cNvSpPr>
          <p:nvPr/>
        </p:nvSpPr>
        <p:spPr bwMode="auto">
          <a:xfrm>
            <a:off x="6440488" y="4283075"/>
            <a:ext cx="0" cy="1752600"/>
          </a:xfrm>
          <a:prstGeom prst="line">
            <a:avLst/>
          </a:prstGeom>
          <a:noFill/>
          <a:ln w="19050">
            <a:solidFill>
              <a:schemeClr val="tx1"/>
            </a:solidFill>
            <a:round/>
            <a:headEnd/>
            <a:tailEnd/>
          </a:ln>
        </p:spPr>
        <p:txBody>
          <a:bodyPr wrap="none" anchor="ctr"/>
          <a:lstStyle/>
          <a:p>
            <a:endParaRPr lang="zh-CN" altLang="en-US"/>
          </a:p>
        </p:txBody>
      </p:sp>
      <p:sp>
        <p:nvSpPr>
          <p:cNvPr id="26687" name="Line 66"/>
          <p:cNvSpPr>
            <a:spLocks noChangeShapeType="1"/>
          </p:cNvSpPr>
          <p:nvPr/>
        </p:nvSpPr>
        <p:spPr bwMode="auto">
          <a:xfrm>
            <a:off x="7029450" y="4294188"/>
            <a:ext cx="0" cy="1752600"/>
          </a:xfrm>
          <a:prstGeom prst="line">
            <a:avLst/>
          </a:prstGeom>
          <a:noFill/>
          <a:ln w="19050">
            <a:solidFill>
              <a:schemeClr val="tx1"/>
            </a:solidFill>
            <a:round/>
            <a:headEnd/>
            <a:tailEnd/>
          </a:ln>
        </p:spPr>
        <p:txBody>
          <a:bodyPr wrap="none" anchor="ctr"/>
          <a:lstStyle/>
          <a:p>
            <a:endParaRPr lang="zh-CN" altLang="en-US"/>
          </a:p>
        </p:txBody>
      </p:sp>
      <p:sp>
        <p:nvSpPr>
          <p:cNvPr id="26688" name="Line 67"/>
          <p:cNvSpPr>
            <a:spLocks noChangeShapeType="1"/>
          </p:cNvSpPr>
          <p:nvPr/>
        </p:nvSpPr>
        <p:spPr bwMode="auto">
          <a:xfrm>
            <a:off x="7613650" y="4286250"/>
            <a:ext cx="0" cy="1752600"/>
          </a:xfrm>
          <a:prstGeom prst="line">
            <a:avLst/>
          </a:prstGeom>
          <a:noFill/>
          <a:ln w="19050">
            <a:solidFill>
              <a:schemeClr val="tx1"/>
            </a:solidFill>
            <a:round/>
            <a:headEnd/>
            <a:tailEnd/>
          </a:ln>
        </p:spPr>
        <p:txBody>
          <a:bodyPr wrap="none" anchor="ctr"/>
          <a:lstStyle/>
          <a:p>
            <a:endParaRPr lang="zh-CN" altLang="en-US"/>
          </a:p>
        </p:txBody>
      </p:sp>
      <p:sp>
        <p:nvSpPr>
          <p:cNvPr id="26689" name="Line 68"/>
          <p:cNvSpPr>
            <a:spLocks noChangeShapeType="1"/>
          </p:cNvSpPr>
          <p:nvPr/>
        </p:nvSpPr>
        <p:spPr bwMode="auto">
          <a:xfrm>
            <a:off x="8202613" y="4283075"/>
            <a:ext cx="0" cy="1752600"/>
          </a:xfrm>
          <a:prstGeom prst="line">
            <a:avLst/>
          </a:prstGeom>
          <a:noFill/>
          <a:ln w="19050">
            <a:solidFill>
              <a:schemeClr val="tx1"/>
            </a:solidFill>
            <a:round/>
            <a:headEnd/>
            <a:tailEnd/>
          </a:ln>
        </p:spPr>
        <p:txBody>
          <a:bodyPr wrap="none" anchor="ctr"/>
          <a:lstStyle/>
          <a:p>
            <a:endParaRPr lang="zh-CN" altLang="en-US"/>
          </a:p>
        </p:txBody>
      </p:sp>
      <p:grpSp>
        <p:nvGrpSpPr>
          <p:cNvPr id="26690" name="Group 69"/>
          <p:cNvGrpSpPr>
            <a:grpSpLocks/>
          </p:cNvGrpSpPr>
          <p:nvPr/>
        </p:nvGrpSpPr>
        <p:grpSpPr bwMode="auto">
          <a:xfrm>
            <a:off x="304800" y="2767013"/>
            <a:ext cx="752475" cy="368300"/>
            <a:chOff x="6" y="352"/>
            <a:chExt cx="474" cy="232"/>
          </a:xfrm>
        </p:grpSpPr>
        <p:sp>
          <p:nvSpPr>
            <p:cNvPr id="26721" name="Text Box 70"/>
            <p:cNvSpPr txBox="1">
              <a:spLocks noChangeArrowheads="1"/>
            </p:cNvSpPr>
            <p:nvPr/>
          </p:nvSpPr>
          <p:spPr bwMode="auto">
            <a:xfrm>
              <a:off x="92" y="353"/>
              <a:ext cx="388" cy="231"/>
            </a:xfrm>
            <a:prstGeom prst="rect">
              <a:avLst/>
            </a:prstGeom>
            <a:noFill/>
            <a:ln w="9525">
              <a:noFill/>
              <a:miter lim="800000"/>
              <a:headEnd/>
              <a:tailEnd/>
            </a:ln>
          </p:spPr>
          <p:txBody>
            <a:bodyPr wrap="none">
              <a:spAutoFit/>
            </a:bodyPr>
            <a:lstStyle/>
            <a:p>
              <a:pPr algn="l"/>
              <a:r>
                <a:rPr kumimoji="1" lang="en-US" altLang="zh-CN" sz="1800" b="1">
                  <a:solidFill>
                    <a:srgbClr val="333399"/>
                  </a:solidFill>
                  <a:latin typeface="Times New Roman" pitchFamily="18" charset="0"/>
                  <a:ea typeface="黑体" pitchFamily="49" charset="-122"/>
                </a:rPr>
                <a:t>(Hz)</a:t>
              </a:r>
            </a:p>
          </p:txBody>
        </p:sp>
        <p:sp>
          <p:nvSpPr>
            <p:cNvPr id="26722" name="Text Box 71"/>
            <p:cNvSpPr txBox="1">
              <a:spLocks noChangeArrowheads="1"/>
            </p:cNvSpPr>
            <p:nvPr/>
          </p:nvSpPr>
          <p:spPr bwMode="auto">
            <a:xfrm>
              <a:off x="6" y="352"/>
              <a:ext cx="164" cy="231"/>
            </a:xfrm>
            <a:prstGeom prst="rect">
              <a:avLst/>
            </a:prstGeom>
            <a:noFill/>
            <a:ln w="9525">
              <a:noFill/>
              <a:miter lim="800000"/>
              <a:headEnd/>
              <a:tailEnd/>
            </a:ln>
          </p:spPr>
          <p:txBody>
            <a:bodyPr wrap="none">
              <a:spAutoFit/>
            </a:bodyPr>
            <a:lstStyle/>
            <a:p>
              <a:pPr algn="l"/>
              <a:r>
                <a:rPr kumimoji="1" lang="en-US" altLang="zh-CN" sz="1800" b="1">
                  <a:solidFill>
                    <a:srgbClr val="333399"/>
                  </a:solidFill>
                  <a:latin typeface="Times New Roman" pitchFamily="18" charset="0"/>
                  <a:ea typeface="黑体" pitchFamily="49" charset="-122"/>
                </a:rPr>
                <a:t>f</a:t>
              </a:r>
            </a:p>
          </p:txBody>
        </p:sp>
      </p:grpSp>
      <p:grpSp>
        <p:nvGrpSpPr>
          <p:cNvPr id="26691" name="Group 72"/>
          <p:cNvGrpSpPr>
            <a:grpSpLocks/>
          </p:cNvGrpSpPr>
          <p:nvPr/>
        </p:nvGrpSpPr>
        <p:grpSpPr bwMode="auto">
          <a:xfrm>
            <a:off x="311150" y="3986213"/>
            <a:ext cx="746125" cy="371475"/>
            <a:chOff x="78" y="1589"/>
            <a:chExt cx="470" cy="234"/>
          </a:xfrm>
        </p:grpSpPr>
        <p:sp>
          <p:nvSpPr>
            <p:cNvPr id="26719" name="Text Box 73"/>
            <p:cNvSpPr txBox="1">
              <a:spLocks noChangeArrowheads="1"/>
            </p:cNvSpPr>
            <p:nvPr/>
          </p:nvSpPr>
          <p:spPr bwMode="auto">
            <a:xfrm>
              <a:off x="124" y="1589"/>
              <a:ext cx="424" cy="231"/>
            </a:xfrm>
            <a:prstGeom prst="rect">
              <a:avLst/>
            </a:prstGeom>
            <a:noFill/>
            <a:ln w="9525">
              <a:noFill/>
              <a:miter lim="800000"/>
              <a:headEnd/>
              <a:tailEnd/>
            </a:ln>
          </p:spPr>
          <p:txBody>
            <a:bodyPr wrap="none">
              <a:spAutoFit/>
            </a:bodyPr>
            <a:lstStyle/>
            <a:p>
              <a:pPr algn="l"/>
              <a:r>
                <a:rPr kumimoji="1" lang="en-US" altLang="zh-CN" sz="1800" b="1">
                  <a:solidFill>
                    <a:srgbClr val="333399"/>
                  </a:solidFill>
                  <a:latin typeface="Times New Roman" pitchFamily="18" charset="0"/>
                  <a:ea typeface="黑体" pitchFamily="49" charset="-122"/>
                </a:rPr>
                <a:t> (Hz)</a:t>
              </a:r>
            </a:p>
          </p:txBody>
        </p:sp>
        <p:sp>
          <p:nvSpPr>
            <p:cNvPr id="26720" name="Text Box 74"/>
            <p:cNvSpPr txBox="1">
              <a:spLocks noChangeArrowheads="1"/>
            </p:cNvSpPr>
            <p:nvPr/>
          </p:nvSpPr>
          <p:spPr bwMode="auto">
            <a:xfrm>
              <a:off x="78" y="1592"/>
              <a:ext cx="164" cy="231"/>
            </a:xfrm>
            <a:prstGeom prst="rect">
              <a:avLst/>
            </a:prstGeom>
            <a:noFill/>
            <a:ln w="9525">
              <a:noFill/>
              <a:miter lim="800000"/>
              <a:headEnd/>
              <a:tailEnd/>
            </a:ln>
          </p:spPr>
          <p:txBody>
            <a:bodyPr wrap="none">
              <a:spAutoFit/>
            </a:bodyPr>
            <a:lstStyle/>
            <a:p>
              <a:pPr algn="l"/>
              <a:r>
                <a:rPr kumimoji="1" lang="en-US" altLang="zh-CN" sz="1800" b="1">
                  <a:solidFill>
                    <a:srgbClr val="333399"/>
                  </a:solidFill>
                  <a:latin typeface="Times New Roman" pitchFamily="18" charset="0"/>
                  <a:ea typeface="黑体" pitchFamily="49" charset="-122"/>
                </a:rPr>
                <a:t>f</a:t>
              </a:r>
            </a:p>
          </p:txBody>
        </p:sp>
      </p:grpSp>
      <p:sp>
        <p:nvSpPr>
          <p:cNvPr id="26692" name="Line 75"/>
          <p:cNvSpPr>
            <a:spLocks noChangeShapeType="1"/>
          </p:cNvSpPr>
          <p:nvPr/>
        </p:nvSpPr>
        <p:spPr bwMode="auto">
          <a:xfrm>
            <a:off x="1371600" y="6035675"/>
            <a:ext cx="0" cy="76200"/>
          </a:xfrm>
          <a:prstGeom prst="line">
            <a:avLst/>
          </a:prstGeom>
          <a:noFill/>
          <a:ln w="9525">
            <a:solidFill>
              <a:schemeClr val="tx1"/>
            </a:solidFill>
            <a:round/>
            <a:headEnd/>
            <a:tailEnd/>
          </a:ln>
        </p:spPr>
        <p:txBody>
          <a:bodyPr wrap="none" anchor="ctr"/>
          <a:lstStyle/>
          <a:p>
            <a:endParaRPr lang="zh-CN" altLang="en-US"/>
          </a:p>
        </p:txBody>
      </p:sp>
      <p:sp>
        <p:nvSpPr>
          <p:cNvPr id="26693" name="Line 76"/>
          <p:cNvSpPr>
            <a:spLocks noChangeShapeType="1"/>
          </p:cNvSpPr>
          <p:nvPr/>
        </p:nvSpPr>
        <p:spPr bwMode="auto">
          <a:xfrm>
            <a:off x="1943100" y="6045200"/>
            <a:ext cx="0" cy="76200"/>
          </a:xfrm>
          <a:prstGeom prst="line">
            <a:avLst/>
          </a:prstGeom>
          <a:noFill/>
          <a:ln w="9525">
            <a:solidFill>
              <a:schemeClr val="tx1"/>
            </a:solidFill>
            <a:round/>
            <a:headEnd/>
            <a:tailEnd/>
          </a:ln>
        </p:spPr>
        <p:txBody>
          <a:bodyPr wrap="none" anchor="ctr"/>
          <a:lstStyle/>
          <a:p>
            <a:endParaRPr lang="zh-CN" altLang="en-US"/>
          </a:p>
        </p:txBody>
      </p:sp>
      <p:sp>
        <p:nvSpPr>
          <p:cNvPr id="26694" name="Line 77"/>
          <p:cNvSpPr>
            <a:spLocks noChangeShapeType="1"/>
          </p:cNvSpPr>
          <p:nvPr/>
        </p:nvSpPr>
        <p:spPr bwMode="auto">
          <a:xfrm>
            <a:off x="2519363" y="6049963"/>
            <a:ext cx="0" cy="76200"/>
          </a:xfrm>
          <a:prstGeom prst="line">
            <a:avLst/>
          </a:prstGeom>
          <a:noFill/>
          <a:ln w="9525">
            <a:solidFill>
              <a:schemeClr val="tx1"/>
            </a:solidFill>
            <a:round/>
            <a:headEnd/>
            <a:tailEnd/>
          </a:ln>
        </p:spPr>
        <p:txBody>
          <a:bodyPr wrap="none" anchor="ctr"/>
          <a:lstStyle/>
          <a:p>
            <a:endParaRPr lang="zh-CN" altLang="en-US"/>
          </a:p>
        </p:txBody>
      </p:sp>
      <p:sp>
        <p:nvSpPr>
          <p:cNvPr id="26695" name="Line 78"/>
          <p:cNvSpPr>
            <a:spLocks noChangeShapeType="1"/>
          </p:cNvSpPr>
          <p:nvPr/>
        </p:nvSpPr>
        <p:spPr bwMode="auto">
          <a:xfrm>
            <a:off x="3114675" y="6045200"/>
            <a:ext cx="0" cy="76200"/>
          </a:xfrm>
          <a:prstGeom prst="line">
            <a:avLst/>
          </a:prstGeom>
          <a:noFill/>
          <a:ln w="9525">
            <a:solidFill>
              <a:schemeClr val="tx1"/>
            </a:solidFill>
            <a:round/>
            <a:headEnd/>
            <a:tailEnd/>
          </a:ln>
        </p:spPr>
        <p:txBody>
          <a:bodyPr wrap="none" anchor="ctr"/>
          <a:lstStyle/>
          <a:p>
            <a:endParaRPr lang="zh-CN" altLang="en-US"/>
          </a:p>
        </p:txBody>
      </p:sp>
      <p:sp>
        <p:nvSpPr>
          <p:cNvPr id="26696" name="Line 79"/>
          <p:cNvSpPr>
            <a:spLocks noChangeShapeType="1"/>
          </p:cNvSpPr>
          <p:nvPr/>
        </p:nvSpPr>
        <p:spPr bwMode="auto">
          <a:xfrm>
            <a:off x="3681413" y="6045200"/>
            <a:ext cx="0" cy="76200"/>
          </a:xfrm>
          <a:prstGeom prst="line">
            <a:avLst/>
          </a:prstGeom>
          <a:noFill/>
          <a:ln w="9525">
            <a:solidFill>
              <a:schemeClr val="tx1"/>
            </a:solidFill>
            <a:round/>
            <a:headEnd/>
            <a:tailEnd/>
          </a:ln>
        </p:spPr>
        <p:txBody>
          <a:bodyPr wrap="none" anchor="ctr"/>
          <a:lstStyle/>
          <a:p>
            <a:endParaRPr lang="zh-CN" altLang="en-US"/>
          </a:p>
        </p:txBody>
      </p:sp>
      <p:sp>
        <p:nvSpPr>
          <p:cNvPr id="26697" name="Line 80"/>
          <p:cNvSpPr>
            <a:spLocks noChangeShapeType="1"/>
          </p:cNvSpPr>
          <p:nvPr/>
        </p:nvSpPr>
        <p:spPr bwMode="auto">
          <a:xfrm>
            <a:off x="4276725" y="6045200"/>
            <a:ext cx="0" cy="76200"/>
          </a:xfrm>
          <a:prstGeom prst="line">
            <a:avLst/>
          </a:prstGeom>
          <a:noFill/>
          <a:ln w="9525">
            <a:solidFill>
              <a:schemeClr val="tx1"/>
            </a:solidFill>
            <a:round/>
            <a:headEnd/>
            <a:tailEnd/>
          </a:ln>
        </p:spPr>
        <p:txBody>
          <a:bodyPr wrap="none" anchor="ctr"/>
          <a:lstStyle/>
          <a:p>
            <a:endParaRPr lang="zh-CN" altLang="en-US"/>
          </a:p>
        </p:txBody>
      </p:sp>
      <p:sp>
        <p:nvSpPr>
          <p:cNvPr id="26698" name="Line 81"/>
          <p:cNvSpPr>
            <a:spLocks noChangeShapeType="1"/>
          </p:cNvSpPr>
          <p:nvPr/>
        </p:nvSpPr>
        <p:spPr bwMode="auto">
          <a:xfrm>
            <a:off x="4867275" y="6045200"/>
            <a:ext cx="0" cy="76200"/>
          </a:xfrm>
          <a:prstGeom prst="line">
            <a:avLst/>
          </a:prstGeom>
          <a:noFill/>
          <a:ln w="9525">
            <a:solidFill>
              <a:schemeClr val="tx1"/>
            </a:solidFill>
            <a:round/>
            <a:headEnd/>
            <a:tailEnd/>
          </a:ln>
        </p:spPr>
        <p:txBody>
          <a:bodyPr wrap="none" anchor="ctr"/>
          <a:lstStyle/>
          <a:p>
            <a:endParaRPr lang="zh-CN" altLang="en-US"/>
          </a:p>
        </p:txBody>
      </p:sp>
      <p:sp>
        <p:nvSpPr>
          <p:cNvPr id="26699" name="Line 82"/>
          <p:cNvSpPr>
            <a:spLocks noChangeShapeType="1"/>
          </p:cNvSpPr>
          <p:nvPr/>
        </p:nvSpPr>
        <p:spPr bwMode="auto">
          <a:xfrm>
            <a:off x="5443538" y="6045200"/>
            <a:ext cx="0" cy="76200"/>
          </a:xfrm>
          <a:prstGeom prst="line">
            <a:avLst/>
          </a:prstGeom>
          <a:noFill/>
          <a:ln w="9525">
            <a:solidFill>
              <a:schemeClr val="tx1"/>
            </a:solidFill>
            <a:round/>
            <a:headEnd/>
            <a:tailEnd/>
          </a:ln>
        </p:spPr>
        <p:txBody>
          <a:bodyPr wrap="none" anchor="ctr"/>
          <a:lstStyle/>
          <a:p>
            <a:endParaRPr lang="zh-CN" altLang="en-US"/>
          </a:p>
        </p:txBody>
      </p:sp>
      <p:sp>
        <p:nvSpPr>
          <p:cNvPr id="26700" name="Line 83"/>
          <p:cNvSpPr>
            <a:spLocks noChangeShapeType="1"/>
          </p:cNvSpPr>
          <p:nvPr/>
        </p:nvSpPr>
        <p:spPr bwMode="auto">
          <a:xfrm>
            <a:off x="6043613" y="6049963"/>
            <a:ext cx="0" cy="76200"/>
          </a:xfrm>
          <a:prstGeom prst="line">
            <a:avLst/>
          </a:prstGeom>
          <a:noFill/>
          <a:ln w="9525">
            <a:solidFill>
              <a:schemeClr val="tx1"/>
            </a:solidFill>
            <a:round/>
            <a:headEnd/>
            <a:tailEnd/>
          </a:ln>
        </p:spPr>
        <p:txBody>
          <a:bodyPr wrap="none" anchor="ctr"/>
          <a:lstStyle/>
          <a:p>
            <a:endParaRPr lang="zh-CN" altLang="en-US"/>
          </a:p>
        </p:txBody>
      </p:sp>
      <p:sp>
        <p:nvSpPr>
          <p:cNvPr id="26701" name="Line 84"/>
          <p:cNvSpPr>
            <a:spLocks noChangeShapeType="1"/>
          </p:cNvSpPr>
          <p:nvPr/>
        </p:nvSpPr>
        <p:spPr bwMode="auto">
          <a:xfrm>
            <a:off x="6629400" y="6040438"/>
            <a:ext cx="0" cy="76200"/>
          </a:xfrm>
          <a:prstGeom prst="line">
            <a:avLst/>
          </a:prstGeom>
          <a:noFill/>
          <a:ln w="9525">
            <a:solidFill>
              <a:schemeClr val="tx1"/>
            </a:solidFill>
            <a:round/>
            <a:headEnd/>
            <a:tailEnd/>
          </a:ln>
        </p:spPr>
        <p:txBody>
          <a:bodyPr wrap="none" anchor="ctr"/>
          <a:lstStyle/>
          <a:p>
            <a:endParaRPr lang="zh-CN" altLang="en-US"/>
          </a:p>
        </p:txBody>
      </p:sp>
      <p:sp>
        <p:nvSpPr>
          <p:cNvPr id="26702" name="Line 85"/>
          <p:cNvSpPr>
            <a:spLocks noChangeShapeType="1"/>
          </p:cNvSpPr>
          <p:nvPr/>
        </p:nvSpPr>
        <p:spPr bwMode="auto">
          <a:xfrm>
            <a:off x="7224713" y="6049963"/>
            <a:ext cx="0" cy="76200"/>
          </a:xfrm>
          <a:prstGeom prst="line">
            <a:avLst/>
          </a:prstGeom>
          <a:noFill/>
          <a:ln w="9525">
            <a:solidFill>
              <a:schemeClr val="tx1"/>
            </a:solidFill>
            <a:round/>
            <a:headEnd/>
            <a:tailEnd/>
          </a:ln>
        </p:spPr>
        <p:txBody>
          <a:bodyPr wrap="none" anchor="ctr"/>
          <a:lstStyle/>
          <a:p>
            <a:endParaRPr lang="zh-CN" altLang="en-US"/>
          </a:p>
        </p:txBody>
      </p:sp>
      <p:sp>
        <p:nvSpPr>
          <p:cNvPr id="26703" name="Line 86"/>
          <p:cNvSpPr>
            <a:spLocks noChangeShapeType="1"/>
          </p:cNvSpPr>
          <p:nvPr/>
        </p:nvSpPr>
        <p:spPr bwMode="auto">
          <a:xfrm>
            <a:off x="7815263" y="6040438"/>
            <a:ext cx="0" cy="76200"/>
          </a:xfrm>
          <a:prstGeom prst="line">
            <a:avLst/>
          </a:prstGeom>
          <a:noFill/>
          <a:ln w="9525">
            <a:solidFill>
              <a:schemeClr val="tx1"/>
            </a:solidFill>
            <a:round/>
            <a:headEnd/>
            <a:tailEnd/>
          </a:ln>
        </p:spPr>
        <p:txBody>
          <a:bodyPr wrap="none" anchor="ctr"/>
          <a:lstStyle/>
          <a:p>
            <a:endParaRPr lang="zh-CN" altLang="en-US"/>
          </a:p>
        </p:txBody>
      </p:sp>
      <p:sp>
        <p:nvSpPr>
          <p:cNvPr id="26704" name="Text Box 87"/>
          <p:cNvSpPr txBox="1">
            <a:spLocks noChangeArrowheads="1"/>
          </p:cNvSpPr>
          <p:nvPr/>
        </p:nvSpPr>
        <p:spPr bwMode="auto">
          <a:xfrm>
            <a:off x="1436688" y="6045200"/>
            <a:ext cx="442912"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LF</a:t>
            </a:r>
          </a:p>
        </p:txBody>
      </p:sp>
      <p:sp>
        <p:nvSpPr>
          <p:cNvPr id="26705" name="Text Box 88"/>
          <p:cNvSpPr txBox="1">
            <a:spLocks noChangeArrowheads="1"/>
          </p:cNvSpPr>
          <p:nvPr/>
        </p:nvSpPr>
        <p:spPr bwMode="auto">
          <a:xfrm>
            <a:off x="2022475" y="6045200"/>
            <a:ext cx="500063"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MF</a:t>
            </a:r>
          </a:p>
        </p:txBody>
      </p:sp>
      <p:sp>
        <p:nvSpPr>
          <p:cNvPr id="26706" name="Text Box 89"/>
          <p:cNvSpPr txBox="1">
            <a:spLocks noChangeArrowheads="1"/>
          </p:cNvSpPr>
          <p:nvPr/>
        </p:nvSpPr>
        <p:spPr bwMode="auto">
          <a:xfrm>
            <a:off x="2608263" y="6045200"/>
            <a:ext cx="466725"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HF</a:t>
            </a:r>
          </a:p>
        </p:txBody>
      </p:sp>
      <p:sp>
        <p:nvSpPr>
          <p:cNvPr id="26707" name="Text Box 90"/>
          <p:cNvSpPr txBox="1">
            <a:spLocks noChangeArrowheads="1"/>
          </p:cNvSpPr>
          <p:nvPr/>
        </p:nvSpPr>
        <p:spPr bwMode="auto">
          <a:xfrm>
            <a:off x="3127375" y="6045200"/>
            <a:ext cx="612775"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VHF</a:t>
            </a:r>
          </a:p>
        </p:txBody>
      </p:sp>
      <p:sp>
        <p:nvSpPr>
          <p:cNvPr id="26708" name="Text Box 91"/>
          <p:cNvSpPr txBox="1">
            <a:spLocks noChangeArrowheads="1"/>
          </p:cNvSpPr>
          <p:nvPr/>
        </p:nvSpPr>
        <p:spPr bwMode="auto">
          <a:xfrm>
            <a:off x="3698875" y="6045200"/>
            <a:ext cx="612775"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UHF</a:t>
            </a:r>
          </a:p>
        </p:txBody>
      </p:sp>
      <p:sp>
        <p:nvSpPr>
          <p:cNvPr id="26709" name="Text Box 92"/>
          <p:cNvSpPr txBox="1">
            <a:spLocks noChangeArrowheads="1"/>
          </p:cNvSpPr>
          <p:nvPr/>
        </p:nvSpPr>
        <p:spPr bwMode="auto">
          <a:xfrm>
            <a:off x="4265613" y="6045200"/>
            <a:ext cx="579437"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SHF</a:t>
            </a:r>
          </a:p>
        </p:txBody>
      </p:sp>
      <p:sp>
        <p:nvSpPr>
          <p:cNvPr id="26710" name="Text Box 93"/>
          <p:cNvSpPr txBox="1">
            <a:spLocks noChangeArrowheads="1"/>
          </p:cNvSpPr>
          <p:nvPr/>
        </p:nvSpPr>
        <p:spPr bwMode="auto">
          <a:xfrm>
            <a:off x="4865688" y="6045200"/>
            <a:ext cx="601662"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EHF</a:t>
            </a:r>
          </a:p>
        </p:txBody>
      </p:sp>
      <p:sp>
        <p:nvSpPr>
          <p:cNvPr id="26711" name="Text Box 94"/>
          <p:cNvSpPr txBox="1">
            <a:spLocks noChangeArrowheads="1"/>
          </p:cNvSpPr>
          <p:nvPr/>
        </p:nvSpPr>
        <p:spPr bwMode="auto">
          <a:xfrm>
            <a:off x="5446713" y="6045200"/>
            <a:ext cx="601662"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THF</a:t>
            </a:r>
          </a:p>
        </p:txBody>
      </p:sp>
      <p:sp>
        <p:nvSpPr>
          <p:cNvPr id="26712" name="Text Box 95"/>
          <p:cNvSpPr txBox="1">
            <a:spLocks noChangeArrowheads="1"/>
          </p:cNvSpPr>
          <p:nvPr/>
        </p:nvSpPr>
        <p:spPr bwMode="auto">
          <a:xfrm>
            <a:off x="457200" y="5967413"/>
            <a:ext cx="590550" cy="336550"/>
          </a:xfrm>
          <a:prstGeom prst="rect">
            <a:avLst/>
          </a:prstGeom>
          <a:noFill/>
          <a:ln w="9525">
            <a:noFill/>
            <a:miter lim="800000"/>
            <a:headEnd/>
            <a:tailEnd/>
          </a:ln>
        </p:spPr>
        <p:txBody>
          <a:bodyPr wrap="none">
            <a:spAutoFit/>
          </a:bodyPr>
          <a:lstStyle/>
          <a:p>
            <a:pPr algn="l"/>
            <a:r>
              <a:rPr kumimoji="1" lang="zh-CN" altLang="en-US" sz="1600">
                <a:solidFill>
                  <a:srgbClr val="333399"/>
                </a:solidFill>
                <a:latin typeface="Times New Roman" pitchFamily="18" charset="0"/>
                <a:ea typeface="黑体" pitchFamily="49" charset="-122"/>
              </a:rPr>
              <a:t>波段</a:t>
            </a:r>
          </a:p>
        </p:txBody>
      </p:sp>
      <p:sp>
        <p:nvSpPr>
          <p:cNvPr id="26713" name="Text Box 96"/>
          <p:cNvSpPr txBox="1">
            <a:spLocks noChangeArrowheads="1"/>
          </p:cNvSpPr>
          <p:nvPr/>
        </p:nvSpPr>
        <p:spPr bwMode="auto">
          <a:xfrm>
            <a:off x="958850" y="3957638"/>
            <a:ext cx="7575550"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5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6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7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8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9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11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13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15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16</a:t>
            </a:r>
            <a:endParaRPr kumimoji="1" lang="en-US" altLang="zh-CN" sz="1600" b="1">
              <a:solidFill>
                <a:srgbClr val="333399"/>
              </a:solidFill>
              <a:latin typeface="Times New Roman" pitchFamily="18" charset="0"/>
              <a:ea typeface="黑体" pitchFamily="49" charset="-122"/>
            </a:endParaRPr>
          </a:p>
        </p:txBody>
      </p:sp>
      <p:sp>
        <p:nvSpPr>
          <p:cNvPr id="26714" name="Text Box 97"/>
          <p:cNvSpPr txBox="1">
            <a:spLocks noChangeArrowheads="1"/>
          </p:cNvSpPr>
          <p:nvPr/>
        </p:nvSpPr>
        <p:spPr bwMode="auto">
          <a:xfrm>
            <a:off x="990600" y="2735263"/>
            <a:ext cx="7645400" cy="336550"/>
          </a:xfrm>
          <a:prstGeom prst="rect">
            <a:avLst/>
          </a:prstGeom>
          <a:noFill/>
          <a:ln w="9525">
            <a:noFill/>
            <a:miter lim="800000"/>
            <a:headEnd/>
            <a:tailEnd/>
          </a:ln>
        </p:spPr>
        <p:txBody>
          <a:bodyPr wrap="none">
            <a:spAutoFit/>
          </a:bodyPr>
          <a:lstStyle/>
          <a:p>
            <a:pPr algn="l"/>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6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8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16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18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24</a:t>
            </a:r>
            <a:endParaRPr kumimoji="1" lang="en-US" altLang="zh-CN" sz="1600" b="1">
              <a:solidFill>
                <a:srgbClr val="333399"/>
              </a:solidFill>
              <a:latin typeface="Times New Roman" pitchFamily="18" charset="0"/>
              <a:ea typeface="黑体" pitchFamily="49" charset="-122"/>
            </a:endParaRPr>
          </a:p>
        </p:txBody>
      </p:sp>
      <p:sp>
        <p:nvSpPr>
          <p:cNvPr id="26715" name="Line 98"/>
          <p:cNvSpPr>
            <a:spLocks noChangeShapeType="1"/>
          </p:cNvSpPr>
          <p:nvPr/>
        </p:nvSpPr>
        <p:spPr bwMode="auto">
          <a:xfrm flipV="1">
            <a:off x="3911600" y="5583238"/>
            <a:ext cx="357188" cy="3175"/>
          </a:xfrm>
          <a:prstGeom prst="line">
            <a:avLst/>
          </a:prstGeom>
          <a:noFill/>
          <a:ln w="9525">
            <a:solidFill>
              <a:schemeClr val="tx1"/>
            </a:solidFill>
            <a:round/>
            <a:headEnd type="triangle" w="med" len="lg"/>
            <a:tailEnd type="triangle" w="med" len="lg"/>
          </a:ln>
        </p:spPr>
        <p:txBody>
          <a:bodyPr wrap="none" anchor="ctr"/>
          <a:lstStyle/>
          <a:p>
            <a:endParaRPr lang="zh-CN" altLang="en-US"/>
          </a:p>
        </p:txBody>
      </p:sp>
      <p:sp>
        <p:nvSpPr>
          <p:cNvPr id="26716" name="Rectangle 99"/>
          <p:cNvSpPr>
            <a:spLocks noChangeArrowheads="1"/>
          </p:cNvSpPr>
          <p:nvPr/>
        </p:nvSpPr>
        <p:spPr bwMode="auto">
          <a:xfrm>
            <a:off x="4038600" y="5053013"/>
            <a:ext cx="84138" cy="442912"/>
          </a:xfrm>
          <a:prstGeom prst="rect">
            <a:avLst/>
          </a:prstGeom>
          <a:solidFill>
            <a:schemeClr val="bg1"/>
          </a:solidFill>
          <a:ln w="9525">
            <a:noFill/>
            <a:miter lim="800000"/>
            <a:headEnd/>
            <a:tailEnd/>
          </a:ln>
        </p:spPr>
        <p:txBody>
          <a:bodyPr wrap="none" anchor="ctr"/>
          <a:lstStyle/>
          <a:p>
            <a:endParaRPr lang="zh-CN" altLang="en-US"/>
          </a:p>
        </p:txBody>
      </p:sp>
      <p:sp>
        <p:nvSpPr>
          <p:cNvPr id="26717" name="Text Box 100"/>
          <p:cNvSpPr txBox="1">
            <a:spLocks noChangeArrowheads="1"/>
          </p:cNvSpPr>
          <p:nvPr/>
        </p:nvSpPr>
        <p:spPr bwMode="auto">
          <a:xfrm>
            <a:off x="3729038" y="5048250"/>
            <a:ext cx="844550" cy="533400"/>
          </a:xfrm>
          <a:prstGeom prst="rect">
            <a:avLst/>
          </a:prstGeom>
          <a:noFill/>
          <a:ln w="9525">
            <a:noFill/>
            <a:miter lim="800000"/>
            <a:headEnd/>
            <a:tailEnd/>
          </a:ln>
        </p:spPr>
        <p:txBody>
          <a:bodyPr wrap="none">
            <a:spAutoFit/>
          </a:bodyPr>
          <a:lstStyle/>
          <a:p>
            <a:pPr algn="l">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移动</a:t>
            </a:r>
          </a:p>
          <a:p>
            <a:pPr algn="l">
              <a:lnSpc>
                <a:spcPct val="90000"/>
              </a:lnSpc>
            </a:pPr>
            <a:r>
              <a:rPr kumimoji="1" lang="zh-CN" altLang="en-US" sz="1600">
                <a:solidFill>
                  <a:srgbClr val="333399"/>
                </a:solidFill>
                <a:latin typeface="Times New Roman" pitchFamily="18" charset="0"/>
                <a:ea typeface="黑体" pitchFamily="49" charset="-122"/>
              </a:rPr>
              <a:t>无线电 </a:t>
            </a:r>
          </a:p>
        </p:txBody>
      </p:sp>
      <p:sp>
        <p:nvSpPr>
          <p:cNvPr id="26718" name="Rectangle 101"/>
          <p:cNvSpPr>
            <a:spLocks noChangeArrowheads="1"/>
          </p:cNvSpPr>
          <p:nvPr/>
        </p:nvSpPr>
        <p:spPr bwMode="auto">
          <a:xfrm>
            <a:off x="755650" y="1700213"/>
            <a:ext cx="7793038" cy="792162"/>
          </a:xfrm>
          <a:prstGeom prst="rect">
            <a:avLst/>
          </a:prstGeom>
          <a:noFill/>
          <a:ln w="9525">
            <a:noFill/>
            <a:miter lim="800000"/>
            <a:headEnd/>
            <a:tailEnd/>
          </a:ln>
        </p:spPr>
        <p:txBody>
          <a:bodyPr anchor="b"/>
          <a:lstStyle/>
          <a:p>
            <a:r>
              <a:rPr lang="zh-CN" altLang="en-US" sz="3200">
                <a:solidFill>
                  <a:srgbClr val="333399"/>
                </a:solidFill>
                <a:latin typeface="Arial" pitchFamily="34" charset="0"/>
                <a:ea typeface="黑体" pitchFamily="49" charset="-122"/>
              </a:rPr>
              <a:t>电信领域使用的电磁波的频谱</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eaLnBrk="1" hangingPunct="1"/>
            <a:r>
              <a:rPr lang="zh-CN" altLang="en-US" dirty="0" smtClean="0"/>
              <a:t>（</a:t>
            </a:r>
            <a:r>
              <a:rPr lang="en-US" altLang="zh-CN" dirty="0" smtClean="0"/>
              <a:t>1</a:t>
            </a:r>
            <a:r>
              <a:rPr lang="zh-CN" altLang="en-US" dirty="0" smtClean="0"/>
              <a:t>）</a:t>
            </a:r>
            <a:r>
              <a:rPr lang="en-US" altLang="zh-CN" dirty="0" smtClean="0"/>
              <a:t> </a:t>
            </a:r>
            <a:r>
              <a:rPr lang="zh-CN" altLang="en-US" dirty="0" smtClean="0"/>
              <a:t>导向传输媒体</a:t>
            </a:r>
          </a:p>
        </p:txBody>
      </p:sp>
      <p:sp>
        <p:nvSpPr>
          <p:cNvPr id="121859" name="Rectangle 3"/>
          <p:cNvSpPr>
            <a:spLocks noGrp="1" noChangeArrowheads="1"/>
          </p:cNvSpPr>
          <p:nvPr>
            <p:ph type="body" idx="1"/>
          </p:nvPr>
        </p:nvSpPr>
        <p:spPr>
          <a:xfrm>
            <a:off x="1116013" y="2133600"/>
            <a:ext cx="7772400" cy="4114800"/>
          </a:xfrm>
        </p:spPr>
        <p:txBody>
          <a:bodyPr/>
          <a:lstStyle/>
          <a:p>
            <a:pPr eaLnBrk="1" hangingPunct="1">
              <a:lnSpc>
                <a:spcPct val="90000"/>
              </a:lnSpc>
            </a:pPr>
            <a:r>
              <a:rPr lang="zh-CN" altLang="en-US" smtClean="0"/>
              <a:t>双绞线</a:t>
            </a:r>
          </a:p>
          <a:p>
            <a:pPr lvl="1" eaLnBrk="1" hangingPunct="1">
              <a:lnSpc>
                <a:spcPct val="90000"/>
              </a:lnSpc>
            </a:pPr>
            <a:r>
              <a:rPr lang="zh-CN" altLang="en-US" smtClean="0">
                <a:solidFill>
                  <a:srgbClr val="333399"/>
                </a:solidFill>
                <a:latin typeface="Arial" pitchFamily="34" charset="0"/>
                <a:ea typeface="黑体" pitchFamily="49" charset="-122"/>
              </a:rPr>
              <a:t>屏蔽双绞线 </a:t>
            </a:r>
            <a:r>
              <a:rPr lang="en-US" altLang="zh-CN" smtClean="0">
                <a:solidFill>
                  <a:srgbClr val="333399"/>
                </a:solidFill>
                <a:latin typeface="Arial" pitchFamily="34" charset="0"/>
                <a:ea typeface="黑体" pitchFamily="49" charset="-122"/>
              </a:rPr>
              <a:t>STP (Shielded Twisted Pair)</a:t>
            </a:r>
          </a:p>
          <a:p>
            <a:pPr lvl="1" eaLnBrk="1" hangingPunct="1">
              <a:lnSpc>
                <a:spcPct val="90000"/>
              </a:lnSpc>
            </a:pPr>
            <a:r>
              <a:rPr lang="zh-CN" altLang="en-US" smtClean="0">
                <a:solidFill>
                  <a:srgbClr val="333399"/>
                </a:solidFill>
                <a:latin typeface="Arial" pitchFamily="34" charset="0"/>
                <a:ea typeface="黑体" pitchFamily="49" charset="-122"/>
              </a:rPr>
              <a:t>无屏蔽双绞线 </a:t>
            </a:r>
            <a:r>
              <a:rPr lang="en-US" altLang="zh-CN" smtClean="0">
                <a:solidFill>
                  <a:srgbClr val="333399"/>
                </a:solidFill>
                <a:latin typeface="Arial" pitchFamily="34" charset="0"/>
                <a:ea typeface="黑体" pitchFamily="49" charset="-122"/>
              </a:rPr>
              <a:t>UTP (Unshielded Twisted Pair)</a:t>
            </a:r>
            <a:r>
              <a:rPr lang="en-US" altLang="zh-CN" smtClean="0"/>
              <a:t> </a:t>
            </a:r>
            <a:endParaRPr lang="en-US" altLang="zh-CN" smtClean="0">
              <a:solidFill>
                <a:srgbClr val="333399"/>
              </a:solidFill>
              <a:ea typeface="黑体" pitchFamily="49" charset="-122"/>
            </a:endParaRPr>
          </a:p>
          <a:p>
            <a:pPr eaLnBrk="1" hangingPunct="1">
              <a:lnSpc>
                <a:spcPct val="90000"/>
              </a:lnSpc>
            </a:pPr>
            <a:r>
              <a:rPr lang="zh-CN" altLang="en-US" smtClean="0"/>
              <a:t>同轴电缆</a:t>
            </a:r>
          </a:p>
          <a:p>
            <a:pPr lvl="1" eaLnBrk="1" hangingPunct="1">
              <a:lnSpc>
                <a:spcPct val="90000"/>
              </a:lnSpc>
            </a:pPr>
            <a:r>
              <a:rPr lang="en-US" altLang="zh-CN" smtClean="0">
                <a:solidFill>
                  <a:srgbClr val="333399"/>
                </a:solidFill>
                <a:latin typeface="Arial" pitchFamily="34" charset="0"/>
                <a:ea typeface="黑体" pitchFamily="49" charset="-122"/>
              </a:rPr>
              <a:t>50</a:t>
            </a:r>
            <a:r>
              <a:rPr lang="en-US" altLang="zh-CN" sz="1600" smtClean="0">
                <a:solidFill>
                  <a:srgbClr val="333399"/>
                </a:solidFill>
                <a:latin typeface="Arial" pitchFamily="34" charset="0"/>
                <a:ea typeface="黑体" pitchFamily="49" charset="-122"/>
              </a:rPr>
              <a:t> </a:t>
            </a:r>
            <a:r>
              <a:rPr lang="en-US" altLang="zh-CN" smtClean="0">
                <a:solidFill>
                  <a:srgbClr val="333399"/>
                </a:solidFill>
                <a:latin typeface="Arial" pitchFamily="34" charset="0"/>
                <a:ea typeface="黑体" pitchFamily="49" charset="-122"/>
                <a:sym typeface="Symbol" pitchFamily="18" charset="2"/>
              </a:rPr>
              <a:t></a:t>
            </a:r>
            <a:r>
              <a:rPr lang="en-US" altLang="zh-CN" sz="1400" smtClean="0">
                <a:solidFill>
                  <a:srgbClr val="333399"/>
                </a:solidFill>
                <a:latin typeface="黑体" pitchFamily="49" charset="-122"/>
                <a:ea typeface="黑体" pitchFamily="49" charset="-122"/>
              </a:rPr>
              <a:t> </a:t>
            </a:r>
            <a:r>
              <a:rPr lang="zh-CN" altLang="en-US" smtClean="0">
                <a:solidFill>
                  <a:srgbClr val="333399"/>
                </a:solidFill>
                <a:latin typeface="黑体" pitchFamily="49" charset="-122"/>
                <a:ea typeface="黑体" pitchFamily="49" charset="-122"/>
              </a:rPr>
              <a:t>同轴电缆</a:t>
            </a:r>
          </a:p>
          <a:p>
            <a:pPr lvl="1" eaLnBrk="1" hangingPunct="1">
              <a:lnSpc>
                <a:spcPct val="90000"/>
              </a:lnSpc>
            </a:pPr>
            <a:r>
              <a:rPr lang="en-US" altLang="zh-CN" smtClean="0">
                <a:solidFill>
                  <a:srgbClr val="333399"/>
                </a:solidFill>
                <a:latin typeface="Arial" pitchFamily="34" charset="0"/>
                <a:ea typeface="黑体" pitchFamily="49" charset="-122"/>
              </a:rPr>
              <a:t>75</a:t>
            </a:r>
            <a:r>
              <a:rPr lang="en-US" altLang="zh-CN" sz="1600" smtClean="0">
                <a:solidFill>
                  <a:srgbClr val="333399"/>
                </a:solidFill>
                <a:latin typeface="Arial" pitchFamily="34" charset="0"/>
                <a:ea typeface="黑体" pitchFamily="49" charset="-122"/>
              </a:rPr>
              <a:t> </a:t>
            </a:r>
            <a:r>
              <a:rPr lang="en-US" altLang="zh-CN" smtClean="0">
                <a:solidFill>
                  <a:srgbClr val="333399"/>
                </a:solidFill>
                <a:latin typeface="Arial" pitchFamily="34" charset="0"/>
                <a:ea typeface="黑体" pitchFamily="49" charset="-122"/>
                <a:sym typeface="Symbol" pitchFamily="18" charset="2"/>
              </a:rPr>
              <a:t></a:t>
            </a:r>
            <a:r>
              <a:rPr lang="en-US" altLang="zh-CN" sz="1400" smtClean="0">
                <a:solidFill>
                  <a:srgbClr val="333399"/>
                </a:solidFill>
                <a:latin typeface="黑体" pitchFamily="49" charset="-122"/>
                <a:ea typeface="黑体" pitchFamily="49" charset="-122"/>
              </a:rPr>
              <a:t> </a:t>
            </a:r>
            <a:r>
              <a:rPr lang="zh-CN" altLang="en-US" smtClean="0">
                <a:solidFill>
                  <a:srgbClr val="333399"/>
                </a:solidFill>
                <a:latin typeface="黑体" pitchFamily="49" charset="-122"/>
                <a:ea typeface="黑体" pitchFamily="49" charset="-122"/>
              </a:rPr>
              <a:t>同轴电缆</a:t>
            </a:r>
          </a:p>
          <a:p>
            <a:pPr eaLnBrk="1" hangingPunct="1">
              <a:lnSpc>
                <a:spcPct val="90000"/>
              </a:lnSpc>
            </a:pPr>
            <a:r>
              <a:rPr lang="zh-CN" altLang="en-US" smtClean="0"/>
              <a:t>光缆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9">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859">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85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8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zh-CN" altLang="en-US" sz="4000" dirty="0" smtClean="0"/>
              <a:t>导向</a:t>
            </a:r>
            <a:r>
              <a:rPr lang="zh-CN" altLang="en-US" sz="4000" dirty="0"/>
              <a:t>传输媒体</a:t>
            </a:r>
            <a:r>
              <a:rPr lang="en-US" altLang="zh-CN" sz="4000" dirty="0">
                <a:latin typeface="Arial"/>
              </a:rPr>
              <a:t>——</a:t>
            </a:r>
            <a:r>
              <a:rPr lang="zh-CN" altLang="en-US" sz="4000" dirty="0"/>
              <a:t>双绞线</a:t>
            </a:r>
            <a:r>
              <a:rPr lang="en-US" altLang="zh-CN" sz="4000" dirty="0"/>
              <a:t>(1)</a:t>
            </a:r>
          </a:p>
        </p:txBody>
      </p:sp>
      <p:sp>
        <p:nvSpPr>
          <p:cNvPr id="104451" name="Rectangle 3"/>
          <p:cNvSpPr>
            <a:spLocks noGrp="1" noChangeArrowheads="1"/>
          </p:cNvSpPr>
          <p:nvPr>
            <p:ph type="body" idx="1"/>
          </p:nvPr>
        </p:nvSpPr>
        <p:spPr/>
        <p:txBody>
          <a:bodyPr/>
          <a:lstStyle/>
          <a:p>
            <a:r>
              <a:rPr lang="zh-CN" altLang="en-US" sz="2400"/>
              <a:t>传统的计算机网络大都用导线连接，这是因为导线既便宜又易于安装和维护。在用来连接计算机网络的导线中．用得最多的是铜质导线，这是因为铜具有低电阻和低价格的缘故。在铜导线中，用得最多的导线有两种：即双绞线和同轴电缆。</a:t>
            </a:r>
          </a:p>
          <a:p>
            <a:r>
              <a:rPr lang="zh-CN" altLang="en-US" sz="2400"/>
              <a:t>双绞线</a:t>
            </a:r>
            <a:r>
              <a:rPr lang="en-US" altLang="zh-CN" sz="2400"/>
              <a:t>TP(Twisted Pairwire)</a:t>
            </a:r>
            <a:r>
              <a:rPr lang="zh-CN" altLang="en-US" sz="2400"/>
              <a:t>是最常用的一种传输介质．它由两根具有绝缘保护层的铜导线组成。把两根绝缘的铜导线按一定密度互相绞在一起，一根导线在传输中辐射的电波会被另一根导线上发出的电波抵消，这样就降低了信号干扰的程度。</a:t>
            </a:r>
          </a:p>
          <a:p>
            <a:endParaRPr lang="en-US" altLang="zh-CN" sz="240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zh-CN" altLang="en-US" sz="4000" dirty="0" smtClean="0"/>
              <a:t>导向</a:t>
            </a:r>
            <a:r>
              <a:rPr lang="zh-CN" altLang="en-US" sz="4000" dirty="0"/>
              <a:t>传输媒体</a:t>
            </a:r>
            <a:r>
              <a:rPr lang="en-US" altLang="zh-CN" sz="4000" dirty="0">
                <a:latin typeface="Arial"/>
              </a:rPr>
              <a:t>——</a:t>
            </a:r>
            <a:r>
              <a:rPr lang="zh-CN" altLang="en-US" sz="4000" dirty="0"/>
              <a:t>双绞线</a:t>
            </a:r>
            <a:r>
              <a:rPr lang="en-US" altLang="zh-CN" sz="4000" dirty="0"/>
              <a:t>(2)</a:t>
            </a:r>
          </a:p>
        </p:txBody>
      </p:sp>
      <p:grpSp>
        <p:nvGrpSpPr>
          <p:cNvPr id="2" name="Group 38"/>
          <p:cNvGrpSpPr>
            <a:grpSpLocks/>
          </p:cNvGrpSpPr>
          <p:nvPr/>
        </p:nvGrpSpPr>
        <p:grpSpPr bwMode="auto">
          <a:xfrm>
            <a:off x="539750" y="2997200"/>
            <a:ext cx="4402138" cy="3375025"/>
            <a:chOff x="478" y="1320"/>
            <a:chExt cx="2773" cy="2126"/>
          </a:xfrm>
        </p:grpSpPr>
        <p:grpSp>
          <p:nvGrpSpPr>
            <p:cNvPr id="3" name="Group 39"/>
            <p:cNvGrpSpPr>
              <a:grpSpLocks/>
            </p:cNvGrpSpPr>
            <p:nvPr/>
          </p:nvGrpSpPr>
          <p:grpSpPr bwMode="auto">
            <a:xfrm>
              <a:off x="2101" y="2297"/>
              <a:ext cx="1150" cy="1149"/>
              <a:chOff x="2101" y="2297"/>
              <a:chExt cx="1150" cy="1149"/>
            </a:xfrm>
          </p:grpSpPr>
          <p:sp>
            <p:nvSpPr>
              <p:cNvPr id="169000" name="Freeform 40"/>
              <p:cNvSpPr>
                <a:spLocks/>
              </p:cNvSpPr>
              <p:nvPr/>
            </p:nvSpPr>
            <p:spPr bwMode="auto">
              <a:xfrm>
                <a:off x="2101" y="2584"/>
                <a:ext cx="1150" cy="862"/>
              </a:xfrm>
              <a:custGeom>
                <a:avLst/>
                <a:gdLst/>
                <a:ahLst/>
                <a:cxnLst>
                  <a:cxn ang="0">
                    <a:pos x="0" y="743"/>
                  </a:cxn>
                  <a:cxn ang="0">
                    <a:pos x="41" y="775"/>
                  </a:cxn>
                  <a:cxn ang="0">
                    <a:pos x="87" y="802"/>
                  </a:cxn>
                  <a:cxn ang="0">
                    <a:pos x="135" y="823"/>
                  </a:cxn>
                  <a:cxn ang="0">
                    <a:pos x="188" y="840"/>
                  </a:cxn>
                  <a:cxn ang="0">
                    <a:pos x="241" y="852"/>
                  </a:cxn>
                  <a:cxn ang="0">
                    <a:pos x="295" y="860"/>
                  </a:cxn>
                  <a:cxn ang="0">
                    <a:pos x="351" y="861"/>
                  </a:cxn>
                  <a:cxn ang="0">
                    <a:pos x="405" y="856"/>
                  </a:cxn>
                  <a:cxn ang="0">
                    <a:pos x="459" y="847"/>
                  </a:cxn>
                  <a:cxn ang="0">
                    <a:pos x="512" y="832"/>
                  </a:cxn>
                  <a:cxn ang="0">
                    <a:pos x="562" y="813"/>
                  </a:cxn>
                  <a:cxn ang="0">
                    <a:pos x="609" y="789"/>
                  </a:cxn>
                  <a:cxn ang="0">
                    <a:pos x="648" y="761"/>
                  </a:cxn>
                  <a:cxn ang="0">
                    <a:pos x="689" y="737"/>
                  </a:cxn>
                  <a:cxn ang="0">
                    <a:pos x="734" y="718"/>
                  </a:cxn>
                  <a:cxn ang="0">
                    <a:pos x="780" y="705"/>
                  </a:cxn>
                  <a:cxn ang="0">
                    <a:pos x="830" y="697"/>
                  </a:cxn>
                  <a:cxn ang="0">
                    <a:pos x="879" y="694"/>
                  </a:cxn>
                  <a:cxn ang="0">
                    <a:pos x="929" y="697"/>
                  </a:cxn>
                  <a:cxn ang="0">
                    <a:pos x="976" y="705"/>
                  </a:cxn>
                  <a:cxn ang="0">
                    <a:pos x="1024" y="718"/>
                  </a:cxn>
                  <a:cxn ang="0">
                    <a:pos x="1069" y="737"/>
                  </a:cxn>
                  <a:cxn ang="0">
                    <a:pos x="1111" y="761"/>
                  </a:cxn>
                  <a:cxn ang="0">
                    <a:pos x="1149" y="789"/>
                  </a:cxn>
                  <a:cxn ang="0">
                    <a:pos x="1149" y="0"/>
                  </a:cxn>
                  <a:cxn ang="0">
                    <a:pos x="0" y="0"/>
                  </a:cxn>
                  <a:cxn ang="0">
                    <a:pos x="0" y="743"/>
                  </a:cxn>
                </a:cxnLst>
                <a:rect l="0" t="0" r="r" b="b"/>
                <a:pathLst>
                  <a:path w="1150" h="862">
                    <a:moveTo>
                      <a:pt x="0" y="743"/>
                    </a:moveTo>
                    <a:lnTo>
                      <a:pt x="41" y="775"/>
                    </a:lnTo>
                    <a:lnTo>
                      <a:pt x="87" y="802"/>
                    </a:lnTo>
                    <a:lnTo>
                      <a:pt x="135" y="823"/>
                    </a:lnTo>
                    <a:lnTo>
                      <a:pt x="188" y="840"/>
                    </a:lnTo>
                    <a:lnTo>
                      <a:pt x="241" y="852"/>
                    </a:lnTo>
                    <a:lnTo>
                      <a:pt x="295" y="860"/>
                    </a:lnTo>
                    <a:lnTo>
                      <a:pt x="351" y="861"/>
                    </a:lnTo>
                    <a:lnTo>
                      <a:pt x="405" y="856"/>
                    </a:lnTo>
                    <a:lnTo>
                      <a:pt x="459" y="847"/>
                    </a:lnTo>
                    <a:lnTo>
                      <a:pt x="512" y="832"/>
                    </a:lnTo>
                    <a:lnTo>
                      <a:pt x="562" y="813"/>
                    </a:lnTo>
                    <a:lnTo>
                      <a:pt x="609" y="789"/>
                    </a:lnTo>
                    <a:lnTo>
                      <a:pt x="648" y="761"/>
                    </a:lnTo>
                    <a:lnTo>
                      <a:pt x="689" y="737"/>
                    </a:lnTo>
                    <a:lnTo>
                      <a:pt x="734" y="718"/>
                    </a:lnTo>
                    <a:lnTo>
                      <a:pt x="780" y="705"/>
                    </a:lnTo>
                    <a:lnTo>
                      <a:pt x="830" y="697"/>
                    </a:lnTo>
                    <a:lnTo>
                      <a:pt x="879" y="694"/>
                    </a:lnTo>
                    <a:lnTo>
                      <a:pt x="929" y="697"/>
                    </a:lnTo>
                    <a:lnTo>
                      <a:pt x="976" y="705"/>
                    </a:lnTo>
                    <a:lnTo>
                      <a:pt x="1024" y="718"/>
                    </a:lnTo>
                    <a:lnTo>
                      <a:pt x="1069" y="737"/>
                    </a:lnTo>
                    <a:lnTo>
                      <a:pt x="1111" y="761"/>
                    </a:lnTo>
                    <a:lnTo>
                      <a:pt x="1149" y="789"/>
                    </a:lnTo>
                    <a:lnTo>
                      <a:pt x="1149" y="0"/>
                    </a:lnTo>
                    <a:lnTo>
                      <a:pt x="0" y="0"/>
                    </a:lnTo>
                    <a:lnTo>
                      <a:pt x="0" y="743"/>
                    </a:lnTo>
                  </a:path>
                </a:pathLst>
              </a:custGeom>
              <a:gradFill rotWithShape="0">
                <a:gsLst>
                  <a:gs pos="0">
                    <a:srgbClr val="00CCFF">
                      <a:gamma/>
                      <a:shade val="69804"/>
                      <a:invGamma/>
                    </a:srgbClr>
                  </a:gs>
                  <a:gs pos="100000">
                    <a:srgbClr val="00CCFF"/>
                  </a:gs>
                </a:gsLst>
                <a:lin ang="0" scaled="1"/>
              </a:gradFill>
              <a:ln w="12699" cap="rnd" cmpd="sng">
                <a:solidFill>
                  <a:srgbClr val="000000"/>
                </a:solidFill>
                <a:prstDash val="solid"/>
                <a:round/>
                <a:headEnd/>
                <a:tailEnd/>
              </a:ln>
              <a:effectLst/>
            </p:spPr>
            <p:txBody>
              <a:bodyPr/>
              <a:lstStyle/>
              <a:p>
                <a:endParaRPr lang="zh-CN" altLang="en-US"/>
              </a:p>
            </p:txBody>
          </p:sp>
          <p:sp>
            <p:nvSpPr>
              <p:cNvPr id="169001" name="Freeform 41"/>
              <p:cNvSpPr>
                <a:spLocks/>
              </p:cNvSpPr>
              <p:nvPr/>
            </p:nvSpPr>
            <p:spPr bwMode="auto">
              <a:xfrm>
                <a:off x="2101" y="2297"/>
                <a:ext cx="1150" cy="575"/>
              </a:xfrm>
              <a:custGeom>
                <a:avLst/>
                <a:gdLst/>
                <a:ahLst/>
                <a:cxnLst>
                  <a:cxn ang="0">
                    <a:pos x="0" y="287"/>
                  </a:cxn>
                  <a:cxn ang="0">
                    <a:pos x="3" y="257"/>
                  </a:cxn>
                  <a:cxn ang="0">
                    <a:pos x="11" y="227"/>
                  </a:cxn>
                  <a:cxn ang="0">
                    <a:pos x="27" y="198"/>
                  </a:cxn>
                  <a:cxn ang="0">
                    <a:pos x="49" y="169"/>
                  </a:cxn>
                  <a:cxn ang="0">
                    <a:pos x="76" y="144"/>
                  </a:cxn>
                  <a:cxn ang="0">
                    <a:pos x="108" y="118"/>
                  </a:cxn>
                  <a:cxn ang="0">
                    <a:pos x="147" y="94"/>
                  </a:cxn>
                  <a:cxn ang="0">
                    <a:pos x="190" y="74"/>
                  </a:cxn>
                  <a:cxn ang="0">
                    <a:pos x="236" y="55"/>
                  </a:cxn>
                  <a:cxn ang="0">
                    <a:pos x="287" y="39"/>
                  </a:cxn>
                  <a:cxn ang="0">
                    <a:pos x="340" y="24"/>
                  </a:cxn>
                  <a:cxn ang="0">
                    <a:pos x="396" y="13"/>
                  </a:cxn>
                  <a:cxn ang="0">
                    <a:pos x="455" y="7"/>
                  </a:cxn>
                  <a:cxn ang="0">
                    <a:pos x="514" y="2"/>
                  </a:cxn>
                  <a:cxn ang="0">
                    <a:pos x="574" y="0"/>
                  </a:cxn>
                  <a:cxn ang="0">
                    <a:pos x="633" y="2"/>
                  </a:cxn>
                  <a:cxn ang="0">
                    <a:pos x="692" y="7"/>
                  </a:cxn>
                  <a:cxn ang="0">
                    <a:pos x="751" y="13"/>
                  </a:cxn>
                  <a:cxn ang="0">
                    <a:pos x="807" y="24"/>
                  </a:cxn>
                  <a:cxn ang="0">
                    <a:pos x="862" y="39"/>
                  </a:cxn>
                  <a:cxn ang="0">
                    <a:pos x="911" y="55"/>
                  </a:cxn>
                  <a:cxn ang="0">
                    <a:pos x="959" y="74"/>
                  </a:cxn>
                  <a:cxn ang="0">
                    <a:pos x="1000" y="94"/>
                  </a:cxn>
                  <a:cxn ang="0">
                    <a:pos x="1039" y="118"/>
                  </a:cxn>
                  <a:cxn ang="0">
                    <a:pos x="1071" y="144"/>
                  </a:cxn>
                  <a:cxn ang="0">
                    <a:pos x="1099" y="169"/>
                  </a:cxn>
                  <a:cxn ang="0">
                    <a:pos x="1120" y="198"/>
                  </a:cxn>
                  <a:cxn ang="0">
                    <a:pos x="1136" y="227"/>
                  </a:cxn>
                  <a:cxn ang="0">
                    <a:pos x="1146" y="257"/>
                  </a:cxn>
                  <a:cxn ang="0">
                    <a:pos x="1149" y="287"/>
                  </a:cxn>
                  <a:cxn ang="0">
                    <a:pos x="1146" y="316"/>
                  </a:cxn>
                  <a:cxn ang="0">
                    <a:pos x="1136" y="346"/>
                  </a:cxn>
                  <a:cxn ang="0">
                    <a:pos x="1120" y="375"/>
                  </a:cxn>
                  <a:cxn ang="0">
                    <a:pos x="1099" y="404"/>
                  </a:cxn>
                  <a:cxn ang="0">
                    <a:pos x="1071" y="431"/>
                  </a:cxn>
                  <a:cxn ang="0">
                    <a:pos x="1039" y="455"/>
                  </a:cxn>
                  <a:cxn ang="0">
                    <a:pos x="1000" y="479"/>
                  </a:cxn>
                  <a:cxn ang="0">
                    <a:pos x="959" y="499"/>
                  </a:cxn>
                  <a:cxn ang="0">
                    <a:pos x="911" y="518"/>
                  </a:cxn>
                  <a:cxn ang="0">
                    <a:pos x="862" y="536"/>
                  </a:cxn>
                  <a:cxn ang="0">
                    <a:pos x="807" y="549"/>
                  </a:cxn>
                  <a:cxn ang="0">
                    <a:pos x="751" y="560"/>
                  </a:cxn>
                  <a:cxn ang="0">
                    <a:pos x="692" y="568"/>
                  </a:cxn>
                  <a:cxn ang="0">
                    <a:pos x="633" y="573"/>
                  </a:cxn>
                  <a:cxn ang="0">
                    <a:pos x="574" y="574"/>
                  </a:cxn>
                  <a:cxn ang="0">
                    <a:pos x="514" y="573"/>
                  </a:cxn>
                  <a:cxn ang="0">
                    <a:pos x="455" y="568"/>
                  </a:cxn>
                  <a:cxn ang="0">
                    <a:pos x="396" y="560"/>
                  </a:cxn>
                  <a:cxn ang="0">
                    <a:pos x="340" y="549"/>
                  </a:cxn>
                  <a:cxn ang="0">
                    <a:pos x="287" y="536"/>
                  </a:cxn>
                  <a:cxn ang="0">
                    <a:pos x="236" y="518"/>
                  </a:cxn>
                  <a:cxn ang="0">
                    <a:pos x="190" y="499"/>
                  </a:cxn>
                  <a:cxn ang="0">
                    <a:pos x="147" y="479"/>
                  </a:cxn>
                  <a:cxn ang="0">
                    <a:pos x="108" y="455"/>
                  </a:cxn>
                  <a:cxn ang="0">
                    <a:pos x="76" y="431"/>
                  </a:cxn>
                  <a:cxn ang="0">
                    <a:pos x="49" y="404"/>
                  </a:cxn>
                  <a:cxn ang="0">
                    <a:pos x="27" y="375"/>
                  </a:cxn>
                  <a:cxn ang="0">
                    <a:pos x="11" y="346"/>
                  </a:cxn>
                  <a:cxn ang="0">
                    <a:pos x="3" y="316"/>
                  </a:cxn>
                  <a:cxn ang="0">
                    <a:pos x="0" y="287"/>
                  </a:cxn>
                </a:cxnLst>
                <a:rect l="0" t="0" r="r" b="b"/>
                <a:pathLst>
                  <a:path w="1150" h="575">
                    <a:moveTo>
                      <a:pt x="0" y="287"/>
                    </a:moveTo>
                    <a:lnTo>
                      <a:pt x="3" y="257"/>
                    </a:lnTo>
                    <a:lnTo>
                      <a:pt x="11" y="227"/>
                    </a:lnTo>
                    <a:lnTo>
                      <a:pt x="27" y="198"/>
                    </a:lnTo>
                    <a:lnTo>
                      <a:pt x="49" y="169"/>
                    </a:lnTo>
                    <a:lnTo>
                      <a:pt x="76" y="144"/>
                    </a:lnTo>
                    <a:lnTo>
                      <a:pt x="108" y="118"/>
                    </a:lnTo>
                    <a:lnTo>
                      <a:pt x="147" y="94"/>
                    </a:lnTo>
                    <a:lnTo>
                      <a:pt x="190" y="74"/>
                    </a:lnTo>
                    <a:lnTo>
                      <a:pt x="236" y="55"/>
                    </a:lnTo>
                    <a:lnTo>
                      <a:pt x="287" y="39"/>
                    </a:lnTo>
                    <a:lnTo>
                      <a:pt x="340" y="24"/>
                    </a:lnTo>
                    <a:lnTo>
                      <a:pt x="396" y="13"/>
                    </a:lnTo>
                    <a:lnTo>
                      <a:pt x="455" y="7"/>
                    </a:lnTo>
                    <a:lnTo>
                      <a:pt x="514" y="2"/>
                    </a:lnTo>
                    <a:lnTo>
                      <a:pt x="574" y="0"/>
                    </a:lnTo>
                    <a:lnTo>
                      <a:pt x="633" y="2"/>
                    </a:lnTo>
                    <a:lnTo>
                      <a:pt x="692" y="7"/>
                    </a:lnTo>
                    <a:lnTo>
                      <a:pt x="751" y="13"/>
                    </a:lnTo>
                    <a:lnTo>
                      <a:pt x="807" y="24"/>
                    </a:lnTo>
                    <a:lnTo>
                      <a:pt x="862" y="39"/>
                    </a:lnTo>
                    <a:lnTo>
                      <a:pt x="911" y="55"/>
                    </a:lnTo>
                    <a:lnTo>
                      <a:pt x="959" y="74"/>
                    </a:lnTo>
                    <a:lnTo>
                      <a:pt x="1000" y="94"/>
                    </a:lnTo>
                    <a:lnTo>
                      <a:pt x="1039" y="118"/>
                    </a:lnTo>
                    <a:lnTo>
                      <a:pt x="1071" y="144"/>
                    </a:lnTo>
                    <a:lnTo>
                      <a:pt x="1099" y="169"/>
                    </a:lnTo>
                    <a:lnTo>
                      <a:pt x="1120" y="198"/>
                    </a:lnTo>
                    <a:lnTo>
                      <a:pt x="1136" y="227"/>
                    </a:lnTo>
                    <a:lnTo>
                      <a:pt x="1146" y="257"/>
                    </a:lnTo>
                    <a:lnTo>
                      <a:pt x="1149" y="287"/>
                    </a:lnTo>
                    <a:lnTo>
                      <a:pt x="1146" y="316"/>
                    </a:lnTo>
                    <a:lnTo>
                      <a:pt x="1136" y="346"/>
                    </a:lnTo>
                    <a:lnTo>
                      <a:pt x="1120" y="375"/>
                    </a:lnTo>
                    <a:lnTo>
                      <a:pt x="1099" y="404"/>
                    </a:lnTo>
                    <a:lnTo>
                      <a:pt x="1071" y="431"/>
                    </a:lnTo>
                    <a:lnTo>
                      <a:pt x="1039" y="455"/>
                    </a:lnTo>
                    <a:lnTo>
                      <a:pt x="1000" y="479"/>
                    </a:lnTo>
                    <a:lnTo>
                      <a:pt x="959" y="499"/>
                    </a:lnTo>
                    <a:lnTo>
                      <a:pt x="911" y="518"/>
                    </a:lnTo>
                    <a:lnTo>
                      <a:pt x="862" y="536"/>
                    </a:lnTo>
                    <a:lnTo>
                      <a:pt x="807" y="549"/>
                    </a:lnTo>
                    <a:lnTo>
                      <a:pt x="751" y="560"/>
                    </a:lnTo>
                    <a:lnTo>
                      <a:pt x="692" y="568"/>
                    </a:lnTo>
                    <a:lnTo>
                      <a:pt x="633" y="573"/>
                    </a:lnTo>
                    <a:lnTo>
                      <a:pt x="574" y="574"/>
                    </a:lnTo>
                    <a:lnTo>
                      <a:pt x="514" y="573"/>
                    </a:lnTo>
                    <a:lnTo>
                      <a:pt x="455" y="568"/>
                    </a:lnTo>
                    <a:lnTo>
                      <a:pt x="396" y="560"/>
                    </a:lnTo>
                    <a:lnTo>
                      <a:pt x="340" y="549"/>
                    </a:lnTo>
                    <a:lnTo>
                      <a:pt x="287" y="536"/>
                    </a:lnTo>
                    <a:lnTo>
                      <a:pt x="236" y="518"/>
                    </a:lnTo>
                    <a:lnTo>
                      <a:pt x="190" y="499"/>
                    </a:lnTo>
                    <a:lnTo>
                      <a:pt x="147" y="479"/>
                    </a:lnTo>
                    <a:lnTo>
                      <a:pt x="108" y="455"/>
                    </a:lnTo>
                    <a:lnTo>
                      <a:pt x="76" y="431"/>
                    </a:lnTo>
                    <a:lnTo>
                      <a:pt x="49" y="404"/>
                    </a:lnTo>
                    <a:lnTo>
                      <a:pt x="27" y="375"/>
                    </a:lnTo>
                    <a:lnTo>
                      <a:pt x="11" y="346"/>
                    </a:lnTo>
                    <a:lnTo>
                      <a:pt x="3" y="316"/>
                    </a:lnTo>
                    <a:lnTo>
                      <a:pt x="0" y="287"/>
                    </a:lnTo>
                  </a:path>
                </a:pathLst>
              </a:custGeom>
              <a:gradFill rotWithShape="0">
                <a:gsLst>
                  <a:gs pos="0">
                    <a:srgbClr val="00CCFF"/>
                  </a:gs>
                  <a:gs pos="100000">
                    <a:srgbClr val="00CCFF">
                      <a:gamma/>
                      <a:shade val="69804"/>
                      <a:invGamma/>
                    </a:srgbClr>
                  </a:gs>
                </a:gsLst>
                <a:lin ang="0" scaled="1"/>
              </a:gradFill>
              <a:ln w="12699" cap="rnd" cmpd="sng">
                <a:solidFill>
                  <a:srgbClr val="000000"/>
                </a:solidFill>
                <a:prstDash val="solid"/>
                <a:round/>
                <a:headEnd/>
                <a:tailEnd/>
              </a:ln>
              <a:effectLst/>
            </p:spPr>
            <p:txBody>
              <a:bodyPr/>
              <a:lstStyle/>
              <a:p>
                <a:endParaRPr lang="zh-CN" altLang="en-US"/>
              </a:p>
            </p:txBody>
          </p:sp>
        </p:grpSp>
        <p:grpSp>
          <p:nvGrpSpPr>
            <p:cNvPr id="4" name="Group 42"/>
            <p:cNvGrpSpPr>
              <a:grpSpLocks/>
            </p:cNvGrpSpPr>
            <p:nvPr/>
          </p:nvGrpSpPr>
          <p:grpSpPr bwMode="auto">
            <a:xfrm>
              <a:off x="2244" y="1975"/>
              <a:ext cx="863" cy="803"/>
              <a:chOff x="2244" y="1975"/>
              <a:chExt cx="863" cy="803"/>
            </a:xfrm>
          </p:grpSpPr>
          <p:sp>
            <p:nvSpPr>
              <p:cNvPr id="169003" name="Freeform 43"/>
              <p:cNvSpPr>
                <a:spLocks/>
              </p:cNvSpPr>
              <p:nvPr/>
            </p:nvSpPr>
            <p:spPr bwMode="auto">
              <a:xfrm>
                <a:off x="2244" y="2208"/>
                <a:ext cx="863" cy="570"/>
              </a:xfrm>
              <a:custGeom>
                <a:avLst/>
                <a:gdLst/>
                <a:ahLst/>
                <a:cxnLst>
                  <a:cxn ang="0">
                    <a:pos x="0" y="386"/>
                  </a:cxn>
                  <a:cxn ang="0">
                    <a:pos x="48" y="429"/>
                  </a:cxn>
                  <a:cxn ang="0">
                    <a:pos x="99" y="469"/>
                  </a:cxn>
                  <a:cxn ang="0">
                    <a:pos x="155" y="502"/>
                  </a:cxn>
                  <a:cxn ang="0">
                    <a:pos x="214" y="527"/>
                  </a:cxn>
                  <a:cxn ang="0">
                    <a:pos x="275" y="548"/>
                  </a:cxn>
                  <a:cxn ang="0">
                    <a:pos x="336" y="562"/>
                  </a:cxn>
                  <a:cxn ang="0">
                    <a:pos x="399" y="569"/>
                  </a:cxn>
                  <a:cxn ang="0">
                    <a:pos x="462" y="569"/>
                  </a:cxn>
                  <a:cxn ang="0">
                    <a:pos x="525" y="562"/>
                  </a:cxn>
                  <a:cxn ang="0">
                    <a:pos x="588" y="548"/>
                  </a:cxn>
                  <a:cxn ang="0">
                    <a:pos x="648" y="527"/>
                  </a:cxn>
                  <a:cxn ang="0">
                    <a:pos x="706" y="502"/>
                  </a:cxn>
                  <a:cxn ang="0">
                    <a:pos x="762" y="469"/>
                  </a:cxn>
                  <a:cxn ang="0">
                    <a:pos x="813" y="429"/>
                  </a:cxn>
                  <a:cxn ang="0">
                    <a:pos x="862" y="386"/>
                  </a:cxn>
                  <a:cxn ang="0">
                    <a:pos x="862" y="0"/>
                  </a:cxn>
                  <a:cxn ang="0">
                    <a:pos x="0" y="0"/>
                  </a:cxn>
                  <a:cxn ang="0">
                    <a:pos x="0" y="386"/>
                  </a:cxn>
                </a:cxnLst>
                <a:rect l="0" t="0" r="r" b="b"/>
                <a:pathLst>
                  <a:path w="863" h="570">
                    <a:moveTo>
                      <a:pt x="0" y="386"/>
                    </a:moveTo>
                    <a:lnTo>
                      <a:pt x="48" y="429"/>
                    </a:lnTo>
                    <a:lnTo>
                      <a:pt x="99" y="469"/>
                    </a:lnTo>
                    <a:lnTo>
                      <a:pt x="155" y="502"/>
                    </a:lnTo>
                    <a:lnTo>
                      <a:pt x="214" y="527"/>
                    </a:lnTo>
                    <a:lnTo>
                      <a:pt x="275" y="548"/>
                    </a:lnTo>
                    <a:lnTo>
                      <a:pt x="336" y="562"/>
                    </a:lnTo>
                    <a:lnTo>
                      <a:pt x="399" y="569"/>
                    </a:lnTo>
                    <a:lnTo>
                      <a:pt x="462" y="569"/>
                    </a:lnTo>
                    <a:lnTo>
                      <a:pt x="525" y="562"/>
                    </a:lnTo>
                    <a:lnTo>
                      <a:pt x="588" y="548"/>
                    </a:lnTo>
                    <a:lnTo>
                      <a:pt x="648" y="527"/>
                    </a:lnTo>
                    <a:lnTo>
                      <a:pt x="706" y="502"/>
                    </a:lnTo>
                    <a:lnTo>
                      <a:pt x="762" y="469"/>
                    </a:lnTo>
                    <a:lnTo>
                      <a:pt x="813" y="429"/>
                    </a:lnTo>
                    <a:lnTo>
                      <a:pt x="862" y="386"/>
                    </a:lnTo>
                    <a:lnTo>
                      <a:pt x="862" y="0"/>
                    </a:lnTo>
                    <a:lnTo>
                      <a:pt x="0" y="0"/>
                    </a:lnTo>
                    <a:lnTo>
                      <a:pt x="0" y="386"/>
                    </a:lnTo>
                  </a:path>
                </a:pathLst>
              </a:custGeom>
              <a:gradFill rotWithShape="0">
                <a:gsLst>
                  <a:gs pos="0">
                    <a:srgbClr val="FF9900"/>
                  </a:gs>
                  <a:gs pos="100000">
                    <a:srgbClr val="FF9900">
                      <a:gamma/>
                      <a:shade val="69804"/>
                      <a:invGamma/>
                    </a:srgbClr>
                  </a:gs>
                </a:gsLst>
                <a:lin ang="0" scaled="1"/>
              </a:gradFill>
              <a:ln w="12699" cap="rnd" cmpd="sng">
                <a:solidFill>
                  <a:srgbClr val="000000"/>
                </a:solidFill>
                <a:prstDash val="solid"/>
                <a:round/>
                <a:headEnd/>
                <a:tailEnd/>
              </a:ln>
              <a:effectLst/>
            </p:spPr>
            <p:txBody>
              <a:bodyPr/>
              <a:lstStyle/>
              <a:p>
                <a:endParaRPr lang="zh-CN" altLang="en-US"/>
              </a:p>
            </p:txBody>
          </p:sp>
          <p:sp>
            <p:nvSpPr>
              <p:cNvPr id="169004" name="Freeform 44"/>
              <p:cNvSpPr>
                <a:spLocks/>
              </p:cNvSpPr>
              <p:nvPr/>
            </p:nvSpPr>
            <p:spPr bwMode="auto">
              <a:xfrm>
                <a:off x="2244" y="1975"/>
                <a:ext cx="863" cy="437"/>
              </a:xfrm>
              <a:custGeom>
                <a:avLst/>
                <a:gdLst/>
                <a:ahLst/>
                <a:cxnLst>
                  <a:cxn ang="0">
                    <a:pos x="0" y="216"/>
                  </a:cxn>
                  <a:cxn ang="0">
                    <a:pos x="4" y="191"/>
                  </a:cxn>
                  <a:cxn ang="0">
                    <a:pos x="12" y="165"/>
                  </a:cxn>
                  <a:cxn ang="0">
                    <a:pos x="27" y="140"/>
                  </a:cxn>
                  <a:cxn ang="0">
                    <a:pos x="50" y="115"/>
                  </a:cxn>
                  <a:cxn ang="0">
                    <a:pos x="75" y="93"/>
                  </a:cxn>
                  <a:cxn ang="0">
                    <a:pos x="109" y="72"/>
                  </a:cxn>
                  <a:cxn ang="0">
                    <a:pos x="146" y="53"/>
                  </a:cxn>
                  <a:cxn ang="0">
                    <a:pos x="185" y="38"/>
                  </a:cxn>
                  <a:cxn ang="0">
                    <a:pos x="230" y="24"/>
                  </a:cxn>
                  <a:cxn ang="0">
                    <a:pos x="278" y="14"/>
                  </a:cxn>
                  <a:cxn ang="0">
                    <a:pos x="328" y="5"/>
                  </a:cxn>
                  <a:cxn ang="0">
                    <a:pos x="379" y="2"/>
                  </a:cxn>
                  <a:cxn ang="0">
                    <a:pos x="431" y="0"/>
                  </a:cxn>
                  <a:cxn ang="0">
                    <a:pos x="482" y="2"/>
                  </a:cxn>
                  <a:cxn ang="0">
                    <a:pos x="533" y="5"/>
                  </a:cxn>
                  <a:cxn ang="0">
                    <a:pos x="583" y="14"/>
                  </a:cxn>
                  <a:cxn ang="0">
                    <a:pos x="631" y="24"/>
                  </a:cxn>
                  <a:cxn ang="0">
                    <a:pos x="675" y="38"/>
                  </a:cxn>
                  <a:cxn ang="0">
                    <a:pos x="717" y="53"/>
                  </a:cxn>
                  <a:cxn ang="0">
                    <a:pos x="754" y="72"/>
                  </a:cxn>
                  <a:cxn ang="0">
                    <a:pos x="786" y="93"/>
                  </a:cxn>
                  <a:cxn ang="0">
                    <a:pos x="813" y="115"/>
                  </a:cxn>
                  <a:cxn ang="0">
                    <a:pos x="833" y="140"/>
                  </a:cxn>
                  <a:cxn ang="0">
                    <a:pos x="849" y="165"/>
                  </a:cxn>
                  <a:cxn ang="0">
                    <a:pos x="859" y="191"/>
                  </a:cxn>
                  <a:cxn ang="0">
                    <a:pos x="862" y="216"/>
                  </a:cxn>
                  <a:cxn ang="0">
                    <a:pos x="859" y="242"/>
                  </a:cxn>
                  <a:cxn ang="0">
                    <a:pos x="849" y="268"/>
                  </a:cxn>
                  <a:cxn ang="0">
                    <a:pos x="833" y="294"/>
                  </a:cxn>
                  <a:cxn ang="0">
                    <a:pos x="813" y="318"/>
                  </a:cxn>
                  <a:cxn ang="0">
                    <a:pos x="786" y="341"/>
                  </a:cxn>
                  <a:cxn ang="0">
                    <a:pos x="754" y="361"/>
                  </a:cxn>
                  <a:cxn ang="0">
                    <a:pos x="717" y="380"/>
                  </a:cxn>
                  <a:cxn ang="0">
                    <a:pos x="675" y="396"/>
                  </a:cxn>
                  <a:cxn ang="0">
                    <a:pos x="631" y="410"/>
                  </a:cxn>
                  <a:cxn ang="0">
                    <a:pos x="583" y="421"/>
                  </a:cxn>
                  <a:cxn ang="0">
                    <a:pos x="533" y="428"/>
                  </a:cxn>
                  <a:cxn ang="0">
                    <a:pos x="482" y="433"/>
                  </a:cxn>
                  <a:cxn ang="0">
                    <a:pos x="431" y="436"/>
                  </a:cxn>
                  <a:cxn ang="0">
                    <a:pos x="379" y="433"/>
                  </a:cxn>
                  <a:cxn ang="0">
                    <a:pos x="328" y="428"/>
                  </a:cxn>
                  <a:cxn ang="0">
                    <a:pos x="278" y="421"/>
                  </a:cxn>
                  <a:cxn ang="0">
                    <a:pos x="230" y="410"/>
                  </a:cxn>
                  <a:cxn ang="0">
                    <a:pos x="185" y="396"/>
                  </a:cxn>
                  <a:cxn ang="0">
                    <a:pos x="146" y="380"/>
                  </a:cxn>
                  <a:cxn ang="0">
                    <a:pos x="109" y="361"/>
                  </a:cxn>
                  <a:cxn ang="0">
                    <a:pos x="75" y="341"/>
                  </a:cxn>
                  <a:cxn ang="0">
                    <a:pos x="50" y="318"/>
                  </a:cxn>
                  <a:cxn ang="0">
                    <a:pos x="27" y="294"/>
                  </a:cxn>
                  <a:cxn ang="0">
                    <a:pos x="12" y="268"/>
                  </a:cxn>
                  <a:cxn ang="0">
                    <a:pos x="4" y="242"/>
                  </a:cxn>
                  <a:cxn ang="0">
                    <a:pos x="0" y="216"/>
                  </a:cxn>
                </a:cxnLst>
                <a:rect l="0" t="0" r="r" b="b"/>
                <a:pathLst>
                  <a:path w="863" h="437">
                    <a:moveTo>
                      <a:pt x="0" y="216"/>
                    </a:moveTo>
                    <a:lnTo>
                      <a:pt x="4" y="191"/>
                    </a:lnTo>
                    <a:lnTo>
                      <a:pt x="12" y="165"/>
                    </a:lnTo>
                    <a:lnTo>
                      <a:pt x="27" y="140"/>
                    </a:lnTo>
                    <a:lnTo>
                      <a:pt x="50" y="115"/>
                    </a:lnTo>
                    <a:lnTo>
                      <a:pt x="75" y="93"/>
                    </a:lnTo>
                    <a:lnTo>
                      <a:pt x="109" y="72"/>
                    </a:lnTo>
                    <a:lnTo>
                      <a:pt x="146" y="53"/>
                    </a:lnTo>
                    <a:lnTo>
                      <a:pt x="185" y="38"/>
                    </a:lnTo>
                    <a:lnTo>
                      <a:pt x="230" y="24"/>
                    </a:lnTo>
                    <a:lnTo>
                      <a:pt x="278" y="14"/>
                    </a:lnTo>
                    <a:lnTo>
                      <a:pt x="328" y="5"/>
                    </a:lnTo>
                    <a:lnTo>
                      <a:pt x="379" y="2"/>
                    </a:lnTo>
                    <a:lnTo>
                      <a:pt x="431" y="0"/>
                    </a:lnTo>
                    <a:lnTo>
                      <a:pt x="482" y="2"/>
                    </a:lnTo>
                    <a:lnTo>
                      <a:pt x="533" y="5"/>
                    </a:lnTo>
                    <a:lnTo>
                      <a:pt x="583" y="14"/>
                    </a:lnTo>
                    <a:lnTo>
                      <a:pt x="631" y="24"/>
                    </a:lnTo>
                    <a:lnTo>
                      <a:pt x="675" y="38"/>
                    </a:lnTo>
                    <a:lnTo>
                      <a:pt x="717" y="53"/>
                    </a:lnTo>
                    <a:lnTo>
                      <a:pt x="754" y="72"/>
                    </a:lnTo>
                    <a:lnTo>
                      <a:pt x="786" y="93"/>
                    </a:lnTo>
                    <a:lnTo>
                      <a:pt x="813" y="115"/>
                    </a:lnTo>
                    <a:lnTo>
                      <a:pt x="833" y="140"/>
                    </a:lnTo>
                    <a:lnTo>
                      <a:pt x="849" y="165"/>
                    </a:lnTo>
                    <a:lnTo>
                      <a:pt x="859" y="191"/>
                    </a:lnTo>
                    <a:lnTo>
                      <a:pt x="862" y="216"/>
                    </a:lnTo>
                    <a:lnTo>
                      <a:pt x="859" y="242"/>
                    </a:lnTo>
                    <a:lnTo>
                      <a:pt x="849" y="268"/>
                    </a:lnTo>
                    <a:lnTo>
                      <a:pt x="833" y="294"/>
                    </a:lnTo>
                    <a:lnTo>
                      <a:pt x="813" y="318"/>
                    </a:lnTo>
                    <a:lnTo>
                      <a:pt x="786" y="341"/>
                    </a:lnTo>
                    <a:lnTo>
                      <a:pt x="754" y="361"/>
                    </a:lnTo>
                    <a:lnTo>
                      <a:pt x="717" y="380"/>
                    </a:lnTo>
                    <a:lnTo>
                      <a:pt x="675" y="396"/>
                    </a:lnTo>
                    <a:lnTo>
                      <a:pt x="631" y="410"/>
                    </a:lnTo>
                    <a:lnTo>
                      <a:pt x="583" y="421"/>
                    </a:lnTo>
                    <a:lnTo>
                      <a:pt x="533" y="428"/>
                    </a:lnTo>
                    <a:lnTo>
                      <a:pt x="482" y="433"/>
                    </a:lnTo>
                    <a:lnTo>
                      <a:pt x="431" y="436"/>
                    </a:lnTo>
                    <a:lnTo>
                      <a:pt x="379" y="433"/>
                    </a:lnTo>
                    <a:lnTo>
                      <a:pt x="328" y="428"/>
                    </a:lnTo>
                    <a:lnTo>
                      <a:pt x="278" y="421"/>
                    </a:lnTo>
                    <a:lnTo>
                      <a:pt x="230" y="410"/>
                    </a:lnTo>
                    <a:lnTo>
                      <a:pt x="185" y="396"/>
                    </a:lnTo>
                    <a:lnTo>
                      <a:pt x="146" y="380"/>
                    </a:lnTo>
                    <a:lnTo>
                      <a:pt x="109" y="361"/>
                    </a:lnTo>
                    <a:lnTo>
                      <a:pt x="75" y="341"/>
                    </a:lnTo>
                    <a:lnTo>
                      <a:pt x="50" y="318"/>
                    </a:lnTo>
                    <a:lnTo>
                      <a:pt x="27" y="294"/>
                    </a:lnTo>
                    <a:lnTo>
                      <a:pt x="12" y="268"/>
                    </a:lnTo>
                    <a:lnTo>
                      <a:pt x="4" y="242"/>
                    </a:lnTo>
                    <a:lnTo>
                      <a:pt x="0" y="216"/>
                    </a:lnTo>
                  </a:path>
                </a:pathLst>
              </a:custGeom>
              <a:gradFill rotWithShape="0">
                <a:gsLst>
                  <a:gs pos="0">
                    <a:srgbClr val="FF9900">
                      <a:gamma/>
                      <a:shade val="69804"/>
                      <a:invGamma/>
                    </a:srgbClr>
                  </a:gs>
                  <a:gs pos="100000">
                    <a:srgbClr val="FF9900"/>
                  </a:gs>
                </a:gsLst>
                <a:lin ang="0" scaled="1"/>
              </a:gradFill>
              <a:ln w="12699" cap="rnd" cmpd="sng">
                <a:solidFill>
                  <a:srgbClr val="000000"/>
                </a:solidFill>
                <a:prstDash val="solid"/>
                <a:round/>
                <a:headEnd/>
                <a:tailEnd/>
              </a:ln>
              <a:effectLst/>
            </p:spPr>
            <p:txBody>
              <a:bodyPr/>
              <a:lstStyle/>
              <a:p>
                <a:endParaRPr lang="zh-CN" altLang="en-US"/>
              </a:p>
            </p:txBody>
          </p:sp>
        </p:grpSp>
        <p:grpSp>
          <p:nvGrpSpPr>
            <p:cNvPr id="5" name="Group 45"/>
            <p:cNvGrpSpPr>
              <a:grpSpLocks/>
            </p:cNvGrpSpPr>
            <p:nvPr/>
          </p:nvGrpSpPr>
          <p:grpSpPr bwMode="auto">
            <a:xfrm>
              <a:off x="2741" y="1765"/>
              <a:ext cx="219" cy="492"/>
              <a:chOff x="2741" y="1765"/>
              <a:chExt cx="219" cy="492"/>
            </a:xfrm>
          </p:grpSpPr>
          <p:sp>
            <p:nvSpPr>
              <p:cNvPr id="169006" name="Freeform 46"/>
              <p:cNvSpPr>
                <a:spLocks/>
              </p:cNvSpPr>
              <p:nvPr/>
            </p:nvSpPr>
            <p:spPr bwMode="auto">
              <a:xfrm>
                <a:off x="2741" y="1845"/>
                <a:ext cx="219" cy="412"/>
              </a:xfrm>
              <a:custGeom>
                <a:avLst/>
                <a:gdLst/>
                <a:ahLst/>
                <a:cxnLst>
                  <a:cxn ang="0">
                    <a:pos x="0" y="353"/>
                  </a:cxn>
                  <a:cxn ang="0">
                    <a:pos x="11" y="371"/>
                  </a:cxn>
                  <a:cxn ang="0">
                    <a:pos x="27" y="384"/>
                  </a:cxn>
                  <a:cxn ang="0">
                    <a:pos x="48" y="397"/>
                  </a:cxn>
                  <a:cxn ang="0">
                    <a:pos x="70" y="407"/>
                  </a:cxn>
                  <a:cxn ang="0">
                    <a:pos x="95" y="411"/>
                  </a:cxn>
                  <a:cxn ang="0">
                    <a:pos x="121" y="411"/>
                  </a:cxn>
                  <a:cxn ang="0">
                    <a:pos x="146" y="407"/>
                  </a:cxn>
                  <a:cxn ang="0">
                    <a:pos x="168" y="397"/>
                  </a:cxn>
                  <a:cxn ang="0">
                    <a:pos x="189" y="384"/>
                  </a:cxn>
                  <a:cxn ang="0">
                    <a:pos x="205" y="371"/>
                  </a:cxn>
                  <a:cxn ang="0">
                    <a:pos x="218" y="353"/>
                  </a:cxn>
                  <a:cxn ang="0">
                    <a:pos x="218" y="0"/>
                  </a:cxn>
                  <a:cxn ang="0">
                    <a:pos x="0" y="0"/>
                  </a:cxn>
                  <a:cxn ang="0">
                    <a:pos x="0" y="353"/>
                  </a:cxn>
                </a:cxnLst>
                <a:rect l="0" t="0" r="r" b="b"/>
                <a:pathLst>
                  <a:path w="219" h="412">
                    <a:moveTo>
                      <a:pt x="0" y="353"/>
                    </a:moveTo>
                    <a:lnTo>
                      <a:pt x="11" y="371"/>
                    </a:lnTo>
                    <a:lnTo>
                      <a:pt x="27" y="384"/>
                    </a:lnTo>
                    <a:lnTo>
                      <a:pt x="48" y="397"/>
                    </a:lnTo>
                    <a:lnTo>
                      <a:pt x="70" y="407"/>
                    </a:lnTo>
                    <a:lnTo>
                      <a:pt x="95" y="411"/>
                    </a:lnTo>
                    <a:lnTo>
                      <a:pt x="121" y="411"/>
                    </a:lnTo>
                    <a:lnTo>
                      <a:pt x="146" y="407"/>
                    </a:lnTo>
                    <a:lnTo>
                      <a:pt x="168" y="397"/>
                    </a:lnTo>
                    <a:lnTo>
                      <a:pt x="189" y="384"/>
                    </a:lnTo>
                    <a:lnTo>
                      <a:pt x="205" y="371"/>
                    </a:lnTo>
                    <a:lnTo>
                      <a:pt x="218" y="353"/>
                    </a:lnTo>
                    <a:lnTo>
                      <a:pt x="218" y="0"/>
                    </a:lnTo>
                    <a:lnTo>
                      <a:pt x="0" y="0"/>
                    </a:lnTo>
                    <a:lnTo>
                      <a:pt x="0" y="353"/>
                    </a:lnTo>
                  </a:path>
                </a:pathLst>
              </a:custGeom>
              <a:gradFill rotWithShape="0">
                <a:gsLst>
                  <a:gs pos="0">
                    <a:srgbClr val="FFCC00"/>
                  </a:gs>
                  <a:gs pos="100000">
                    <a:srgbClr val="FFCC00">
                      <a:gamma/>
                      <a:shade val="69804"/>
                      <a:invGamma/>
                    </a:srgbClr>
                  </a:gs>
                </a:gsLst>
                <a:lin ang="0" scaled="1"/>
              </a:gradFill>
              <a:ln w="12699" cap="rnd" cmpd="sng">
                <a:solidFill>
                  <a:srgbClr val="000000"/>
                </a:solidFill>
                <a:prstDash val="solid"/>
                <a:round/>
                <a:headEnd/>
                <a:tailEnd/>
              </a:ln>
              <a:effectLst/>
            </p:spPr>
            <p:txBody>
              <a:bodyPr/>
              <a:lstStyle/>
              <a:p>
                <a:endParaRPr lang="zh-CN" altLang="en-US"/>
              </a:p>
            </p:txBody>
          </p:sp>
          <p:sp>
            <p:nvSpPr>
              <p:cNvPr id="169007" name="Freeform 47"/>
              <p:cNvSpPr>
                <a:spLocks/>
              </p:cNvSpPr>
              <p:nvPr/>
            </p:nvSpPr>
            <p:spPr bwMode="auto">
              <a:xfrm>
                <a:off x="2741" y="1765"/>
                <a:ext cx="219" cy="141"/>
              </a:xfrm>
              <a:custGeom>
                <a:avLst/>
                <a:gdLst/>
                <a:ahLst/>
                <a:cxnLst>
                  <a:cxn ang="0">
                    <a:pos x="0" y="70"/>
                  </a:cxn>
                  <a:cxn ang="0">
                    <a:pos x="3" y="51"/>
                  </a:cxn>
                  <a:cxn ang="0">
                    <a:pos x="11" y="36"/>
                  </a:cxn>
                  <a:cxn ang="0">
                    <a:pos x="27" y="22"/>
                  </a:cxn>
                  <a:cxn ang="0">
                    <a:pos x="46" y="12"/>
                  </a:cxn>
                  <a:cxn ang="0">
                    <a:pos x="69" y="3"/>
                  </a:cxn>
                  <a:cxn ang="0">
                    <a:pos x="95" y="0"/>
                  </a:cxn>
                  <a:cxn ang="0">
                    <a:pos x="121" y="0"/>
                  </a:cxn>
                  <a:cxn ang="0">
                    <a:pos x="147" y="3"/>
                  </a:cxn>
                  <a:cxn ang="0">
                    <a:pos x="170" y="12"/>
                  </a:cxn>
                  <a:cxn ang="0">
                    <a:pos x="190" y="22"/>
                  </a:cxn>
                  <a:cxn ang="0">
                    <a:pos x="205" y="36"/>
                  </a:cxn>
                  <a:cxn ang="0">
                    <a:pos x="214" y="51"/>
                  </a:cxn>
                  <a:cxn ang="0">
                    <a:pos x="218" y="70"/>
                  </a:cxn>
                  <a:cxn ang="0">
                    <a:pos x="214" y="86"/>
                  </a:cxn>
                  <a:cxn ang="0">
                    <a:pos x="205" y="101"/>
                  </a:cxn>
                  <a:cxn ang="0">
                    <a:pos x="190" y="115"/>
                  </a:cxn>
                  <a:cxn ang="0">
                    <a:pos x="170" y="127"/>
                  </a:cxn>
                  <a:cxn ang="0">
                    <a:pos x="147" y="135"/>
                  </a:cxn>
                  <a:cxn ang="0">
                    <a:pos x="121" y="140"/>
                  </a:cxn>
                  <a:cxn ang="0">
                    <a:pos x="95" y="140"/>
                  </a:cxn>
                  <a:cxn ang="0">
                    <a:pos x="69" y="135"/>
                  </a:cxn>
                  <a:cxn ang="0">
                    <a:pos x="46" y="127"/>
                  </a:cxn>
                  <a:cxn ang="0">
                    <a:pos x="27" y="115"/>
                  </a:cxn>
                  <a:cxn ang="0">
                    <a:pos x="11" y="101"/>
                  </a:cxn>
                  <a:cxn ang="0">
                    <a:pos x="3" y="86"/>
                  </a:cxn>
                  <a:cxn ang="0">
                    <a:pos x="0" y="70"/>
                  </a:cxn>
                </a:cxnLst>
                <a:rect l="0" t="0" r="r" b="b"/>
                <a:pathLst>
                  <a:path w="219" h="141">
                    <a:moveTo>
                      <a:pt x="0" y="70"/>
                    </a:moveTo>
                    <a:lnTo>
                      <a:pt x="3" y="51"/>
                    </a:lnTo>
                    <a:lnTo>
                      <a:pt x="11" y="36"/>
                    </a:lnTo>
                    <a:lnTo>
                      <a:pt x="27" y="22"/>
                    </a:lnTo>
                    <a:lnTo>
                      <a:pt x="46" y="12"/>
                    </a:lnTo>
                    <a:lnTo>
                      <a:pt x="69" y="3"/>
                    </a:lnTo>
                    <a:lnTo>
                      <a:pt x="95" y="0"/>
                    </a:lnTo>
                    <a:lnTo>
                      <a:pt x="121" y="0"/>
                    </a:lnTo>
                    <a:lnTo>
                      <a:pt x="147" y="3"/>
                    </a:lnTo>
                    <a:lnTo>
                      <a:pt x="170" y="12"/>
                    </a:lnTo>
                    <a:lnTo>
                      <a:pt x="190" y="22"/>
                    </a:lnTo>
                    <a:lnTo>
                      <a:pt x="205" y="36"/>
                    </a:lnTo>
                    <a:lnTo>
                      <a:pt x="214" y="51"/>
                    </a:lnTo>
                    <a:lnTo>
                      <a:pt x="218" y="70"/>
                    </a:lnTo>
                    <a:lnTo>
                      <a:pt x="214" y="86"/>
                    </a:lnTo>
                    <a:lnTo>
                      <a:pt x="205" y="101"/>
                    </a:lnTo>
                    <a:lnTo>
                      <a:pt x="190" y="115"/>
                    </a:lnTo>
                    <a:lnTo>
                      <a:pt x="170" y="127"/>
                    </a:lnTo>
                    <a:lnTo>
                      <a:pt x="147" y="135"/>
                    </a:lnTo>
                    <a:lnTo>
                      <a:pt x="121" y="140"/>
                    </a:lnTo>
                    <a:lnTo>
                      <a:pt x="95" y="140"/>
                    </a:lnTo>
                    <a:lnTo>
                      <a:pt x="69" y="135"/>
                    </a:lnTo>
                    <a:lnTo>
                      <a:pt x="46" y="127"/>
                    </a:lnTo>
                    <a:lnTo>
                      <a:pt x="27" y="115"/>
                    </a:lnTo>
                    <a:lnTo>
                      <a:pt x="11" y="101"/>
                    </a:lnTo>
                    <a:lnTo>
                      <a:pt x="3" y="86"/>
                    </a:lnTo>
                    <a:lnTo>
                      <a:pt x="0" y="70"/>
                    </a:lnTo>
                  </a:path>
                </a:pathLst>
              </a:custGeom>
              <a:gradFill rotWithShape="0">
                <a:gsLst>
                  <a:gs pos="0">
                    <a:srgbClr val="FFCC00">
                      <a:gamma/>
                      <a:shade val="69804"/>
                      <a:invGamma/>
                    </a:srgbClr>
                  </a:gs>
                  <a:gs pos="100000">
                    <a:srgbClr val="FFCC00"/>
                  </a:gs>
                </a:gsLst>
                <a:lin ang="0" scaled="1"/>
              </a:gradFill>
              <a:ln w="12699" cap="rnd" cmpd="sng">
                <a:solidFill>
                  <a:srgbClr val="000000"/>
                </a:solidFill>
                <a:prstDash val="solid"/>
                <a:round/>
                <a:headEnd/>
                <a:tailEnd/>
              </a:ln>
              <a:effectLst/>
            </p:spPr>
            <p:txBody>
              <a:bodyPr/>
              <a:lstStyle/>
              <a:p>
                <a:endParaRPr lang="zh-CN" altLang="en-US"/>
              </a:p>
            </p:txBody>
          </p:sp>
        </p:grpSp>
        <p:grpSp>
          <p:nvGrpSpPr>
            <p:cNvPr id="6" name="Group 48"/>
            <p:cNvGrpSpPr>
              <a:grpSpLocks/>
            </p:cNvGrpSpPr>
            <p:nvPr/>
          </p:nvGrpSpPr>
          <p:grpSpPr bwMode="auto">
            <a:xfrm>
              <a:off x="2388" y="1772"/>
              <a:ext cx="219" cy="492"/>
              <a:chOff x="2388" y="1772"/>
              <a:chExt cx="219" cy="492"/>
            </a:xfrm>
          </p:grpSpPr>
          <p:sp>
            <p:nvSpPr>
              <p:cNvPr id="169009" name="Freeform 49"/>
              <p:cNvSpPr>
                <a:spLocks/>
              </p:cNvSpPr>
              <p:nvPr/>
            </p:nvSpPr>
            <p:spPr bwMode="auto">
              <a:xfrm>
                <a:off x="2388" y="1852"/>
                <a:ext cx="219" cy="412"/>
              </a:xfrm>
              <a:custGeom>
                <a:avLst/>
                <a:gdLst/>
                <a:ahLst/>
                <a:cxnLst>
                  <a:cxn ang="0">
                    <a:pos x="0" y="353"/>
                  </a:cxn>
                  <a:cxn ang="0">
                    <a:pos x="11" y="371"/>
                  </a:cxn>
                  <a:cxn ang="0">
                    <a:pos x="27" y="384"/>
                  </a:cxn>
                  <a:cxn ang="0">
                    <a:pos x="48" y="397"/>
                  </a:cxn>
                  <a:cxn ang="0">
                    <a:pos x="70" y="407"/>
                  </a:cxn>
                  <a:cxn ang="0">
                    <a:pos x="95" y="411"/>
                  </a:cxn>
                  <a:cxn ang="0">
                    <a:pos x="121" y="411"/>
                  </a:cxn>
                  <a:cxn ang="0">
                    <a:pos x="146" y="407"/>
                  </a:cxn>
                  <a:cxn ang="0">
                    <a:pos x="168" y="397"/>
                  </a:cxn>
                  <a:cxn ang="0">
                    <a:pos x="189" y="384"/>
                  </a:cxn>
                  <a:cxn ang="0">
                    <a:pos x="205" y="371"/>
                  </a:cxn>
                  <a:cxn ang="0">
                    <a:pos x="218" y="353"/>
                  </a:cxn>
                  <a:cxn ang="0">
                    <a:pos x="218" y="0"/>
                  </a:cxn>
                  <a:cxn ang="0">
                    <a:pos x="0" y="0"/>
                  </a:cxn>
                  <a:cxn ang="0">
                    <a:pos x="0" y="353"/>
                  </a:cxn>
                </a:cxnLst>
                <a:rect l="0" t="0" r="r" b="b"/>
                <a:pathLst>
                  <a:path w="219" h="412">
                    <a:moveTo>
                      <a:pt x="0" y="353"/>
                    </a:moveTo>
                    <a:lnTo>
                      <a:pt x="11" y="371"/>
                    </a:lnTo>
                    <a:lnTo>
                      <a:pt x="27" y="384"/>
                    </a:lnTo>
                    <a:lnTo>
                      <a:pt x="48" y="397"/>
                    </a:lnTo>
                    <a:lnTo>
                      <a:pt x="70" y="407"/>
                    </a:lnTo>
                    <a:lnTo>
                      <a:pt x="95" y="411"/>
                    </a:lnTo>
                    <a:lnTo>
                      <a:pt x="121" y="411"/>
                    </a:lnTo>
                    <a:lnTo>
                      <a:pt x="146" y="407"/>
                    </a:lnTo>
                    <a:lnTo>
                      <a:pt x="168" y="397"/>
                    </a:lnTo>
                    <a:lnTo>
                      <a:pt x="189" y="384"/>
                    </a:lnTo>
                    <a:lnTo>
                      <a:pt x="205" y="371"/>
                    </a:lnTo>
                    <a:lnTo>
                      <a:pt x="218" y="353"/>
                    </a:lnTo>
                    <a:lnTo>
                      <a:pt x="218" y="0"/>
                    </a:lnTo>
                    <a:lnTo>
                      <a:pt x="0" y="0"/>
                    </a:lnTo>
                    <a:lnTo>
                      <a:pt x="0" y="353"/>
                    </a:lnTo>
                  </a:path>
                </a:pathLst>
              </a:custGeom>
              <a:gradFill rotWithShape="0">
                <a:gsLst>
                  <a:gs pos="0">
                    <a:srgbClr val="FFCC00"/>
                  </a:gs>
                  <a:gs pos="100000">
                    <a:srgbClr val="FFCC00">
                      <a:gamma/>
                      <a:shade val="69804"/>
                      <a:invGamma/>
                    </a:srgbClr>
                  </a:gs>
                </a:gsLst>
                <a:lin ang="0" scaled="1"/>
              </a:gradFill>
              <a:ln w="12699" cap="rnd" cmpd="sng">
                <a:solidFill>
                  <a:srgbClr val="000000"/>
                </a:solidFill>
                <a:prstDash val="solid"/>
                <a:round/>
                <a:headEnd/>
                <a:tailEnd/>
              </a:ln>
              <a:effectLst/>
            </p:spPr>
            <p:txBody>
              <a:bodyPr/>
              <a:lstStyle/>
              <a:p>
                <a:endParaRPr lang="zh-CN" altLang="en-US"/>
              </a:p>
            </p:txBody>
          </p:sp>
          <p:sp>
            <p:nvSpPr>
              <p:cNvPr id="169010" name="Freeform 50"/>
              <p:cNvSpPr>
                <a:spLocks/>
              </p:cNvSpPr>
              <p:nvPr/>
            </p:nvSpPr>
            <p:spPr bwMode="auto">
              <a:xfrm>
                <a:off x="2388" y="1772"/>
                <a:ext cx="219" cy="141"/>
              </a:xfrm>
              <a:custGeom>
                <a:avLst/>
                <a:gdLst/>
                <a:ahLst/>
                <a:cxnLst>
                  <a:cxn ang="0">
                    <a:pos x="0" y="70"/>
                  </a:cxn>
                  <a:cxn ang="0">
                    <a:pos x="3" y="51"/>
                  </a:cxn>
                  <a:cxn ang="0">
                    <a:pos x="11" y="36"/>
                  </a:cxn>
                  <a:cxn ang="0">
                    <a:pos x="27" y="22"/>
                  </a:cxn>
                  <a:cxn ang="0">
                    <a:pos x="46" y="12"/>
                  </a:cxn>
                  <a:cxn ang="0">
                    <a:pos x="69" y="3"/>
                  </a:cxn>
                  <a:cxn ang="0">
                    <a:pos x="95" y="0"/>
                  </a:cxn>
                  <a:cxn ang="0">
                    <a:pos x="121" y="0"/>
                  </a:cxn>
                  <a:cxn ang="0">
                    <a:pos x="147" y="3"/>
                  </a:cxn>
                  <a:cxn ang="0">
                    <a:pos x="170" y="12"/>
                  </a:cxn>
                  <a:cxn ang="0">
                    <a:pos x="190" y="22"/>
                  </a:cxn>
                  <a:cxn ang="0">
                    <a:pos x="205" y="36"/>
                  </a:cxn>
                  <a:cxn ang="0">
                    <a:pos x="214" y="51"/>
                  </a:cxn>
                  <a:cxn ang="0">
                    <a:pos x="218" y="70"/>
                  </a:cxn>
                  <a:cxn ang="0">
                    <a:pos x="214" y="86"/>
                  </a:cxn>
                  <a:cxn ang="0">
                    <a:pos x="205" y="101"/>
                  </a:cxn>
                  <a:cxn ang="0">
                    <a:pos x="190" y="115"/>
                  </a:cxn>
                  <a:cxn ang="0">
                    <a:pos x="170" y="127"/>
                  </a:cxn>
                  <a:cxn ang="0">
                    <a:pos x="147" y="135"/>
                  </a:cxn>
                  <a:cxn ang="0">
                    <a:pos x="121" y="140"/>
                  </a:cxn>
                  <a:cxn ang="0">
                    <a:pos x="95" y="140"/>
                  </a:cxn>
                  <a:cxn ang="0">
                    <a:pos x="69" y="135"/>
                  </a:cxn>
                  <a:cxn ang="0">
                    <a:pos x="46" y="127"/>
                  </a:cxn>
                  <a:cxn ang="0">
                    <a:pos x="27" y="115"/>
                  </a:cxn>
                  <a:cxn ang="0">
                    <a:pos x="11" y="101"/>
                  </a:cxn>
                  <a:cxn ang="0">
                    <a:pos x="3" y="86"/>
                  </a:cxn>
                  <a:cxn ang="0">
                    <a:pos x="0" y="70"/>
                  </a:cxn>
                </a:cxnLst>
                <a:rect l="0" t="0" r="r" b="b"/>
                <a:pathLst>
                  <a:path w="219" h="141">
                    <a:moveTo>
                      <a:pt x="0" y="70"/>
                    </a:moveTo>
                    <a:lnTo>
                      <a:pt x="3" y="51"/>
                    </a:lnTo>
                    <a:lnTo>
                      <a:pt x="11" y="36"/>
                    </a:lnTo>
                    <a:lnTo>
                      <a:pt x="27" y="22"/>
                    </a:lnTo>
                    <a:lnTo>
                      <a:pt x="46" y="12"/>
                    </a:lnTo>
                    <a:lnTo>
                      <a:pt x="69" y="3"/>
                    </a:lnTo>
                    <a:lnTo>
                      <a:pt x="95" y="0"/>
                    </a:lnTo>
                    <a:lnTo>
                      <a:pt x="121" y="0"/>
                    </a:lnTo>
                    <a:lnTo>
                      <a:pt x="147" y="3"/>
                    </a:lnTo>
                    <a:lnTo>
                      <a:pt x="170" y="12"/>
                    </a:lnTo>
                    <a:lnTo>
                      <a:pt x="190" y="22"/>
                    </a:lnTo>
                    <a:lnTo>
                      <a:pt x="205" y="36"/>
                    </a:lnTo>
                    <a:lnTo>
                      <a:pt x="214" y="51"/>
                    </a:lnTo>
                    <a:lnTo>
                      <a:pt x="218" y="70"/>
                    </a:lnTo>
                    <a:lnTo>
                      <a:pt x="214" y="86"/>
                    </a:lnTo>
                    <a:lnTo>
                      <a:pt x="205" y="101"/>
                    </a:lnTo>
                    <a:lnTo>
                      <a:pt x="190" y="115"/>
                    </a:lnTo>
                    <a:lnTo>
                      <a:pt x="170" y="127"/>
                    </a:lnTo>
                    <a:lnTo>
                      <a:pt x="147" y="135"/>
                    </a:lnTo>
                    <a:lnTo>
                      <a:pt x="121" y="140"/>
                    </a:lnTo>
                    <a:lnTo>
                      <a:pt x="95" y="140"/>
                    </a:lnTo>
                    <a:lnTo>
                      <a:pt x="69" y="135"/>
                    </a:lnTo>
                    <a:lnTo>
                      <a:pt x="46" y="127"/>
                    </a:lnTo>
                    <a:lnTo>
                      <a:pt x="27" y="115"/>
                    </a:lnTo>
                    <a:lnTo>
                      <a:pt x="11" y="101"/>
                    </a:lnTo>
                    <a:lnTo>
                      <a:pt x="3" y="86"/>
                    </a:lnTo>
                    <a:lnTo>
                      <a:pt x="0" y="70"/>
                    </a:lnTo>
                  </a:path>
                </a:pathLst>
              </a:custGeom>
              <a:gradFill rotWithShape="0">
                <a:gsLst>
                  <a:gs pos="0">
                    <a:srgbClr val="FFCC00">
                      <a:gamma/>
                      <a:shade val="69804"/>
                      <a:invGamma/>
                    </a:srgbClr>
                  </a:gs>
                  <a:gs pos="100000">
                    <a:srgbClr val="FFCC00"/>
                  </a:gs>
                </a:gsLst>
                <a:lin ang="0" scaled="1"/>
              </a:gradFill>
              <a:ln w="12699" cap="rnd" cmpd="sng">
                <a:solidFill>
                  <a:srgbClr val="000000"/>
                </a:solidFill>
                <a:prstDash val="solid"/>
                <a:round/>
                <a:headEnd/>
                <a:tailEnd/>
              </a:ln>
              <a:effectLst/>
            </p:spPr>
            <p:txBody>
              <a:bodyPr/>
              <a:lstStyle/>
              <a:p>
                <a:endParaRPr lang="zh-CN" altLang="en-US"/>
              </a:p>
            </p:txBody>
          </p:sp>
        </p:grpSp>
        <p:grpSp>
          <p:nvGrpSpPr>
            <p:cNvPr id="7" name="Group 51"/>
            <p:cNvGrpSpPr>
              <a:grpSpLocks/>
            </p:cNvGrpSpPr>
            <p:nvPr/>
          </p:nvGrpSpPr>
          <p:grpSpPr bwMode="auto">
            <a:xfrm>
              <a:off x="2422" y="1413"/>
              <a:ext cx="138" cy="440"/>
              <a:chOff x="2422" y="1413"/>
              <a:chExt cx="138" cy="440"/>
            </a:xfrm>
          </p:grpSpPr>
          <p:sp>
            <p:nvSpPr>
              <p:cNvPr id="169012" name="Freeform 52"/>
              <p:cNvSpPr>
                <a:spLocks/>
              </p:cNvSpPr>
              <p:nvPr/>
            </p:nvSpPr>
            <p:spPr bwMode="auto">
              <a:xfrm>
                <a:off x="2441" y="1413"/>
                <a:ext cx="92" cy="432"/>
              </a:xfrm>
              <a:custGeom>
                <a:avLst/>
                <a:gdLst/>
                <a:ahLst/>
                <a:cxnLst>
                  <a:cxn ang="0">
                    <a:pos x="91" y="431"/>
                  </a:cxn>
                  <a:cxn ang="0">
                    <a:pos x="91" y="359"/>
                  </a:cxn>
                  <a:cxn ang="0">
                    <a:pos x="87" y="324"/>
                  </a:cxn>
                  <a:cxn ang="0">
                    <a:pos x="83" y="289"/>
                  </a:cxn>
                  <a:cxn ang="0">
                    <a:pos x="71" y="255"/>
                  </a:cxn>
                  <a:cxn ang="0">
                    <a:pos x="59" y="222"/>
                  </a:cxn>
                  <a:cxn ang="0">
                    <a:pos x="24" y="155"/>
                  </a:cxn>
                  <a:cxn ang="0">
                    <a:pos x="11" y="123"/>
                  </a:cxn>
                  <a:cxn ang="0">
                    <a:pos x="3" y="88"/>
                  </a:cxn>
                  <a:cxn ang="0">
                    <a:pos x="0" y="53"/>
                  </a:cxn>
                  <a:cxn ang="0">
                    <a:pos x="0" y="0"/>
                  </a:cxn>
                </a:cxnLst>
                <a:rect l="0" t="0" r="r" b="b"/>
                <a:pathLst>
                  <a:path w="92" h="432">
                    <a:moveTo>
                      <a:pt x="91" y="431"/>
                    </a:moveTo>
                    <a:lnTo>
                      <a:pt x="91" y="359"/>
                    </a:lnTo>
                    <a:lnTo>
                      <a:pt x="87" y="324"/>
                    </a:lnTo>
                    <a:lnTo>
                      <a:pt x="83" y="289"/>
                    </a:lnTo>
                    <a:lnTo>
                      <a:pt x="71" y="255"/>
                    </a:lnTo>
                    <a:lnTo>
                      <a:pt x="59" y="222"/>
                    </a:lnTo>
                    <a:lnTo>
                      <a:pt x="24" y="155"/>
                    </a:lnTo>
                    <a:lnTo>
                      <a:pt x="11" y="123"/>
                    </a:lnTo>
                    <a:lnTo>
                      <a:pt x="3" y="88"/>
                    </a:lnTo>
                    <a:lnTo>
                      <a:pt x="0" y="53"/>
                    </a:lnTo>
                    <a:lnTo>
                      <a:pt x="0" y="0"/>
                    </a:lnTo>
                  </a:path>
                </a:pathLst>
              </a:custGeom>
              <a:noFill/>
              <a:ln w="25399" cap="rnd" cmpd="sng">
                <a:solidFill>
                  <a:srgbClr val="FF9900"/>
                </a:solidFill>
                <a:prstDash val="solid"/>
                <a:round/>
                <a:headEnd type="none" w="sm" len="sm"/>
                <a:tailEnd type="none" w="sm" len="sm"/>
              </a:ln>
              <a:effectLst/>
            </p:spPr>
            <p:txBody>
              <a:bodyPr/>
              <a:lstStyle/>
              <a:p>
                <a:endParaRPr lang="zh-CN" altLang="en-US"/>
              </a:p>
            </p:txBody>
          </p:sp>
          <p:sp>
            <p:nvSpPr>
              <p:cNvPr id="169013" name="Freeform 53"/>
              <p:cNvSpPr>
                <a:spLocks/>
              </p:cNvSpPr>
              <p:nvPr/>
            </p:nvSpPr>
            <p:spPr bwMode="auto">
              <a:xfrm>
                <a:off x="2422" y="1511"/>
                <a:ext cx="138" cy="342"/>
              </a:xfrm>
              <a:custGeom>
                <a:avLst/>
                <a:gdLst/>
                <a:ahLst/>
                <a:cxnLst>
                  <a:cxn ang="0">
                    <a:pos x="19" y="1"/>
                  </a:cxn>
                  <a:cxn ang="0">
                    <a:pos x="30" y="0"/>
                  </a:cxn>
                  <a:cxn ang="0">
                    <a:pos x="41" y="1"/>
                  </a:cxn>
                  <a:cxn ang="0">
                    <a:pos x="51" y="8"/>
                  </a:cxn>
                  <a:cxn ang="0">
                    <a:pos x="57" y="17"/>
                  </a:cxn>
                  <a:cxn ang="0">
                    <a:pos x="100" y="114"/>
                  </a:cxn>
                  <a:cxn ang="0">
                    <a:pos x="116" y="157"/>
                  </a:cxn>
                  <a:cxn ang="0">
                    <a:pos x="127" y="204"/>
                  </a:cxn>
                  <a:cxn ang="0">
                    <a:pos x="127" y="204"/>
                  </a:cxn>
                  <a:cxn ang="0">
                    <a:pos x="134" y="250"/>
                  </a:cxn>
                  <a:cxn ang="0">
                    <a:pos x="137" y="294"/>
                  </a:cxn>
                  <a:cxn ang="0">
                    <a:pos x="137" y="314"/>
                  </a:cxn>
                  <a:cxn ang="0">
                    <a:pos x="134" y="325"/>
                  </a:cxn>
                  <a:cxn ang="0">
                    <a:pos x="129" y="333"/>
                  </a:cxn>
                  <a:cxn ang="0">
                    <a:pos x="119" y="339"/>
                  </a:cxn>
                  <a:cxn ang="0">
                    <a:pos x="110" y="341"/>
                  </a:cxn>
                  <a:cxn ang="0">
                    <a:pos x="110" y="341"/>
                  </a:cxn>
                  <a:cxn ang="0">
                    <a:pos x="98" y="339"/>
                  </a:cxn>
                  <a:cxn ang="0">
                    <a:pos x="90" y="333"/>
                  </a:cxn>
                  <a:cxn ang="0">
                    <a:pos x="84" y="325"/>
                  </a:cxn>
                  <a:cxn ang="0">
                    <a:pos x="83" y="314"/>
                  </a:cxn>
                  <a:cxn ang="0">
                    <a:pos x="83" y="287"/>
                  </a:cxn>
                  <a:cxn ang="0">
                    <a:pos x="79" y="250"/>
                  </a:cxn>
                  <a:cxn ang="0">
                    <a:pos x="73" y="212"/>
                  </a:cxn>
                  <a:cxn ang="0">
                    <a:pos x="73" y="212"/>
                  </a:cxn>
                  <a:cxn ang="0">
                    <a:pos x="63" y="177"/>
                  </a:cxn>
                  <a:cxn ang="0">
                    <a:pos x="49" y="140"/>
                  </a:cxn>
                  <a:cxn ang="0">
                    <a:pos x="19" y="65"/>
                  </a:cxn>
                  <a:cxn ang="0">
                    <a:pos x="1" y="28"/>
                  </a:cxn>
                  <a:cxn ang="0">
                    <a:pos x="1" y="28"/>
                  </a:cxn>
                  <a:cxn ang="0">
                    <a:pos x="0" y="19"/>
                  </a:cxn>
                  <a:cxn ang="0">
                    <a:pos x="3" y="9"/>
                  </a:cxn>
                  <a:cxn ang="0">
                    <a:pos x="12" y="3"/>
                  </a:cxn>
                  <a:cxn ang="0">
                    <a:pos x="19" y="1"/>
                  </a:cxn>
                </a:cxnLst>
                <a:rect l="0" t="0" r="r" b="b"/>
                <a:pathLst>
                  <a:path w="138" h="342">
                    <a:moveTo>
                      <a:pt x="19" y="1"/>
                    </a:moveTo>
                    <a:lnTo>
                      <a:pt x="30" y="0"/>
                    </a:lnTo>
                    <a:lnTo>
                      <a:pt x="41" y="1"/>
                    </a:lnTo>
                    <a:lnTo>
                      <a:pt x="51" y="8"/>
                    </a:lnTo>
                    <a:lnTo>
                      <a:pt x="57" y="17"/>
                    </a:lnTo>
                    <a:lnTo>
                      <a:pt x="100" y="114"/>
                    </a:lnTo>
                    <a:lnTo>
                      <a:pt x="116" y="157"/>
                    </a:lnTo>
                    <a:lnTo>
                      <a:pt x="127" y="204"/>
                    </a:lnTo>
                    <a:lnTo>
                      <a:pt x="127" y="204"/>
                    </a:lnTo>
                    <a:lnTo>
                      <a:pt x="134" y="250"/>
                    </a:lnTo>
                    <a:lnTo>
                      <a:pt x="137" y="294"/>
                    </a:lnTo>
                    <a:lnTo>
                      <a:pt x="137" y="314"/>
                    </a:lnTo>
                    <a:lnTo>
                      <a:pt x="134" y="325"/>
                    </a:lnTo>
                    <a:lnTo>
                      <a:pt x="129" y="333"/>
                    </a:lnTo>
                    <a:lnTo>
                      <a:pt x="119" y="339"/>
                    </a:lnTo>
                    <a:lnTo>
                      <a:pt x="110" y="341"/>
                    </a:lnTo>
                    <a:lnTo>
                      <a:pt x="110" y="341"/>
                    </a:lnTo>
                    <a:lnTo>
                      <a:pt x="98" y="339"/>
                    </a:lnTo>
                    <a:lnTo>
                      <a:pt x="90" y="333"/>
                    </a:lnTo>
                    <a:lnTo>
                      <a:pt x="84" y="325"/>
                    </a:lnTo>
                    <a:lnTo>
                      <a:pt x="83" y="314"/>
                    </a:lnTo>
                    <a:lnTo>
                      <a:pt x="83" y="287"/>
                    </a:lnTo>
                    <a:lnTo>
                      <a:pt x="79" y="250"/>
                    </a:lnTo>
                    <a:lnTo>
                      <a:pt x="73" y="212"/>
                    </a:lnTo>
                    <a:lnTo>
                      <a:pt x="73" y="212"/>
                    </a:lnTo>
                    <a:lnTo>
                      <a:pt x="63" y="177"/>
                    </a:lnTo>
                    <a:lnTo>
                      <a:pt x="49" y="140"/>
                    </a:lnTo>
                    <a:lnTo>
                      <a:pt x="19" y="65"/>
                    </a:lnTo>
                    <a:lnTo>
                      <a:pt x="1" y="28"/>
                    </a:lnTo>
                    <a:lnTo>
                      <a:pt x="1" y="28"/>
                    </a:lnTo>
                    <a:lnTo>
                      <a:pt x="0" y="19"/>
                    </a:lnTo>
                    <a:lnTo>
                      <a:pt x="3" y="9"/>
                    </a:lnTo>
                    <a:lnTo>
                      <a:pt x="12" y="3"/>
                    </a:lnTo>
                    <a:lnTo>
                      <a:pt x="19" y="1"/>
                    </a:lnTo>
                  </a:path>
                </a:pathLst>
              </a:custGeom>
              <a:gradFill rotWithShape="0">
                <a:gsLst>
                  <a:gs pos="0">
                    <a:srgbClr val="33CC33">
                      <a:gamma/>
                      <a:shade val="69804"/>
                      <a:invGamma/>
                    </a:srgbClr>
                  </a:gs>
                  <a:gs pos="100000">
                    <a:srgbClr val="33CC33"/>
                  </a:gs>
                </a:gsLst>
                <a:lin ang="5400000" scaled="1"/>
              </a:gradFill>
              <a:ln w="12699" cap="rnd" cmpd="sng">
                <a:solidFill>
                  <a:srgbClr val="000000"/>
                </a:solidFill>
                <a:prstDash val="solid"/>
                <a:round/>
                <a:headEnd/>
                <a:tailEnd/>
              </a:ln>
              <a:effectLst/>
            </p:spPr>
            <p:txBody>
              <a:bodyPr/>
              <a:lstStyle/>
              <a:p>
                <a:endParaRPr lang="zh-CN" altLang="en-US"/>
              </a:p>
            </p:txBody>
          </p:sp>
        </p:grpSp>
        <p:grpSp>
          <p:nvGrpSpPr>
            <p:cNvPr id="8" name="Group 54"/>
            <p:cNvGrpSpPr>
              <a:grpSpLocks/>
            </p:cNvGrpSpPr>
            <p:nvPr/>
          </p:nvGrpSpPr>
          <p:grpSpPr bwMode="auto">
            <a:xfrm>
              <a:off x="2433" y="1413"/>
              <a:ext cx="136" cy="440"/>
              <a:chOff x="2433" y="1413"/>
              <a:chExt cx="136" cy="440"/>
            </a:xfrm>
          </p:grpSpPr>
          <p:sp>
            <p:nvSpPr>
              <p:cNvPr id="169015" name="Freeform 55"/>
              <p:cNvSpPr>
                <a:spLocks/>
              </p:cNvSpPr>
              <p:nvPr/>
            </p:nvSpPr>
            <p:spPr bwMode="auto">
              <a:xfrm>
                <a:off x="2460" y="1413"/>
                <a:ext cx="90" cy="432"/>
              </a:xfrm>
              <a:custGeom>
                <a:avLst/>
                <a:gdLst/>
                <a:ahLst/>
                <a:cxnLst>
                  <a:cxn ang="0">
                    <a:pos x="0" y="431"/>
                  </a:cxn>
                  <a:cxn ang="0">
                    <a:pos x="0" y="359"/>
                  </a:cxn>
                  <a:cxn ang="0">
                    <a:pos x="1" y="324"/>
                  </a:cxn>
                  <a:cxn ang="0">
                    <a:pos x="8" y="289"/>
                  </a:cxn>
                  <a:cxn ang="0">
                    <a:pos x="17" y="255"/>
                  </a:cxn>
                  <a:cxn ang="0">
                    <a:pos x="32" y="222"/>
                  </a:cxn>
                  <a:cxn ang="0">
                    <a:pos x="65" y="155"/>
                  </a:cxn>
                  <a:cxn ang="0">
                    <a:pos x="78" y="123"/>
                  </a:cxn>
                  <a:cxn ang="0">
                    <a:pos x="86" y="88"/>
                  </a:cxn>
                  <a:cxn ang="0">
                    <a:pos x="89" y="53"/>
                  </a:cxn>
                  <a:cxn ang="0">
                    <a:pos x="89" y="0"/>
                  </a:cxn>
                </a:cxnLst>
                <a:rect l="0" t="0" r="r" b="b"/>
                <a:pathLst>
                  <a:path w="90" h="432">
                    <a:moveTo>
                      <a:pt x="0" y="431"/>
                    </a:moveTo>
                    <a:lnTo>
                      <a:pt x="0" y="359"/>
                    </a:lnTo>
                    <a:lnTo>
                      <a:pt x="1" y="324"/>
                    </a:lnTo>
                    <a:lnTo>
                      <a:pt x="8" y="289"/>
                    </a:lnTo>
                    <a:lnTo>
                      <a:pt x="17" y="255"/>
                    </a:lnTo>
                    <a:lnTo>
                      <a:pt x="32" y="222"/>
                    </a:lnTo>
                    <a:lnTo>
                      <a:pt x="65" y="155"/>
                    </a:lnTo>
                    <a:lnTo>
                      <a:pt x="78" y="123"/>
                    </a:lnTo>
                    <a:lnTo>
                      <a:pt x="86" y="88"/>
                    </a:lnTo>
                    <a:lnTo>
                      <a:pt x="89" y="53"/>
                    </a:lnTo>
                    <a:lnTo>
                      <a:pt x="89" y="0"/>
                    </a:lnTo>
                  </a:path>
                </a:pathLst>
              </a:custGeom>
              <a:noFill/>
              <a:ln w="25399" cap="rnd" cmpd="sng">
                <a:solidFill>
                  <a:srgbClr val="FF9900"/>
                </a:solidFill>
                <a:prstDash val="solid"/>
                <a:round/>
                <a:headEnd type="none" w="sm" len="sm"/>
                <a:tailEnd type="none" w="sm" len="sm"/>
              </a:ln>
              <a:effectLst/>
            </p:spPr>
            <p:txBody>
              <a:bodyPr/>
              <a:lstStyle/>
              <a:p>
                <a:endParaRPr lang="zh-CN" altLang="en-US"/>
              </a:p>
            </p:txBody>
          </p:sp>
          <p:sp>
            <p:nvSpPr>
              <p:cNvPr id="169016" name="Freeform 56"/>
              <p:cNvSpPr>
                <a:spLocks/>
              </p:cNvSpPr>
              <p:nvPr/>
            </p:nvSpPr>
            <p:spPr bwMode="auto">
              <a:xfrm>
                <a:off x="2433" y="1511"/>
                <a:ext cx="136" cy="342"/>
              </a:xfrm>
              <a:custGeom>
                <a:avLst/>
                <a:gdLst/>
                <a:ahLst/>
                <a:cxnLst>
                  <a:cxn ang="0">
                    <a:pos x="116" y="1"/>
                  </a:cxn>
                  <a:cxn ang="0">
                    <a:pos x="105" y="0"/>
                  </a:cxn>
                  <a:cxn ang="0">
                    <a:pos x="94" y="1"/>
                  </a:cxn>
                  <a:cxn ang="0">
                    <a:pos x="84" y="8"/>
                  </a:cxn>
                  <a:cxn ang="0">
                    <a:pos x="78" y="17"/>
                  </a:cxn>
                  <a:cxn ang="0">
                    <a:pos x="36" y="114"/>
                  </a:cxn>
                  <a:cxn ang="0">
                    <a:pos x="20" y="157"/>
                  </a:cxn>
                  <a:cxn ang="0">
                    <a:pos x="8" y="204"/>
                  </a:cxn>
                  <a:cxn ang="0">
                    <a:pos x="8" y="204"/>
                  </a:cxn>
                  <a:cxn ang="0">
                    <a:pos x="1" y="250"/>
                  </a:cxn>
                  <a:cxn ang="0">
                    <a:pos x="0" y="294"/>
                  </a:cxn>
                  <a:cxn ang="0">
                    <a:pos x="0" y="314"/>
                  </a:cxn>
                  <a:cxn ang="0">
                    <a:pos x="1" y="325"/>
                  </a:cxn>
                  <a:cxn ang="0">
                    <a:pos x="8" y="333"/>
                  </a:cxn>
                  <a:cxn ang="0">
                    <a:pos x="16" y="339"/>
                  </a:cxn>
                  <a:cxn ang="0">
                    <a:pos x="27" y="341"/>
                  </a:cxn>
                  <a:cxn ang="0">
                    <a:pos x="27" y="341"/>
                  </a:cxn>
                  <a:cxn ang="0">
                    <a:pos x="36" y="339"/>
                  </a:cxn>
                  <a:cxn ang="0">
                    <a:pos x="46" y="333"/>
                  </a:cxn>
                  <a:cxn ang="0">
                    <a:pos x="51" y="325"/>
                  </a:cxn>
                  <a:cxn ang="0">
                    <a:pos x="54" y="314"/>
                  </a:cxn>
                  <a:cxn ang="0">
                    <a:pos x="54" y="287"/>
                  </a:cxn>
                  <a:cxn ang="0">
                    <a:pos x="56" y="250"/>
                  </a:cxn>
                  <a:cxn ang="0">
                    <a:pos x="62" y="212"/>
                  </a:cxn>
                  <a:cxn ang="0">
                    <a:pos x="62" y="212"/>
                  </a:cxn>
                  <a:cxn ang="0">
                    <a:pos x="73" y="177"/>
                  </a:cxn>
                  <a:cxn ang="0">
                    <a:pos x="86" y="140"/>
                  </a:cxn>
                  <a:cxn ang="0">
                    <a:pos x="118" y="65"/>
                  </a:cxn>
                  <a:cxn ang="0">
                    <a:pos x="134" y="28"/>
                  </a:cxn>
                  <a:cxn ang="0">
                    <a:pos x="134" y="28"/>
                  </a:cxn>
                  <a:cxn ang="0">
                    <a:pos x="135" y="19"/>
                  </a:cxn>
                  <a:cxn ang="0">
                    <a:pos x="132" y="9"/>
                  </a:cxn>
                  <a:cxn ang="0">
                    <a:pos x="124" y="3"/>
                  </a:cxn>
                  <a:cxn ang="0">
                    <a:pos x="116" y="1"/>
                  </a:cxn>
                </a:cxnLst>
                <a:rect l="0" t="0" r="r" b="b"/>
                <a:pathLst>
                  <a:path w="136" h="342">
                    <a:moveTo>
                      <a:pt x="116" y="1"/>
                    </a:moveTo>
                    <a:lnTo>
                      <a:pt x="105" y="0"/>
                    </a:lnTo>
                    <a:lnTo>
                      <a:pt x="94" y="1"/>
                    </a:lnTo>
                    <a:lnTo>
                      <a:pt x="84" y="8"/>
                    </a:lnTo>
                    <a:lnTo>
                      <a:pt x="78" y="17"/>
                    </a:lnTo>
                    <a:lnTo>
                      <a:pt x="36" y="114"/>
                    </a:lnTo>
                    <a:lnTo>
                      <a:pt x="20" y="157"/>
                    </a:lnTo>
                    <a:lnTo>
                      <a:pt x="8" y="204"/>
                    </a:lnTo>
                    <a:lnTo>
                      <a:pt x="8" y="204"/>
                    </a:lnTo>
                    <a:lnTo>
                      <a:pt x="1" y="250"/>
                    </a:lnTo>
                    <a:lnTo>
                      <a:pt x="0" y="294"/>
                    </a:lnTo>
                    <a:lnTo>
                      <a:pt x="0" y="314"/>
                    </a:lnTo>
                    <a:lnTo>
                      <a:pt x="1" y="325"/>
                    </a:lnTo>
                    <a:lnTo>
                      <a:pt x="8" y="333"/>
                    </a:lnTo>
                    <a:lnTo>
                      <a:pt x="16" y="339"/>
                    </a:lnTo>
                    <a:lnTo>
                      <a:pt x="27" y="341"/>
                    </a:lnTo>
                    <a:lnTo>
                      <a:pt x="27" y="341"/>
                    </a:lnTo>
                    <a:lnTo>
                      <a:pt x="36" y="339"/>
                    </a:lnTo>
                    <a:lnTo>
                      <a:pt x="46" y="333"/>
                    </a:lnTo>
                    <a:lnTo>
                      <a:pt x="51" y="325"/>
                    </a:lnTo>
                    <a:lnTo>
                      <a:pt x="54" y="314"/>
                    </a:lnTo>
                    <a:lnTo>
                      <a:pt x="54" y="287"/>
                    </a:lnTo>
                    <a:lnTo>
                      <a:pt x="56" y="250"/>
                    </a:lnTo>
                    <a:lnTo>
                      <a:pt x="62" y="212"/>
                    </a:lnTo>
                    <a:lnTo>
                      <a:pt x="62" y="212"/>
                    </a:lnTo>
                    <a:lnTo>
                      <a:pt x="73" y="177"/>
                    </a:lnTo>
                    <a:lnTo>
                      <a:pt x="86" y="140"/>
                    </a:lnTo>
                    <a:lnTo>
                      <a:pt x="118" y="65"/>
                    </a:lnTo>
                    <a:lnTo>
                      <a:pt x="134" y="28"/>
                    </a:lnTo>
                    <a:lnTo>
                      <a:pt x="134" y="28"/>
                    </a:lnTo>
                    <a:lnTo>
                      <a:pt x="135" y="19"/>
                    </a:lnTo>
                    <a:lnTo>
                      <a:pt x="132" y="9"/>
                    </a:lnTo>
                    <a:lnTo>
                      <a:pt x="124" y="3"/>
                    </a:lnTo>
                    <a:lnTo>
                      <a:pt x="116" y="1"/>
                    </a:lnTo>
                  </a:path>
                </a:pathLst>
              </a:custGeom>
              <a:gradFill rotWithShape="0">
                <a:gsLst>
                  <a:gs pos="0">
                    <a:srgbClr val="FF0033">
                      <a:gamma/>
                      <a:shade val="69804"/>
                      <a:invGamma/>
                    </a:srgbClr>
                  </a:gs>
                  <a:gs pos="100000">
                    <a:srgbClr val="FF0033"/>
                  </a:gs>
                </a:gsLst>
                <a:lin ang="5400000" scaled="1"/>
              </a:gradFill>
              <a:ln w="12699" cap="rnd" cmpd="sng">
                <a:solidFill>
                  <a:schemeClr val="tx1"/>
                </a:solidFill>
                <a:prstDash val="solid"/>
                <a:round/>
                <a:headEnd/>
                <a:tailEnd/>
              </a:ln>
              <a:effectLst/>
            </p:spPr>
            <p:txBody>
              <a:bodyPr/>
              <a:lstStyle/>
              <a:p>
                <a:endParaRPr lang="zh-CN" altLang="en-US"/>
              </a:p>
            </p:txBody>
          </p:sp>
        </p:grpSp>
        <p:grpSp>
          <p:nvGrpSpPr>
            <p:cNvPr id="9" name="Group 57"/>
            <p:cNvGrpSpPr>
              <a:grpSpLocks/>
            </p:cNvGrpSpPr>
            <p:nvPr/>
          </p:nvGrpSpPr>
          <p:grpSpPr bwMode="auto">
            <a:xfrm>
              <a:off x="2782" y="1413"/>
              <a:ext cx="138" cy="440"/>
              <a:chOff x="2782" y="1413"/>
              <a:chExt cx="138" cy="440"/>
            </a:xfrm>
          </p:grpSpPr>
          <p:sp>
            <p:nvSpPr>
              <p:cNvPr id="169018" name="Freeform 58"/>
              <p:cNvSpPr>
                <a:spLocks/>
              </p:cNvSpPr>
              <p:nvPr/>
            </p:nvSpPr>
            <p:spPr bwMode="auto">
              <a:xfrm>
                <a:off x="2809" y="1413"/>
                <a:ext cx="91" cy="432"/>
              </a:xfrm>
              <a:custGeom>
                <a:avLst/>
                <a:gdLst/>
                <a:ahLst/>
                <a:cxnLst>
                  <a:cxn ang="0">
                    <a:pos x="0" y="431"/>
                  </a:cxn>
                  <a:cxn ang="0">
                    <a:pos x="0" y="359"/>
                  </a:cxn>
                  <a:cxn ang="0">
                    <a:pos x="2" y="324"/>
                  </a:cxn>
                  <a:cxn ang="0">
                    <a:pos x="8" y="289"/>
                  </a:cxn>
                  <a:cxn ang="0">
                    <a:pos x="18" y="255"/>
                  </a:cxn>
                  <a:cxn ang="0">
                    <a:pos x="32" y="222"/>
                  </a:cxn>
                  <a:cxn ang="0">
                    <a:pos x="66" y="155"/>
                  </a:cxn>
                  <a:cxn ang="0">
                    <a:pos x="79" y="123"/>
                  </a:cxn>
                  <a:cxn ang="0">
                    <a:pos x="88" y="88"/>
                  </a:cxn>
                  <a:cxn ang="0">
                    <a:pos x="90" y="53"/>
                  </a:cxn>
                  <a:cxn ang="0">
                    <a:pos x="90" y="0"/>
                  </a:cxn>
                </a:cxnLst>
                <a:rect l="0" t="0" r="r" b="b"/>
                <a:pathLst>
                  <a:path w="91" h="432">
                    <a:moveTo>
                      <a:pt x="0" y="431"/>
                    </a:moveTo>
                    <a:lnTo>
                      <a:pt x="0" y="359"/>
                    </a:lnTo>
                    <a:lnTo>
                      <a:pt x="2" y="324"/>
                    </a:lnTo>
                    <a:lnTo>
                      <a:pt x="8" y="289"/>
                    </a:lnTo>
                    <a:lnTo>
                      <a:pt x="18" y="255"/>
                    </a:lnTo>
                    <a:lnTo>
                      <a:pt x="32" y="222"/>
                    </a:lnTo>
                    <a:lnTo>
                      <a:pt x="66" y="155"/>
                    </a:lnTo>
                    <a:lnTo>
                      <a:pt x="79" y="123"/>
                    </a:lnTo>
                    <a:lnTo>
                      <a:pt x="88" y="88"/>
                    </a:lnTo>
                    <a:lnTo>
                      <a:pt x="90" y="53"/>
                    </a:lnTo>
                    <a:lnTo>
                      <a:pt x="90" y="0"/>
                    </a:lnTo>
                  </a:path>
                </a:pathLst>
              </a:custGeom>
              <a:noFill/>
              <a:ln w="25399" cap="rnd" cmpd="sng">
                <a:solidFill>
                  <a:srgbClr val="FF9900"/>
                </a:solidFill>
                <a:prstDash val="solid"/>
                <a:round/>
                <a:headEnd type="none" w="sm" len="sm"/>
                <a:tailEnd type="none" w="sm" len="sm"/>
              </a:ln>
              <a:effectLst/>
            </p:spPr>
            <p:txBody>
              <a:bodyPr/>
              <a:lstStyle/>
              <a:p>
                <a:endParaRPr lang="zh-CN" altLang="en-US"/>
              </a:p>
            </p:txBody>
          </p:sp>
          <p:sp>
            <p:nvSpPr>
              <p:cNvPr id="169019" name="Freeform 59"/>
              <p:cNvSpPr>
                <a:spLocks/>
              </p:cNvSpPr>
              <p:nvPr/>
            </p:nvSpPr>
            <p:spPr bwMode="auto">
              <a:xfrm>
                <a:off x="2782" y="1511"/>
                <a:ext cx="138" cy="342"/>
              </a:xfrm>
              <a:custGeom>
                <a:avLst/>
                <a:gdLst/>
                <a:ahLst/>
                <a:cxnLst>
                  <a:cxn ang="0">
                    <a:pos x="117" y="1"/>
                  </a:cxn>
                  <a:cxn ang="0">
                    <a:pos x="106" y="0"/>
                  </a:cxn>
                  <a:cxn ang="0">
                    <a:pos x="94" y="1"/>
                  </a:cxn>
                  <a:cxn ang="0">
                    <a:pos x="85" y="8"/>
                  </a:cxn>
                  <a:cxn ang="0">
                    <a:pos x="78" y="17"/>
                  </a:cxn>
                  <a:cxn ang="0">
                    <a:pos x="37" y="114"/>
                  </a:cxn>
                  <a:cxn ang="0">
                    <a:pos x="21" y="157"/>
                  </a:cxn>
                  <a:cxn ang="0">
                    <a:pos x="10" y="204"/>
                  </a:cxn>
                  <a:cxn ang="0">
                    <a:pos x="10" y="204"/>
                  </a:cxn>
                  <a:cxn ang="0">
                    <a:pos x="3" y="250"/>
                  </a:cxn>
                  <a:cxn ang="0">
                    <a:pos x="0" y="294"/>
                  </a:cxn>
                  <a:cxn ang="0">
                    <a:pos x="0" y="314"/>
                  </a:cxn>
                  <a:cxn ang="0">
                    <a:pos x="2" y="325"/>
                  </a:cxn>
                  <a:cxn ang="0">
                    <a:pos x="8" y="333"/>
                  </a:cxn>
                  <a:cxn ang="0">
                    <a:pos x="18" y="339"/>
                  </a:cxn>
                  <a:cxn ang="0">
                    <a:pos x="27" y="341"/>
                  </a:cxn>
                  <a:cxn ang="0">
                    <a:pos x="27" y="341"/>
                  </a:cxn>
                  <a:cxn ang="0">
                    <a:pos x="37" y="339"/>
                  </a:cxn>
                  <a:cxn ang="0">
                    <a:pos x="46" y="333"/>
                  </a:cxn>
                  <a:cxn ang="0">
                    <a:pos x="53" y="325"/>
                  </a:cxn>
                  <a:cxn ang="0">
                    <a:pos x="54" y="314"/>
                  </a:cxn>
                  <a:cxn ang="0">
                    <a:pos x="54" y="287"/>
                  </a:cxn>
                  <a:cxn ang="0">
                    <a:pos x="56" y="250"/>
                  </a:cxn>
                  <a:cxn ang="0">
                    <a:pos x="64" y="212"/>
                  </a:cxn>
                  <a:cxn ang="0">
                    <a:pos x="64" y="212"/>
                  </a:cxn>
                  <a:cxn ang="0">
                    <a:pos x="74" y="177"/>
                  </a:cxn>
                  <a:cxn ang="0">
                    <a:pos x="86" y="140"/>
                  </a:cxn>
                  <a:cxn ang="0">
                    <a:pos x="118" y="65"/>
                  </a:cxn>
                  <a:cxn ang="0">
                    <a:pos x="136" y="28"/>
                  </a:cxn>
                  <a:cxn ang="0">
                    <a:pos x="136" y="28"/>
                  </a:cxn>
                  <a:cxn ang="0">
                    <a:pos x="137" y="19"/>
                  </a:cxn>
                  <a:cxn ang="0">
                    <a:pos x="133" y="9"/>
                  </a:cxn>
                  <a:cxn ang="0">
                    <a:pos x="125" y="3"/>
                  </a:cxn>
                  <a:cxn ang="0">
                    <a:pos x="117" y="1"/>
                  </a:cxn>
                </a:cxnLst>
                <a:rect l="0" t="0" r="r" b="b"/>
                <a:pathLst>
                  <a:path w="138" h="342">
                    <a:moveTo>
                      <a:pt x="117" y="1"/>
                    </a:moveTo>
                    <a:lnTo>
                      <a:pt x="106" y="0"/>
                    </a:lnTo>
                    <a:lnTo>
                      <a:pt x="94" y="1"/>
                    </a:lnTo>
                    <a:lnTo>
                      <a:pt x="85" y="8"/>
                    </a:lnTo>
                    <a:lnTo>
                      <a:pt x="78" y="17"/>
                    </a:lnTo>
                    <a:lnTo>
                      <a:pt x="37" y="114"/>
                    </a:lnTo>
                    <a:lnTo>
                      <a:pt x="21" y="157"/>
                    </a:lnTo>
                    <a:lnTo>
                      <a:pt x="10" y="204"/>
                    </a:lnTo>
                    <a:lnTo>
                      <a:pt x="10" y="204"/>
                    </a:lnTo>
                    <a:lnTo>
                      <a:pt x="3" y="250"/>
                    </a:lnTo>
                    <a:lnTo>
                      <a:pt x="0" y="294"/>
                    </a:lnTo>
                    <a:lnTo>
                      <a:pt x="0" y="314"/>
                    </a:lnTo>
                    <a:lnTo>
                      <a:pt x="2" y="325"/>
                    </a:lnTo>
                    <a:lnTo>
                      <a:pt x="8" y="333"/>
                    </a:lnTo>
                    <a:lnTo>
                      <a:pt x="18" y="339"/>
                    </a:lnTo>
                    <a:lnTo>
                      <a:pt x="27" y="341"/>
                    </a:lnTo>
                    <a:lnTo>
                      <a:pt x="27" y="341"/>
                    </a:lnTo>
                    <a:lnTo>
                      <a:pt x="37" y="339"/>
                    </a:lnTo>
                    <a:lnTo>
                      <a:pt x="46" y="333"/>
                    </a:lnTo>
                    <a:lnTo>
                      <a:pt x="53" y="325"/>
                    </a:lnTo>
                    <a:lnTo>
                      <a:pt x="54" y="314"/>
                    </a:lnTo>
                    <a:lnTo>
                      <a:pt x="54" y="287"/>
                    </a:lnTo>
                    <a:lnTo>
                      <a:pt x="56" y="250"/>
                    </a:lnTo>
                    <a:lnTo>
                      <a:pt x="64" y="212"/>
                    </a:lnTo>
                    <a:lnTo>
                      <a:pt x="64" y="212"/>
                    </a:lnTo>
                    <a:lnTo>
                      <a:pt x="74" y="177"/>
                    </a:lnTo>
                    <a:lnTo>
                      <a:pt x="86" y="140"/>
                    </a:lnTo>
                    <a:lnTo>
                      <a:pt x="118" y="65"/>
                    </a:lnTo>
                    <a:lnTo>
                      <a:pt x="136" y="28"/>
                    </a:lnTo>
                    <a:lnTo>
                      <a:pt x="136" y="28"/>
                    </a:lnTo>
                    <a:lnTo>
                      <a:pt x="137" y="19"/>
                    </a:lnTo>
                    <a:lnTo>
                      <a:pt x="133" y="9"/>
                    </a:lnTo>
                    <a:lnTo>
                      <a:pt x="125" y="3"/>
                    </a:lnTo>
                    <a:lnTo>
                      <a:pt x="117" y="1"/>
                    </a:lnTo>
                  </a:path>
                </a:pathLst>
              </a:custGeom>
              <a:gradFill rotWithShape="0">
                <a:gsLst>
                  <a:gs pos="0">
                    <a:srgbClr val="FF0033">
                      <a:gamma/>
                      <a:shade val="69804"/>
                      <a:invGamma/>
                    </a:srgbClr>
                  </a:gs>
                  <a:gs pos="100000">
                    <a:srgbClr val="FF0033"/>
                  </a:gs>
                </a:gsLst>
                <a:lin ang="5400000" scaled="1"/>
              </a:gradFill>
              <a:ln w="12699" cap="rnd" cmpd="sng">
                <a:solidFill>
                  <a:schemeClr val="tx1"/>
                </a:solidFill>
                <a:prstDash val="solid"/>
                <a:round/>
                <a:headEnd/>
                <a:tailEnd/>
              </a:ln>
              <a:effectLst/>
            </p:spPr>
            <p:txBody>
              <a:bodyPr/>
              <a:lstStyle/>
              <a:p>
                <a:endParaRPr lang="zh-CN" altLang="en-US"/>
              </a:p>
            </p:txBody>
          </p:sp>
        </p:grpSp>
        <p:grpSp>
          <p:nvGrpSpPr>
            <p:cNvPr id="10" name="Group 60"/>
            <p:cNvGrpSpPr>
              <a:grpSpLocks/>
            </p:cNvGrpSpPr>
            <p:nvPr/>
          </p:nvGrpSpPr>
          <p:grpSpPr bwMode="auto">
            <a:xfrm>
              <a:off x="2790" y="1413"/>
              <a:ext cx="137" cy="440"/>
              <a:chOff x="2790" y="1413"/>
              <a:chExt cx="137" cy="440"/>
            </a:xfrm>
          </p:grpSpPr>
          <p:sp>
            <p:nvSpPr>
              <p:cNvPr id="169021" name="Freeform 61"/>
              <p:cNvSpPr>
                <a:spLocks/>
              </p:cNvSpPr>
              <p:nvPr/>
            </p:nvSpPr>
            <p:spPr bwMode="auto">
              <a:xfrm>
                <a:off x="2809" y="1413"/>
                <a:ext cx="91" cy="432"/>
              </a:xfrm>
              <a:custGeom>
                <a:avLst/>
                <a:gdLst/>
                <a:ahLst/>
                <a:cxnLst>
                  <a:cxn ang="0">
                    <a:pos x="90" y="431"/>
                  </a:cxn>
                  <a:cxn ang="0">
                    <a:pos x="90" y="359"/>
                  </a:cxn>
                  <a:cxn ang="0">
                    <a:pos x="88" y="324"/>
                  </a:cxn>
                  <a:cxn ang="0">
                    <a:pos x="82" y="289"/>
                  </a:cxn>
                  <a:cxn ang="0">
                    <a:pos x="72" y="255"/>
                  </a:cxn>
                  <a:cxn ang="0">
                    <a:pos x="58" y="222"/>
                  </a:cxn>
                  <a:cxn ang="0">
                    <a:pos x="24" y="155"/>
                  </a:cxn>
                  <a:cxn ang="0">
                    <a:pos x="12" y="123"/>
                  </a:cxn>
                  <a:cxn ang="0">
                    <a:pos x="4" y="88"/>
                  </a:cxn>
                  <a:cxn ang="0">
                    <a:pos x="0" y="53"/>
                  </a:cxn>
                  <a:cxn ang="0">
                    <a:pos x="0" y="0"/>
                  </a:cxn>
                </a:cxnLst>
                <a:rect l="0" t="0" r="r" b="b"/>
                <a:pathLst>
                  <a:path w="91" h="432">
                    <a:moveTo>
                      <a:pt x="90" y="431"/>
                    </a:moveTo>
                    <a:lnTo>
                      <a:pt x="90" y="359"/>
                    </a:lnTo>
                    <a:lnTo>
                      <a:pt x="88" y="324"/>
                    </a:lnTo>
                    <a:lnTo>
                      <a:pt x="82" y="289"/>
                    </a:lnTo>
                    <a:lnTo>
                      <a:pt x="72" y="255"/>
                    </a:lnTo>
                    <a:lnTo>
                      <a:pt x="58" y="222"/>
                    </a:lnTo>
                    <a:lnTo>
                      <a:pt x="24" y="155"/>
                    </a:lnTo>
                    <a:lnTo>
                      <a:pt x="12" y="123"/>
                    </a:lnTo>
                    <a:lnTo>
                      <a:pt x="4" y="88"/>
                    </a:lnTo>
                    <a:lnTo>
                      <a:pt x="0" y="53"/>
                    </a:lnTo>
                    <a:lnTo>
                      <a:pt x="0" y="0"/>
                    </a:lnTo>
                  </a:path>
                </a:pathLst>
              </a:custGeom>
              <a:noFill/>
              <a:ln w="25399" cap="rnd" cmpd="sng">
                <a:solidFill>
                  <a:srgbClr val="FF9900"/>
                </a:solidFill>
                <a:prstDash val="solid"/>
                <a:round/>
                <a:headEnd type="none" w="sm" len="sm"/>
                <a:tailEnd type="none" w="sm" len="sm"/>
              </a:ln>
              <a:effectLst/>
            </p:spPr>
            <p:txBody>
              <a:bodyPr/>
              <a:lstStyle/>
              <a:p>
                <a:endParaRPr lang="zh-CN" altLang="en-US"/>
              </a:p>
            </p:txBody>
          </p:sp>
          <p:sp>
            <p:nvSpPr>
              <p:cNvPr id="169022" name="Freeform 62"/>
              <p:cNvSpPr>
                <a:spLocks/>
              </p:cNvSpPr>
              <p:nvPr/>
            </p:nvSpPr>
            <p:spPr bwMode="auto">
              <a:xfrm>
                <a:off x="2790" y="1511"/>
                <a:ext cx="137" cy="342"/>
              </a:xfrm>
              <a:custGeom>
                <a:avLst/>
                <a:gdLst/>
                <a:ahLst/>
                <a:cxnLst>
                  <a:cxn ang="0">
                    <a:pos x="19" y="1"/>
                  </a:cxn>
                  <a:cxn ang="0">
                    <a:pos x="31" y="0"/>
                  </a:cxn>
                  <a:cxn ang="0">
                    <a:pos x="42" y="1"/>
                  </a:cxn>
                  <a:cxn ang="0">
                    <a:pos x="51" y="8"/>
                  </a:cxn>
                  <a:cxn ang="0">
                    <a:pos x="58" y="17"/>
                  </a:cxn>
                  <a:cxn ang="0">
                    <a:pos x="99" y="114"/>
                  </a:cxn>
                  <a:cxn ang="0">
                    <a:pos x="115" y="157"/>
                  </a:cxn>
                  <a:cxn ang="0">
                    <a:pos x="128" y="204"/>
                  </a:cxn>
                  <a:cxn ang="0">
                    <a:pos x="128" y="204"/>
                  </a:cxn>
                  <a:cxn ang="0">
                    <a:pos x="134" y="250"/>
                  </a:cxn>
                  <a:cxn ang="0">
                    <a:pos x="136" y="294"/>
                  </a:cxn>
                  <a:cxn ang="0">
                    <a:pos x="136" y="314"/>
                  </a:cxn>
                  <a:cxn ang="0">
                    <a:pos x="134" y="325"/>
                  </a:cxn>
                  <a:cxn ang="0">
                    <a:pos x="128" y="333"/>
                  </a:cxn>
                  <a:cxn ang="0">
                    <a:pos x="120" y="339"/>
                  </a:cxn>
                  <a:cxn ang="0">
                    <a:pos x="109" y="341"/>
                  </a:cxn>
                  <a:cxn ang="0">
                    <a:pos x="109" y="341"/>
                  </a:cxn>
                  <a:cxn ang="0">
                    <a:pos x="99" y="339"/>
                  </a:cxn>
                  <a:cxn ang="0">
                    <a:pos x="90" y="333"/>
                  </a:cxn>
                  <a:cxn ang="0">
                    <a:pos x="85" y="325"/>
                  </a:cxn>
                  <a:cxn ang="0">
                    <a:pos x="82" y="314"/>
                  </a:cxn>
                  <a:cxn ang="0">
                    <a:pos x="82" y="287"/>
                  </a:cxn>
                  <a:cxn ang="0">
                    <a:pos x="80" y="250"/>
                  </a:cxn>
                  <a:cxn ang="0">
                    <a:pos x="74" y="212"/>
                  </a:cxn>
                  <a:cxn ang="0">
                    <a:pos x="74" y="212"/>
                  </a:cxn>
                  <a:cxn ang="0">
                    <a:pos x="62" y="177"/>
                  </a:cxn>
                  <a:cxn ang="0">
                    <a:pos x="50" y="140"/>
                  </a:cxn>
                  <a:cxn ang="0">
                    <a:pos x="18" y="65"/>
                  </a:cxn>
                  <a:cxn ang="0">
                    <a:pos x="2" y="28"/>
                  </a:cxn>
                  <a:cxn ang="0">
                    <a:pos x="2" y="28"/>
                  </a:cxn>
                  <a:cxn ang="0">
                    <a:pos x="0" y="19"/>
                  </a:cxn>
                  <a:cxn ang="0">
                    <a:pos x="3" y="9"/>
                  </a:cxn>
                  <a:cxn ang="0">
                    <a:pos x="11" y="3"/>
                  </a:cxn>
                  <a:cxn ang="0">
                    <a:pos x="19" y="1"/>
                  </a:cxn>
                </a:cxnLst>
                <a:rect l="0" t="0" r="r" b="b"/>
                <a:pathLst>
                  <a:path w="137" h="342">
                    <a:moveTo>
                      <a:pt x="19" y="1"/>
                    </a:moveTo>
                    <a:lnTo>
                      <a:pt x="31" y="0"/>
                    </a:lnTo>
                    <a:lnTo>
                      <a:pt x="42" y="1"/>
                    </a:lnTo>
                    <a:lnTo>
                      <a:pt x="51" y="8"/>
                    </a:lnTo>
                    <a:lnTo>
                      <a:pt x="58" y="17"/>
                    </a:lnTo>
                    <a:lnTo>
                      <a:pt x="99" y="114"/>
                    </a:lnTo>
                    <a:lnTo>
                      <a:pt x="115" y="157"/>
                    </a:lnTo>
                    <a:lnTo>
                      <a:pt x="128" y="204"/>
                    </a:lnTo>
                    <a:lnTo>
                      <a:pt x="128" y="204"/>
                    </a:lnTo>
                    <a:lnTo>
                      <a:pt x="134" y="250"/>
                    </a:lnTo>
                    <a:lnTo>
                      <a:pt x="136" y="294"/>
                    </a:lnTo>
                    <a:lnTo>
                      <a:pt x="136" y="314"/>
                    </a:lnTo>
                    <a:lnTo>
                      <a:pt x="134" y="325"/>
                    </a:lnTo>
                    <a:lnTo>
                      <a:pt x="128" y="333"/>
                    </a:lnTo>
                    <a:lnTo>
                      <a:pt x="120" y="339"/>
                    </a:lnTo>
                    <a:lnTo>
                      <a:pt x="109" y="341"/>
                    </a:lnTo>
                    <a:lnTo>
                      <a:pt x="109" y="341"/>
                    </a:lnTo>
                    <a:lnTo>
                      <a:pt x="99" y="339"/>
                    </a:lnTo>
                    <a:lnTo>
                      <a:pt x="90" y="333"/>
                    </a:lnTo>
                    <a:lnTo>
                      <a:pt x="85" y="325"/>
                    </a:lnTo>
                    <a:lnTo>
                      <a:pt x="82" y="314"/>
                    </a:lnTo>
                    <a:lnTo>
                      <a:pt x="82" y="287"/>
                    </a:lnTo>
                    <a:lnTo>
                      <a:pt x="80" y="250"/>
                    </a:lnTo>
                    <a:lnTo>
                      <a:pt x="74" y="212"/>
                    </a:lnTo>
                    <a:lnTo>
                      <a:pt x="74" y="212"/>
                    </a:lnTo>
                    <a:lnTo>
                      <a:pt x="62" y="177"/>
                    </a:lnTo>
                    <a:lnTo>
                      <a:pt x="50" y="140"/>
                    </a:lnTo>
                    <a:lnTo>
                      <a:pt x="18" y="65"/>
                    </a:lnTo>
                    <a:lnTo>
                      <a:pt x="2" y="28"/>
                    </a:lnTo>
                    <a:lnTo>
                      <a:pt x="2" y="28"/>
                    </a:lnTo>
                    <a:lnTo>
                      <a:pt x="0" y="19"/>
                    </a:lnTo>
                    <a:lnTo>
                      <a:pt x="3" y="9"/>
                    </a:lnTo>
                    <a:lnTo>
                      <a:pt x="11" y="3"/>
                    </a:lnTo>
                    <a:lnTo>
                      <a:pt x="19" y="1"/>
                    </a:lnTo>
                  </a:path>
                </a:pathLst>
              </a:custGeom>
              <a:gradFill rotWithShape="0">
                <a:gsLst>
                  <a:gs pos="0">
                    <a:srgbClr val="33CC33">
                      <a:gamma/>
                      <a:shade val="69804"/>
                      <a:invGamma/>
                    </a:srgbClr>
                  </a:gs>
                  <a:gs pos="100000">
                    <a:srgbClr val="33CC33"/>
                  </a:gs>
                </a:gsLst>
                <a:lin ang="5400000" scaled="1"/>
              </a:gradFill>
              <a:ln w="12699" cap="rnd" cmpd="sng">
                <a:solidFill>
                  <a:srgbClr val="000000"/>
                </a:solidFill>
                <a:prstDash val="solid"/>
                <a:round/>
                <a:headEnd/>
                <a:tailEnd/>
              </a:ln>
              <a:effectLst/>
            </p:spPr>
            <p:txBody>
              <a:bodyPr/>
              <a:lstStyle/>
              <a:p>
                <a:endParaRPr lang="zh-CN" altLang="en-US"/>
              </a:p>
            </p:txBody>
          </p:sp>
        </p:grpSp>
        <p:sp>
          <p:nvSpPr>
            <p:cNvPr id="169023" name="Rectangle 63"/>
            <p:cNvSpPr>
              <a:spLocks noChangeArrowheads="1"/>
            </p:cNvSpPr>
            <p:nvPr/>
          </p:nvSpPr>
          <p:spPr bwMode="auto">
            <a:xfrm>
              <a:off x="478" y="1320"/>
              <a:ext cx="1254" cy="1498"/>
            </a:xfrm>
            <a:prstGeom prst="rect">
              <a:avLst/>
            </a:prstGeom>
            <a:noFill/>
            <a:ln w="9525">
              <a:noFill/>
              <a:miter lim="800000"/>
              <a:headEnd/>
              <a:tailEnd/>
            </a:ln>
            <a:effectLst/>
          </p:spPr>
          <p:txBody>
            <a:bodyPr lIns="92075" tIns="46038" rIns="92075" bIns="46038">
              <a:spAutoFit/>
            </a:bodyPr>
            <a:lstStyle/>
            <a:p>
              <a:pPr algn="r" defTabSz="762000" eaLnBrk="0" hangingPunct="0">
                <a:lnSpc>
                  <a:spcPct val="85000"/>
                </a:lnSpc>
                <a:spcBef>
                  <a:spcPct val="50000"/>
                </a:spcBef>
              </a:pPr>
              <a:r>
                <a:rPr kumimoji="1" lang="zh-CN" altLang="en-US" sz="2400" b="1">
                  <a:latin typeface="Arial Narrow" pitchFamily="34" charset="0"/>
                </a:rPr>
                <a:t>内导体芯线</a:t>
              </a:r>
            </a:p>
            <a:p>
              <a:pPr algn="r" defTabSz="762000" eaLnBrk="0" hangingPunct="0">
                <a:lnSpc>
                  <a:spcPct val="85000"/>
                </a:lnSpc>
                <a:spcBef>
                  <a:spcPct val="50000"/>
                </a:spcBef>
              </a:pPr>
              <a:r>
                <a:rPr kumimoji="1" lang="zh-CN" altLang="en-US" sz="2400" b="1">
                  <a:latin typeface="Arial Narrow" pitchFamily="34" charset="0"/>
                </a:rPr>
                <a:t>绝缘</a:t>
              </a:r>
            </a:p>
            <a:p>
              <a:pPr algn="r" defTabSz="762000" eaLnBrk="0" hangingPunct="0">
                <a:lnSpc>
                  <a:spcPct val="85000"/>
                </a:lnSpc>
                <a:spcBef>
                  <a:spcPct val="50000"/>
                </a:spcBef>
              </a:pPr>
              <a:r>
                <a:rPr kumimoji="1" lang="zh-CN" altLang="en-US" sz="2400" b="1">
                  <a:latin typeface="Arial Narrow" pitchFamily="34" charset="0"/>
                </a:rPr>
                <a:t>箔屏蔽</a:t>
              </a:r>
            </a:p>
            <a:p>
              <a:pPr algn="r" defTabSz="762000" eaLnBrk="0" hangingPunct="0">
                <a:lnSpc>
                  <a:spcPct val="85000"/>
                </a:lnSpc>
                <a:spcBef>
                  <a:spcPct val="50000"/>
                </a:spcBef>
              </a:pPr>
              <a:r>
                <a:rPr kumimoji="1" lang="zh-CN" altLang="en-US" sz="2400" b="1">
                  <a:latin typeface="Arial Narrow" pitchFamily="34" charset="0"/>
                </a:rPr>
                <a:t>铜屏蔽</a:t>
              </a:r>
            </a:p>
            <a:p>
              <a:pPr algn="r" defTabSz="762000" eaLnBrk="0" hangingPunct="0">
                <a:lnSpc>
                  <a:spcPct val="85000"/>
                </a:lnSpc>
                <a:spcBef>
                  <a:spcPct val="50000"/>
                </a:spcBef>
              </a:pPr>
              <a:r>
                <a:rPr kumimoji="1" lang="zh-CN" altLang="en-US" sz="2400" b="1">
                  <a:latin typeface="Arial Narrow" pitchFamily="34" charset="0"/>
                </a:rPr>
                <a:t>外套</a:t>
              </a:r>
            </a:p>
          </p:txBody>
        </p:sp>
        <p:sp>
          <p:nvSpPr>
            <p:cNvPr id="169024" name="Line 64"/>
            <p:cNvSpPr>
              <a:spLocks noChangeShapeType="1"/>
            </p:cNvSpPr>
            <p:nvPr/>
          </p:nvSpPr>
          <p:spPr bwMode="auto">
            <a:xfrm>
              <a:off x="1749" y="1988"/>
              <a:ext cx="626" cy="9"/>
            </a:xfrm>
            <a:prstGeom prst="line">
              <a:avLst/>
            </a:prstGeom>
            <a:noFill/>
            <a:ln w="50799">
              <a:solidFill>
                <a:srgbClr val="99FF99"/>
              </a:solidFill>
              <a:round/>
              <a:headEnd type="none" w="sm" len="sm"/>
              <a:tailEnd type="stealth" w="med" len="med"/>
            </a:ln>
            <a:effectLst/>
          </p:spPr>
          <p:txBody>
            <a:bodyPr wrap="none" anchor="ctr"/>
            <a:lstStyle/>
            <a:p>
              <a:endParaRPr lang="zh-CN" altLang="en-US"/>
            </a:p>
          </p:txBody>
        </p:sp>
        <p:sp>
          <p:nvSpPr>
            <p:cNvPr id="169025" name="Line 65"/>
            <p:cNvSpPr>
              <a:spLocks noChangeShapeType="1"/>
            </p:cNvSpPr>
            <p:nvPr/>
          </p:nvSpPr>
          <p:spPr bwMode="auto">
            <a:xfrm>
              <a:off x="1749" y="2699"/>
              <a:ext cx="283" cy="1"/>
            </a:xfrm>
            <a:prstGeom prst="line">
              <a:avLst/>
            </a:prstGeom>
            <a:noFill/>
            <a:ln w="50799">
              <a:solidFill>
                <a:srgbClr val="99FF99"/>
              </a:solidFill>
              <a:round/>
              <a:headEnd type="none" w="sm" len="sm"/>
              <a:tailEnd type="stealth" w="med" len="med"/>
            </a:ln>
            <a:effectLst/>
          </p:spPr>
          <p:txBody>
            <a:bodyPr wrap="none" anchor="ctr"/>
            <a:lstStyle/>
            <a:p>
              <a:endParaRPr lang="zh-CN" altLang="en-US"/>
            </a:p>
          </p:txBody>
        </p:sp>
        <p:sp>
          <p:nvSpPr>
            <p:cNvPr id="169026" name="Line 66"/>
            <p:cNvSpPr>
              <a:spLocks noChangeShapeType="1"/>
            </p:cNvSpPr>
            <p:nvPr/>
          </p:nvSpPr>
          <p:spPr bwMode="auto">
            <a:xfrm>
              <a:off x="1741" y="1740"/>
              <a:ext cx="634" cy="0"/>
            </a:xfrm>
            <a:prstGeom prst="line">
              <a:avLst/>
            </a:prstGeom>
            <a:noFill/>
            <a:ln w="50799">
              <a:solidFill>
                <a:srgbClr val="99FF99"/>
              </a:solidFill>
              <a:round/>
              <a:headEnd type="none" w="sm" len="sm"/>
              <a:tailEnd type="stealth" w="med" len="med"/>
            </a:ln>
            <a:effectLst/>
          </p:spPr>
          <p:txBody>
            <a:bodyPr wrap="none" anchor="ctr"/>
            <a:lstStyle/>
            <a:p>
              <a:endParaRPr lang="zh-CN" altLang="en-US"/>
            </a:p>
          </p:txBody>
        </p:sp>
        <p:sp>
          <p:nvSpPr>
            <p:cNvPr id="169027" name="Line 67"/>
            <p:cNvSpPr>
              <a:spLocks noChangeShapeType="1"/>
            </p:cNvSpPr>
            <p:nvPr/>
          </p:nvSpPr>
          <p:spPr bwMode="auto">
            <a:xfrm flipV="1">
              <a:off x="1732" y="2340"/>
              <a:ext cx="480" cy="9"/>
            </a:xfrm>
            <a:prstGeom prst="line">
              <a:avLst/>
            </a:prstGeom>
            <a:noFill/>
            <a:ln w="50799">
              <a:solidFill>
                <a:srgbClr val="99FF99"/>
              </a:solidFill>
              <a:round/>
              <a:headEnd type="none" w="sm" len="sm"/>
              <a:tailEnd type="stealth" w="med" len="med"/>
            </a:ln>
            <a:effectLst/>
          </p:spPr>
          <p:txBody>
            <a:bodyPr wrap="none" anchor="ctr"/>
            <a:lstStyle/>
            <a:p>
              <a:endParaRPr lang="zh-CN" altLang="en-US"/>
            </a:p>
          </p:txBody>
        </p:sp>
        <p:sp>
          <p:nvSpPr>
            <p:cNvPr id="169028" name="Line 68"/>
            <p:cNvSpPr>
              <a:spLocks noChangeShapeType="1"/>
            </p:cNvSpPr>
            <p:nvPr/>
          </p:nvSpPr>
          <p:spPr bwMode="auto">
            <a:xfrm flipV="1">
              <a:off x="1742" y="1449"/>
              <a:ext cx="641" cy="3"/>
            </a:xfrm>
            <a:prstGeom prst="line">
              <a:avLst/>
            </a:prstGeom>
            <a:noFill/>
            <a:ln w="50799">
              <a:solidFill>
                <a:srgbClr val="99FF99"/>
              </a:solidFill>
              <a:round/>
              <a:headEnd type="none" w="sm" len="sm"/>
              <a:tailEnd type="stealth" w="med" len="med"/>
            </a:ln>
            <a:effectLst/>
          </p:spPr>
          <p:txBody>
            <a:bodyPr wrap="none" anchor="ctr"/>
            <a:lstStyle/>
            <a:p>
              <a:endParaRPr lang="zh-CN" altLang="en-US"/>
            </a:p>
          </p:txBody>
        </p:sp>
      </p:grpSp>
      <p:sp>
        <p:nvSpPr>
          <p:cNvPr id="169029" name="Text Box 69"/>
          <p:cNvSpPr txBox="1">
            <a:spLocks noChangeArrowheads="1"/>
          </p:cNvSpPr>
          <p:nvPr/>
        </p:nvSpPr>
        <p:spPr bwMode="auto">
          <a:xfrm>
            <a:off x="5321300" y="2959100"/>
            <a:ext cx="3733800" cy="3444875"/>
          </a:xfrm>
          <a:prstGeom prst="rect">
            <a:avLst/>
          </a:prstGeom>
          <a:noFill/>
          <a:ln w="12700">
            <a:noFill/>
            <a:miter lim="800000"/>
            <a:headEnd type="none" w="sm" len="sm"/>
            <a:tailEnd type="none" w="lg" len="med"/>
          </a:ln>
          <a:effectLst/>
        </p:spPr>
        <p:txBody>
          <a:bodyPr>
            <a:spAutoFit/>
          </a:bodyPr>
          <a:lstStyle/>
          <a:p>
            <a:pPr defTabSz="762000" eaLnBrk="0" hangingPunct="0"/>
            <a:r>
              <a:rPr kumimoji="1" lang="en-US" altLang="zh-CN" sz="2000" b="1">
                <a:latin typeface="Arial" pitchFamily="34" charset="0"/>
              </a:rPr>
              <a:t>--</a:t>
            </a:r>
            <a:r>
              <a:rPr kumimoji="1" lang="zh-CN" altLang="en-US" sz="2000" b="1">
                <a:latin typeface="CordiaUPC" pitchFamily="34" charset="-34"/>
              </a:rPr>
              <a:t>螺旋绞合的双导线，</a:t>
            </a:r>
            <a:r>
              <a:rPr kumimoji="1" lang="zh-CN" altLang="en-US" sz="2000" b="1">
                <a:latin typeface="CordiaUPC" pitchFamily="34" charset="-34"/>
                <a:sym typeface="Symbol" pitchFamily="18" charset="2"/>
              </a:rPr>
              <a:t>≈</a:t>
            </a:r>
            <a:r>
              <a:rPr kumimoji="1" lang="en-US" altLang="zh-CN" sz="2000" b="1">
                <a:latin typeface="Arial" pitchFamily="34" charset="0"/>
                <a:sym typeface="Symbol" pitchFamily="18" charset="2"/>
              </a:rPr>
              <a:t>1mm</a:t>
            </a:r>
          </a:p>
          <a:p>
            <a:pPr defTabSz="762000" eaLnBrk="0" hangingPunct="0"/>
            <a:r>
              <a:rPr kumimoji="1" lang="en-US" altLang="zh-CN" sz="2000" b="1">
                <a:latin typeface="Arial" pitchFamily="34" charset="0"/>
                <a:sym typeface="Symbol" pitchFamily="18" charset="2"/>
              </a:rPr>
              <a:t>--</a:t>
            </a:r>
            <a:r>
              <a:rPr kumimoji="1" lang="zh-CN" altLang="en-US" sz="2000" b="1">
                <a:latin typeface="Arial" pitchFamily="34" charset="0"/>
                <a:sym typeface="Symbol" pitchFamily="18" charset="2"/>
              </a:rPr>
              <a:t>每根</a:t>
            </a:r>
            <a:r>
              <a:rPr kumimoji="1" lang="en-US" altLang="zh-CN" sz="2000" b="1">
                <a:latin typeface="Arial" pitchFamily="34" charset="0"/>
                <a:sym typeface="Symbol" pitchFamily="18" charset="2"/>
              </a:rPr>
              <a:t>4</a:t>
            </a:r>
            <a:r>
              <a:rPr kumimoji="1" lang="zh-CN" altLang="en-US" sz="2000" b="1">
                <a:latin typeface="Arial" pitchFamily="34" charset="0"/>
                <a:sym typeface="Symbol" pitchFamily="18" charset="2"/>
              </a:rPr>
              <a:t>对、</a:t>
            </a:r>
            <a:r>
              <a:rPr kumimoji="1" lang="en-US" altLang="zh-CN" sz="2000" b="1">
                <a:latin typeface="Arial" pitchFamily="34" charset="0"/>
                <a:sym typeface="Symbol" pitchFamily="18" charset="2"/>
              </a:rPr>
              <a:t>25</a:t>
            </a:r>
            <a:r>
              <a:rPr kumimoji="1" lang="zh-CN" altLang="en-US" sz="2000" b="1">
                <a:latin typeface="Arial" pitchFamily="34" charset="0"/>
                <a:sym typeface="Symbol" pitchFamily="18" charset="2"/>
              </a:rPr>
              <a:t>对、</a:t>
            </a:r>
            <a:r>
              <a:rPr kumimoji="1" lang="en-US" altLang="zh-CN" sz="2000" b="1">
                <a:latin typeface="Arial" pitchFamily="34" charset="0"/>
                <a:sym typeface="Symbol" pitchFamily="18" charset="2"/>
              </a:rPr>
              <a:t>1800</a:t>
            </a:r>
            <a:r>
              <a:rPr kumimoji="1" lang="zh-CN" altLang="en-US" sz="2000" b="1">
                <a:latin typeface="Arial" pitchFamily="34" charset="0"/>
                <a:sym typeface="Symbol" pitchFamily="18" charset="2"/>
              </a:rPr>
              <a:t>对</a:t>
            </a:r>
          </a:p>
          <a:p>
            <a:pPr defTabSz="762000" eaLnBrk="0" hangingPunct="0"/>
            <a:r>
              <a:rPr kumimoji="1" lang="en-US" altLang="zh-CN" sz="2000" b="1">
                <a:latin typeface="Arial" pitchFamily="34" charset="0"/>
                <a:sym typeface="Symbol" pitchFamily="18" charset="2"/>
              </a:rPr>
              <a:t>--</a:t>
            </a:r>
            <a:r>
              <a:rPr kumimoji="1" lang="zh-CN" altLang="en-US" sz="2000" b="1">
                <a:latin typeface="Arial" pitchFamily="34" charset="0"/>
                <a:sym typeface="Symbol" pitchFamily="18" charset="2"/>
              </a:rPr>
              <a:t>典型连接距离</a:t>
            </a:r>
            <a:r>
              <a:rPr kumimoji="1" lang="en-US" altLang="zh-CN" sz="2000" b="1">
                <a:latin typeface="Arial" pitchFamily="34" charset="0"/>
                <a:sym typeface="Symbol" pitchFamily="18" charset="2"/>
              </a:rPr>
              <a:t>100m</a:t>
            </a:r>
            <a:r>
              <a:rPr kumimoji="1" lang="zh-CN" altLang="en-US" sz="2000" b="1">
                <a:latin typeface="Arial" pitchFamily="34" charset="0"/>
                <a:sym typeface="Symbol" pitchFamily="18" charset="2"/>
              </a:rPr>
              <a:t>（</a:t>
            </a:r>
            <a:r>
              <a:rPr kumimoji="1" lang="en-US" altLang="zh-CN" sz="2000" b="1">
                <a:latin typeface="Arial" pitchFamily="34" charset="0"/>
                <a:sym typeface="Symbol" pitchFamily="18" charset="2"/>
              </a:rPr>
              <a:t>LAN</a:t>
            </a:r>
            <a:r>
              <a:rPr kumimoji="1" lang="zh-CN" altLang="en-US" sz="2000" b="1">
                <a:latin typeface="Arial" pitchFamily="34" charset="0"/>
                <a:sym typeface="Symbol" pitchFamily="18" charset="2"/>
              </a:rPr>
              <a:t>）</a:t>
            </a:r>
          </a:p>
          <a:p>
            <a:pPr defTabSz="762000" eaLnBrk="0" hangingPunct="0"/>
            <a:r>
              <a:rPr kumimoji="1" lang="en-US" altLang="zh-CN" sz="2000" b="1">
                <a:latin typeface="Arial" pitchFamily="34" charset="0"/>
                <a:sym typeface="Symbol" pitchFamily="18" charset="2"/>
              </a:rPr>
              <a:t>--</a:t>
            </a:r>
            <a:r>
              <a:rPr kumimoji="1" lang="zh-CN" altLang="en-US" sz="2000" b="1">
                <a:latin typeface="Arial" pitchFamily="34" charset="0"/>
                <a:sym typeface="Symbol" pitchFamily="18" charset="2"/>
              </a:rPr>
              <a:t>连接部件：</a:t>
            </a:r>
            <a:r>
              <a:rPr kumimoji="1" lang="en-US" altLang="zh-CN" sz="2000" b="1">
                <a:latin typeface="Arial" pitchFamily="34" charset="0"/>
                <a:sym typeface="Symbol" pitchFamily="18" charset="2"/>
              </a:rPr>
              <a:t>RJ45</a:t>
            </a:r>
            <a:r>
              <a:rPr kumimoji="1" lang="zh-CN" altLang="en-US" sz="2000" b="1">
                <a:latin typeface="Arial" pitchFamily="34" charset="0"/>
                <a:sym typeface="Symbol" pitchFamily="18" charset="2"/>
              </a:rPr>
              <a:t>插座、插头</a:t>
            </a:r>
          </a:p>
          <a:p>
            <a:pPr defTabSz="762000" eaLnBrk="0" hangingPunct="0"/>
            <a:r>
              <a:rPr kumimoji="1" lang="en-US" altLang="zh-CN" sz="2000" b="1">
                <a:latin typeface="Arial" pitchFamily="34" charset="0"/>
                <a:sym typeface="Symbol" pitchFamily="18" charset="2"/>
              </a:rPr>
              <a:t>--</a:t>
            </a:r>
            <a:r>
              <a:rPr kumimoji="1" lang="zh-CN" altLang="en-US" sz="2000" b="1">
                <a:latin typeface="Arial" pitchFamily="34" charset="0"/>
                <a:sym typeface="Symbol" pitchFamily="18" charset="2"/>
              </a:rPr>
              <a:t>优缺点：</a:t>
            </a:r>
          </a:p>
          <a:p>
            <a:pPr defTabSz="762000" eaLnBrk="0" hangingPunct="0"/>
            <a:r>
              <a:rPr kumimoji="1" lang="zh-CN" altLang="en-US" sz="2000" b="1">
                <a:latin typeface="Arial" pitchFamily="34" charset="0"/>
                <a:sym typeface="Symbol" pitchFamily="18" charset="2"/>
              </a:rPr>
              <a:t>      成本低</a:t>
            </a:r>
          </a:p>
          <a:p>
            <a:pPr defTabSz="762000" eaLnBrk="0" hangingPunct="0"/>
            <a:r>
              <a:rPr kumimoji="1" lang="zh-CN" altLang="en-US" sz="2000" b="1">
                <a:latin typeface="Arial" pitchFamily="34" charset="0"/>
                <a:sym typeface="Symbol" pitchFamily="18" charset="2"/>
              </a:rPr>
              <a:t>      密度高、节省空间</a:t>
            </a:r>
          </a:p>
          <a:p>
            <a:pPr defTabSz="762000" eaLnBrk="0" hangingPunct="0"/>
            <a:r>
              <a:rPr kumimoji="1" lang="zh-CN" altLang="en-US" sz="2000" b="1">
                <a:latin typeface="Arial" pitchFamily="34" charset="0"/>
                <a:sym typeface="Symbol" pitchFamily="18" charset="2"/>
              </a:rPr>
              <a:t>      安装容易（综合布线系统）</a:t>
            </a:r>
          </a:p>
          <a:p>
            <a:pPr defTabSz="762000" eaLnBrk="0" hangingPunct="0"/>
            <a:r>
              <a:rPr kumimoji="1" lang="zh-CN" altLang="en-US" sz="2000" b="1">
                <a:latin typeface="Arial" pitchFamily="34" charset="0"/>
                <a:sym typeface="Symbol" pitchFamily="18" charset="2"/>
              </a:rPr>
              <a:t>      平衡传输（高速率）</a:t>
            </a:r>
          </a:p>
          <a:p>
            <a:pPr defTabSz="762000" eaLnBrk="0" hangingPunct="0"/>
            <a:r>
              <a:rPr kumimoji="1" lang="zh-CN" altLang="en-US" sz="2000" b="1">
                <a:latin typeface="Arial" pitchFamily="34" charset="0"/>
                <a:sym typeface="Symbol" pitchFamily="18" charset="2"/>
              </a:rPr>
              <a:t>      抗干扰性一般</a:t>
            </a:r>
          </a:p>
          <a:p>
            <a:pPr defTabSz="762000" eaLnBrk="0" hangingPunct="0"/>
            <a:r>
              <a:rPr kumimoji="1" lang="zh-CN" altLang="en-US" sz="2000" b="1">
                <a:latin typeface="Arial" pitchFamily="34" charset="0"/>
                <a:sym typeface="Symbol" pitchFamily="18" charset="2"/>
              </a:rPr>
              <a:t>      连接距离较短</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CN" altLang="en-US" sz="4000" dirty="0" smtClean="0"/>
              <a:t>导向</a:t>
            </a:r>
            <a:r>
              <a:rPr lang="zh-CN" altLang="en-US" sz="4000" dirty="0"/>
              <a:t>传输媒体</a:t>
            </a:r>
            <a:r>
              <a:rPr lang="en-US" altLang="zh-CN" sz="4000" dirty="0">
                <a:latin typeface="Arial"/>
              </a:rPr>
              <a:t>——</a:t>
            </a:r>
            <a:r>
              <a:rPr lang="zh-CN" altLang="en-US" sz="4000" dirty="0"/>
              <a:t>双绞线</a:t>
            </a:r>
            <a:r>
              <a:rPr lang="en-US" altLang="zh-CN" sz="4000" dirty="0"/>
              <a:t>(3)</a:t>
            </a:r>
          </a:p>
        </p:txBody>
      </p:sp>
      <p:sp>
        <p:nvSpPr>
          <p:cNvPr id="142339" name="Rectangle 3"/>
          <p:cNvSpPr>
            <a:spLocks noGrp="1" noChangeArrowheads="1"/>
          </p:cNvSpPr>
          <p:nvPr>
            <p:ph type="body" idx="1"/>
          </p:nvPr>
        </p:nvSpPr>
        <p:spPr/>
        <p:txBody>
          <a:bodyPr/>
          <a:lstStyle/>
          <a:p>
            <a:r>
              <a:rPr lang="zh-CN" altLang="en-US" sz="2400" b="1" dirty="0"/>
              <a:t>双绞线可分为非屏蔽双绞线</a:t>
            </a:r>
            <a:r>
              <a:rPr lang="en-US" altLang="zh-CN" sz="2400" b="1" dirty="0"/>
              <a:t>UTP(Unshielded Twisted pair)</a:t>
            </a:r>
            <a:r>
              <a:rPr lang="zh-CN" altLang="en-US" sz="2400" b="1" dirty="0"/>
              <a:t>和屏蔽双绞线</a:t>
            </a:r>
            <a:r>
              <a:rPr lang="en-US" altLang="zh-CN" sz="2400" b="1" dirty="0"/>
              <a:t>STP(Shielded Twisted Pair)</a:t>
            </a:r>
            <a:r>
              <a:rPr lang="zh-CN" altLang="en-US" sz="2400" b="1" dirty="0"/>
              <a:t>。其中，</a:t>
            </a:r>
            <a:r>
              <a:rPr lang="en-US" altLang="zh-CN" sz="2400" b="1" dirty="0"/>
              <a:t>STP</a:t>
            </a:r>
            <a:r>
              <a:rPr lang="zh-CN" altLang="en-US" sz="2400" b="1" dirty="0"/>
              <a:t>可分为第</a:t>
            </a:r>
            <a:r>
              <a:rPr lang="en-US" altLang="zh-CN" sz="2400" b="1" dirty="0"/>
              <a:t>3</a:t>
            </a:r>
            <a:r>
              <a:rPr lang="zh-CN" altLang="en-US" sz="2400" b="1" dirty="0"/>
              <a:t>类和第</a:t>
            </a:r>
            <a:r>
              <a:rPr lang="en-US" altLang="zh-CN" sz="2400" b="1" dirty="0"/>
              <a:t>5</a:t>
            </a:r>
            <a:r>
              <a:rPr lang="zh-CN" altLang="en-US" sz="2400" b="1" dirty="0"/>
              <a:t>类两种；而</a:t>
            </a:r>
            <a:r>
              <a:rPr lang="en-US" altLang="zh-CN" sz="2400" b="1" dirty="0"/>
              <a:t>UTP</a:t>
            </a:r>
            <a:r>
              <a:rPr lang="zh-CN" altLang="en-US" sz="2400" b="1" dirty="0"/>
              <a:t>可分为第</a:t>
            </a:r>
            <a:r>
              <a:rPr lang="en-US" altLang="zh-CN" sz="2400" b="1" dirty="0"/>
              <a:t>3</a:t>
            </a:r>
            <a:r>
              <a:rPr lang="zh-CN" altLang="en-US" sz="2400" b="1" dirty="0"/>
              <a:t>类、第</a:t>
            </a:r>
            <a:r>
              <a:rPr lang="en-US" altLang="zh-CN" sz="2400" b="1" dirty="0"/>
              <a:t>4</a:t>
            </a:r>
            <a:r>
              <a:rPr lang="zh-CN" altLang="en-US" sz="2400" b="1" dirty="0"/>
              <a:t>类、第</a:t>
            </a:r>
            <a:r>
              <a:rPr lang="en-US" altLang="zh-CN" sz="2400" b="1" dirty="0"/>
              <a:t>5</a:t>
            </a:r>
            <a:r>
              <a:rPr lang="zh-CN" altLang="en-US" sz="2400" b="1" dirty="0"/>
              <a:t>类和超</a:t>
            </a:r>
            <a:r>
              <a:rPr lang="en-US" altLang="zh-CN" sz="2400" b="1" dirty="0"/>
              <a:t>5</a:t>
            </a:r>
            <a:r>
              <a:rPr lang="zh-CN" altLang="en-US" sz="2400" b="1" dirty="0"/>
              <a:t>类等形式</a:t>
            </a:r>
            <a:r>
              <a:rPr lang="en-US" altLang="zh-CN" sz="2400" b="1" dirty="0"/>
              <a:t>.</a:t>
            </a:r>
          </a:p>
          <a:p>
            <a:r>
              <a:rPr lang="en-US" altLang="zh-CN" sz="2400" b="1" dirty="0"/>
              <a:t>(1)</a:t>
            </a:r>
            <a:r>
              <a:rPr lang="zh-CN" altLang="en-US" sz="2400" b="1" dirty="0"/>
              <a:t>第</a:t>
            </a:r>
            <a:r>
              <a:rPr lang="en-US" altLang="zh-CN" sz="2400" b="1" dirty="0"/>
              <a:t>3</a:t>
            </a:r>
            <a:r>
              <a:rPr lang="zh-CN" altLang="en-US" sz="2400" b="1" dirty="0"/>
              <a:t>类  该电缆最高传输速率为</a:t>
            </a:r>
            <a:r>
              <a:rPr lang="en-US" altLang="zh-CN" sz="2400" b="1" dirty="0"/>
              <a:t>10Mb</a:t>
            </a:r>
            <a:r>
              <a:rPr lang="zh-CN" altLang="en-US" sz="2400" b="1" dirty="0"/>
              <a:t>／</a:t>
            </a:r>
            <a:r>
              <a:rPr lang="en-US" altLang="zh-CN" sz="2400" b="1" dirty="0"/>
              <a:t>s</a:t>
            </a:r>
            <a:r>
              <a:rPr lang="zh-CN" altLang="en-US" sz="2400" b="1" dirty="0"/>
              <a:t>的数据。</a:t>
            </a:r>
          </a:p>
          <a:p>
            <a:r>
              <a:rPr lang="en-US" altLang="zh-CN" sz="2400" b="1" dirty="0"/>
              <a:t>(2)</a:t>
            </a:r>
            <a:r>
              <a:rPr lang="zh-CN" altLang="en-US" sz="2400" b="1" dirty="0"/>
              <a:t>第</a:t>
            </a:r>
            <a:r>
              <a:rPr lang="en-US" altLang="zh-CN" sz="2400" b="1" dirty="0"/>
              <a:t>4</a:t>
            </a:r>
            <a:r>
              <a:rPr lang="zh-CN" altLang="en-US" sz="2400" b="1" dirty="0"/>
              <a:t>类  该类电缆最高传输率为</a:t>
            </a:r>
            <a:r>
              <a:rPr lang="en-US" altLang="zh-CN" sz="2400" b="1" dirty="0"/>
              <a:t>16Mb</a:t>
            </a:r>
            <a:r>
              <a:rPr lang="zh-CN" altLang="en-US" sz="2400" b="1" dirty="0"/>
              <a:t>／</a:t>
            </a:r>
            <a:r>
              <a:rPr lang="en-US" altLang="zh-CN" sz="2400" b="1" dirty="0"/>
              <a:t>s</a:t>
            </a:r>
            <a:r>
              <a:rPr lang="zh-CN" altLang="en-US" sz="2400" b="1" dirty="0"/>
              <a:t>的数据。</a:t>
            </a:r>
          </a:p>
          <a:p>
            <a:r>
              <a:rPr lang="en-US" altLang="zh-CN" sz="2400" b="1" dirty="0"/>
              <a:t>(3)</a:t>
            </a:r>
            <a:r>
              <a:rPr lang="zh-CN" altLang="en-US" sz="2400" b="1" dirty="0"/>
              <a:t>第</a:t>
            </a:r>
            <a:r>
              <a:rPr lang="en-US" altLang="zh-CN" sz="2400" b="1" dirty="0"/>
              <a:t>5</a:t>
            </a:r>
            <a:r>
              <a:rPr lang="zh-CN" altLang="en-US" sz="2400" b="1" dirty="0"/>
              <a:t>类  该类电缆增加了绕线密度，外套一种高质量的绝缘材料．最高传输速率为</a:t>
            </a:r>
            <a:r>
              <a:rPr lang="en-US" altLang="zh-CN" sz="2400" b="1" dirty="0"/>
              <a:t>100 Mb</a:t>
            </a:r>
            <a:r>
              <a:rPr lang="zh-CN" altLang="en-US" sz="2400" b="1" dirty="0"/>
              <a:t>／</a:t>
            </a:r>
            <a:r>
              <a:rPr lang="en-US" altLang="zh-CN" sz="2400" b="1" dirty="0"/>
              <a:t>s</a:t>
            </a:r>
            <a:r>
              <a:rPr lang="zh-CN" altLang="en-US" sz="2400" b="1" dirty="0"/>
              <a:t>或更高的数据传输</a:t>
            </a:r>
            <a:r>
              <a:rPr lang="zh-CN" altLang="en-US" sz="2400" b="1" dirty="0" smtClean="0"/>
              <a:t>。</a:t>
            </a:r>
            <a:endParaRPr lang="en-US" altLang="zh-CN" sz="24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zh-CN" altLang="en-US" sz="4000" dirty="0" smtClean="0"/>
              <a:t>导向</a:t>
            </a:r>
            <a:r>
              <a:rPr lang="zh-CN" altLang="en-US" sz="4000" dirty="0"/>
              <a:t>传输媒体</a:t>
            </a:r>
            <a:r>
              <a:rPr lang="en-US" altLang="zh-CN" sz="4000" dirty="0">
                <a:latin typeface="Arial"/>
              </a:rPr>
              <a:t>——</a:t>
            </a:r>
            <a:r>
              <a:rPr lang="zh-CN" altLang="en-US" sz="4000" dirty="0"/>
              <a:t>双绞线</a:t>
            </a:r>
            <a:r>
              <a:rPr lang="en-US" altLang="zh-CN" sz="4000" dirty="0"/>
              <a:t>(4)</a:t>
            </a:r>
          </a:p>
        </p:txBody>
      </p:sp>
      <p:sp>
        <p:nvSpPr>
          <p:cNvPr id="169989" name="Rectangle 5"/>
          <p:cNvSpPr>
            <a:spLocks noChangeArrowheads="1"/>
          </p:cNvSpPr>
          <p:nvPr/>
        </p:nvSpPr>
        <p:spPr bwMode="auto">
          <a:xfrm>
            <a:off x="684213" y="1916113"/>
            <a:ext cx="3124200" cy="1066800"/>
          </a:xfrm>
          <a:prstGeom prst="rect">
            <a:avLst/>
          </a:prstGeom>
          <a:noFill/>
          <a:ln w="9525">
            <a:noFill/>
            <a:miter lim="800000"/>
            <a:headEnd/>
            <a:tailEnd/>
          </a:ln>
          <a:effectLst/>
        </p:spPr>
        <p:txBody>
          <a:bodyPr lIns="92075" tIns="46038" rIns="92075" bIns="46038"/>
          <a:lstStyle/>
          <a:p>
            <a:pPr marL="342900" indent="-342900">
              <a:spcBef>
                <a:spcPct val="20000"/>
              </a:spcBef>
              <a:buClr>
                <a:schemeClr val="folHlink"/>
              </a:buClr>
              <a:buSzPct val="60000"/>
              <a:buFont typeface="Wingdings" pitchFamily="2" charset="2"/>
              <a:buChar char="n"/>
            </a:pPr>
            <a:r>
              <a:rPr lang="zh-CN" altLang="en-US" sz="2400"/>
              <a:t>以铝箔屏蔽以减少 </a:t>
            </a:r>
          </a:p>
          <a:p>
            <a:pPr marL="342900" indent="-342900">
              <a:spcBef>
                <a:spcPct val="50000"/>
              </a:spcBef>
              <a:buClr>
                <a:schemeClr val="folHlink"/>
              </a:buClr>
              <a:buSzPct val="60000"/>
              <a:buFont typeface="Wingdings" pitchFamily="2" charset="2"/>
              <a:buNone/>
            </a:pPr>
            <a:r>
              <a:rPr lang="zh-CN" altLang="en-US" sz="2400"/>
              <a:t>     干扰和串音</a:t>
            </a:r>
          </a:p>
        </p:txBody>
      </p:sp>
      <p:pic>
        <p:nvPicPr>
          <p:cNvPr id="169990" name="Picture 6"/>
          <p:cNvPicPr>
            <a:picLocks noChangeArrowheads="1"/>
          </p:cNvPicPr>
          <p:nvPr/>
        </p:nvPicPr>
        <p:blipFill>
          <a:blip r:embed="rId2" cstate="print"/>
          <a:srcRect/>
          <a:stretch>
            <a:fillRect/>
          </a:stretch>
        </p:blipFill>
        <p:spPr bwMode="auto">
          <a:xfrm>
            <a:off x="609600" y="3200400"/>
            <a:ext cx="2970213" cy="2971800"/>
          </a:xfrm>
          <a:prstGeom prst="rect">
            <a:avLst/>
          </a:prstGeom>
          <a:noFill/>
          <a:ln w="50799">
            <a:solidFill>
              <a:schemeClr val="tx1"/>
            </a:solidFill>
            <a:miter lim="800000"/>
            <a:headEnd/>
            <a:tailEnd/>
          </a:ln>
          <a:effectLst/>
        </p:spPr>
      </p:pic>
      <p:sp>
        <p:nvSpPr>
          <p:cNvPr id="169991" name="Text Box 7"/>
          <p:cNvSpPr txBox="1">
            <a:spLocks noChangeArrowheads="1"/>
          </p:cNvSpPr>
          <p:nvPr/>
        </p:nvSpPr>
        <p:spPr bwMode="auto">
          <a:xfrm>
            <a:off x="4787900" y="1844675"/>
            <a:ext cx="4032250" cy="1127125"/>
          </a:xfrm>
          <a:prstGeom prst="rect">
            <a:avLst/>
          </a:prstGeom>
          <a:noFill/>
          <a:ln w="12699">
            <a:noFill/>
            <a:miter lim="800000"/>
            <a:headEnd type="none" w="sm" len="sm"/>
            <a:tailEnd type="none" w="sm" len="sm"/>
          </a:ln>
          <a:effectLst/>
        </p:spPr>
        <p:txBody>
          <a:bodyPr>
            <a:spAutoFit/>
          </a:bodyPr>
          <a:lstStyle/>
          <a:p>
            <a:pPr marL="190500" lvl="1" defTabSz="762000"/>
            <a:r>
              <a:rPr kumimoji="1" lang="en-US" altLang="zh-CN" sz="2400">
                <a:latin typeface="Times New Roman" pitchFamily="18" charset="0"/>
              </a:rPr>
              <a:t>3</a:t>
            </a:r>
            <a:r>
              <a:rPr kumimoji="1" lang="zh-CN" altLang="en-US" sz="2400">
                <a:latin typeface="Times New Roman" pitchFamily="18" charset="0"/>
              </a:rPr>
              <a:t>类、</a:t>
            </a:r>
            <a:r>
              <a:rPr kumimoji="1" lang="en-US" altLang="zh-CN" sz="2400">
                <a:latin typeface="Times New Roman" pitchFamily="18" charset="0"/>
              </a:rPr>
              <a:t>5</a:t>
            </a:r>
            <a:r>
              <a:rPr kumimoji="1" lang="zh-CN" altLang="en-US" sz="2400">
                <a:latin typeface="Times New Roman" pitchFamily="18" charset="0"/>
              </a:rPr>
              <a:t>类、</a:t>
            </a:r>
            <a:r>
              <a:rPr kumimoji="1" lang="en-US" altLang="zh-CN" sz="2400">
                <a:latin typeface="Times New Roman" pitchFamily="18" charset="0"/>
              </a:rPr>
              <a:t>6</a:t>
            </a:r>
            <a:r>
              <a:rPr kumimoji="1" lang="zh-CN" altLang="en-US" sz="2400">
                <a:latin typeface="Times New Roman" pitchFamily="18" charset="0"/>
              </a:rPr>
              <a:t>类</a:t>
            </a:r>
          </a:p>
          <a:p>
            <a:pPr marL="190500" lvl="1" defTabSz="762000"/>
            <a:r>
              <a:rPr kumimoji="1" lang="zh-CN" altLang="en-US" sz="2000">
                <a:latin typeface="Times New Roman" pitchFamily="18" charset="0"/>
              </a:rPr>
              <a:t>（</a:t>
            </a:r>
            <a:r>
              <a:rPr kumimoji="1" lang="en-US" altLang="zh-CN" sz="2000">
                <a:latin typeface="Times New Roman" pitchFamily="18" charset="0"/>
              </a:rPr>
              <a:t>16M</a:t>
            </a:r>
            <a:r>
              <a:rPr kumimoji="1" lang="zh-CN" altLang="en-US" sz="2000">
                <a:latin typeface="Times New Roman" pitchFamily="18" charset="0"/>
              </a:rPr>
              <a:t>、</a:t>
            </a:r>
            <a:r>
              <a:rPr kumimoji="1" lang="en-US" altLang="zh-CN" sz="2000">
                <a:latin typeface="Times New Roman" pitchFamily="18" charset="0"/>
              </a:rPr>
              <a:t>155M</a:t>
            </a:r>
            <a:r>
              <a:rPr kumimoji="1" lang="zh-CN" altLang="en-US" sz="2000">
                <a:latin typeface="Times New Roman" pitchFamily="18" charset="0"/>
              </a:rPr>
              <a:t>、</a:t>
            </a:r>
            <a:r>
              <a:rPr kumimoji="1" lang="en-US" altLang="zh-CN" sz="2000">
                <a:latin typeface="Times New Roman" pitchFamily="18" charset="0"/>
              </a:rPr>
              <a:t>1200M</a:t>
            </a:r>
            <a:r>
              <a:rPr kumimoji="1" lang="zh-CN" altLang="en-US" sz="2000">
                <a:latin typeface="Times New Roman" pitchFamily="18" charset="0"/>
              </a:rPr>
              <a:t>）</a:t>
            </a:r>
          </a:p>
          <a:p>
            <a:pPr marL="190500" lvl="1" defTabSz="762000"/>
            <a:r>
              <a:rPr kumimoji="1" lang="zh-CN" altLang="en-US" sz="2400">
                <a:latin typeface="Times New Roman" pitchFamily="18" charset="0"/>
              </a:rPr>
              <a:t>双绞线外没有任何附加屏蔽</a:t>
            </a:r>
            <a:endParaRPr kumimoji="1" lang="zh-CN" altLang="en-US" sz="2400">
              <a:latin typeface="CordiaUPC" pitchFamily="34" charset="-34"/>
            </a:endParaRPr>
          </a:p>
        </p:txBody>
      </p:sp>
      <p:pic>
        <p:nvPicPr>
          <p:cNvPr id="169992" name="Picture 8"/>
          <p:cNvPicPr>
            <a:picLocks noChangeArrowheads="1"/>
          </p:cNvPicPr>
          <p:nvPr/>
        </p:nvPicPr>
        <p:blipFill>
          <a:blip r:embed="rId3" cstate="print"/>
          <a:srcRect/>
          <a:stretch>
            <a:fillRect/>
          </a:stretch>
        </p:blipFill>
        <p:spPr bwMode="auto">
          <a:xfrm>
            <a:off x="5257800" y="3200400"/>
            <a:ext cx="2992438" cy="2941638"/>
          </a:xfrm>
          <a:prstGeom prst="rect">
            <a:avLst/>
          </a:prstGeom>
          <a:noFill/>
          <a:ln w="50799">
            <a:solidFill>
              <a:schemeClr val="tx1"/>
            </a:solidFill>
            <a:miter lim="800000"/>
            <a:headEnd/>
            <a:tailEnd/>
          </a:ln>
          <a:effectLst/>
        </p:spPr>
      </p:pic>
      <p:sp>
        <p:nvSpPr>
          <p:cNvPr id="169993" name="Text Box 9"/>
          <p:cNvSpPr txBox="1">
            <a:spLocks noChangeArrowheads="1"/>
          </p:cNvSpPr>
          <p:nvPr/>
        </p:nvSpPr>
        <p:spPr bwMode="auto">
          <a:xfrm>
            <a:off x="838200" y="6278563"/>
            <a:ext cx="2286000" cy="457200"/>
          </a:xfrm>
          <a:prstGeom prst="rect">
            <a:avLst/>
          </a:prstGeom>
          <a:noFill/>
          <a:ln w="9525">
            <a:noFill/>
            <a:miter lim="800000"/>
            <a:headEnd/>
            <a:tailEnd/>
          </a:ln>
          <a:effectLst/>
        </p:spPr>
        <p:txBody>
          <a:bodyPr>
            <a:spAutoFit/>
          </a:bodyPr>
          <a:lstStyle/>
          <a:p>
            <a:pPr>
              <a:spcBef>
                <a:spcPct val="50000"/>
              </a:spcBef>
            </a:pPr>
            <a:r>
              <a:rPr kumimoji="1" lang="zh-CN" altLang="en-US" sz="2400">
                <a:latin typeface="Times New Roman" pitchFamily="18" charset="0"/>
              </a:rPr>
              <a:t>屏蔽双绞线</a:t>
            </a:r>
          </a:p>
        </p:txBody>
      </p:sp>
      <p:sp>
        <p:nvSpPr>
          <p:cNvPr id="169994" name="Text Box 10"/>
          <p:cNvSpPr txBox="1">
            <a:spLocks noChangeArrowheads="1"/>
          </p:cNvSpPr>
          <p:nvPr/>
        </p:nvSpPr>
        <p:spPr bwMode="auto">
          <a:xfrm>
            <a:off x="5791200" y="6248400"/>
            <a:ext cx="2209800" cy="457200"/>
          </a:xfrm>
          <a:prstGeom prst="rect">
            <a:avLst/>
          </a:prstGeom>
          <a:noFill/>
          <a:ln w="9525">
            <a:noFill/>
            <a:miter lim="800000"/>
            <a:headEnd/>
            <a:tailEnd/>
          </a:ln>
          <a:effectLst/>
        </p:spPr>
        <p:txBody>
          <a:bodyPr>
            <a:spAutoFit/>
          </a:bodyPr>
          <a:lstStyle/>
          <a:p>
            <a:pPr>
              <a:spcBef>
                <a:spcPct val="50000"/>
              </a:spcBef>
            </a:pPr>
            <a:r>
              <a:rPr kumimoji="1" lang="zh-CN" altLang="en-US" sz="2400">
                <a:latin typeface="Times New Roman" pitchFamily="18" charset="0"/>
              </a:rPr>
              <a:t>非屏蔽双绞线</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209800" y="533400"/>
            <a:ext cx="3810000" cy="762000"/>
          </a:xfrm>
        </p:spPr>
        <p:txBody>
          <a:bodyPr/>
          <a:lstStyle/>
          <a:p>
            <a:r>
              <a:rPr lang="en-US" altLang="zh-CN"/>
              <a:t>UTP Device</a:t>
            </a:r>
          </a:p>
        </p:txBody>
      </p:sp>
      <p:sp>
        <p:nvSpPr>
          <p:cNvPr id="50179" name="Rectangle 3"/>
          <p:cNvSpPr>
            <a:spLocks noChangeArrowheads="1"/>
          </p:cNvSpPr>
          <p:nvPr/>
        </p:nvSpPr>
        <p:spPr bwMode="auto">
          <a:xfrm>
            <a:off x="1066800" y="5334000"/>
            <a:ext cx="3441700" cy="412750"/>
          </a:xfrm>
          <a:prstGeom prst="rect">
            <a:avLst/>
          </a:prstGeom>
          <a:noFill/>
          <a:ln w="9525">
            <a:noFill/>
            <a:miter lim="800000"/>
            <a:headEnd type="none" w="sm" len="sm"/>
            <a:tailEnd type="none" w="sm" len="sm"/>
          </a:ln>
          <a:effectLst/>
        </p:spPr>
        <p:txBody>
          <a:bodyPr lIns="0" tIns="0" rIns="0" bIns="51385">
            <a:spAutoFit/>
          </a:bodyPr>
          <a:lstStyle/>
          <a:p>
            <a:pPr defTabSz="1027113" eaLnBrk="0" hangingPunct="0">
              <a:lnSpc>
                <a:spcPct val="95000"/>
              </a:lnSpc>
            </a:pPr>
            <a:r>
              <a:rPr kumimoji="0" lang="en-US" altLang="zh-CN" sz="2500" b="1">
                <a:solidFill>
                  <a:srgbClr val="000000"/>
                </a:solidFill>
                <a:latin typeface="Helvetica" pitchFamily="34" charset="0"/>
              </a:rPr>
              <a:t>The RJ-45 Connector</a:t>
            </a:r>
          </a:p>
        </p:txBody>
      </p:sp>
      <p:sp>
        <p:nvSpPr>
          <p:cNvPr id="50180" name="Freeform 4"/>
          <p:cNvSpPr>
            <a:spLocks/>
          </p:cNvSpPr>
          <p:nvPr/>
        </p:nvSpPr>
        <p:spPr bwMode="auto">
          <a:xfrm flipH="1">
            <a:off x="1785938" y="3686175"/>
            <a:ext cx="500062" cy="412750"/>
          </a:xfrm>
          <a:custGeom>
            <a:avLst/>
            <a:gdLst/>
            <a:ahLst/>
            <a:cxnLst>
              <a:cxn ang="0">
                <a:pos x="311" y="0"/>
              </a:cxn>
              <a:cxn ang="0">
                <a:pos x="311" y="78"/>
              </a:cxn>
              <a:cxn ang="0">
                <a:pos x="0" y="231"/>
              </a:cxn>
              <a:cxn ang="0">
                <a:pos x="0" y="78"/>
              </a:cxn>
              <a:cxn ang="0">
                <a:pos x="311" y="0"/>
              </a:cxn>
            </a:cxnLst>
            <a:rect l="0" t="0" r="r" b="b"/>
            <a:pathLst>
              <a:path w="312" h="232">
                <a:moveTo>
                  <a:pt x="311" y="0"/>
                </a:moveTo>
                <a:lnTo>
                  <a:pt x="311" y="78"/>
                </a:lnTo>
                <a:lnTo>
                  <a:pt x="0" y="231"/>
                </a:lnTo>
                <a:lnTo>
                  <a:pt x="0" y="78"/>
                </a:lnTo>
                <a:lnTo>
                  <a:pt x="311" y="0"/>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81" name="Freeform 5"/>
          <p:cNvSpPr>
            <a:spLocks/>
          </p:cNvSpPr>
          <p:nvPr/>
        </p:nvSpPr>
        <p:spPr bwMode="auto">
          <a:xfrm flipH="1">
            <a:off x="1782763" y="3697288"/>
            <a:ext cx="511175" cy="425450"/>
          </a:xfrm>
          <a:custGeom>
            <a:avLst/>
            <a:gdLst/>
            <a:ahLst/>
            <a:cxnLst>
              <a:cxn ang="0">
                <a:pos x="318" y="0"/>
              </a:cxn>
              <a:cxn ang="0">
                <a:pos x="318" y="80"/>
              </a:cxn>
              <a:cxn ang="0">
                <a:pos x="0" y="237"/>
              </a:cxn>
              <a:cxn ang="0">
                <a:pos x="0" y="80"/>
              </a:cxn>
              <a:cxn ang="0">
                <a:pos x="318" y="0"/>
              </a:cxn>
              <a:cxn ang="0">
                <a:pos x="318" y="80"/>
              </a:cxn>
              <a:cxn ang="0">
                <a:pos x="0" y="237"/>
              </a:cxn>
              <a:cxn ang="0">
                <a:pos x="0" y="80"/>
              </a:cxn>
              <a:cxn ang="0">
                <a:pos x="318" y="0"/>
              </a:cxn>
            </a:cxnLst>
            <a:rect l="0" t="0" r="r" b="b"/>
            <a:pathLst>
              <a:path w="319" h="238">
                <a:moveTo>
                  <a:pt x="318" y="0"/>
                </a:moveTo>
                <a:lnTo>
                  <a:pt x="318" y="80"/>
                </a:lnTo>
                <a:lnTo>
                  <a:pt x="0" y="237"/>
                </a:lnTo>
                <a:lnTo>
                  <a:pt x="0" y="80"/>
                </a:lnTo>
                <a:lnTo>
                  <a:pt x="318" y="0"/>
                </a:lnTo>
                <a:lnTo>
                  <a:pt x="318" y="80"/>
                </a:lnTo>
                <a:lnTo>
                  <a:pt x="0" y="237"/>
                </a:lnTo>
                <a:lnTo>
                  <a:pt x="0" y="80"/>
                </a:lnTo>
                <a:lnTo>
                  <a:pt x="318" y="0"/>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82" name="Freeform 6"/>
          <p:cNvSpPr>
            <a:spLocks/>
          </p:cNvSpPr>
          <p:nvPr/>
        </p:nvSpPr>
        <p:spPr bwMode="auto">
          <a:xfrm flipH="1">
            <a:off x="1785938" y="3462338"/>
            <a:ext cx="700087" cy="355600"/>
          </a:xfrm>
          <a:custGeom>
            <a:avLst/>
            <a:gdLst/>
            <a:ahLst/>
            <a:cxnLst>
              <a:cxn ang="0">
                <a:pos x="436" y="121"/>
              </a:cxn>
              <a:cxn ang="0">
                <a:pos x="313" y="0"/>
              </a:cxn>
              <a:cxn ang="0">
                <a:pos x="0" y="77"/>
              </a:cxn>
              <a:cxn ang="0">
                <a:pos x="123" y="198"/>
              </a:cxn>
              <a:cxn ang="0">
                <a:pos x="436" y="121"/>
              </a:cxn>
            </a:cxnLst>
            <a:rect l="0" t="0" r="r" b="b"/>
            <a:pathLst>
              <a:path w="437" h="199">
                <a:moveTo>
                  <a:pt x="436" y="121"/>
                </a:moveTo>
                <a:lnTo>
                  <a:pt x="313" y="0"/>
                </a:lnTo>
                <a:lnTo>
                  <a:pt x="0" y="77"/>
                </a:lnTo>
                <a:lnTo>
                  <a:pt x="123" y="198"/>
                </a:lnTo>
                <a:lnTo>
                  <a:pt x="436" y="121"/>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83" name="Freeform 7"/>
          <p:cNvSpPr>
            <a:spLocks/>
          </p:cNvSpPr>
          <p:nvPr/>
        </p:nvSpPr>
        <p:spPr bwMode="auto">
          <a:xfrm flipH="1">
            <a:off x="1782763" y="3475038"/>
            <a:ext cx="711200" cy="365125"/>
          </a:xfrm>
          <a:custGeom>
            <a:avLst/>
            <a:gdLst/>
            <a:ahLst/>
            <a:cxnLst>
              <a:cxn ang="0">
                <a:pos x="443" y="124"/>
              </a:cxn>
              <a:cxn ang="0">
                <a:pos x="318" y="0"/>
              </a:cxn>
              <a:cxn ang="0">
                <a:pos x="0" y="80"/>
              </a:cxn>
              <a:cxn ang="0">
                <a:pos x="125" y="204"/>
              </a:cxn>
              <a:cxn ang="0">
                <a:pos x="443" y="124"/>
              </a:cxn>
              <a:cxn ang="0">
                <a:pos x="318" y="0"/>
              </a:cxn>
              <a:cxn ang="0">
                <a:pos x="0" y="80"/>
              </a:cxn>
              <a:cxn ang="0">
                <a:pos x="125" y="204"/>
              </a:cxn>
              <a:cxn ang="0">
                <a:pos x="443" y="124"/>
              </a:cxn>
            </a:cxnLst>
            <a:rect l="0" t="0" r="r" b="b"/>
            <a:pathLst>
              <a:path w="444" h="205">
                <a:moveTo>
                  <a:pt x="443" y="124"/>
                </a:moveTo>
                <a:lnTo>
                  <a:pt x="318" y="0"/>
                </a:lnTo>
                <a:lnTo>
                  <a:pt x="0" y="80"/>
                </a:lnTo>
                <a:lnTo>
                  <a:pt x="125" y="204"/>
                </a:lnTo>
                <a:lnTo>
                  <a:pt x="443" y="124"/>
                </a:lnTo>
                <a:lnTo>
                  <a:pt x="318" y="0"/>
                </a:lnTo>
                <a:lnTo>
                  <a:pt x="0" y="80"/>
                </a:lnTo>
                <a:lnTo>
                  <a:pt x="125" y="204"/>
                </a:lnTo>
                <a:lnTo>
                  <a:pt x="443" y="124"/>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84" name="Freeform 8"/>
          <p:cNvSpPr>
            <a:spLocks/>
          </p:cNvSpPr>
          <p:nvPr/>
        </p:nvSpPr>
        <p:spPr bwMode="auto">
          <a:xfrm flipH="1">
            <a:off x="3949700" y="3484563"/>
            <a:ext cx="608013" cy="373062"/>
          </a:xfrm>
          <a:custGeom>
            <a:avLst/>
            <a:gdLst/>
            <a:ahLst/>
            <a:cxnLst>
              <a:cxn ang="0">
                <a:pos x="33" y="208"/>
              </a:cxn>
              <a:cxn ang="0">
                <a:pos x="0" y="175"/>
              </a:cxn>
              <a:cxn ang="0">
                <a:pos x="346" y="0"/>
              </a:cxn>
              <a:cxn ang="0">
                <a:pos x="379" y="33"/>
              </a:cxn>
              <a:cxn ang="0">
                <a:pos x="33" y="208"/>
              </a:cxn>
            </a:cxnLst>
            <a:rect l="0" t="0" r="r" b="b"/>
            <a:pathLst>
              <a:path w="380" h="209">
                <a:moveTo>
                  <a:pt x="33" y="208"/>
                </a:moveTo>
                <a:lnTo>
                  <a:pt x="0" y="175"/>
                </a:lnTo>
                <a:lnTo>
                  <a:pt x="346" y="0"/>
                </a:lnTo>
                <a:lnTo>
                  <a:pt x="379" y="33"/>
                </a:lnTo>
                <a:lnTo>
                  <a:pt x="33" y="208"/>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85" name="Freeform 9"/>
          <p:cNvSpPr>
            <a:spLocks/>
          </p:cNvSpPr>
          <p:nvPr/>
        </p:nvSpPr>
        <p:spPr bwMode="auto">
          <a:xfrm flipH="1">
            <a:off x="3927475" y="3494088"/>
            <a:ext cx="619125" cy="385762"/>
          </a:xfrm>
          <a:custGeom>
            <a:avLst/>
            <a:gdLst/>
            <a:ahLst/>
            <a:cxnLst>
              <a:cxn ang="0">
                <a:pos x="34" y="215"/>
              </a:cxn>
              <a:cxn ang="0">
                <a:pos x="0" y="181"/>
              </a:cxn>
              <a:cxn ang="0">
                <a:pos x="352" y="0"/>
              </a:cxn>
              <a:cxn ang="0">
                <a:pos x="386" y="34"/>
              </a:cxn>
              <a:cxn ang="0">
                <a:pos x="34" y="215"/>
              </a:cxn>
              <a:cxn ang="0">
                <a:pos x="0" y="181"/>
              </a:cxn>
              <a:cxn ang="0">
                <a:pos x="352" y="0"/>
              </a:cxn>
              <a:cxn ang="0">
                <a:pos x="386" y="34"/>
              </a:cxn>
              <a:cxn ang="0">
                <a:pos x="34" y="215"/>
              </a:cxn>
            </a:cxnLst>
            <a:rect l="0" t="0" r="r" b="b"/>
            <a:pathLst>
              <a:path w="387" h="216">
                <a:moveTo>
                  <a:pt x="34" y="215"/>
                </a:moveTo>
                <a:lnTo>
                  <a:pt x="0" y="181"/>
                </a:lnTo>
                <a:lnTo>
                  <a:pt x="352" y="0"/>
                </a:lnTo>
                <a:lnTo>
                  <a:pt x="386" y="34"/>
                </a:lnTo>
                <a:lnTo>
                  <a:pt x="34" y="215"/>
                </a:lnTo>
                <a:lnTo>
                  <a:pt x="0" y="181"/>
                </a:lnTo>
                <a:lnTo>
                  <a:pt x="352" y="0"/>
                </a:lnTo>
                <a:lnTo>
                  <a:pt x="386" y="34"/>
                </a:lnTo>
                <a:lnTo>
                  <a:pt x="34" y="215"/>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86" name="Freeform 10"/>
          <p:cNvSpPr>
            <a:spLocks/>
          </p:cNvSpPr>
          <p:nvPr/>
        </p:nvSpPr>
        <p:spPr bwMode="auto">
          <a:xfrm flipH="1">
            <a:off x="4003675" y="3321050"/>
            <a:ext cx="554038" cy="474663"/>
          </a:xfrm>
          <a:custGeom>
            <a:avLst/>
            <a:gdLst/>
            <a:ahLst/>
            <a:cxnLst>
              <a:cxn ang="0">
                <a:pos x="0" y="166"/>
              </a:cxn>
              <a:cxn ang="0">
                <a:pos x="0" y="265"/>
              </a:cxn>
              <a:cxn ang="0">
                <a:pos x="345" y="89"/>
              </a:cxn>
              <a:cxn ang="0">
                <a:pos x="345" y="0"/>
              </a:cxn>
              <a:cxn ang="0">
                <a:pos x="0" y="166"/>
              </a:cxn>
            </a:cxnLst>
            <a:rect l="0" t="0" r="r" b="b"/>
            <a:pathLst>
              <a:path w="346" h="266">
                <a:moveTo>
                  <a:pt x="0" y="166"/>
                </a:moveTo>
                <a:lnTo>
                  <a:pt x="0" y="265"/>
                </a:lnTo>
                <a:lnTo>
                  <a:pt x="345" y="89"/>
                </a:lnTo>
                <a:lnTo>
                  <a:pt x="345" y="0"/>
                </a:lnTo>
                <a:lnTo>
                  <a:pt x="0" y="166"/>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87" name="Freeform 11"/>
          <p:cNvSpPr>
            <a:spLocks/>
          </p:cNvSpPr>
          <p:nvPr/>
        </p:nvSpPr>
        <p:spPr bwMode="auto">
          <a:xfrm flipH="1">
            <a:off x="3981450" y="3333750"/>
            <a:ext cx="565150" cy="485775"/>
          </a:xfrm>
          <a:custGeom>
            <a:avLst/>
            <a:gdLst/>
            <a:ahLst/>
            <a:cxnLst>
              <a:cxn ang="0">
                <a:pos x="0" y="169"/>
              </a:cxn>
              <a:cxn ang="0">
                <a:pos x="0" y="271"/>
              </a:cxn>
              <a:cxn ang="0">
                <a:pos x="352" y="91"/>
              </a:cxn>
              <a:cxn ang="0">
                <a:pos x="352" y="0"/>
              </a:cxn>
              <a:cxn ang="0">
                <a:pos x="0" y="169"/>
              </a:cxn>
              <a:cxn ang="0">
                <a:pos x="0" y="271"/>
              </a:cxn>
              <a:cxn ang="0">
                <a:pos x="352" y="91"/>
              </a:cxn>
              <a:cxn ang="0">
                <a:pos x="352" y="0"/>
              </a:cxn>
              <a:cxn ang="0">
                <a:pos x="0" y="169"/>
              </a:cxn>
            </a:cxnLst>
            <a:rect l="0" t="0" r="r" b="b"/>
            <a:pathLst>
              <a:path w="353" h="272">
                <a:moveTo>
                  <a:pt x="0" y="169"/>
                </a:moveTo>
                <a:lnTo>
                  <a:pt x="0" y="271"/>
                </a:lnTo>
                <a:lnTo>
                  <a:pt x="352" y="91"/>
                </a:lnTo>
                <a:lnTo>
                  <a:pt x="352" y="0"/>
                </a:lnTo>
                <a:lnTo>
                  <a:pt x="0" y="169"/>
                </a:lnTo>
                <a:lnTo>
                  <a:pt x="0" y="271"/>
                </a:lnTo>
                <a:lnTo>
                  <a:pt x="352" y="91"/>
                </a:lnTo>
                <a:lnTo>
                  <a:pt x="352" y="0"/>
                </a:lnTo>
                <a:lnTo>
                  <a:pt x="0" y="169"/>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88" name="Freeform 12"/>
          <p:cNvSpPr>
            <a:spLocks/>
          </p:cNvSpPr>
          <p:nvPr/>
        </p:nvSpPr>
        <p:spPr bwMode="auto">
          <a:xfrm flipH="1">
            <a:off x="3894138" y="3422650"/>
            <a:ext cx="554037" cy="495300"/>
          </a:xfrm>
          <a:custGeom>
            <a:avLst/>
            <a:gdLst/>
            <a:ahLst/>
            <a:cxnLst>
              <a:cxn ang="0">
                <a:pos x="0" y="177"/>
              </a:cxn>
              <a:cxn ang="0">
                <a:pos x="0" y="276"/>
              </a:cxn>
              <a:cxn ang="0">
                <a:pos x="346" y="99"/>
              </a:cxn>
              <a:cxn ang="0">
                <a:pos x="346" y="0"/>
              </a:cxn>
              <a:cxn ang="0">
                <a:pos x="0" y="177"/>
              </a:cxn>
            </a:cxnLst>
            <a:rect l="0" t="0" r="r" b="b"/>
            <a:pathLst>
              <a:path w="347" h="277">
                <a:moveTo>
                  <a:pt x="0" y="177"/>
                </a:moveTo>
                <a:lnTo>
                  <a:pt x="0" y="276"/>
                </a:lnTo>
                <a:lnTo>
                  <a:pt x="346" y="99"/>
                </a:lnTo>
                <a:lnTo>
                  <a:pt x="346" y="0"/>
                </a:lnTo>
                <a:lnTo>
                  <a:pt x="0" y="177"/>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89" name="Freeform 13"/>
          <p:cNvSpPr>
            <a:spLocks/>
          </p:cNvSpPr>
          <p:nvPr/>
        </p:nvSpPr>
        <p:spPr bwMode="auto">
          <a:xfrm flipH="1">
            <a:off x="3873500" y="3433763"/>
            <a:ext cx="563563" cy="506412"/>
          </a:xfrm>
          <a:custGeom>
            <a:avLst/>
            <a:gdLst/>
            <a:ahLst/>
            <a:cxnLst>
              <a:cxn ang="0">
                <a:pos x="0" y="181"/>
              </a:cxn>
              <a:cxn ang="0">
                <a:pos x="0" y="283"/>
              </a:cxn>
              <a:cxn ang="0">
                <a:pos x="352" y="102"/>
              </a:cxn>
              <a:cxn ang="0">
                <a:pos x="352" y="0"/>
              </a:cxn>
              <a:cxn ang="0">
                <a:pos x="0" y="181"/>
              </a:cxn>
              <a:cxn ang="0">
                <a:pos x="0" y="283"/>
              </a:cxn>
              <a:cxn ang="0">
                <a:pos x="352" y="102"/>
              </a:cxn>
              <a:cxn ang="0">
                <a:pos x="352" y="0"/>
              </a:cxn>
              <a:cxn ang="0">
                <a:pos x="0" y="181"/>
              </a:cxn>
            </a:cxnLst>
            <a:rect l="0" t="0" r="r" b="b"/>
            <a:pathLst>
              <a:path w="353" h="284">
                <a:moveTo>
                  <a:pt x="0" y="181"/>
                </a:moveTo>
                <a:lnTo>
                  <a:pt x="0" y="283"/>
                </a:lnTo>
                <a:lnTo>
                  <a:pt x="352" y="102"/>
                </a:lnTo>
                <a:lnTo>
                  <a:pt x="352" y="0"/>
                </a:lnTo>
                <a:lnTo>
                  <a:pt x="0" y="181"/>
                </a:lnTo>
                <a:lnTo>
                  <a:pt x="0" y="283"/>
                </a:lnTo>
                <a:lnTo>
                  <a:pt x="352" y="102"/>
                </a:lnTo>
                <a:lnTo>
                  <a:pt x="352"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90" name="Freeform 14"/>
          <p:cNvSpPr>
            <a:spLocks/>
          </p:cNvSpPr>
          <p:nvPr/>
        </p:nvSpPr>
        <p:spPr bwMode="auto">
          <a:xfrm flipH="1">
            <a:off x="3784600" y="3544888"/>
            <a:ext cx="555625" cy="474662"/>
          </a:xfrm>
          <a:custGeom>
            <a:avLst/>
            <a:gdLst/>
            <a:ahLst/>
            <a:cxnLst>
              <a:cxn ang="0">
                <a:pos x="0" y="176"/>
              </a:cxn>
              <a:cxn ang="0">
                <a:pos x="0" y="265"/>
              </a:cxn>
              <a:cxn ang="0">
                <a:pos x="346" y="99"/>
              </a:cxn>
              <a:cxn ang="0">
                <a:pos x="346" y="0"/>
              </a:cxn>
              <a:cxn ang="0">
                <a:pos x="0" y="176"/>
              </a:cxn>
            </a:cxnLst>
            <a:rect l="0" t="0" r="r" b="b"/>
            <a:pathLst>
              <a:path w="347" h="266">
                <a:moveTo>
                  <a:pt x="0" y="176"/>
                </a:moveTo>
                <a:lnTo>
                  <a:pt x="0" y="265"/>
                </a:lnTo>
                <a:lnTo>
                  <a:pt x="346" y="99"/>
                </a:lnTo>
                <a:lnTo>
                  <a:pt x="346" y="0"/>
                </a:lnTo>
                <a:lnTo>
                  <a:pt x="0" y="176"/>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91" name="Freeform 15"/>
          <p:cNvSpPr>
            <a:spLocks/>
          </p:cNvSpPr>
          <p:nvPr/>
        </p:nvSpPr>
        <p:spPr bwMode="auto">
          <a:xfrm flipH="1">
            <a:off x="3763963" y="3556000"/>
            <a:ext cx="565150" cy="485775"/>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92" name="Freeform 16"/>
          <p:cNvSpPr>
            <a:spLocks/>
          </p:cNvSpPr>
          <p:nvPr/>
        </p:nvSpPr>
        <p:spPr bwMode="auto">
          <a:xfrm flipH="1">
            <a:off x="3676650" y="3665538"/>
            <a:ext cx="571500" cy="474662"/>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93" name="Freeform 17"/>
          <p:cNvSpPr>
            <a:spLocks/>
          </p:cNvSpPr>
          <p:nvPr/>
        </p:nvSpPr>
        <p:spPr bwMode="auto">
          <a:xfrm flipH="1">
            <a:off x="3656013" y="3676650"/>
            <a:ext cx="581025" cy="487363"/>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94" name="Freeform 18"/>
          <p:cNvSpPr>
            <a:spLocks/>
          </p:cNvSpPr>
          <p:nvPr/>
        </p:nvSpPr>
        <p:spPr bwMode="auto">
          <a:xfrm flipH="1">
            <a:off x="3586163" y="3765550"/>
            <a:ext cx="554037" cy="496888"/>
          </a:xfrm>
          <a:custGeom>
            <a:avLst/>
            <a:gdLst/>
            <a:ahLst/>
            <a:cxnLst>
              <a:cxn ang="0">
                <a:pos x="0" y="177"/>
              </a:cxn>
              <a:cxn ang="0">
                <a:pos x="0" y="277"/>
              </a:cxn>
              <a:cxn ang="0">
                <a:pos x="346" y="100"/>
              </a:cxn>
              <a:cxn ang="0">
                <a:pos x="346" y="0"/>
              </a:cxn>
              <a:cxn ang="0">
                <a:pos x="0" y="177"/>
              </a:cxn>
            </a:cxnLst>
            <a:rect l="0" t="0" r="r" b="b"/>
            <a:pathLst>
              <a:path w="347" h="278">
                <a:moveTo>
                  <a:pt x="0" y="177"/>
                </a:moveTo>
                <a:lnTo>
                  <a:pt x="0" y="277"/>
                </a:lnTo>
                <a:lnTo>
                  <a:pt x="346" y="100"/>
                </a:lnTo>
                <a:lnTo>
                  <a:pt x="346" y="0"/>
                </a:lnTo>
                <a:lnTo>
                  <a:pt x="0" y="177"/>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95" name="Freeform 19"/>
          <p:cNvSpPr>
            <a:spLocks/>
          </p:cNvSpPr>
          <p:nvPr/>
        </p:nvSpPr>
        <p:spPr bwMode="auto">
          <a:xfrm flipH="1">
            <a:off x="3563938" y="3778250"/>
            <a:ext cx="565150" cy="506413"/>
          </a:xfrm>
          <a:custGeom>
            <a:avLst/>
            <a:gdLst/>
            <a:ahLst/>
            <a:cxnLst>
              <a:cxn ang="0">
                <a:pos x="0" y="181"/>
              </a:cxn>
              <a:cxn ang="0">
                <a:pos x="0" y="283"/>
              </a:cxn>
              <a:cxn ang="0">
                <a:pos x="352" y="103"/>
              </a:cxn>
              <a:cxn ang="0">
                <a:pos x="352" y="0"/>
              </a:cxn>
              <a:cxn ang="0">
                <a:pos x="0" y="181"/>
              </a:cxn>
              <a:cxn ang="0">
                <a:pos x="0" y="283"/>
              </a:cxn>
              <a:cxn ang="0">
                <a:pos x="352" y="103"/>
              </a:cxn>
              <a:cxn ang="0">
                <a:pos x="352" y="0"/>
              </a:cxn>
              <a:cxn ang="0">
                <a:pos x="0" y="181"/>
              </a:cxn>
            </a:cxnLst>
            <a:rect l="0" t="0" r="r" b="b"/>
            <a:pathLst>
              <a:path w="353" h="284">
                <a:moveTo>
                  <a:pt x="0" y="181"/>
                </a:moveTo>
                <a:lnTo>
                  <a:pt x="0" y="283"/>
                </a:lnTo>
                <a:lnTo>
                  <a:pt x="352" y="103"/>
                </a:lnTo>
                <a:lnTo>
                  <a:pt x="352" y="0"/>
                </a:lnTo>
                <a:lnTo>
                  <a:pt x="0" y="181"/>
                </a:lnTo>
                <a:lnTo>
                  <a:pt x="0" y="283"/>
                </a:lnTo>
                <a:lnTo>
                  <a:pt x="352" y="103"/>
                </a:lnTo>
                <a:lnTo>
                  <a:pt x="352"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96" name="Freeform 20"/>
          <p:cNvSpPr>
            <a:spLocks/>
          </p:cNvSpPr>
          <p:nvPr/>
        </p:nvSpPr>
        <p:spPr bwMode="auto">
          <a:xfrm flipH="1">
            <a:off x="3368675" y="4010025"/>
            <a:ext cx="571500" cy="474663"/>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97" name="Freeform 21"/>
          <p:cNvSpPr>
            <a:spLocks/>
          </p:cNvSpPr>
          <p:nvPr/>
        </p:nvSpPr>
        <p:spPr bwMode="auto">
          <a:xfrm flipH="1">
            <a:off x="3346450" y="4021138"/>
            <a:ext cx="582613" cy="487362"/>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198" name="Freeform 22"/>
          <p:cNvSpPr>
            <a:spLocks/>
          </p:cNvSpPr>
          <p:nvPr/>
        </p:nvSpPr>
        <p:spPr bwMode="auto">
          <a:xfrm flipH="1">
            <a:off x="3476625" y="3889375"/>
            <a:ext cx="554038" cy="474663"/>
          </a:xfrm>
          <a:custGeom>
            <a:avLst/>
            <a:gdLst/>
            <a:ahLst/>
            <a:cxnLst>
              <a:cxn ang="0">
                <a:pos x="0" y="176"/>
              </a:cxn>
              <a:cxn ang="0">
                <a:pos x="0" y="265"/>
              </a:cxn>
              <a:cxn ang="0">
                <a:pos x="345" y="99"/>
              </a:cxn>
              <a:cxn ang="0">
                <a:pos x="345" y="0"/>
              </a:cxn>
              <a:cxn ang="0">
                <a:pos x="0" y="176"/>
              </a:cxn>
            </a:cxnLst>
            <a:rect l="0" t="0" r="r" b="b"/>
            <a:pathLst>
              <a:path w="346" h="266">
                <a:moveTo>
                  <a:pt x="0" y="176"/>
                </a:moveTo>
                <a:lnTo>
                  <a:pt x="0" y="265"/>
                </a:lnTo>
                <a:lnTo>
                  <a:pt x="345" y="99"/>
                </a:lnTo>
                <a:lnTo>
                  <a:pt x="345" y="0"/>
                </a:lnTo>
                <a:lnTo>
                  <a:pt x="0" y="176"/>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199" name="Freeform 23"/>
          <p:cNvSpPr>
            <a:spLocks/>
          </p:cNvSpPr>
          <p:nvPr/>
        </p:nvSpPr>
        <p:spPr bwMode="auto">
          <a:xfrm flipH="1">
            <a:off x="3455988" y="3898900"/>
            <a:ext cx="563562" cy="487363"/>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00" name="Freeform 24"/>
          <p:cNvSpPr>
            <a:spLocks/>
          </p:cNvSpPr>
          <p:nvPr/>
        </p:nvSpPr>
        <p:spPr bwMode="auto">
          <a:xfrm flipH="1">
            <a:off x="3767138" y="3382963"/>
            <a:ext cx="1009650" cy="1709737"/>
          </a:xfrm>
          <a:custGeom>
            <a:avLst/>
            <a:gdLst/>
            <a:ahLst/>
            <a:cxnLst>
              <a:cxn ang="0">
                <a:pos x="0" y="316"/>
              </a:cxn>
              <a:cxn ang="0">
                <a:pos x="0" y="0"/>
              </a:cxn>
              <a:cxn ang="0">
                <a:pos x="79" y="78"/>
              </a:cxn>
              <a:cxn ang="0">
                <a:pos x="79" y="169"/>
              </a:cxn>
              <a:cxn ang="0">
                <a:pos x="102" y="203"/>
              </a:cxn>
              <a:cxn ang="0">
                <a:pos x="102" y="112"/>
              </a:cxn>
              <a:cxn ang="0">
                <a:pos x="135" y="135"/>
              </a:cxn>
              <a:cxn ang="0">
                <a:pos x="135" y="236"/>
              </a:cxn>
              <a:cxn ang="0">
                <a:pos x="169" y="270"/>
              </a:cxn>
              <a:cxn ang="0">
                <a:pos x="169" y="169"/>
              </a:cxn>
              <a:cxn ang="0">
                <a:pos x="203" y="203"/>
              </a:cxn>
              <a:cxn ang="0">
                <a:pos x="203" y="304"/>
              </a:cxn>
              <a:cxn ang="0">
                <a:pos x="236" y="327"/>
              </a:cxn>
              <a:cxn ang="0">
                <a:pos x="236" y="236"/>
              </a:cxn>
              <a:cxn ang="0">
                <a:pos x="270" y="270"/>
              </a:cxn>
              <a:cxn ang="0">
                <a:pos x="270" y="360"/>
              </a:cxn>
              <a:cxn ang="0">
                <a:pos x="293" y="394"/>
              </a:cxn>
              <a:cxn ang="0">
                <a:pos x="293" y="304"/>
              </a:cxn>
              <a:cxn ang="0">
                <a:pos x="326" y="327"/>
              </a:cxn>
              <a:cxn ang="0">
                <a:pos x="326" y="428"/>
              </a:cxn>
              <a:cxn ang="0">
                <a:pos x="360" y="462"/>
              </a:cxn>
              <a:cxn ang="0">
                <a:pos x="360" y="360"/>
              </a:cxn>
              <a:cxn ang="0">
                <a:pos x="394" y="394"/>
              </a:cxn>
              <a:cxn ang="0">
                <a:pos x="394" y="495"/>
              </a:cxn>
              <a:cxn ang="0">
                <a:pos x="427" y="518"/>
              </a:cxn>
              <a:cxn ang="0">
                <a:pos x="427" y="428"/>
              </a:cxn>
              <a:cxn ang="0">
                <a:pos x="462" y="462"/>
              </a:cxn>
              <a:cxn ang="0">
                <a:pos x="462" y="552"/>
              </a:cxn>
              <a:cxn ang="0">
                <a:pos x="484" y="586"/>
              </a:cxn>
              <a:cxn ang="0">
                <a:pos x="484" y="495"/>
              </a:cxn>
              <a:cxn ang="0">
                <a:pos x="517" y="518"/>
              </a:cxn>
              <a:cxn ang="0">
                <a:pos x="517" y="620"/>
              </a:cxn>
              <a:cxn ang="0">
                <a:pos x="552" y="653"/>
              </a:cxn>
              <a:cxn ang="0">
                <a:pos x="552" y="552"/>
              </a:cxn>
              <a:cxn ang="0">
                <a:pos x="630" y="631"/>
              </a:cxn>
              <a:cxn ang="0">
                <a:pos x="630" y="958"/>
              </a:cxn>
              <a:cxn ang="0">
                <a:pos x="0" y="316"/>
              </a:cxn>
            </a:cxnLst>
            <a:rect l="0" t="0" r="r" b="b"/>
            <a:pathLst>
              <a:path w="631" h="959">
                <a:moveTo>
                  <a:pt x="0" y="316"/>
                </a:moveTo>
                <a:lnTo>
                  <a:pt x="0" y="0"/>
                </a:lnTo>
                <a:lnTo>
                  <a:pt x="79" y="78"/>
                </a:lnTo>
                <a:lnTo>
                  <a:pt x="79" y="169"/>
                </a:lnTo>
                <a:lnTo>
                  <a:pt x="102" y="203"/>
                </a:lnTo>
                <a:lnTo>
                  <a:pt x="102" y="112"/>
                </a:lnTo>
                <a:lnTo>
                  <a:pt x="135" y="135"/>
                </a:lnTo>
                <a:lnTo>
                  <a:pt x="135" y="236"/>
                </a:lnTo>
                <a:lnTo>
                  <a:pt x="169" y="270"/>
                </a:lnTo>
                <a:lnTo>
                  <a:pt x="169" y="169"/>
                </a:lnTo>
                <a:lnTo>
                  <a:pt x="203" y="203"/>
                </a:lnTo>
                <a:lnTo>
                  <a:pt x="203" y="304"/>
                </a:lnTo>
                <a:lnTo>
                  <a:pt x="236" y="327"/>
                </a:lnTo>
                <a:lnTo>
                  <a:pt x="236" y="236"/>
                </a:lnTo>
                <a:lnTo>
                  <a:pt x="270" y="270"/>
                </a:lnTo>
                <a:lnTo>
                  <a:pt x="270" y="360"/>
                </a:lnTo>
                <a:lnTo>
                  <a:pt x="293" y="394"/>
                </a:lnTo>
                <a:lnTo>
                  <a:pt x="293" y="304"/>
                </a:lnTo>
                <a:lnTo>
                  <a:pt x="326" y="327"/>
                </a:lnTo>
                <a:lnTo>
                  <a:pt x="326" y="428"/>
                </a:lnTo>
                <a:lnTo>
                  <a:pt x="360" y="462"/>
                </a:lnTo>
                <a:lnTo>
                  <a:pt x="360" y="360"/>
                </a:lnTo>
                <a:lnTo>
                  <a:pt x="394" y="394"/>
                </a:lnTo>
                <a:lnTo>
                  <a:pt x="394" y="495"/>
                </a:lnTo>
                <a:lnTo>
                  <a:pt x="427" y="518"/>
                </a:lnTo>
                <a:lnTo>
                  <a:pt x="427" y="428"/>
                </a:lnTo>
                <a:lnTo>
                  <a:pt x="462" y="462"/>
                </a:lnTo>
                <a:lnTo>
                  <a:pt x="462" y="552"/>
                </a:lnTo>
                <a:lnTo>
                  <a:pt x="484" y="586"/>
                </a:lnTo>
                <a:lnTo>
                  <a:pt x="484" y="495"/>
                </a:lnTo>
                <a:lnTo>
                  <a:pt x="517" y="518"/>
                </a:lnTo>
                <a:lnTo>
                  <a:pt x="517" y="620"/>
                </a:lnTo>
                <a:lnTo>
                  <a:pt x="552" y="653"/>
                </a:lnTo>
                <a:lnTo>
                  <a:pt x="552" y="552"/>
                </a:lnTo>
                <a:lnTo>
                  <a:pt x="630" y="631"/>
                </a:lnTo>
                <a:lnTo>
                  <a:pt x="630" y="958"/>
                </a:lnTo>
                <a:lnTo>
                  <a:pt x="0" y="316"/>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01" name="Freeform 25"/>
          <p:cNvSpPr>
            <a:spLocks/>
          </p:cNvSpPr>
          <p:nvPr/>
        </p:nvSpPr>
        <p:spPr bwMode="auto">
          <a:xfrm flipH="1">
            <a:off x="3746500" y="3394075"/>
            <a:ext cx="1019175" cy="1722438"/>
          </a:xfrm>
          <a:custGeom>
            <a:avLst/>
            <a:gdLst/>
            <a:ahLst/>
            <a:cxnLst>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Lst>
            <a:rect l="0" t="0" r="r" b="b"/>
            <a:pathLst>
              <a:path w="637" h="965">
                <a:moveTo>
                  <a:pt x="0" y="318"/>
                </a:move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02" name="Freeform 26"/>
          <p:cNvSpPr>
            <a:spLocks/>
          </p:cNvSpPr>
          <p:nvPr/>
        </p:nvSpPr>
        <p:spPr bwMode="auto">
          <a:xfrm flipH="1">
            <a:off x="4003675" y="3260725"/>
            <a:ext cx="608013" cy="354013"/>
          </a:xfrm>
          <a:custGeom>
            <a:avLst/>
            <a:gdLst/>
            <a:ahLst/>
            <a:cxnLst>
              <a:cxn ang="0">
                <a:pos x="0" y="175"/>
              </a:cxn>
              <a:cxn ang="0">
                <a:pos x="33" y="197"/>
              </a:cxn>
              <a:cxn ang="0">
                <a:pos x="379" y="33"/>
              </a:cxn>
              <a:cxn ang="0">
                <a:pos x="357" y="0"/>
              </a:cxn>
              <a:cxn ang="0">
                <a:pos x="0" y="175"/>
              </a:cxn>
            </a:cxnLst>
            <a:rect l="0" t="0" r="r" b="b"/>
            <a:pathLst>
              <a:path w="380" h="198">
                <a:moveTo>
                  <a:pt x="0" y="175"/>
                </a:moveTo>
                <a:lnTo>
                  <a:pt x="33" y="197"/>
                </a:lnTo>
                <a:lnTo>
                  <a:pt x="379" y="33"/>
                </a:lnTo>
                <a:lnTo>
                  <a:pt x="357" y="0"/>
                </a:lnTo>
                <a:lnTo>
                  <a:pt x="0" y="175"/>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03" name="Freeform 27"/>
          <p:cNvSpPr>
            <a:spLocks/>
          </p:cNvSpPr>
          <p:nvPr/>
        </p:nvSpPr>
        <p:spPr bwMode="auto">
          <a:xfrm flipH="1">
            <a:off x="3981450" y="3273425"/>
            <a:ext cx="619125" cy="365125"/>
          </a:xfrm>
          <a:custGeom>
            <a:avLst/>
            <a:gdLst/>
            <a:ahLst/>
            <a:cxnLst>
              <a:cxn ang="0">
                <a:pos x="0" y="181"/>
              </a:cxn>
              <a:cxn ang="0">
                <a:pos x="34" y="204"/>
              </a:cxn>
              <a:cxn ang="0">
                <a:pos x="386" y="34"/>
              </a:cxn>
              <a:cxn ang="0">
                <a:pos x="364" y="0"/>
              </a:cxn>
              <a:cxn ang="0">
                <a:pos x="0" y="181"/>
              </a:cxn>
              <a:cxn ang="0">
                <a:pos x="34" y="204"/>
              </a:cxn>
              <a:cxn ang="0">
                <a:pos x="386" y="34"/>
              </a:cxn>
              <a:cxn ang="0">
                <a:pos x="364" y="0"/>
              </a:cxn>
              <a:cxn ang="0">
                <a:pos x="0" y="181"/>
              </a:cxn>
            </a:cxnLst>
            <a:rect l="0" t="0" r="r" b="b"/>
            <a:pathLst>
              <a:path w="387" h="205">
                <a:moveTo>
                  <a:pt x="0" y="181"/>
                </a:moveTo>
                <a:lnTo>
                  <a:pt x="34" y="204"/>
                </a:lnTo>
                <a:lnTo>
                  <a:pt x="386" y="34"/>
                </a:lnTo>
                <a:lnTo>
                  <a:pt x="364" y="0"/>
                </a:lnTo>
                <a:lnTo>
                  <a:pt x="0" y="181"/>
                </a:lnTo>
                <a:lnTo>
                  <a:pt x="34" y="204"/>
                </a:lnTo>
                <a:lnTo>
                  <a:pt x="386" y="34"/>
                </a:lnTo>
                <a:lnTo>
                  <a:pt x="364"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04" name="Freeform 28"/>
          <p:cNvSpPr>
            <a:spLocks/>
          </p:cNvSpPr>
          <p:nvPr/>
        </p:nvSpPr>
        <p:spPr bwMode="auto">
          <a:xfrm flipH="1">
            <a:off x="3894138" y="3382963"/>
            <a:ext cx="609600" cy="352425"/>
          </a:xfrm>
          <a:custGeom>
            <a:avLst/>
            <a:gdLst/>
            <a:ahLst/>
            <a:cxnLst>
              <a:cxn ang="0">
                <a:pos x="0" y="164"/>
              </a:cxn>
              <a:cxn ang="0">
                <a:pos x="33" y="197"/>
              </a:cxn>
              <a:cxn ang="0">
                <a:pos x="380" y="22"/>
              </a:cxn>
              <a:cxn ang="0">
                <a:pos x="346" y="0"/>
              </a:cxn>
              <a:cxn ang="0">
                <a:pos x="0" y="164"/>
              </a:cxn>
            </a:cxnLst>
            <a:rect l="0" t="0" r="r" b="b"/>
            <a:pathLst>
              <a:path w="381" h="198">
                <a:moveTo>
                  <a:pt x="0" y="164"/>
                </a:moveTo>
                <a:lnTo>
                  <a:pt x="33" y="197"/>
                </a:lnTo>
                <a:lnTo>
                  <a:pt x="380" y="22"/>
                </a:lnTo>
                <a:lnTo>
                  <a:pt x="346" y="0"/>
                </a:lnTo>
                <a:lnTo>
                  <a:pt x="0" y="164"/>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05" name="Freeform 29"/>
          <p:cNvSpPr>
            <a:spLocks/>
          </p:cNvSpPr>
          <p:nvPr/>
        </p:nvSpPr>
        <p:spPr bwMode="auto">
          <a:xfrm flipH="1">
            <a:off x="3873500" y="3394075"/>
            <a:ext cx="619125" cy="365125"/>
          </a:xfrm>
          <a:custGeom>
            <a:avLst/>
            <a:gdLst/>
            <a:ahLst/>
            <a:cxnLst>
              <a:cxn ang="0">
                <a:pos x="0" y="169"/>
              </a:cxn>
              <a:cxn ang="0">
                <a:pos x="34" y="203"/>
              </a:cxn>
              <a:cxn ang="0">
                <a:pos x="386" y="23"/>
              </a:cxn>
              <a:cxn ang="0">
                <a:pos x="351" y="0"/>
              </a:cxn>
              <a:cxn ang="0">
                <a:pos x="0" y="169"/>
              </a:cxn>
              <a:cxn ang="0">
                <a:pos x="34" y="203"/>
              </a:cxn>
              <a:cxn ang="0">
                <a:pos x="386" y="23"/>
              </a:cxn>
              <a:cxn ang="0">
                <a:pos x="351" y="0"/>
              </a:cxn>
              <a:cxn ang="0">
                <a:pos x="0" y="169"/>
              </a:cxn>
            </a:cxnLst>
            <a:rect l="0" t="0" r="r" b="b"/>
            <a:pathLst>
              <a:path w="387" h="204">
                <a:moveTo>
                  <a:pt x="0" y="169"/>
                </a:moveTo>
                <a:lnTo>
                  <a:pt x="34" y="203"/>
                </a:lnTo>
                <a:lnTo>
                  <a:pt x="386" y="23"/>
                </a:lnTo>
                <a:lnTo>
                  <a:pt x="351" y="0"/>
                </a:lnTo>
                <a:lnTo>
                  <a:pt x="0" y="169"/>
                </a:lnTo>
                <a:lnTo>
                  <a:pt x="34" y="203"/>
                </a:lnTo>
                <a:lnTo>
                  <a:pt x="386" y="23"/>
                </a:lnTo>
                <a:lnTo>
                  <a:pt x="351" y="0"/>
                </a:lnTo>
                <a:lnTo>
                  <a:pt x="0" y="169"/>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06" name="Freeform 30"/>
          <p:cNvSpPr>
            <a:spLocks/>
          </p:cNvSpPr>
          <p:nvPr/>
        </p:nvSpPr>
        <p:spPr bwMode="auto">
          <a:xfrm flipH="1">
            <a:off x="3784600" y="3484563"/>
            <a:ext cx="609600" cy="373062"/>
          </a:xfrm>
          <a:custGeom>
            <a:avLst/>
            <a:gdLst/>
            <a:ahLst/>
            <a:cxnLst>
              <a:cxn ang="0">
                <a:pos x="0" y="175"/>
              </a:cxn>
              <a:cxn ang="0">
                <a:pos x="33" y="208"/>
              </a:cxn>
              <a:cxn ang="0">
                <a:pos x="380" y="33"/>
              </a:cxn>
              <a:cxn ang="0">
                <a:pos x="347" y="0"/>
              </a:cxn>
              <a:cxn ang="0">
                <a:pos x="0" y="175"/>
              </a:cxn>
            </a:cxnLst>
            <a:rect l="0" t="0" r="r" b="b"/>
            <a:pathLst>
              <a:path w="381" h="209">
                <a:moveTo>
                  <a:pt x="0" y="175"/>
                </a:moveTo>
                <a:lnTo>
                  <a:pt x="33" y="208"/>
                </a:lnTo>
                <a:lnTo>
                  <a:pt x="380" y="33"/>
                </a:lnTo>
                <a:lnTo>
                  <a:pt x="347" y="0"/>
                </a:lnTo>
                <a:lnTo>
                  <a:pt x="0" y="175"/>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07" name="Freeform 31"/>
          <p:cNvSpPr>
            <a:spLocks/>
          </p:cNvSpPr>
          <p:nvPr/>
        </p:nvSpPr>
        <p:spPr bwMode="auto">
          <a:xfrm flipH="1">
            <a:off x="3763963" y="3494088"/>
            <a:ext cx="619125" cy="385762"/>
          </a:xfrm>
          <a:custGeom>
            <a:avLst/>
            <a:gdLst/>
            <a:ahLst/>
            <a:cxnLst>
              <a:cxn ang="0">
                <a:pos x="0" y="181"/>
              </a:cxn>
              <a:cxn ang="0">
                <a:pos x="34" y="215"/>
              </a:cxn>
              <a:cxn ang="0">
                <a:pos x="386" y="34"/>
              </a:cxn>
              <a:cxn ang="0">
                <a:pos x="352" y="0"/>
              </a:cxn>
              <a:cxn ang="0">
                <a:pos x="0" y="181"/>
              </a:cxn>
              <a:cxn ang="0">
                <a:pos x="34" y="215"/>
              </a:cxn>
              <a:cxn ang="0">
                <a:pos x="386" y="34"/>
              </a:cxn>
              <a:cxn ang="0">
                <a:pos x="352" y="0"/>
              </a:cxn>
              <a:cxn ang="0">
                <a:pos x="0" y="181"/>
              </a:cxn>
            </a:cxnLst>
            <a:rect l="0" t="0" r="r" b="b"/>
            <a:pathLst>
              <a:path w="387" h="216">
                <a:moveTo>
                  <a:pt x="0" y="181"/>
                </a:moveTo>
                <a:lnTo>
                  <a:pt x="34" y="215"/>
                </a:lnTo>
                <a:lnTo>
                  <a:pt x="386" y="34"/>
                </a:lnTo>
                <a:lnTo>
                  <a:pt x="352" y="0"/>
                </a:lnTo>
                <a:lnTo>
                  <a:pt x="0" y="181"/>
                </a:lnTo>
                <a:lnTo>
                  <a:pt x="34" y="215"/>
                </a:lnTo>
                <a:lnTo>
                  <a:pt x="386" y="34"/>
                </a:lnTo>
                <a:lnTo>
                  <a:pt x="352"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08" name="Freeform 32"/>
          <p:cNvSpPr>
            <a:spLocks/>
          </p:cNvSpPr>
          <p:nvPr/>
        </p:nvSpPr>
        <p:spPr bwMode="auto">
          <a:xfrm flipH="1">
            <a:off x="3676650" y="3605213"/>
            <a:ext cx="627063" cy="354012"/>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09" name="Freeform 33"/>
          <p:cNvSpPr>
            <a:spLocks/>
          </p:cNvSpPr>
          <p:nvPr/>
        </p:nvSpPr>
        <p:spPr bwMode="auto">
          <a:xfrm flipH="1">
            <a:off x="3656013" y="3616325"/>
            <a:ext cx="636587" cy="365125"/>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10" name="Freeform 34"/>
          <p:cNvSpPr>
            <a:spLocks/>
          </p:cNvSpPr>
          <p:nvPr/>
        </p:nvSpPr>
        <p:spPr bwMode="auto">
          <a:xfrm flipH="1">
            <a:off x="3586163" y="3725863"/>
            <a:ext cx="608012" cy="354012"/>
          </a:xfrm>
          <a:custGeom>
            <a:avLst/>
            <a:gdLst/>
            <a:ahLst/>
            <a:cxnLst>
              <a:cxn ang="0">
                <a:pos x="0" y="164"/>
              </a:cxn>
              <a:cxn ang="0">
                <a:pos x="33" y="197"/>
              </a:cxn>
              <a:cxn ang="0">
                <a:pos x="380" y="21"/>
              </a:cxn>
              <a:cxn ang="0">
                <a:pos x="347" y="0"/>
              </a:cxn>
              <a:cxn ang="0">
                <a:pos x="0" y="164"/>
              </a:cxn>
            </a:cxnLst>
            <a:rect l="0" t="0" r="r" b="b"/>
            <a:pathLst>
              <a:path w="381" h="198">
                <a:moveTo>
                  <a:pt x="0" y="164"/>
                </a:moveTo>
                <a:lnTo>
                  <a:pt x="33" y="197"/>
                </a:lnTo>
                <a:lnTo>
                  <a:pt x="380" y="21"/>
                </a:lnTo>
                <a:lnTo>
                  <a:pt x="347" y="0"/>
                </a:lnTo>
                <a:lnTo>
                  <a:pt x="0" y="164"/>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11" name="Freeform 35"/>
          <p:cNvSpPr>
            <a:spLocks/>
          </p:cNvSpPr>
          <p:nvPr/>
        </p:nvSpPr>
        <p:spPr bwMode="auto">
          <a:xfrm flipH="1">
            <a:off x="3563938" y="3736975"/>
            <a:ext cx="619125" cy="366713"/>
          </a:xfrm>
          <a:custGeom>
            <a:avLst/>
            <a:gdLst/>
            <a:ahLst/>
            <a:cxnLst>
              <a:cxn ang="0">
                <a:pos x="0" y="170"/>
              </a:cxn>
              <a:cxn ang="0">
                <a:pos x="34" y="204"/>
              </a:cxn>
              <a:cxn ang="0">
                <a:pos x="386" y="22"/>
              </a:cxn>
              <a:cxn ang="0">
                <a:pos x="352" y="0"/>
              </a:cxn>
              <a:cxn ang="0">
                <a:pos x="0" y="170"/>
              </a:cxn>
              <a:cxn ang="0">
                <a:pos x="34" y="204"/>
              </a:cxn>
              <a:cxn ang="0">
                <a:pos x="386" y="22"/>
              </a:cxn>
              <a:cxn ang="0">
                <a:pos x="352" y="0"/>
              </a:cxn>
              <a:cxn ang="0">
                <a:pos x="0" y="170"/>
              </a:cxn>
            </a:cxnLst>
            <a:rect l="0" t="0" r="r" b="b"/>
            <a:pathLst>
              <a:path w="387" h="205">
                <a:moveTo>
                  <a:pt x="0" y="170"/>
                </a:moveTo>
                <a:lnTo>
                  <a:pt x="34" y="204"/>
                </a:lnTo>
                <a:lnTo>
                  <a:pt x="386" y="22"/>
                </a:lnTo>
                <a:lnTo>
                  <a:pt x="352" y="0"/>
                </a:lnTo>
                <a:lnTo>
                  <a:pt x="0" y="170"/>
                </a:lnTo>
                <a:lnTo>
                  <a:pt x="34" y="204"/>
                </a:lnTo>
                <a:lnTo>
                  <a:pt x="386" y="22"/>
                </a:lnTo>
                <a:lnTo>
                  <a:pt x="352" y="0"/>
                </a:lnTo>
                <a:lnTo>
                  <a:pt x="0" y="170"/>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12" name="Freeform 36"/>
          <p:cNvSpPr>
            <a:spLocks/>
          </p:cNvSpPr>
          <p:nvPr/>
        </p:nvSpPr>
        <p:spPr bwMode="auto">
          <a:xfrm flipH="1">
            <a:off x="3476625" y="3829050"/>
            <a:ext cx="609600" cy="371475"/>
          </a:xfrm>
          <a:custGeom>
            <a:avLst/>
            <a:gdLst/>
            <a:ahLst/>
            <a:cxnLst>
              <a:cxn ang="0">
                <a:pos x="0" y="175"/>
              </a:cxn>
              <a:cxn ang="0">
                <a:pos x="34" y="208"/>
              </a:cxn>
              <a:cxn ang="0">
                <a:pos x="380" y="33"/>
              </a:cxn>
              <a:cxn ang="0">
                <a:pos x="347" y="0"/>
              </a:cxn>
              <a:cxn ang="0">
                <a:pos x="0" y="175"/>
              </a:cxn>
            </a:cxnLst>
            <a:rect l="0" t="0" r="r" b="b"/>
            <a:pathLst>
              <a:path w="381" h="209">
                <a:moveTo>
                  <a:pt x="0" y="175"/>
                </a:moveTo>
                <a:lnTo>
                  <a:pt x="34" y="208"/>
                </a:lnTo>
                <a:lnTo>
                  <a:pt x="380" y="33"/>
                </a:lnTo>
                <a:lnTo>
                  <a:pt x="347" y="0"/>
                </a:lnTo>
                <a:lnTo>
                  <a:pt x="0" y="175"/>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13" name="Freeform 37"/>
          <p:cNvSpPr>
            <a:spLocks/>
          </p:cNvSpPr>
          <p:nvPr/>
        </p:nvSpPr>
        <p:spPr bwMode="auto">
          <a:xfrm flipH="1">
            <a:off x="3455988" y="3838575"/>
            <a:ext cx="619125" cy="385763"/>
          </a:xfrm>
          <a:custGeom>
            <a:avLst/>
            <a:gdLst/>
            <a:ahLst/>
            <a:cxnLst>
              <a:cxn ang="0">
                <a:pos x="0" y="181"/>
              </a:cxn>
              <a:cxn ang="0">
                <a:pos x="35" y="215"/>
              </a:cxn>
              <a:cxn ang="0">
                <a:pos x="386" y="34"/>
              </a:cxn>
              <a:cxn ang="0">
                <a:pos x="352" y="0"/>
              </a:cxn>
              <a:cxn ang="0">
                <a:pos x="0" y="181"/>
              </a:cxn>
              <a:cxn ang="0">
                <a:pos x="35" y="215"/>
              </a:cxn>
              <a:cxn ang="0">
                <a:pos x="386" y="34"/>
              </a:cxn>
              <a:cxn ang="0">
                <a:pos x="352" y="0"/>
              </a:cxn>
              <a:cxn ang="0">
                <a:pos x="0" y="181"/>
              </a:cxn>
            </a:cxnLst>
            <a:rect l="0" t="0" r="r" b="b"/>
            <a:pathLst>
              <a:path w="387" h="216">
                <a:moveTo>
                  <a:pt x="0" y="181"/>
                </a:moveTo>
                <a:lnTo>
                  <a:pt x="35" y="215"/>
                </a:lnTo>
                <a:lnTo>
                  <a:pt x="386" y="34"/>
                </a:lnTo>
                <a:lnTo>
                  <a:pt x="352" y="0"/>
                </a:lnTo>
                <a:lnTo>
                  <a:pt x="0" y="181"/>
                </a:lnTo>
                <a:lnTo>
                  <a:pt x="35" y="215"/>
                </a:lnTo>
                <a:lnTo>
                  <a:pt x="386" y="34"/>
                </a:lnTo>
                <a:lnTo>
                  <a:pt x="352"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14" name="Freeform 38"/>
          <p:cNvSpPr>
            <a:spLocks/>
          </p:cNvSpPr>
          <p:nvPr/>
        </p:nvSpPr>
        <p:spPr bwMode="auto">
          <a:xfrm flipH="1">
            <a:off x="3368675" y="3949700"/>
            <a:ext cx="625475" cy="352425"/>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15" name="Freeform 39"/>
          <p:cNvSpPr>
            <a:spLocks/>
          </p:cNvSpPr>
          <p:nvPr/>
        </p:nvSpPr>
        <p:spPr bwMode="auto">
          <a:xfrm flipH="1">
            <a:off x="3346450" y="3960813"/>
            <a:ext cx="636588" cy="365125"/>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16" name="Freeform 40"/>
          <p:cNvSpPr>
            <a:spLocks/>
          </p:cNvSpPr>
          <p:nvPr/>
        </p:nvSpPr>
        <p:spPr bwMode="auto">
          <a:xfrm flipH="1">
            <a:off x="2222500" y="3665538"/>
            <a:ext cx="1535113" cy="1427162"/>
          </a:xfrm>
          <a:custGeom>
            <a:avLst/>
            <a:gdLst/>
            <a:ahLst/>
            <a:cxnLst>
              <a:cxn ang="0">
                <a:pos x="0" y="799"/>
              </a:cxn>
              <a:cxn ang="0">
                <a:pos x="0" y="472"/>
              </a:cxn>
              <a:cxn ang="0">
                <a:pos x="959" y="0"/>
              </a:cxn>
              <a:cxn ang="0">
                <a:pos x="959" y="315"/>
              </a:cxn>
              <a:cxn ang="0">
                <a:pos x="0" y="799"/>
              </a:cxn>
            </a:cxnLst>
            <a:rect l="0" t="0" r="r" b="b"/>
            <a:pathLst>
              <a:path w="960" h="800">
                <a:moveTo>
                  <a:pt x="0" y="799"/>
                </a:moveTo>
                <a:lnTo>
                  <a:pt x="0" y="472"/>
                </a:lnTo>
                <a:lnTo>
                  <a:pt x="959" y="0"/>
                </a:lnTo>
                <a:lnTo>
                  <a:pt x="959" y="315"/>
                </a:lnTo>
                <a:lnTo>
                  <a:pt x="0" y="799"/>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17" name="Freeform 41"/>
          <p:cNvSpPr>
            <a:spLocks/>
          </p:cNvSpPr>
          <p:nvPr/>
        </p:nvSpPr>
        <p:spPr bwMode="auto">
          <a:xfrm flipH="1">
            <a:off x="2200275" y="3676650"/>
            <a:ext cx="1547813" cy="1439863"/>
          </a:xfrm>
          <a:custGeom>
            <a:avLst/>
            <a:gdLst/>
            <a:ahLst/>
            <a:cxnLst>
              <a:cxn ang="0">
                <a:pos x="0" y="806"/>
              </a:cxn>
              <a:cxn ang="0">
                <a:pos x="0" y="476"/>
              </a:cxn>
              <a:cxn ang="0">
                <a:pos x="967" y="0"/>
              </a:cxn>
              <a:cxn ang="0">
                <a:pos x="967" y="318"/>
              </a:cxn>
              <a:cxn ang="0">
                <a:pos x="0" y="806"/>
              </a:cxn>
              <a:cxn ang="0">
                <a:pos x="0" y="476"/>
              </a:cxn>
              <a:cxn ang="0">
                <a:pos x="967" y="0"/>
              </a:cxn>
              <a:cxn ang="0">
                <a:pos x="967" y="318"/>
              </a:cxn>
              <a:cxn ang="0">
                <a:pos x="0" y="806"/>
              </a:cxn>
            </a:cxnLst>
            <a:rect l="0" t="0" r="r" b="b"/>
            <a:pathLst>
              <a:path w="968" h="807">
                <a:moveTo>
                  <a:pt x="0" y="806"/>
                </a:moveTo>
                <a:lnTo>
                  <a:pt x="0" y="476"/>
                </a:lnTo>
                <a:lnTo>
                  <a:pt x="967" y="0"/>
                </a:lnTo>
                <a:lnTo>
                  <a:pt x="967" y="318"/>
                </a:lnTo>
                <a:lnTo>
                  <a:pt x="0" y="806"/>
                </a:lnTo>
                <a:lnTo>
                  <a:pt x="0" y="476"/>
                </a:lnTo>
                <a:lnTo>
                  <a:pt x="967" y="0"/>
                </a:lnTo>
                <a:lnTo>
                  <a:pt x="967" y="318"/>
                </a:lnTo>
                <a:lnTo>
                  <a:pt x="0" y="806"/>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18" name="Freeform 42"/>
          <p:cNvSpPr>
            <a:spLocks/>
          </p:cNvSpPr>
          <p:nvPr/>
        </p:nvSpPr>
        <p:spPr bwMode="auto">
          <a:xfrm flipH="1">
            <a:off x="2222500" y="2511425"/>
            <a:ext cx="2554288" cy="1992313"/>
          </a:xfrm>
          <a:custGeom>
            <a:avLst/>
            <a:gdLst/>
            <a:ahLst/>
            <a:cxnLst>
              <a:cxn ang="0">
                <a:pos x="634" y="1116"/>
              </a:cxn>
              <a:cxn ang="0">
                <a:pos x="1596" y="643"/>
              </a:cxn>
              <a:cxn ang="0">
                <a:pos x="962" y="0"/>
              </a:cxn>
              <a:cxn ang="0">
                <a:pos x="0" y="485"/>
              </a:cxn>
              <a:cxn ang="0">
                <a:pos x="80" y="563"/>
              </a:cxn>
              <a:cxn ang="0">
                <a:pos x="465" y="372"/>
              </a:cxn>
              <a:cxn ang="0">
                <a:pos x="939" y="846"/>
              </a:cxn>
              <a:cxn ang="0">
                <a:pos x="555" y="1037"/>
              </a:cxn>
              <a:cxn ang="0">
                <a:pos x="634" y="1116"/>
              </a:cxn>
            </a:cxnLst>
            <a:rect l="0" t="0" r="r" b="b"/>
            <a:pathLst>
              <a:path w="1597" h="1117">
                <a:moveTo>
                  <a:pt x="634" y="1116"/>
                </a:moveTo>
                <a:lnTo>
                  <a:pt x="1596" y="643"/>
                </a:lnTo>
                <a:lnTo>
                  <a:pt x="962" y="0"/>
                </a:lnTo>
                <a:lnTo>
                  <a:pt x="0" y="485"/>
                </a:lnTo>
                <a:lnTo>
                  <a:pt x="80" y="563"/>
                </a:lnTo>
                <a:lnTo>
                  <a:pt x="465" y="372"/>
                </a:lnTo>
                <a:lnTo>
                  <a:pt x="939" y="846"/>
                </a:lnTo>
                <a:lnTo>
                  <a:pt x="555" y="1037"/>
                </a:lnTo>
                <a:lnTo>
                  <a:pt x="634" y="1116"/>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19" name="Freeform 43"/>
          <p:cNvSpPr>
            <a:spLocks/>
          </p:cNvSpPr>
          <p:nvPr/>
        </p:nvSpPr>
        <p:spPr bwMode="auto">
          <a:xfrm flipH="1">
            <a:off x="2200275" y="2524125"/>
            <a:ext cx="2565400" cy="2003425"/>
          </a:xfrm>
          <a:custGeom>
            <a:avLst/>
            <a:gdLst/>
            <a:ahLst/>
            <a:cxnLst>
              <a:cxn ang="0">
                <a:pos x="637" y="1122"/>
              </a:cxn>
              <a:cxn ang="0">
                <a:pos x="1603" y="646"/>
              </a:cxn>
              <a:cxn ang="0">
                <a:pos x="966" y="0"/>
              </a:cxn>
              <a:cxn ang="0">
                <a:pos x="0" y="488"/>
              </a:cxn>
              <a:cxn ang="0">
                <a:pos x="80" y="567"/>
              </a:cxn>
              <a:cxn ang="0">
                <a:pos x="467" y="374"/>
              </a:cxn>
              <a:cxn ang="0">
                <a:pos x="943" y="850"/>
              </a:cxn>
              <a:cxn ang="0">
                <a:pos x="558" y="1043"/>
              </a:cxn>
              <a:cxn ang="0">
                <a:pos x="637" y="1122"/>
              </a:cxn>
              <a:cxn ang="0">
                <a:pos x="1603" y="646"/>
              </a:cxn>
              <a:cxn ang="0">
                <a:pos x="966" y="0"/>
              </a:cxn>
              <a:cxn ang="0">
                <a:pos x="0" y="488"/>
              </a:cxn>
              <a:cxn ang="0">
                <a:pos x="80" y="567"/>
              </a:cxn>
              <a:cxn ang="0">
                <a:pos x="467" y="374"/>
              </a:cxn>
              <a:cxn ang="0">
                <a:pos x="943" y="850"/>
              </a:cxn>
              <a:cxn ang="0">
                <a:pos x="558" y="1043"/>
              </a:cxn>
              <a:cxn ang="0">
                <a:pos x="637" y="1122"/>
              </a:cxn>
            </a:cxnLst>
            <a:rect l="0" t="0" r="r" b="b"/>
            <a:pathLst>
              <a:path w="1604" h="1123">
                <a:moveTo>
                  <a:pt x="637" y="1122"/>
                </a:moveTo>
                <a:lnTo>
                  <a:pt x="1603" y="646"/>
                </a:lnTo>
                <a:lnTo>
                  <a:pt x="966" y="0"/>
                </a:lnTo>
                <a:lnTo>
                  <a:pt x="0" y="488"/>
                </a:lnTo>
                <a:lnTo>
                  <a:pt x="80" y="567"/>
                </a:lnTo>
                <a:lnTo>
                  <a:pt x="467" y="374"/>
                </a:lnTo>
                <a:lnTo>
                  <a:pt x="943" y="850"/>
                </a:lnTo>
                <a:lnTo>
                  <a:pt x="558" y="1043"/>
                </a:lnTo>
                <a:lnTo>
                  <a:pt x="637" y="1122"/>
                </a:lnTo>
                <a:lnTo>
                  <a:pt x="1603" y="646"/>
                </a:lnTo>
                <a:lnTo>
                  <a:pt x="966" y="0"/>
                </a:lnTo>
                <a:lnTo>
                  <a:pt x="0" y="488"/>
                </a:lnTo>
                <a:lnTo>
                  <a:pt x="80" y="567"/>
                </a:lnTo>
                <a:lnTo>
                  <a:pt x="467" y="374"/>
                </a:lnTo>
                <a:lnTo>
                  <a:pt x="943" y="850"/>
                </a:lnTo>
                <a:lnTo>
                  <a:pt x="558" y="1043"/>
                </a:lnTo>
                <a:lnTo>
                  <a:pt x="637" y="1122"/>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20" name="Line 44"/>
          <p:cNvSpPr>
            <a:spLocks noChangeShapeType="1"/>
          </p:cNvSpPr>
          <p:nvPr/>
        </p:nvSpPr>
        <p:spPr bwMode="auto">
          <a:xfrm flipH="1" flipV="1">
            <a:off x="4594225" y="3665538"/>
            <a:ext cx="53975" cy="39687"/>
          </a:xfrm>
          <a:prstGeom prst="line">
            <a:avLst/>
          </a:prstGeom>
          <a:noFill/>
          <a:ln w="25400">
            <a:solidFill>
              <a:srgbClr val="000000"/>
            </a:solidFill>
            <a:round/>
            <a:headEnd type="none" w="sm" len="sm"/>
            <a:tailEnd type="none" w="sm" len="sm"/>
          </a:ln>
          <a:effectLst/>
        </p:spPr>
        <p:txBody>
          <a:bodyPr wrap="none" lIns="116305" tIns="58153" rIns="116305" bIns="58153">
            <a:spAutoFit/>
          </a:bodyPr>
          <a:lstStyle/>
          <a:p>
            <a:endParaRPr lang="zh-CN" altLang="en-US"/>
          </a:p>
        </p:txBody>
      </p:sp>
      <p:sp>
        <p:nvSpPr>
          <p:cNvPr id="50221" name="Freeform 45"/>
          <p:cNvSpPr>
            <a:spLocks/>
          </p:cNvSpPr>
          <p:nvPr/>
        </p:nvSpPr>
        <p:spPr bwMode="auto">
          <a:xfrm flipH="1">
            <a:off x="4040188" y="4010025"/>
            <a:ext cx="773112" cy="1082675"/>
          </a:xfrm>
          <a:custGeom>
            <a:avLst/>
            <a:gdLst/>
            <a:ahLst/>
            <a:cxnLst>
              <a:cxn ang="0">
                <a:pos x="0" y="0"/>
              </a:cxn>
              <a:cxn ang="0">
                <a:pos x="483" y="471"/>
              </a:cxn>
              <a:cxn ang="0">
                <a:pos x="483" y="606"/>
              </a:cxn>
              <a:cxn ang="0">
                <a:pos x="0" y="124"/>
              </a:cxn>
              <a:cxn ang="0">
                <a:pos x="0" y="0"/>
              </a:cxn>
            </a:cxnLst>
            <a:rect l="0" t="0" r="r" b="b"/>
            <a:pathLst>
              <a:path w="484" h="607">
                <a:moveTo>
                  <a:pt x="0" y="0"/>
                </a:moveTo>
                <a:lnTo>
                  <a:pt x="483" y="471"/>
                </a:lnTo>
                <a:lnTo>
                  <a:pt x="483" y="606"/>
                </a:lnTo>
                <a:lnTo>
                  <a:pt x="0" y="124"/>
                </a:lnTo>
                <a:lnTo>
                  <a:pt x="0" y="0"/>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22" name="Freeform 46"/>
          <p:cNvSpPr>
            <a:spLocks/>
          </p:cNvSpPr>
          <p:nvPr/>
        </p:nvSpPr>
        <p:spPr bwMode="auto">
          <a:xfrm flipH="1">
            <a:off x="4017963" y="4021138"/>
            <a:ext cx="784225" cy="1095375"/>
          </a:xfrm>
          <a:custGeom>
            <a:avLst/>
            <a:gdLst/>
            <a:ahLst/>
            <a:cxnLst>
              <a:cxn ang="0">
                <a:pos x="0" y="0"/>
              </a:cxn>
              <a:cxn ang="0">
                <a:pos x="489" y="476"/>
              </a:cxn>
              <a:cxn ang="0">
                <a:pos x="489" y="613"/>
              </a:cxn>
              <a:cxn ang="0">
                <a:pos x="0" y="125"/>
              </a:cxn>
              <a:cxn ang="0">
                <a:pos x="0" y="0"/>
              </a:cxn>
              <a:cxn ang="0">
                <a:pos x="489" y="476"/>
              </a:cxn>
              <a:cxn ang="0">
                <a:pos x="489" y="613"/>
              </a:cxn>
              <a:cxn ang="0">
                <a:pos x="0" y="125"/>
              </a:cxn>
              <a:cxn ang="0">
                <a:pos x="0" y="0"/>
              </a:cxn>
            </a:cxnLst>
            <a:rect l="0" t="0" r="r" b="b"/>
            <a:pathLst>
              <a:path w="490" h="614">
                <a:moveTo>
                  <a:pt x="0" y="0"/>
                </a:moveTo>
                <a:lnTo>
                  <a:pt x="489" y="476"/>
                </a:lnTo>
                <a:lnTo>
                  <a:pt x="489" y="613"/>
                </a:lnTo>
                <a:lnTo>
                  <a:pt x="0" y="125"/>
                </a:lnTo>
                <a:lnTo>
                  <a:pt x="0" y="0"/>
                </a:lnTo>
                <a:lnTo>
                  <a:pt x="489" y="476"/>
                </a:lnTo>
                <a:lnTo>
                  <a:pt x="489" y="613"/>
                </a:lnTo>
                <a:lnTo>
                  <a:pt x="0" y="125"/>
                </a:lnTo>
                <a:lnTo>
                  <a:pt x="0" y="0"/>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23" name="Freeform 47"/>
          <p:cNvSpPr>
            <a:spLocks/>
          </p:cNvSpPr>
          <p:nvPr/>
        </p:nvSpPr>
        <p:spPr bwMode="auto">
          <a:xfrm flipH="1">
            <a:off x="3949700" y="3949700"/>
            <a:ext cx="863600" cy="898525"/>
          </a:xfrm>
          <a:custGeom>
            <a:avLst/>
            <a:gdLst/>
            <a:ahLst/>
            <a:cxnLst>
              <a:cxn ang="0">
                <a:pos x="0" y="34"/>
              </a:cxn>
              <a:cxn ang="0">
                <a:pos x="68" y="0"/>
              </a:cxn>
              <a:cxn ang="0">
                <a:pos x="539" y="469"/>
              </a:cxn>
              <a:cxn ang="0">
                <a:pos x="484" y="503"/>
              </a:cxn>
              <a:cxn ang="0">
                <a:pos x="0" y="34"/>
              </a:cxn>
            </a:cxnLst>
            <a:rect l="0" t="0" r="r" b="b"/>
            <a:pathLst>
              <a:path w="540" h="504">
                <a:moveTo>
                  <a:pt x="0" y="34"/>
                </a:moveTo>
                <a:lnTo>
                  <a:pt x="68" y="0"/>
                </a:lnTo>
                <a:lnTo>
                  <a:pt x="539" y="469"/>
                </a:lnTo>
                <a:lnTo>
                  <a:pt x="484" y="503"/>
                </a:lnTo>
                <a:lnTo>
                  <a:pt x="0" y="34"/>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24" name="Freeform 48"/>
          <p:cNvSpPr>
            <a:spLocks/>
          </p:cNvSpPr>
          <p:nvPr/>
        </p:nvSpPr>
        <p:spPr bwMode="auto">
          <a:xfrm flipH="1">
            <a:off x="3927475" y="3960813"/>
            <a:ext cx="874713" cy="911225"/>
          </a:xfrm>
          <a:custGeom>
            <a:avLst/>
            <a:gdLst/>
            <a:ahLst/>
            <a:cxnLst>
              <a:cxn ang="0">
                <a:pos x="0" y="34"/>
              </a:cxn>
              <a:cxn ang="0">
                <a:pos x="69" y="0"/>
              </a:cxn>
              <a:cxn ang="0">
                <a:pos x="546" y="476"/>
              </a:cxn>
              <a:cxn ang="0">
                <a:pos x="490" y="510"/>
              </a:cxn>
              <a:cxn ang="0">
                <a:pos x="0" y="34"/>
              </a:cxn>
              <a:cxn ang="0">
                <a:pos x="69" y="0"/>
              </a:cxn>
              <a:cxn ang="0">
                <a:pos x="546" y="476"/>
              </a:cxn>
              <a:cxn ang="0">
                <a:pos x="490" y="510"/>
              </a:cxn>
              <a:cxn ang="0">
                <a:pos x="0" y="34"/>
              </a:cxn>
            </a:cxnLst>
            <a:rect l="0" t="0" r="r" b="b"/>
            <a:pathLst>
              <a:path w="547" h="511">
                <a:moveTo>
                  <a:pt x="0" y="34"/>
                </a:moveTo>
                <a:lnTo>
                  <a:pt x="69" y="0"/>
                </a:lnTo>
                <a:lnTo>
                  <a:pt x="546" y="476"/>
                </a:lnTo>
                <a:lnTo>
                  <a:pt x="490" y="510"/>
                </a:lnTo>
                <a:lnTo>
                  <a:pt x="0" y="34"/>
                </a:lnTo>
                <a:lnTo>
                  <a:pt x="69" y="0"/>
                </a:lnTo>
                <a:lnTo>
                  <a:pt x="546" y="476"/>
                </a:lnTo>
                <a:lnTo>
                  <a:pt x="490" y="510"/>
                </a:lnTo>
                <a:lnTo>
                  <a:pt x="0" y="34"/>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25" name="Freeform 49"/>
          <p:cNvSpPr>
            <a:spLocks/>
          </p:cNvSpPr>
          <p:nvPr/>
        </p:nvSpPr>
        <p:spPr bwMode="auto">
          <a:xfrm flipH="1">
            <a:off x="3859213" y="4799013"/>
            <a:ext cx="171450" cy="293687"/>
          </a:xfrm>
          <a:custGeom>
            <a:avLst/>
            <a:gdLst/>
            <a:ahLst/>
            <a:cxnLst>
              <a:cxn ang="0">
                <a:pos x="0" y="33"/>
              </a:cxn>
              <a:cxn ang="0">
                <a:pos x="53" y="0"/>
              </a:cxn>
              <a:cxn ang="0">
                <a:pos x="53" y="55"/>
              </a:cxn>
              <a:cxn ang="0">
                <a:pos x="106" y="99"/>
              </a:cxn>
              <a:cxn ang="0">
                <a:pos x="0" y="164"/>
              </a:cxn>
              <a:cxn ang="0">
                <a:pos x="0" y="33"/>
              </a:cxn>
            </a:cxnLst>
            <a:rect l="0" t="0" r="r" b="b"/>
            <a:pathLst>
              <a:path w="107" h="165">
                <a:moveTo>
                  <a:pt x="0" y="33"/>
                </a:moveTo>
                <a:lnTo>
                  <a:pt x="53" y="0"/>
                </a:lnTo>
                <a:lnTo>
                  <a:pt x="53" y="55"/>
                </a:lnTo>
                <a:lnTo>
                  <a:pt x="106" y="99"/>
                </a:lnTo>
                <a:lnTo>
                  <a:pt x="0" y="164"/>
                </a:lnTo>
                <a:lnTo>
                  <a:pt x="0" y="33"/>
                </a:lnTo>
              </a:path>
            </a:pathLst>
          </a:custGeom>
          <a:solidFill>
            <a:srgbClr val="FFFFFF"/>
          </a:solidFill>
          <a:ln w="9525" cap="rnd">
            <a:noFill/>
            <a:round/>
            <a:headEnd/>
            <a:tailEnd/>
          </a:ln>
          <a:effectLst/>
        </p:spPr>
        <p:txBody>
          <a:bodyPr wrap="none" lIns="116305" tIns="58153" rIns="116305" bIns="58153">
            <a:spAutoFit/>
          </a:bodyPr>
          <a:lstStyle/>
          <a:p>
            <a:endParaRPr lang="zh-CN" altLang="en-US"/>
          </a:p>
        </p:txBody>
      </p:sp>
      <p:sp>
        <p:nvSpPr>
          <p:cNvPr id="50226" name="Freeform 50"/>
          <p:cNvSpPr>
            <a:spLocks/>
          </p:cNvSpPr>
          <p:nvPr/>
        </p:nvSpPr>
        <p:spPr bwMode="auto">
          <a:xfrm flipH="1">
            <a:off x="3838575" y="4810125"/>
            <a:ext cx="180975" cy="306388"/>
          </a:xfrm>
          <a:custGeom>
            <a:avLst/>
            <a:gdLst/>
            <a:ahLst/>
            <a:cxnLst>
              <a:cxn ang="0">
                <a:pos x="0" y="34"/>
              </a:cxn>
              <a:cxn ang="0">
                <a:pos x="56" y="0"/>
              </a:cxn>
              <a:cxn ang="0">
                <a:pos x="56" y="57"/>
              </a:cxn>
              <a:cxn ang="0">
                <a:pos x="113" y="103"/>
              </a:cxn>
              <a:cxn ang="0">
                <a:pos x="0" y="171"/>
              </a:cxn>
              <a:cxn ang="0">
                <a:pos x="0" y="34"/>
              </a:cxn>
              <a:cxn ang="0">
                <a:pos x="56" y="0"/>
              </a:cxn>
              <a:cxn ang="0">
                <a:pos x="56" y="57"/>
              </a:cxn>
              <a:cxn ang="0">
                <a:pos x="113" y="103"/>
              </a:cxn>
              <a:cxn ang="0">
                <a:pos x="0" y="171"/>
              </a:cxn>
              <a:cxn ang="0">
                <a:pos x="0" y="34"/>
              </a:cxn>
            </a:cxnLst>
            <a:rect l="0" t="0" r="r" b="b"/>
            <a:pathLst>
              <a:path w="114" h="172">
                <a:moveTo>
                  <a:pt x="0" y="34"/>
                </a:moveTo>
                <a:lnTo>
                  <a:pt x="56" y="0"/>
                </a:lnTo>
                <a:lnTo>
                  <a:pt x="56" y="57"/>
                </a:lnTo>
                <a:lnTo>
                  <a:pt x="113" y="103"/>
                </a:lnTo>
                <a:lnTo>
                  <a:pt x="0" y="171"/>
                </a:lnTo>
                <a:lnTo>
                  <a:pt x="0" y="34"/>
                </a:lnTo>
                <a:lnTo>
                  <a:pt x="56" y="0"/>
                </a:lnTo>
                <a:lnTo>
                  <a:pt x="56" y="57"/>
                </a:lnTo>
                <a:lnTo>
                  <a:pt x="113" y="103"/>
                </a:lnTo>
                <a:lnTo>
                  <a:pt x="0" y="171"/>
                </a:lnTo>
                <a:lnTo>
                  <a:pt x="0" y="34"/>
                </a:lnTo>
              </a:path>
            </a:pathLst>
          </a:custGeom>
          <a:noFill/>
          <a:ln w="25400" cap="rnd" cmpd="sng">
            <a:solidFill>
              <a:srgbClr val="000000"/>
            </a:solidFill>
            <a:prstDash val="solid"/>
            <a:round/>
            <a:headEnd/>
            <a:tailEnd/>
          </a:ln>
          <a:effectLst/>
        </p:spPr>
        <p:txBody>
          <a:bodyPr wrap="none" lIns="116305" tIns="58153" rIns="116305" bIns="58153">
            <a:spAutoFit/>
          </a:bodyPr>
          <a:lstStyle/>
          <a:p>
            <a:endParaRPr lang="zh-CN" altLang="en-US"/>
          </a:p>
        </p:txBody>
      </p:sp>
      <p:sp>
        <p:nvSpPr>
          <p:cNvPr id="50227" name="Arc 51"/>
          <p:cNvSpPr>
            <a:spLocks/>
          </p:cNvSpPr>
          <p:nvPr/>
        </p:nvSpPr>
        <p:spPr bwMode="auto">
          <a:xfrm flipH="1">
            <a:off x="1254125" y="2452688"/>
            <a:ext cx="1685925" cy="388937"/>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16305" tIns="58153" rIns="116305" bIns="58153">
            <a:spAutoFit/>
          </a:bodyPr>
          <a:lstStyle/>
          <a:p>
            <a:endParaRPr lang="zh-CN" altLang="en-US"/>
          </a:p>
        </p:txBody>
      </p:sp>
      <p:sp>
        <p:nvSpPr>
          <p:cNvPr id="50228" name="Arc 52"/>
          <p:cNvSpPr>
            <a:spLocks/>
          </p:cNvSpPr>
          <p:nvPr/>
        </p:nvSpPr>
        <p:spPr bwMode="auto">
          <a:xfrm flipH="1">
            <a:off x="1200150" y="2513013"/>
            <a:ext cx="1684338" cy="388937"/>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16305" tIns="58153" rIns="116305" bIns="58153">
            <a:spAutoFit/>
          </a:bodyPr>
          <a:lstStyle/>
          <a:p>
            <a:endParaRPr lang="zh-CN" altLang="en-US"/>
          </a:p>
        </p:txBody>
      </p:sp>
      <p:sp>
        <p:nvSpPr>
          <p:cNvPr id="50229" name="Arc 53"/>
          <p:cNvSpPr>
            <a:spLocks/>
          </p:cNvSpPr>
          <p:nvPr/>
        </p:nvSpPr>
        <p:spPr bwMode="auto">
          <a:xfrm flipH="1">
            <a:off x="854075" y="2876550"/>
            <a:ext cx="1685925" cy="390525"/>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lIns="116305" tIns="58153" rIns="116305" bIns="58153">
            <a:spAutoFit/>
          </a:bodyPr>
          <a:lstStyle/>
          <a:p>
            <a:endParaRPr lang="zh-CN" altLang="en-US"/>
          </a:p>
        </p:txBody>
      </p:sp>
      <p:sp>
        <p:nvSpPr>
          <p:cNvPr id="50230" name="Arc 54"/>
          <p:cNvSpPr>
            <a:spLocks/>
          </p:cNvSpPr>
          <p:nvPr/>
        </p:nvSpPr>
        <p:spPr bwMode="auto">
          <a:xfrm flipH="1">
            <a:off x="817563" y="2938463"/>
            <a:ext cx="1685925" cy="388937"/>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lIns="116305" tIns="58153" rIns="116305" bIns="58153">
            <a:spAutoFit/>
          </a:bodyPr>
          <a:lstStyle/>
          <a:p>
            <a:endParaRPr lang="zh-CN" altLang="en-US"/>
          </a:p>
        </p:txBody>
      </p:sp>
      <p:sp>
        <p:nvSpPr>
          <p:cNvPr id="50231" name="Arc 55"/>
          <p:cNvSpPr>
            <a:spLocks/>
          </p:cNvSpPr>
          <p:nvPr/>
        </p:nvSpPr>
        <p:spPr bwMode="auto">
          <a:xfrm flipH="1">
            <a:off x="781050" y="2979738"/>
            <a:ext cx="1685925" cy="388937"/>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16305" tIns="58153" rIns="116305" bIns="58153">
            <a:spAutoFit/>
          </a:bodyPr>
          <a:lstStyle/>
          <a:p>
            <a:endParaRPr lang="zh-CN" altLang="en-US"/>
          </a:p>
        </p:txBody>
      </p:sp>
      <p:sp>
        <p:nvSpPr>
          <p:cNvPr id="50232" name="Rectangle 56"/>
          <p:cNvSpPr>
            <a:spLocks noChangeArrowheads="1"/>
          </p:cNvSpPr>
          <p:nvPr/>
        </p:nvSpPr>
        <p:spPr bwMode="auto">
          <a:xfrm>
            <a:off x="4503738" y="3683000"/>
            <a:ext cx="338137" cy="346075"/>
          </a:xfrm>
          <a:prstGeom prst="rect">
            <a:avLst/>
          </a:prstGeom>
          <a:noFill/>
          <a:ln w="9525">
            <a:noFill/>
            <a:miter lim="800000"/>
            <a:headEnd/>
            <a:tailEnd/>
          </a:ln>
          <a:effectLst/>
        </p:spPr>
        <p:txBody>
          <a:bodyPr wrap="none" lIns="116305" tIns="58153" rIns="116305" bIns="58153">
            <a:spAutoFit/>
          </a:bodyPr>
          <a:lstStyle/>
          <a:p>
            <a:pPr defTabSz="1027113" eaLnBrk="0" hangingPunct="0"/>
            <a:r>
              <a:rPr kumimoji="0" lang="en-US" altLang="zh-CN" sz="1500" b="1">
                <a:solidFill>
                  <a:srgbClr val="000000"/>
                </a:solidFill>
                <a:latin typeface="Helvetica" pitchFamily="34" charset="0"/>
              </a:rPr>
              <a:t>1</a:t>
            </a:r>
          </a:p>
        </p:txBody>
      </p:sp>
      <p:sp>
        <p:nvSpPr>
          <p:cNvPr id="50233" name="Rectangle 57"/>
          <p:cNvSpPr>
            <a:spLocks noChangeArrowheads="1"/>
          </p:cNvSpPr>
          <p:nvPr/>
        </p:nvSpPr>
        <p:spPr bwMode="auto">
          <a:xfrm>
            <a:off x="3709988" y="4537075"/>
            <a:ext cx="338137" cy="346075"/>
          </a:xfrm>
          <a:prstGeom prst="rect">
            <a:avLst/>
          </a:prstGeom>
          <a:noFill/>
          <a:ln w="9525">
            <a:noFill/>
            <a:miter lim="800000"/>
            <a:headEnd/>
            <a:tailEnd/>
          </a:ln>
          <a:effectLst/>
        </p:spPr>
        <p:txBody>
          <a:bodyPr wrap="none" lIns="116305" tIns="58153" rIns="116305" bIns="58153">
            <a:spAutoFit/>
          </a:bodyPr>
          <a:lstStyle/>
          <a:p>
            <a:pPr defTabSz="1027113" eaLnBrk="0" hangingPunct="0"/>
            <a:r>
              <a:rPr kumimoji="0" lang="en-US" altLang="zh-CN" sz="1500" b="1">
                <a:solidFill>
                  <a:srgbClr val="000000"/>
                </a:solidFill>
                <a:latin typeface="Helvetica" pitchFamily="34" charset="0"/>
              </a:rPr>
              <a:t>8</a:t>
            </a:r>
          </a:p>
        </p:txBody>
      </p:sp>
      <p:sp>
        <p:nvSpPr>
          <p:cNvPr id="50234" name="Line 58"/>
          <p:cNvSpPr>
            <a:spLocks noChangeShapeType="1"/>
          </p:cNvSpPr>
          <p:nvPr/>
        </p:nvSpPr>
        <p:spPr bwMode="auto">
          <a:xfrm rot="21500440" flipV="1">
            <a:off x="2320925" y="2678113"/>
            <a:ext cx="790575" cy="815975"/>
          </a:xfrm>
          <a:prstGeom prst="line">
            <a:avLst/>
          </a:prstGeom>
          <a:noFill/>
          <a:ln w="28575">
            <a:solidFill>
              <a:schemeClr val="tx1"/>
            </a:solidFill>
            <a:round/>
            <a:headEnd type="none" w="sm" len="sm"/>
            <a:tailEnd type="none" w="sm" len="sm"/>
          </a:ln>
          <a:effectLst/>
        </p:spPr>
        <p:txBody>
          <a:bodyPr wrap="none" lIns="116305" tIns="58153" rIns="116305" bIns="58153">
            <a:spAutoFit/>
          </a:bodyPr>
          <a:lstStyle/>
          <a:p>
            <a:endParaRPr lang="zh-CN" altLang="en-US"/>
          </a:p>
        </p:txBody>
      </p:sp>
      <p:sp>
        <p:nvSpPr>
          <p:cNvPr id="50235" name="Rectangle 59"/>
          <p:cNvSpPr>
            <a:spLocks noChangeArrowheads="1"/>
          </p:cNvSpPr>
          <p:nvPr/>
        </p:nvSpPr>
        <p:spPr bwMode="auto">
          <a:xfrm>
            <a:off x="5876925" y="5521325"/>
            <a:ext cx="1270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8</a:t>
            </a:r>
          </a:p>
        </p:txBody>
      </p:sp>
      <p:sp>
        <p:nvSpPr>
          <p:cNvPr id="50236" name="Rectangle 60"/>
          <p:cNvSpPr>
            <a:spLocks noChangeArrowheads="1"/>
          </p:cNvSpPr>
          <p:nvPr/>
        </p:nvSpPr>
        <p:spPr bwMode="auto">
          <a:xfrm>
            <a:off x="6359525" y="5521325"/>
            <a:ext cx="9779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4 R4</a:t>
            </a:r>
            <a:endParaRPr kumimoji="0" lang="en-US" altLang="zh-CN" sz="1800" b="1">
              <a:latin typeface="Helvetica" pitchFamily="34" charset="0"/>
            </a:endParaRPr>
          </a:p>
        </p:txBody>
      </p:sp>
      <p:sp>
        <p:nvSpPr>
          <p:cNvPr id="50237" name="Rectangle 61"/>
          <p:cNvSpPr>
            <a:spLocks noChangeArrowheads="1"/>
          </p:cNvSpPr>
          <p:nvPr/>
        </p:nvSpPr>
        <p:spPr bwMode="auto">
          <a:xfrm>
            <a:off x="5872163" y="3181350"/>
            <a:ext cx="131762" cy="274638"/>
          </a:xfrm>
          <a:prstGeom prst="rect">
            <a:avLst/>
          </a:prstGeom>
          <a:noFill/>
          <a:ln w="9525">
            <a:noFill/>
            <a:miter lim="800000"/>
            <a:headEnd/>
            <a:tailEnd/>
          </a:ln>
          <a:effectLst/>
        </p:spPr>
        <p:txBody>
          <a:bodyPr lIns="0" tIns="0" rIns="0" bIns="0">
            <a:spAutoFit/>
          </a:bodyPr>
          <a:lstStyle/>
          <a:p>
            <a:pPr defTabSz="744538" eaLnBrk="0" hangingPunct="0"/>
            <a:r>
              <a:rPr kumimoji="0" lang="en-US" altLang="zh-CN" sz="1800" b="1">
                <a:solidFill>
                  <a:srgbClr val="000000"/>
                </a:solidFill>
                <a:latin typeface="Helvetica" pitchFamily="34" charset="0"/>
              </a:rPr>
              <a:t>1</a:t>
            </a:r>
          </a:p>
        </p:txBody>
      </p:sp>
      <p:sp>
        <p:nvSpPr>
          <p:cNvPr id="50238" name="Rectangle 62"/>
          <p:cNvSpPr>
            <a:spLocks noChangeArrowheads="1"/>
          </p:cNvSpPr>
          <p:nvPr/>
        </p:nvSpPr>
        <p:spPr bwMode="auto">
          <a:xfrm>
            <a:off x="5876925" y="3514725"/>
            <a:ext cx="1270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2</a:t>
            </a:r>
          </a:p>
        </p:txBody>
      </p:sp>
      <p:sp>
        <p:nvSpPr>
          <p:cNvPr id="50239" name="Rectangle 63"/>
          <p:cNvSpPr>
            <a:spLocks noChangeArrowheads="1"/>
          </p:cNvSpPr>
          <p:nvPr/>
        </p:nvSpPr>
        <p:spPr bwMode="auto">
          <a:xfrm>
            <a:off x="5876925" y="3852863"/>
            <a:ext cx="127000" cy="274637"/>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3</a:t>
            </a:r>
          </a:p>
        </p:txBody>
      </p:sp>
      <p:sp>
        <p:nvSpPr>
          <p:cNvPr id="50240" name="Rectangle 64"/>
          <p:cNvSpPr>
            <a:spLocks noChangeArrowheads="1"/>
          </p:cNvSpPr>
          <p:nvPr/>
        </p:nvSpPr>
        <p:spPr bwMode="auto">
          <a:xfrm>
            <a:off x="5876925" y="4159250"/>
            <a:ext cx="1270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4</a:t>
            </a:r>
          </a:p>
        </p:txBody>
      </p:sp>
      <p:sp>
        <p:nvSpPr>
          <p:cNvPr id="50241" name="Rectangle 65"/>
          <p:cNvSpPr>
            <a:spLocks noChangeArrowheads="1"/>
          </p:cNvSpPr>
          <p:nvPr/>
        </p:nvSpPr>
        <p:spPr bwMode="auto">
          <a:xfrm>
            <a:off x="5876925" y="4514850"/>
            <a:ext cx="1270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5</a:t>
            </a:r>
          </a:p>
        </p:txBody>
      </p:sp>
      <p:sp>
        <p:nvSpPr>
          <p:cNvPr id="50242" name="Rectangle 66"/>
          <p:cNvSpPr>
            <a:spLocks noChangeArrowheads="1"/>
          </p:cNvSpPr>
          <p:nvPr/>
        </p:nvSpPr>
        <p:spPr bwMode="auto">
          <a:xfrm>
            <a:off x="5876925" y="4848225"/>
            <a:ext cx="1270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6</a:t>
            </a:r>
          </a:p>
        </p:txBody>
      </p:sp>
      <p:sp>
        <p:nvSpPr>
          <p:cNvPr id="50243" name="Rectangle 67"/>
          <p:cNvSpPr>
            <a:spLocks noChangeArrowheads="1"/>
          </p:cNvSpPr>
          <p:nvPr/>
        </p:nvSpPr>
        <p:spPr bwMode="auto">
          <a:xfrm>
            <a:off x="5876925" y="5187950"/>
            <a:ext cx="1270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7</a:t>
            </a:r>
          </a:p>
        </p:txBody>
      </p:sp>
      <p:sp>
        <p:nvSpPr>
          <p:cNvPr id="50244" name="Rectangle 68"/>
          <p:cNvSpPr>
            <a:spLocks noChangeArrowheads="1"/>
          </p:cNvSpPr>
          <p:nvPr/>
        </p:nvSpPr>
        <p:spPr bwMode="auto">
          <a:xfrm>
            <a:off x="6391275" y="2219325"/>
            <a:ext cx="990600" cy="823913"/>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Wire Pair</a:t>
            </a:r>
          </a:p>
          <a:p>
            <a:pPr defTabSz="744538" eaLnBrk="0" hangingPunct="0"/>
            <a:r>
              <a:rPr kumimoji="0" lang="en-US" altLang="zh-CN" sz="1800" b="1">
                <a:solidFill>
                  <a:srgbClr val="000000"/>
                </a:solidFill>
                <a:latin typeface="Helvetica" pitchFamily="34" charset="0"/>
              </a:rPr>
              <a:t>T is Tip</a:t>
            </a:r>
          </a:p>
          <a:p>
            <a:pPr defTabSz="744538" eaLnBrk="0" hangingPunct="0"/>
            <a:r>
              <a:rPr kumimoji="0" lang="en-US" altLang="zh-CN" sz="1800" b="1">
                <a:solidFill>
                  <a:srgbClr val="000000"/>
                </a:solidFill>
                <a:latin typeface="Helvetica" pitchFamily="34" charset="0"/>
              </a:rPr>
              <a:t>R is Ring</a:t>
            </a:r>
          </a:p>
        </p:txBody>
      </p:sp>
      <p:sp>
        <p:nvSpPr>
          <p:cNvPr id="50245" name="Rectangle 69"/>
          <p:cNvSpPr>
            <a:spLocks noChangeArrowheads="1"/>
          </p:cNvSpPr>
          <p:nvPr/>
        </p:nvSpPr>
        <p:spPr bwMode="auto">
          <a:xfrm>
            <a:off x="6391275" y="3181350"/>
            <a:ext cx="9525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3 T2</a:t>
            </a:r>
          </a:p>
        </p:txBody>
      </p:sp>
      <p:sp>
        <p:nvSpPr>
          <p:cNvPr id="50246" name="Rectangle 70"/>
          <p:cNvSpPr>
            <a:spLocks noChangeArrowheads="1"/>
          </p:cNvSpPr>
          <p:nvPr/>
        </p:nvSpPr>
        <p:spPr bwMode="auto">
          <a:xfrm>
            <a:off x="6359525" y="3521075"/>
            <a:ext cx="9779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3 R2</a:t>
            </a:r>
          </a:p>
        </p:txBody>
      </p:sp>
      <p:sp>
        <p:nvSpPr>
          <p:cNvPr id="50247" name="Rectangle 71"/>
          <p:cNvSpPr>
            <a:spLocks noChangeArrowheads="1"/>
          </p:cNvSpPr>
          <p:nvPr/>
        </p:nvSpPr>
        <p:spPr bwMode="auto">
          <a:xfrm>
            <a:off x="6359525" y="3852863"/>
            <a:ext cx="952500" cy="274637"/>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2 T3</a:t>
            </a:r>
          </a:p>
        </p:txBody>
      </p:sp>
      <p:sp>
        <p:nvSpPr>
          <p:cNvPr id="50248" name="Rectangle 72"/>
          <p:cNvSpPr>
            <a:spLocks noChangeArrowheads="1"/>
          </p:cNvSpPr>
          <p:nvPr/>
        </p:nvSpPr>
        <p:spPr bwMode="auto">
          <a:xfrm>
            <a:off x="6359525" y="4171950"/>
            <a:ext cx="9779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1 R1</a:t>
            </a:r>
          </a:p>
        </p:txBody>
      </p:sp>
      <p:sp>
        <p:nvSpPr>
          <p:cNvPr id="50249" name="Rectangle 73"/>
          <p:cNvSpPr>
            <a:spLocks noChangeArrowheads="1"/>
          </p:cNvSpPr>
          <p:nvPr/>
        </p:nvSpPr>
        <p:spPr bwMode="auto">
          <a:xfrm>
            <a:off x="6359525" y="4514850"/>
            <a:ext cx="9525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1 T1</a:t>
            </a:r>
          </a:p>
        </p:txBody>
      </p:sp>
      <p:sp>
        <p:nvSpPr>
          <p:cNvPr id="50250" name="Rectangle 74"/>
          <p:cNvSpPr>
            <a:spLocks noChangeArrowheads="1"/>
          </p:cNvSpPr>
          <p:nvPr/>
        </p:nvSpPr>
        <p:spPr bwMode="auto">
          <a:xfrm>
            <a:off x="6359525" y="4848225"/>
            <a:ext cx="9779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2 R3</a:t>
            </a:r>
          </a:p>
        </p:txBody>
      </p:sp>
      <p:sp>
        <p:nvSpPr>
          <p:cNvPr id="50251" name="Rectangle 75"/>
          <p:cNvSpPr>
            <a:spLocks noChangeArrowheads="1"/>
          </p:cNvSpPr>
          <p:nvPr/>
        </p:nvSpPr>
        <p:spPr bwMode="auto">
          <a:xfrm>
            <a:off x="6359525" y="5187950"/>
            <a:ext cx="952500" cy="274638"/>
          </a:xfrm>
          <a:prstGeom prst="rect">
            <a:avLst/>
          </a:prstGeom>
          <a:noFill/>
          <a:ln w="9525">
            <a:noFill/>
            <a:miter lim="800000"/>
            <a:headEnd/>
            <a:tailEnd/>
          </a:ln>
          <a:effectLst/>
        </p:spPr>
        <p:txBody>
          <a:bodyPr wrap="none" lIns="0" tIns="0" rIns="0" bIns="0">
            <a:spAutoFit/>
          </a:bodyPr>
          <a:lstStyle/>
          <a:p>
            <a:pPr defTabSz="744538" eaLnBrk="0" hangingPunct="0"/>
            <a:r>
              <a:rPr kumimoji="0" lang="en-US" altLang="zh-CN" sz="1800" b="1">
                <a:solidFill>
                  <a:srgbClr val="000000"/>
                </a:solidFill>
                <a:latin typeface="Helvetica" pitchFamily="34" charset="0"/>
              </a:rPr>
              <a:t>Pair 4 T4</a:t>
            </a:r>
          </a:p>
        </p:txBody>
      </p:sp>
      <p:sp>
        <p:nvSpPr>
          <p:cNvPr id="50252" name="Line 76"/>
          <p:cNvSpPr>
            <a:spLocks noChangeShapeType="1"/>
          </p:cNvSpPr>
          <p:nvPr/>
        </p:nvSpPr>
        <p:spPr bwMode="auto">
          <a:xfrm flipV="1">
            <a:off x="5586413" y="3132138"/>
            <a:ext cx="2027237" cy="9525"/>
          </a:xfrm>
          <a:prstGeom prst="line">
            <a:avLst/>
          </a:prstGeom>
          <a:noFill/>
          <a:ln w="25400">
            <a:solidFill>
              <a:schemeClr val="accent1"/>
            </a:solidFill>
            <a:round/>
            <a:headEnd type="none" w="sm" len="sm"/>
            <a:tailEnd type="none" w="sm" len="sm"/>
          </a:ln>
          <a:effectLst/>
        </p:spPr>
        <p:txBody>
          <a:bodyPr lIns="0" tIns="0" rIns="0" bIns="1174248">
            <a:spAutoFit/>
          </a:bodyPr>
          <a:lstStyle/>
          <a:p>
            <a:endParaRPr lang="zh-CN" altLang="en-US"/>
          </a:p>
        </p:txBody>
      </p:sp>
      <p:sp>
        <p:nvSpPr>
          <p:cNvPr id="50253" name="Rectangle 77"/>
          <p:cNvSpPr>
            <a:spLocks noChangeArrowheads="1"/>
          </p:cNvSpPr>
          <p:nvPr/>
        </p:nvSpPr>
        <p:spPr bwMode="auto">
          <a:xfrm>
            <a:off x="5737225" y="2778125"/>
            <a:ext cx="419100" cy="549275"/>
          </a:xfrm>
          <a:prstGeom prst="rect">
            <a:avLst/>
          </a:prstGeom>
          <a:noFill/>
          <a:ln w="9525">
            <a:noFill/>
            <a:miter lim="800000"/>
            <a:headEnd/>
            <a:tailEnd/>
          </a:ln>
          <a:effectLst/>
        </p:spPr>
        <p:txBody>
          <a:bodyPr wrap="none" lIns="0" tIns="0" rIns="0" bIns="0">
            <a:spAutoFit/>
          </a:bodyPr>
          <a:lstStyle/>
          <a:p>
            <a:pPr defTabSz="1027113" eaLnBrk="0" hangingPunct="0"/>
            <a:r>
              <a:rPr kumimoji="0" lang="en-US" altLang="zh-CN" sz="1800" b="1">
                <a:solidFill>
                  <a:srgbClr val="000000"/>
                </a:solidFill>
                <a:latin typeface="Helvetica" pitchFamily="34" charset="0"/>
              </a:rPr>
              <a:t>Pin </a:t>
            </a:r>
          </a:p>
          <a:p>
            <a:pPr defTabSz="1027113" eaLnBrk="0" hangingPunct="0"/>
            <a:endParaRPr kumimoji="0" lang="en-US" altLang="zh-CN" sz="1800" b="1">
              <a:solidFill>
                <a:srgbClr val="000000"/>
              </a:solidFill>
              <a:latin typeface="Helvetica" pitchFamily="34" charset="0"/>
            </a:endParaRPr>
          </a:p>
        </p:txBody>
      </p:sp>
      <p:sp>
        <p:nvSpPr>
          <p:cNvPr id="50254" name="Line 78"/>
          <p:cNvSpPr>
            <a:spLocks noChangeShapeType="1"/>
          </p:cNvSpPr>
          <p:nvPr/>
        </p:nvSpPr>
        <p:spPr bwMode="auto">
          <a:xfrm>
            <a:off x="3122613" y="2679700"/>
            <a:ext cx="898525" cy="506413"/>
          </a:xfrm>
          <a:prstGeom prst="line">
            <a:avLst/>
          </a:prstGeom>
          <a:noFill/>
          <a:ln w="76200">
            <a:pattFill prst="lgGrid">
              <a:fgClr>
                <a:srgbClr val="FF9900"/>
              </a:fgClr>
              <a:bgClr>
                <a:srgbClr val="FFFFFF"/>
              </a:bgClr>
            </a:pattFill>
            <a:round/>
            <a:headEnd type="none" w="sm" len="sm"/>
            <a:tailEnd type="none" w="sm" len="sm"/>
          </a:ln>
          <a:effectLst/>
        </p:spPr>
        <p:txBody>
          <a:bodyPr wrap="none" lIns="116305" tIns="58153" rIns="116305" bIns="58153">
            <a:spAutoFit/>
          </a:bodyPr>
          <a:lstStyle/>
          <a:p>
            <a:endParaRPr lang="zh-CN" altLang="en-US"/>
          </a:p>
        </p:txBody>
      </p:sp>
      <p:sp>
        <p:nvSpPr>
          <p:cNvPr id="50255" name="Line 79"/>
          <p:cNvSpPr>
            <a:spLocks noChangeShapeType="1"/>
          </p:cNvSpPr>
          <p:nvPr/>
        </p:nvSpPr>
        <p:spPr bwMode="auto">
          <a:xfrm>
            <a:off x="2732088" y="3116263"/>
            <a:ext cx="898525" cy="506412"/>
          </a:xfrm>
          <a:prstGeom prst="line">
            <a:avLst/>
          </a:prstGeom>
          <a:noFill/>
          <a:ln w="76200">
            <a:pattFill prst="lgGrid">
              <a:fgClr>
                <a:srgbClr val="33CC33"/>
              </a:fgClr>
              <a:bgClr>
                <a:srgbClr val="FFFFFF"/>
              </a:bgClr>
            </a:pattFill>
            <a:round/>
            <a:headEnd type="none" w="sm" len="sm"/>
            <a:tailEnd type="none" w="sm" len="sm"/>
          </a:ln>
          <a:effectLst/>
        </p:spPr>
        <p:txBody>
          <a:bodyPr wrap="none" lIns="116305" tIns="58153" rIns="116305" bIns="58153">
            <a:spAutoFit/>
          </a:bodyPr>
          <a:lstStyle/>
          <a:p>
            <a:endParaRPr lang="zh-CN" altLang="en-US"/>
          </a:p>
        </p:txBody>
      </p:sp>
      <p:sp>
        <p:nvSpPr>
          <p:cNvPr id="50256" name="Line 80"/>
          <p:cNvSpPr>
            <a:spLocks noChangeShapeType="1"/>
          </p:cNvSpPr>
          <p:nvPr/>
        </p:nvSpPr>
        <p:spPr bwMode="auto">
          <a:xfrm>
            <a:off x="2889250" y="2894013"/>
            <a:ext cx="896938" cy="504825"/>
          </a:xfrm>
          <a:prstGeom prst="line">
            <a:avLst/>
          </a:prstGeom>
          <a:noFill/>
          <a:ln w="76200">
            <a:pattFill prst="lgGrid">
              <a:fgClr>
                <a:srgbClr val="0066FF"/>
              </a:fgClr>
              <a:bgClr>
                <a:srgbClr val="FFFFFF"/>
              </a:bgClr>
            </a:pattFill>
            <a:round/>
            <a:headEnd type="none" w="sm" len="sm"/>
            <a:tailEnd type="none" w="sm" len="sm"/>
          </a:ln>
          <a:effectLst/>
        </p:spPr>
        <p:txBody>
          <a:bodyPr wrap="none" lIns="116305" tIns="58153" rIns="116305" bIns="58153">
            <a:spAutoFit/>
          </a:bodyPr>
          <a:lstStyle/>
          <a:p>
            <a:endParaRPr lang="zh-CN" altLang="en-US"/>
          </a:p>
        </p:txBody>
      </p:sp>
      <p:sp>
        <p:nvSpPr>
          <p:cNvPr id="50257" name="Line 81"/>
          <p:cNvSpPr>
            <a:spLocks noChangeShapeType="1"/>
          </p:cNvSpPr>
          <p:nvPr/>
        </p:nvSpPr>
        <p:spPr bwMode="auto">
          <a:xfrm>
            <a:off x="2528888" y="3344863"/>
            <a:ext cx="896937" cy="504825"/>
          </a:xfrm>
          <a:prstGeom prst="line">
            <a:avLst/>
          </a:prstGeom>
          <a:noFill/>
          <a:ln w="76200">
            <a:pattFill prst="lgGrid">
              <a:fgClr>
                <a:srgbClr val="996633"/>
              </a:fgClr>
              <a:bgClr>
                <a:srgbClr val="FFFFFF"/>
              </a:bgClr>
            </a:pattFill>
            <a:round/>
            <a:headEnd type="none" w="sm" len="sm"/>
            <a:tailEnd type="none" w="sm" len="sm"/>
          </a:ln>
          <a:effectLst/>
        </p:spPr>
        <p:txBody>
          <a:bodyPr wrap="none" lIns="116305" tIns="58153" rIns="116305" bIns="58153">
            <a:spAutoFit/>
          </a:bodyPr>
          <a:lstStyle/>
          <a:p>
            <a:endParaRPr lang="zh-CN" altLang="en-US"/>
          </a:p>
        </p:txBody>
      </p:sp>
      <p:sp>
        <p:nvSpPr>
          <p:cNvPr id="50258" name="Line 82"/>
          <p:cNvSpPr>
            <a:spLocks noChangeShapeType="1"/>
          </p:cNvSpPr>
          <p:nvPr/>
        </p:nvSpPr>
        <p:spPr bwMode="auto">
          <a:xfrm>
            <a:off x="3017838" y="2784475"/>
            <a:ext cx="898525" cy="506413"/>
          </a:xfrm>
          <a:prstGeom prst="line">
            <a:avLst/>
          </a:prstGeom>
          <a:noFill/>
          <a:ln w="76200">
            <a:solidFill>
              <a:srgbClr val="FF9900"/>
            </a:solidFill>
            <a:round/>
            <a:headEnd type="none" w="sm" len="sm"/>
            <a:tailEnd type="none" w="sm" len="sm"/>
          </a:ln>
          <a:effectLst/>
        </p:spPr>
        <p:txBody>
          <a:bodyPr wrap="none" lIns="116305" tIns="58153" rIns="116305" bIns="58153">
            <a:spAutoFit/>
          </a:bodyPr>
          <a:lstStyle/>
          <a:p>
            <a:endParaRPr lang="zh-CN" altLang="en-US"/>
          </a:p>
        </p:txBody>
      </p:sp>
      <p:sp>
        <p:nvSpPr>
          <p:cNvPr id="50259" name="Line 83"/>
          <p:cNvSpPr>
            <a:spLocks noChangeShapeType="1"/>
          </p:cNvSpPr>
          <p:nvPr/>
        </p:nvSpPr>
        <p:spPr bwMode="auto">
          <a:xfrm>
            <a:off x="2805113" y="3005138"/>
            <a:ext cx="895350" cy="495300"/>
          </a:xfrm>
          <a:prstGeom prst="line">
            <a:avLst/>
          </a:prstGeom>
          <a:noFill/>
          <a:ln w="76200">
            <a:solidFill>
              <a:srgbClr val="0066FF"/>
            </a:solidFill>
            <a:round/>
            <a:headEnd type="none" w="sm" len="sm"/>
            <a:tailEnd type="none" w="sm" len="sm"/>
          </a:ln>
          <a:effectLst/>
        </p:spPr>
        <p:txBody>
          <a:bodyPr lIns="116305" tIns="58153" rIns="116305" bIns="58153">
            <a:spAutoFit/>
          </a:bodyPr>
          <a:lstStyle/>
          <a:p>
            <a:endParaRPr lang="zh-CN" altLang="en-US"/>
          </a:p>
        </p:txBody>
      </p:sp>
      <p:sp>
        <p:nvSpPr>
          <p:cNvPr id="50260" name="Line 84"/>
          <p:cNvSpPr>
            <a:spLocks noChangeShapeType="1"/>
          </p:cNvSpPr>
          <p:nvPr/>
        </p:nvSpPr>
        <p:spPr bwMode="auto">
          <a:xfrm>
            <a:off x="2633663" y="3219450"/>
            <a:ext cx="903287" cy="479425"/>
          </a:xfrm>
          <a:prstGeom prst="line">
            <a:avLst/>
          </a:prstGeom>
          <a:noFill/>
          <a:ln w="76200">
            <a:solidFill>
              <a:srgbClr val="33CC33"/>
            </a:solidFill>
            <a:round/>
            <a:headEnd type="none" w="sm" len="sm"/>
            <a:tailEnd type="none" w="sm" len="sm"/>
          </a:ln>
          <a:effectLst/>
        </p:spPr>
        <p:txBody>
          <a:bodyPr lIns="116305" tIns="58153" rIns="116305" bIns="58153">
            <a:spAutoFit/>
          </a:bodyPr>
          <a:lstStyle/>
          <a:p>
            <a:endParaRPr lang="zh-CN" altLang="en-US"/>
          </a:p>
        </p:txBody>
      </p:sp>
      <p:sp>
        <p:nvSpPr>
          <p:cNvPr id="50261" name="Line 85"/>
          <p:cNvSpPr>
            <a:spLocks noChangeShapeType="1"/>
          </p:cNvSpPr>
          <p:nvPr/>
        </p:nvSpPr>
        <p:spPr bwMode="auto">
          <a:xfrm>
            <a:off x="2416175" y="3452813"/>
            <a:ext cx="896938" cy="506412"/>
          </a:xfrm>
          <a:prstGeom prst="line">
            <a:avLst/>
          </a:prstGeom>
          <a:noFill/>
          <a:ln w="76200">
            <a:solidFill>
              <a:srgbClr val="996633"/>
            </a:solidFill>
            <a:round/>
            <a:headEnd type="none" w="sm" len="sm"/>
            <a:tailEnd type="none" w="sm" len="sm"/>
          </a:ln>
          <a:effectLst/>
        </p:spPr>
        <p:txBody>
          <a:bodyPr wrap="none" lIns="116305" tIns="58153" rIns="116305" bIns="58153">
            <a:spAutoFit/>
          </a:bodyPr>
          <a:lstStyle/>
          <a:p>
            <a:endParaRPr lang="zh-CN" altLang="en-US"/>
          </a:p>
        </p:txBody>
      </p:sp>
      <p:sp>
        <p:nvSpPr>
          <p:cNvPr id="50262" name="Line 86"/>
          <p:cNvSpPr>
            <a:spLocks noChangeShapeType="1"/>
          </p:cNvSpPr>
          <p:nvPr/>
        </p:nvSpPr>
        <p:spPr bwMode="auto">
          <a:xfrm rot="21500440" flipV="1">
            <a:off x="3240088" y="3192463"/>
            <a:ext cx="790575" cy="817562"/>
          </a:xfrm>
          <a:prstGeom prst="line">
            <a:avLst/>
          </a:prstGeom>
          <a:noFill/>
          <a:ln w="28575">
            <a:solidFill>
              <a:schemeClr val="tx1"/>
            </a:solidFill>
            <a:round/>
            <a:headEnd type="none" w="sm" len="sm"/>
            <a:tailEnd type="none" w="sm" len="sm"/>
          </a:ln>
          <a:effectLst/>
        </p:spPr>
        <p:txBody>
          <a:bodyPr wrap="none" lIns="116305" tIns="58153" rIns="116305" bIns="58153">
            <a:spAutoFit/>
          </a:bodyPr>
          <a:lstStyle/>
          <a:p>
            <a:endParaRPr lang="zh-CN" altLang="en-US"/>
          </a:p>
        </p:txBody>
      </p:sp>
      <p:sp>
        <p:nvSpPr>
          <p:cNvPr id="50263" name="Line 87"/>
          <p:cNvSpPr>
            <a:spLocks noChangeShapeType="1"/>
          </p:cNvSpPr>
          <p:nvPr/>
        </p:nvSpPr>
        <p:spPr bwMode="auto">
          <a:xfrm>
            <a:off x="6208713" y="2244725"/>
            <a:ext cx="6350" cy="3697288"/>
          </a:xfrm>
          <a:prstGeom prst="line">
            <a:avLst/>
          </a:prstGeom>
          <a:noFill/>
          <a:ln w="25400">
            <a:solidFill>
              <a:schemeClr val="accent1"/>
            </a:solidFill>
            <a:round/>
            <a:headEnd type="none" w="sm" len="sm"/>
            <a:tailEnd type="none" w="sm" len="sm"/>
          </a:ln>
          <a:effectLst/>
        </p:spPr>
        <p:txBody>
          <a:bodyPr lIns="0" tIns="0" rIns="0" bIns="1174248">
            <a:spAutoFit/>
          </a:bodyPr>
          <a:lstStyle/>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475656" y="692696"/>
            <a:ext cx="6392863" cy="769938"/>
          </a:xfrm>
        </p:spPr>
        <p:txBody>
          <a:bodyPr/>
          <a:lstStyle/>
          <a:p>
            <a:r>
              <a:rPr lang="en-US" altLang="zh-CN" dirty="0"/>
              <a:t>Two Line  standard</a:t>
            </a:r>
          </a:p>
        </p:txBody>
      </p:sp>
      <p:sp>
        <p:nvSpPr>
          <p:cNvPr id="57347" name="Rectangle 3"/>
          <p:cNvSpPr>
            <a:spLocks noGrp="1" noChangeArrowheads="1"/>
          </p:cNvSpPr>
          <p:nvPr>
            <p:ph type="body" idx="1"/>
          </p:nvPr>
        </p:nvSpPr>
        <p:spPr>
          <a:xfrm>
            <a:off x="899592" y="1844824"/>
            <a:ext cx="7848600" cy="1219200"/>
          </a:xfrm>
        </p:spPr>
        <p:txBody>
          <a:bodyPr/>
          <a:lstStyle/>
          <a:p>
            <a:r>
              <a:rPr lang="en-US" altLang="zh-CN" dirty="0"/>
              <a:t>TIA/EIA </a:t>
            </a:r>
            <a:r>
              <a:rPr lang="en-US" altLang="zh-CN" dirty="0">
                <a:solidFill>
                  <a:srgbClr val="FF0066"/>
                </a:solidFill>
              </a:rPr>
              <a:t>T568A</a:t>
            </a:r>
            <a:r>
              <a:rPr lang="en-US" altLang="zh-CN" dirty="0"/>
              <a:t>  internal first select</a:t>
            </a:r>
          </a:p>
          <a:p>
            <a:r>
              <a:rPr lang="en-US" altLang="zh-CN" dirty="0"/>
              <a:t>TIA/EIA </a:t>
            </a:r>
            <a:r>
              <a:rPr lang="en-US" altLang="zh-CN" dirty="0">
                <a:solidFill>
                  <a:srgbClr val="FF0066"/>
                </a:solidFill>
              </a:rPr>
              <a:t>T568B</a:t>
            </a:r>
            <a:r>
              <a:rPr lang="en-US" altLang="zh-CN" dirty="0"/>
              <a:t>  used broadly</a:t>
            </a:r>
            <a:endParaRPr lang="en-US" altLang="zh-CN" dirty="0">
              <a:solidFill>
                <a:srgbClr val="FF0066"/>
              </a:solidFill>
            </a:endParaRPr>
          </a:p>
        </p:txBody>
      </p:sp>
      <p:sp>
        <p:nvSpPr>
          <p:cNvPr id="57348" name="Text Box 4"/>
          <p:cNvSpPr txBox="1">
            <a:spLocks noChangeArrowheads="1"/>
          </p:cNvSpPr>
          <p:nvPr/>
        </p:nvSpPr>
        <p:spPr bwMode="auto">
          <a:xfrm>
            <a:off x="609600" y="3200400"/>
            <a:ext cx="8229600" cy="762000"/>
          </a:xfrm>
          <a:prstGeom prst="rect">
            <a:avLst/>
          </a:prstGeom>
          <a:noFill/>
          <a:ln w="9525">
            <a:noFill/>
            <a:miter lim="800000"/>
            <a:headEnd/>
            <a:tailEnd/>
          </a:ln>
          <a:effectLst/>
        </p:spPr>
        <p:txBody>
          <a:bodyPr>
            <a:spAutoFit/>
          </a:bodyPr>
          <a:lstStyle/>
          <a:p>
            <a:pPr>
              <a:spcBef>
                <a:spcPct val="50000"/>
              </a:spcBef>
            </a:pPr>
            <a:r>
              <a:rPr lang="en-US" altLang="zh-CN" sz="4400">
                <a:solidFill>
                  <a:schemeClr val="tx2"/>
                </a:solidFill>
              </a:rPr>
              <a:t>Three type UTP Implementation</a:t>
            </a:r>
            <a:endParaRPr lang="en-US" altLang="zh-CN"/>
          </a:p>
        </p:txBody>
      </p:sp>
      <p:sp>
        <p:nvSpPr>
          <p:cNvPr id="57349" name="Text Box 5"/>
          <p:cNvSpPr txBox="1">
            <a:spLocks noChangeArrowheads="1"/>
          </p:cNvSpPr>
          <p:nvPr/>
        </p:nvSpPr>
        <p:spPr bwMode="auto">
          <a:xfrm>
            <a:off x="899592" y="4149080"/>
            <a:ext cx="7237040" cy="2043113"/>
          </a:xfrm>
          <a:prstGeom prst="rect">
            <a:avLst/>
          </a:prstGeom>
          <a:noFill/>
          <a:ln w="9525">
            <a:noFill/>
            <a:miter lim="800000"/>
            <a:headEnd/>
            <a:tailEnd/>
          </a:ln>
          <a:effectLst/>
        </p:spPr>
        <p:txBody>
          <a:bodyPr wrap="square">
            <a:spAutoFit/>
          </a:bodyPr>
          <a:lstStyle/>
          <a:p>
            <a:pPr>
              <a:spcBef>
                <a:spcPct val="50000"/>
              </a:spcBef>
              <a:buClr>
                <a:schemeClr val="accent1"/>
              </a:buClr>
              <a:buFont typeface="Wingdings" pitchFamily="2" charset="2"/>
              <a:buChar char="Ø"/>
            </a:pPr>
            <a:r>
              <a:rPr lang="en-US" altLang="zh-CN" sz="3200" dirty="0"/>
              <a:t>Straight-through </a:t>
            </a:r>
            <a:r>
              <a:rPr lang="zh-CN" altLang="en-US" sz="3200" b="1" dirty="0">
                <a:solidFill>
                  <a:srgbClr val="FF0066"/>
                </a:solidFill>
              </a:rPr>
              <a:t>（直通线）</a:t>
            </a:r>
          </a:p>
          <a:p>
            <a:pPr>
              <a:spcBef>
                <a:spcPct val="50000"/>
              </a:spcBef>
              <a:buClr>
                <a:schemeClr val="accent1"/>
              </a:buClr>
              <a:buFont typeface="Wingdings" pitchFamily="2" charset="2"/>
              <a:buChar char="Ø"/>
            </a:pPr>
            <a:r>
              <a:rPr lang="en-US" altLang="zh-CN" sz="3200" dirty="0"/>
              <a:t>Crossover  </a:t>
            </a:r>
            <a:r>
              <a:rPr lang="zh-CN" altLang="en-US" sz="3200" b="1" dirty="0">
                <a:solidFill>
                  <a:srgbClr val="FF0066"/>
                </a:solidFill>
              </a:rPr>
              <a:t>（交叉线）</a:t>
            </a:r>
          </a:p>
          <a:p>
            <a:pPr>
              <a:spcBef>
                <a:spcPct val="50000"/>
              </a:spcBef>
              <a:buClr>
                <a:schemeClr val="accent1"/>
              </a:buClr>
              <a:buFont typeface="Wingdings" pitchFamily="2" charset="2"/>
              <a:buChar char="Ø"/>
            </a:pPr>
            <a:r>
              <a:rPr lang="en-US" altLang="zh-CN" sz="3200" dirty="0"/>
              <a:t>Rollover  </a:t>
            </a:r>
            <a:r>
              <a:rPr lang="zh-CN" altLang="en-US" sz="3200" b="1" dirty="0">
                <a:solidFill>
                  <a:srgbClr val="FF0066"/>
                </a:solidFill>
              </a:rPr>
              <a:t>（翻转线）</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701675" y="2309813"/>
            <a:ext cx="8442325" cy="3932237"/>
          </a:xfrm>
          <a:prstGeom prst="rect">
            <a:avLst/>
          </a:prstGeom>
          <a:noFill/>
          <a:ln w="9525">
            <a:noFill/>
            <a:miter lim="800000"/>
            <a:headEnd/>
            <a:tailEnd/>
          </a:ln>
          <a:effectLst/>
        </p:spPr>
        <p:txBody>
          <a:bodyPr wrap="none" lIns="0" tIns="0" rIns="0">
            <a:spAutoFit/>
          </a:bodyPr>
          <a:lstStyle/>
          <a:p>
            <a:endParaRPr lang="zh-CN" altLang="en-US"/>
          </a:p>
        </p:txBody>
      </p:sp>
      <p:sp>
        <p:nvSpPr>
          <p:cNvPr id="62467" name="Rectangle 3"/>
          <p:cNvSpPr>
            <a:spLocks noChangeArrowheads="1"/>
          </p:cNvSpPr>
          <p:nvPr/>
        </p:nvSpPr>
        <p:spPr bwMode="auto">
          <a:xfrm>
            <a:off x="5859463" y="1893888"/>
            <a:ext cx="0" cy="457200"/>
          </a:xfrm>
          <a:prstGeom prst="rect">
            <a:avLst/>
          </a:prstGeom>
          <a:noFill/>
          <a:ln w="9525">
            <a:noFill/>
            <a:miter lim="800000"/>
            <a:headEnd/>
            <a:tailEnd/>
          </a:ln>
          <a:effectLst/>
        </p:spPr>
        <p:txBody>
          <a:bodyPr wrap="none" lIns="0" tIns="0" rIns="0" bIns="0">
            <a:spAutoFit/>
          </a:bodyPr>
          <a:lstStyle/>
          <a:p>
            <a:pPr defTabSz="744538" eaLnBrk="0" hangingPunct="0"/>
            <a:endParaRPr kumimoji="0" lang="en-US" altLang="zh-CN" sz="1500" b="1">
              <a:solidFill>
                <a:srgbClr val="000000"/>
              </a:solidFill>
              <a:latin typeface="Helvetica" pitchFamily="34" charset="0"/>
            </a:endParaRPr>
          </a:p>
          <a:p>
            <a:pPr defTabSz="744538" eaLnBrk="0" hangingPunct="0"/>
            <a:endParaRPr kumimoji="0" lang="en-US" altLang="zh-CN" sz="1500" b="1">
              <a:solidFill>
                <a:srgbClr val="000000"/>
              </a:solidFill>
              <a:latin typeface="Helvetica" pitchFamily="34" charset="0"/>
            </a:endParaRPr>
          </a:p>
        </p:txBody>
      </p:sp>
      <p:sp>
        <p:nvSpPr>
          <p:cNvPr id="62468" name="Rectangle 4"/>
          <p:cNvSpPr>
            <a:spLocks noGrp="1" noChangeArrowheads="1"/>
          </p:cNvSpPr>
          <p:nvPr>
            <p:ph type="title"/>
          </p:nvPr>
        </p:nvSpPr>
        <p:spPr>
          <a:xfrm>
            <a:off x="609600" y="533400"/>
            <a:ext cx="8001000" cy="719138"/>
          </a:xfrm>
        </p:spPr>
        <p:txBody>
          <a:bodyPr/>
          <a:lstStyle/>
          <a:p>
            <a:r>
              <a:rPr lang="en-US" altLang="zh-CN" sz="3600"/>
              <a:t>Straight-through   TIA/EIA T568B</a:t>
            </a:r>
          </a:p>
        </p:txBody>
      </p:sp>
      <p:sp>
        <p:nvSpPr>
          <p:cNvPr id="62469" name="Rectangle 5"/>
          <p:cNvSpPr>
            <a:spLocks noChangeArrowheads="1"/>
          </p:cNvSpPr>
          <p:nvPr/>
        </p:nvSpPr>
        <p:spPr bwMode="auto">
          <a:xfrm>
            <a:off x="4867275" y="5122863"/>
            <a:ext cx="3641725" cy="1187450"/>
          </a:xfrm>
          <a:prstGeom prst="rect">
            <a:avLst/>
          </a:prstGeom>
          <a:noFill/>
          <a:ln w="9525">
            <a:noFill/>
            <a:miter lim="800000"/>
            <a:headEnd type="none" w="sm" len="sm"/>
            <a:tailEnd type="none" w="sm" len="sm"/>
          </a:ln>
          <a:effectLst/>
        </p:spPr>
        <p:txBody>
          <a:bodyPr lIns="102769" tIns="51385" rIns="102769" bIns="51385">
            <a:spAutoFit/>
          </a:bodyPr>
          <a:lstStyle/>
          <a:p>
            <a:pPr algn="ctr" defTabSz="1027113" eaLnBrk="0" hangingPunct="0">
              <a:lnSpc>
                <a:spcPct val="95000"/>
              </a:lnSpc>
            </a:pPr>
            <a:r>
              <a:rPr kumimoji="0" lang="en-US" altLang="zh-CN" sz="2500" b="1">
                <a:solidFill>
                  <a:srgbClr val="000000"/>
                </a:solidFill>
                <a:latin typeface="Helvetica" pitchFamily="34" charset="0"/>
              </a:rPr>
              <a:t/>
            </a:r>
            <a:br>
              <a:rPr kumimoji="0" lang="en-US" altLang="zh-CN" sz="2500" b="1">
                <a:solidFill>
                  <a:srgbClr val="000000"/>
                </a:solidFill>
                <a:latin typeface="Helvetica" pitchFamily="34" charset="0"/>
              </a:rPr>
            </a:br>
            <a:r>
              <a:rPr kumimoji="0" lang="en-US" altLang="zh-CN" sz="2500" b="1">
                <a:solidFill>
                  <a:srgbClr val="000000"/>
                </a:solidFill>
                <a:latin typeface="Helvetica" pitchFamily="34" charset="0"/>
              </a:rPr>
              <a:t>Wires on cable ends are in same order</a:t>
            </a:r>
          </a:p>
        </p:txBody>
      </p:sp>
      <p:sp>
        <p:nvSpPr>
          <p:cNvPr id="62470" name="Freeform 6"/>
          <p:cNvSpPr>
            <a:spLocks noChangeAspect="1"/>
          </p:cNvSpPr>
          <p:nvPr/>
        </p:nvSpPr>
        <p:spPr bwMode="auto">
          <a:xfrm rot="19868738" flipH="1">
            <a:off x="3833813" y="3149600"/>
            <a:ext cx="454025" cy="258763"/>
          </a:xfrm>
          <a:custGeom>
            <a:avLst/>
            <a:gdLst/>
            <a:ahLst/>
            <a:cxnLst>
              <a:cxn ang="0">
                <a:pos x="0" y="175"/>
              </a:cxn>
              <a:cxn ang="0">
                <a:pos x="33" y="197"/>
              </a:cxn>
              <a:cxn ang="0">
                <a:pos x="379" y="33"/>
              </a:cxn>
              <a:cxn ang="0">
                <a:pos x="357" y="0"/>
              </a:cxn>
              <a:cxn ang="0">
                <a:pos x="0" y="175"/>
              </a:cxn>
            </a:cxnLst>
            <a:rect l="0" t="0" r="r" b="b"/>
            <a:pathLst>
              <a:path w="380" h="198">
                <a:moveTo>
                  <a:pt x="0" y="175"/>
                </a:moveTo>
                <a:lnTo>
                  <a:pt x="33" y="197"/>
                </a:lnTo>
                <a:lnTo>
                  <a:pt x="379" y="33"/>
                </a:lnTo>
                <a:lnTo>
                  <a:pt x="357" y="0"/>
                </a:lnTo>
                <a:lnTo>
                  <a:pt x="0" y="175"/>
                </a:lnTo>
              </a:path>
            </a:pathLst>
          </a:custGeom>
          <a:solidFill>
            <a:srgbClr val="FFFFFF"/>
          </a:solidFill>
          <a:ln w="9525" cap="rnd">
            <a:noFill/>
            <a:round/>
            <a:headEnd/>
            <a:tailEnd/>
          </a:ln>
          <a:effectLst/>
        </p:spPr>
        <p:txBody>
          <a:bodyPr/>
          <a:lstStyle/>
          <a:p>
            <a:endParaRPr lang="zh-CN" altLang="en-US"/>
          </a:p>
        </p:txBody>
      </p:sp>
      <p:sp>
        <p:nvSpPr>
          <p:cNvPr id="62471" name="Rectangle 7"/>
          <p:cNvSpPr>
            <a:spLocks noChangeAspect="1" noChangeArrowheads="1"/>
          </p:cNvSpPr>
          <p:nvPr/>
        </p:nvSpPr>
        <p:spPr bwMode="auto">
          <a:xfrm>
            <a:off x="454025" y="3502025"/>
            <a:ext cx="2917825" cy="2725738"/>
          </a:xfrm>
          <a:prstGeom prst="rect">
            <a:avLst/>
          </a:prstGeom>
          <a:noFill/>
          <a:ln w="9525">
            <a:noFill/>
            <a:miter lim="800000"/>
            <a:headEnd/>
            <a:tailEnd/>
          </a:ln>
          <a:effectLst/>
        </p:spPr>
        <p:txBody>
          <a:bodyPr lIns="250144" tIns="127624" rIns="250144" bIns="127624">
            <a:spAutoFit/>
          </a:bodyPr>
          <a:lstStyle/>
          <a:p>
            <a:pPr defTabSz="1027113" eaLnBrk="0" hangingPunct="0">
              <a:tabLst>
                <a:tab pos="747713" algn="ctr"/>
              </a:tabLst>
            </a:pPr>
            <a:r>
              <a:rPr kumimoji="0" lang="en-US" altLang="zh-CN" sz="1800" b="1">
                <a:solidFill>
                  <a:srgbClr val="000000"/>
                </a:solidFill>
                <a:latin typeface="Helvetica" pitchFamily="34" charset="0"/>
              </a:rPr>
              <a:t>Pin 	Label</a:t>
            </a:r>
          </a:p>
          <a:p>
            <a:pPr defTabSz="1027113" eaLnBrk="0" hangingPunct="0">
              <a:tabLst>
                <a:tab pos="747713" algn="ctr"/>
              </a:tabLst>
            </a:pPr>
            <a:r>
              <a:rPr kumimoji="0" lang="en-US" altLang="zh-CN" sz="1800" b="1">
                <a:solidFill>
                  <a:srgbClr val="000000"/>
                </a:solidFill>
                <a:latin typeface="Helvetica" pitchFamily="34" charset="0"/>
              </a:rPr>
              <a:t>1	RD+</a:t>
            </a:r>
          </a:p>
          <a:p>
            <a:pPr defTabSz="1027113" eaLnBrk="0" hangingPunct="0">
              <a:tabLst>
                <a:tab pos="747713" algn="ctr"/>
              </a:tabLst>
            </a:pPr>
            <a:r>
              <a:rPr kumimoji="0" lang="en-US" altLang="zh-CN" sz="1800" b="1">
                <a:solidFill>
                  <a:srgbClr val="000000"/>
                </a:solidFill>
                <a:latin typeface="Helvetica" pitchFamily="34" charset="0"/>
              </a:rPr>
              <a:t>2	RD-</a:t>
            </a:r>
          </a:p>
          <a:p>
            <a:pPr defTabSz="1027113" eaLnBrk="0" hangingPunct="0">
              <a:tabLst>
                <a:tab pos="747713" algn="ctr"/>
              </a:tabLst>
            </a:pPr>
            <a:r>
              <a:rPr kumimoji="0" lang="en-US" altLang="zh-CN" sz="1800" b="1">
                <a:solidFill>
                  <a:srgbClr val="000000"/>
                </a:solidFill>
                <a:latin typeface="Helvetica" pitchFamily="34" charset="0"/>
              </a:rPr>
              <a:t>3	TD+</a:t>
            </a:r>
          </a:p>
          <a:p>
            <a:pPr defTabSz="1027113" eaLnBrk="0" hangingPunct="0">
              <a:tabLst>
                <a:tab pos="747713" algn="ctr"/>
              </a:tabLst>
            </a:pPr>
            <a:r>
              <a:rPr kumimoji="0" lang="en-US" altLang="zh-CN" sz="1800" b="1">
                <a:solidFill>
                  <a:srgbClr val="000000"/>
                </a:solidFill>
                <a:latin typeface="Helvetica" pitchFamily="34" charset="0"/>
              </a:rPr>
              <a:t>4	NC</a:t>
            </a:r>
          </a:p>
          <a:p>
            <a:pPr defTabSz="1027113" eaLnBrk="0" hangingPunct="0">
              <a:tabLst>
                <a:tab pos="747713" algn="ctr"/>
              </a:tabLst>
            </a:pPr>
            <a:r>
              <a:rPr kumimoji="0" lang="en-US" altLang="zh-CN" sz="1800" b="1">
                <a:solidFill>
                  <a:srgbClr val="000000"/>
                </a:solidFill>
                <a:latin typeface="Helvetica" pitchFamily="34" charset="0"/>
              </a:rPr>
              <a:t>5	NC</a:t>
            </a:r>
          </a:p>
          <a:p>
            <a:pPr defTabSz="1027113" eaLnBrk="0" hangingPunct="0">
              <a:tabLst>
                <a:tab pos="747713" algn="ctr"/>
              </a:tabLst>
            </a:pPr>
            <a:r>
              <a:rPr kumimoji="0" lang="en-US" altLang="zh-CN" sz="1800" b="1">
                <a:solidFill>
                  <a:srgbClr val="000000"/>
                </a:solidFill>
                <a:latin typeface="Helvetica" pitchFamily="34" charset="0"/>
              </a:rPr>
              <a:t>6	TD-</a:t>
            </a:r>
          </a:p>
          <a:p>
            <a:pPr defTabSz="1027113" eaLnBrk="0" hangingPunct="0">
              <a:tabLst>
                <a:tab pos="747713" algn="ctr"/>
              </a:tabLst>
            </a:pPr>
            <a:r>
              <a:rPr kumimoji="0" lang="en-US" altLang="zh-CN" sz="1800" b="1">
                <a:solidFill>
                  <a:srgbClr val="000000"/>
                </a:solidFill>
                <a:latin typeface="Helvetica" pitchFamily="34" charset="0"/>
              </a:rPr>
              <a:t>7	NC</a:t>
            </a:r>
          </a:p>
          <a:p>
            <a:pPr defTabSz="1027113" eaLnBrk="0" hangingPunct="0">
              <a:tabLst>
                <a:tab pos="747713" algn="ctr"/>
              </a:tabLst>
            </a:pPr>
            <a:r>
              <a:rPr kumimoji="0" lang="en-US" altLang="zh-CN" sz="1800" b="1">
                <a:solidFill>
                  <a:srgbClr val="000000"/>
                </a:solidFill>
                <a:latin typeface="Helvetica" pitchFamily="34" charset="0"/>
              </a:rPr>
              <a:t>8	NC</a:t>
            </a:r>
          </a:p>
        </p:txBody>
      </p:sp>
      <p:sp>
        <p:nvSpPr>
          <p:cNvPr id="62472" name="Rectangle 8"/>
          <p:cNvSpPr>
            <a:spLocks noChangeArrowheads="1"/>
          </p:cNvSpPr>
          <p:nvPr/>
        </p:nvSpPr>
        <p:spPr bwMode="auto">
          <a:xfrm>
            <a:off x="76200" y="1671638"/>
            <a:ext cx="4708525" cy="857250"/>
          </a:xfrm>
          <a:prstGeom prst="rect">
            <a:avLst/>
          </a:prstGeom>
          <a:noFill/>
          <a:ln w="9525">
            <a:noFill/>
            <a:miter lim="800000"/>
            <a:headEnd type="none" w="sm" len="sm"/>
            <a:tailEnd type="none" w="sm" len="sm"/>
          </a:ln>
          <a:effectLst/>
        </p:spPr>
        <p:txBody>
          <a:bodyPr lIns="102769" tIns="51385" rIns="102769" bIns="51385">
            <a:spAutoFit/>
          </a:bodyPr>
          <a:lstStyle/>
          <a:p>
            <a:pPr algn="ctr" defTabSz="1027113" eaLnBrk="0" hangingPunct="0">
              <a:lnSpc>
                <a:spcPct val="95000"/>
              </a:lnSpc>
            </a:pPr>
            <a:r>
              <a:rPr kumimoji="0" lang="en-US" altLang="zh-CN" sz="2600" b="1">
                <a:solidFill>
                  <a:srgbClr val="000000"/>
                </a:solidFill>
                <a:latin typeface="Helvetica" pitchFamily="34" charset="0"/>
              </a:rPr>
              <a:t>Cable 10BaseT/</a:t>
            </a:r>
            <a:br>
              <a:rPr kumimoji="0" lang="en-US" altLang="zh-CN" sz="2600" b="1">
                <a:solidFill>
                  <a:srgbClr val="000000"/>
                </a:solidFill>
                <a:latin typeface="Helvetica" pitchFamily="34" charset="0"/>
              </a:rPr>
            </a:br>
            <a:r>
              <a:rPr kumimoji="0" lang="en-US" altLang="zh-CN" sz="2600" b="1">
                <a:solidFill>
                  <a:srgbClr val="000000"/>
                </a:solidFill>
                <a:latin typeface="Helvetica" pitchFamily="34" charset="0"/>
              </a:rPr>
              <a:t>100BaseTx Straight-through</a:t>
            </a:r>
          </a:p>
        </p:txBody>
      </p:sp>
      <p:sp>
        <p:nvSpPr>
          <p:cNvPr id="62473" name="Rectangle 9"/>
          <p:cNvSpPr>
            <a:spLocks noChangeAspect="1" noChangeArrowheads="1"/>
          </p:cNvSpPr>
          <p:nvPr/>
        </p:nvSpPr>
        <p:spPr bwMode="auto">
          <a:xfrm>
            <a:off x="2511425" y="3487738"/>
            <a:ext cx="1760538" cy="2725737"/>
          </a:xfrm>
          <a:prstGeom prst="rect">
            <a:avLst/>
          </a:prstGeom>
          <a:noFill/>
          <a:ln w="9525">
            <a:noFill/>
            <a:miter lim="800000"/>
            <a:headEnd/>
            <a:tailEnd/>
          </a:ln>
          <a:effectLst/>
        </p:spPr>
        <p:txBody>
          <a:bodyPr lIns="250144" tIns="127624" rIns="250144" bIns="127624">
            <a:spAutoFit/>
          </a:bodyPr>
          <a:lstStyle/>
          <a:p>
            <a:pPr defTabSz="1027113" eaLnBrk="0" hangingPunct="0">
              <a:tabLst>
                <a:tab pos="747713" algn="ctr"/>
              </a:tabLst>
            </a:pPr>
            <a:r>
              <a:rPr kumimoji="0" lang="en-US" altLang="zh-CN" sz="1800" b="1">
                <a:solidFill>
                  <a:srgbClr val="000000"/>
                </a:solidFill>
                <a:latin typeface="Helvetica" pitchFamily="34" charset="0"/>
              </a:rPr>
              <a:t>Pin 	Label</a:t>
            </a:r>
          </a:p>
          <a:p>
            <a:pPr defTabSz="1027113" eaLnBrk="0" hangingPunct="0">
              <a:tabLst>
                <a:tab pos="747713" algn="ctr"/>
              </a:tabLst>
            </a:pPr>
            <a:r>
              <a:rPr kumimoji="0" lang="en-US" altLang="zh-CN" sz="1800" b="1">
                <a:solidFill>
                  <a:srgbClr val="000000"/>
                </a:solidFill>
                <a:latin typeface="Helvetica" pitchFamily="34" charset="0"/>
              </a:rPr>
              <a:t>1	TD+</a:t>
            </a:r>
          </a:p>
          <a:p>
            <a:pPr defTabSz="1027113" eaLnBrk="0" hangingPunct="0">
              <a:tabLst>
                <a:tab pos="747713" algn="ctr"/>
              </a:tabLst>
            </a:pPr>
            <a:r>
              <a:rPr kumimoji="0" lang="en-US" altLang="zh-CN" sz="1800" b="1">
                <a:solidFill>
                  <a:srgbClr val="000000"/>
                </a:solidFill>
                <a:latin typeface="Helvetica" pitchFamily="34" charset="0"/>
              </a:rPr>
              <a:t>2	TD-</a:t>
            </a:r>
          </a:p>
          <a:p>
            <a:pPr defTabSz="1027113" eaLnBrk="0" hangingPunct="0">
              <a:tabLst>
                <a:tab pos="747713" algn="ctr"/>
              </a:tabLst>
            </a:pPr>
            <a:r>
              <a:rPr kumimoji="0" lang="en-US" altLang="zh-CN" sz="1800" b="1">
                <a:solidFill>
                  <a:srgbClr val="000000"/>
                </a:solidFill>
                <a:latin typeface="Helvetica" pitchFamily="34" charset="0"/>
              </a:rPr>
              <a:t>3	RD+</a:t>
            </a:r>
          </a:p>
          <a:p>
            <a:pPr defTabSz="1027113" eaLnBrk="0" hangingPunct="0">
              <a:tabLst>
                <a:tab pos="747713" algn="ctr"/>
              </a:tabLst>
            </a:pPr>
            <a:r>
              <a:rPr kumimoji="0" lang="en-US" altLang="zh-CN" sz="1800" b="1">
                <a:solidFill>
                  <a:srgbClr val="000000"/>
                </a:solidFill>
                <a:latin typeface="Helvetica" pitchFamily="34" charset="0"/>
              </a:rPr>
              <a:t>4	NC</a:t>
            </a:r>
          </a:p>
          <a:p>
            <a:pPr defTabSz="1027113" eaLnBrk="0" hangingPunct="0">
              <a:tabLst>
                <a:tab pos="747713" algn="ctr"/>
              </a:tabLst>
            </a:pPr>
            <a:r>
              <a:rPr kumimoji="0" lang="en-US" altLang="zh-CN" sz="1800" b="1">
                <a:solidFill>
                  <a:srgbClr val="000000"/>
                </a:solidFill>
                <a:latin typeface="Helvetica" pitchFamily="34" charset="0"/>
              </a:rPr>
              <a:t>5	NC</a:t>
            </a:r>
          </a:p>
          <a:p>
            <a:pPr defTabSz="1027113" eaLnBrk="0" hangingPunct="0">
              <a:tabLst>
                <a:tab pos="747713" algn="ctr"/>
              </a:tabLst>
            </a:pPr>
            <a:r>
              <a:rPr kumimoji="0" lang="en-US" altLang="zh-CN" sz="1800" b="1">
                <a:solidFill>
                  <a:srgbClr val="000000"/>
                </a:solidFill>
                <a:latin typeface="Helvetica" pitchFamily="34" charset="0"/>
              </a:rPr>
              <a:t>6	RD-</a:t>
            </a:r>
          </a:p>
          <a:p>
            <a:pPr defTabSz="1027113" eaLnBrk="0" hangingPunct="0">
              <a:tabLst>
                <a:tab pos="747713" algn="ctr"/>
              </a:tabLst>
            </a:pPr>
            <a:r>
              <a:rPr kumimoji="0" lang="en-US" altLang="zh-CN" sz="1800" b="1">
                <a:solidFill>
                  <a:srgbClr val="000000"/>
                </a:solidFill>
                <a:latin typeface="Helvetica" pitchFamily="34" charset="0"/>
              </a:rPr>
              <a:t>7	NC</a:t>
            </a:r>
          </a:p>
          <a:p>
            <a:pPr defTabSz="1027113" eaLnBrk="0" hangingPunct="0">
              <a:tabLst>
                <a:tab pos="747713" algn="ctr"/>
              </a:tabLst>
            </a:pPr>
            <a:r>
              <a:rPr kumimoji="0" lang="en-US" altLang="zh-CN" sz="1800" b="1">
                <a:solidFill>
                  <a:srgbClr val="000000"/>
                </a:solidFill>
                <a:latin typeface="Helvetica" pitchFamily="34" charset="0"/>
              </a:rPr>
              <a:t>8	NC</a:t>
            </a:r>
          </a:p>
        </p:txBody>
      </p:sp>
      <p:sp>
        <p:nvSpPr>
          <p:cNvPr id="62474" name="Line 10"/>
          <p:cNvSpPr>
            <a:spLocks noChangeShapeType="1"/>
          </p:cNvSpPr>
          <p:nvPr/>
        </p:nvSpPr>
        <p:spPr bwMode="auto">
          <a:xfrm flipV="1">
            <a:off x="1720850" y="5405438"/>
            <a:ext cx="1006475" cy="12700"/>
          </a:xfrm>
          <a:prstGeom prst="line">
            <a:avLst/>
          </a:prstGeom>
          <a:noFill/>
          <a:ln w="38100">
            <a:solidFill>
              <a:schemeClr val="tx1"/>
            </a:solidFill>
            <a:round/>
            <a:headEnd type="none" w="sm" len="sm"/>
            <a:tailEnd type="triangle" w="med" len="med"/>
          </a:ln>
          <a:effectLst/>
        </p:spPr>
        <p:txBody>
          <a:bodyPr anchor="ctr">
            <a:spAutoFit/>
          </a:bodyPr>
          <a:lstStyle/>
          <a:p>
            <a:endParaRPr lang="zh-CN" altLang="en-US"/>
          </a:p>
        </p:txBody>
      </p:sp>
      <p:sp>
        <p:nvSpPr>
          <p:cNvPr id="62475" name="Line 11"/>
          <p:cNvSpPr>
            <a:spLocks noChangeShapeType="1"/>
          </p:cNvSpPr>
          <p:nvPr/>
        </p:nvSpPr>
        <p:spPr bwMode="auto">
          <a:xfrm flipV="1">
            <a:off x="1720850" y="4060825"/>
            <a:ext cx="1006475" cy="12700"/>
          </a:xfrm>
          <a:prstGeom prst="line">
            <a:avLst/>
          </a:prstGeom>
          <a:noFill/>
          <a:ln w="38100">
            <a:solidFill>
              <a:schemeClr val="tx1"/>
            </a:solidFill>
            <a:round/>
            <a:headEnd type="triangle" w="med" len="med"/>
            <a:tailEnd type="none" w="lg" len="med"/>
          </a:ln>
          <a:effectLst/>
        </p:spPr>
        <p:txBody>
          <a:bodyPr anchor="ctr">
            <a:spAutoFit/>
          </a:bodyPr>
          <a:lstStyle/>
          <a:p>
            <a:endParaRPr lang="zh-CN" altLang="en-US"/>
          </a:p>
        </p:txBody>
      </p:sp>
      <p:sp>
        <p:nvSpPr>
          <p:cNvPr id="62476" name="Line 12"/>
          <p:cNvSpPr>
            <a:spLocks noChangeShapeType="1"/>
          </p:cNvSpPr>
          <p:nvPr/>
        </p:nvSpPr>
        <p:spPr bwMode="auto">
          <a:xfrm flipV="1">
            <a:off x="1720850" y="4308475"/>
            <a:ext cx="1006475" cy="12700"/>
          </a:xfrm>
          <a:prstGeom prst="line">
            <a:avLst/>
          </a:prstGeom>
          <a:noFill/>
          <a:ln w="38100">
            <a:solidFill>
              <a:schemeClr val="tx1"/>
            </a:solidFill>
            <a:round/>
            <a:headEnd type="triangle" w="med" len="med"/>
            <a:tailEnd type="none" w="lg" len="med"/>
          </a:ln>
          <a:effectLst/>
        </p:spPr>
        <p:txBody>
          <a:bodyPr anchor="ctr">
            <a:spAutoFit/>
          </a:bodyPr>
          <a:lstStyle/>
          <a:p>
            <a:endParaRPr lang="zh-CN" altLang="en-US"/>
          </a:p>
        </p:txBody>
      </p:sp>
      <p:pic>
        <p:nvPicPr>
          <p:cNvPr id="62477" name="Picture 13"/>
          <p:cNvPicPr>
            <a:picLocks noChangeArrowheads="1"/>
          </p:cNvPicPr>
          <p:nvPr/>
        </p:nvPicPr>
        <p:blipFill>
          <a:blip r:embed="rId3" cstate="print"/>
          <a:srcRect/>
          <a:stretch>
            <a:fillRect/>
          </a:stretch>
        </p:blipFill>
        <p:spPr bwMode="auto">
          <a:xfrm>
            <a:off x="2743200" y="2752725"/>
            <a:ext cx="511175" cy="554038"/>
          </a:xfrm>
          <a:prstGeom prst="rect">
            <a:avLst/>
          </a:prstGeom>
          <a:noFill/>
          <a:ln w="9525">
            <a:noFill/>
            <a:miter lim="800000"/>
            <a:headEnd/>
            <a:tailEnd/>
          </a:ln>
          <a:effectLst/>
        </p:spPr>
      </p:pic>
      <p:pic>
        <p:nvPicPr>
          <p:cNvPr id="62478" name="Picture 14"/>
          <p:cNvPicPr>
            <a:picLocks noChangeArrowheads="1"/>
          </p:cNvPicPr>
          <p:nvPr/>
        </p:nvPicPr>
        <p:blipFill>
          <a:blip r:embed="rId4" cstate="print"/>
          <a:srcRect/>
          <a:stretch>
            <a:fillRect/>
          </a:stretch>
        </p:blipFill>
        <p:spPr bwMode="auto">
          <a:xfrm>
            <a:off x="3171825" y="2778125"/>
            <a:ext cx="1030288" cy="519113"/>
          </a:xfrm>
          <a:prstGeom prst="rect">
            <a:avLst/>
          </a:prstGeom>
          <a:noFill/>
          <a:ln w="9525">
            <a:noFill/>
            <a:miter lim="800000"/>
            <a:headEnd/>
            <a:tailEnd/>
          </a:ln>
          <a:effectLst/>
        </p:spPr>
      </p:pic>
      <p:sp>
        <p:nvSpPr>
          <p:cNvPr id="62479" name="Rectangle 15"/>
          <p:cNvSpPr>
            <a:spLocks noChangeArrowheads="1"/>
          </p:cNvSpPr>
          <p:nvPr/>
        </p:nvSpPr>
        <p:spPr bwMode="auto">
          <a:xfrm>
            <a:off x="2636838" y="3252788"/>
            <a:ext cx="1527175"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chemeClr val="tx2"/>
                </a:solidFill>
                <a:latin typeface="Helvetica" pitchFamily="34" charset="0"/>
              </a:rPr>
              <a:t>Server/Router</a:t>
            </a:r>
          </a:p>
        </p:txBody>
      </p:sp>
      <p:sp>
        <p:nvSpPr>
          <p:cNvPr id="62480" name="Freeform 16"/>
          <p:cNvSpPr>
            <a:spLocks noChangeAspect="1"/>
          </p:cNvSpPr>
          <p:nvPr/>
        </p:nvSpPr>
        <p:spPr bwMode="auto">
          <a:xfrm rot="19868738" flipH="1">
            <a:off x="4621213" y="4129088"/>
            <a:ext cx="127000" cy="215900"/>
          </a:xfrm>
          <a:custGeom>
            <a:avLst/>
            <a:gdLst/>
            <a:ahLst/>
            <a:cxnLst>
              <a:cxn ang="0">
                <a:pos x="0" y="33"/>
              </a:cxn>
              <a:cxn ang="0">
                <a:pos x="53" y="0"/>
              </a:cxn>
              <a:cxn ang="0">
                <a:pos x="53" y="55"/>
              </a:cxn>
              <a:cxn ang="0">
                <a:pos x="106" y="99"/>
              </a:cxn>
              <a:cxn ang="0">
                <a:pos x="0" y="164"/>
              </a:cxn>
              <a:cxn ang="0">
                <a:pos x="0" y="33"/>
              </a:cxn>
            </a:cxnLst>
            <a:rect l="0" t="0" r="r" b="b"/>
            <a:pathLst>
              <a:path w="107" h="165">
                <a:moveTo>
                  <a:pt x="0" y="33"/>
                </a:moveTo>
                <a:lnTo>
                  <a:pt x="53" y="0"/>
                </a:lnTo>
                <a:lnTo>
                  <a:pt x="53" y="55"/>
                </a:lnTo>
                <a:lnTo>
                  <a:pt x="106" y="99"/>
                </a:lnTo>
                <a:lnTo>
                  <a:pt x="0" y="164"/>
                </a:lnTo>
                <a:lnTo>
                  <a:pt x="0" y="33"/>
                </a:lnTo>
              </a:path>
            </a:pathLst>
          </a:custGeom>
          <a:solidFill>
            <a:srgbClr val="FFFFFF"/>
          </a:solidFill>
          <a:ln w="9525" cap="rnd">
            <a:noFill/>
            <a:round/>
            <a:headEnd/>
            <a:tailEnd/>
          </a:ln>
          <a:effectLst/>
        </p:spPr>
        <p:txBody>
          <a:bodyPr/>
          <a:lstStyle/>
          <a:p>
            <a:endParaRPr lang="zh-CN" altLang="en-US"/>
          </a:p>
        </p:txBody>
      </p:sp>
      <p:sp>
        <p:nvSpPr>
          <p:cNvPr id="62481" name="Freeform 17"/>
          <p:cNvSpPr>
            <a:spLocks noChangeAspect="1"/>
          </p:cNvSpPr>
          <p:nvPr/>
        </p:nvSpPr>
        <p:spPr bwMode="auto">
          <a:xfrm>
            <a:off x="4765675" y="2605088"/>
            <a:ext cx="1035050" cy="684212"/>
          </a:xfrm>
          <a:custGeom>
            <a:avLst/>
            <a:gdLst/>
            <a:ahLst/>
            <a:cxnLst>
              <a:cxn ang="0">
                <a:pos x="637" y="1122"/>
              </a:cxn>
              <a:cxn ang="0">
                <a:pos x="1603" y="646"/>
              </a:cxn>
              <a:cxn ang="0">
                <a:pos x="966" y="0"/>
              </a:cxn>
              <a:cxn ang="0">
                <a:pos x="0" y="488"/>
              </a:cxn>
              <a:cxn ang="0">
                <a:pos x="80" y="567"/>
              </a:cxn>
              <a:cxn ang="0">
                <a:pos x="467" y="374"/>
              </a:cxn>
              <a:cxn ang="0">
                <a:pos x="943" y="850"/>
              </a:cxn>
              <a:cxn ang="0">
                <a:pos x="558" y="1043"/>
              </a:cxn>
              <a:cxn ang="0">
                <a:pos x="637" y="1122"/>
              </a:cxn>
              <a:cxn ang="0">
                <a:pos x="1603" y="646"/>
              </a:cxn>
              <a:cxn ang="0">
                <a:pos x="966" y="0"/>
              </a:cxn>
              <a:cxn ang="0">
                <a:pos x="0" y="488"/>
              </a:cxn>
              <a:cxn ang="0">
                <a:pos x="80" y="567"/>
              </a:cxn>
              <a:cxn ang="0">
                <a:pos x="467" y="374"/>
              </a:cxn>
              <a:cxn ang="0">
                <a:pos x="943" y="850"/>
              </a:cxn>
              <a:cxn ang="0">
                <a:pos x="558" y="1043"/>
              </a:cxn>
              <a:cxn ang="0">
                <a:pos x="637" y="1122"/>
              </a:cxn>
            </a:cxnLst>
            <a:rect l="0" t="0" r="r" b="b"/>
            <a:pathLst>
              <a:path w="1604" h="1123">
                <a:moveTo>
                  <a:pt x="637" y="1122"/>
                </a:moveTo>
                <a:lnTo>
                  <a:pt x="1603" y="646"/>
                </a:lnTo>
                <a:lnTo>
                  <a:pt x="966" y="0"/>
                </a:lnTo>
                <a:lnTo>
                  <a:pt x="0" y="488"/>
                </a:lnTo>
                <a:lnTo>
                  <a:pt x="80" y="567"/>
                </a:lnTo>
                <a:lnTo>
                  <a:pt x="467" y="374"/>
                </a:lnTo>
                <a:lnTo>
                  <a:pt x="943" y="850"/>
                </a:lnTo>
                <a:lnTo>
                  <a:pt x="558" y="1043"/>
                </a:lnTo>
                <a:lnTo>
                  <a:pt x="637" y="1122"/>
                </a:lnTo>
                <a:lnTo>
                  <a:pt x="1603" y="646"/>
                </a:lnTo>
                <a:lnTo>
                  <a:pt x="966" y="0"/>
                </a:lnTo>
                <a:lnTo>
                  <a:pt x="0" y="488"/>
                </a:lnTo>
                <a:lnTo>
                  <a:pt x="80" y="567"/>
                </a:lnTo>
                <a:lnTo>
                  <a:pt x="467" y="374"/>
                </a:lnTo>
                <a:lnTo>
                  <a:pt x="943" y="850"/>
                </a:lnTo>
                <a:lnTo>
                  <a:pt x="558" y="1043"/>
                </a:lnTo>
                <a:lnTo>
                  <a:pt x="637" y="1122"/>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82" name="Line 18"/>
          <p:cNvSpPr>
            <a:spLocks noChangeAspect="1" noChangeShapeType="1"/>
          </p:cNvSpPr>
          <p:nvPr/>
        </p:nvSpPr>
        <p:spPr bwMode="auto">
          <a:xfrm flipH="1">
            <a:off x="5076825" y="2705100"/>
            <a:ext cx="371475" cy="177800"/>
          </a:xfrm>
          <a:prstGeom prst="line">
            <a:avLst/>
          </a:prstGeom>
          <a:noFill/>
          <a:ln w="76200">
            <a:solidFill>
              <a:srgbClr val="996633"/>
            </a:solidFill>
            <a:round/>
            <a:headEnd type="none" w="sm" len="sm"/>
            <a:tailEnd type="none" w="sm" len="sm"/>
          </a:ln>
          <a:effectLst/>
        </p:spPr>
        <p:txBody>
          <a:bodyPr wrap="none" lIns="185571" tIns="92786" rIns="185571" bIns="92786">
            <a:spAutoFit/>
          </a:bodyPr>
          <a:lstStyle/>
          <a:p>
            <a:endParaRPr lang="zh-CN" altLang="en-US"/>
          </a:p>
        </p:txBody>
      </p:sp>
      <p:sp>
        <p:nvSpPr>
          <p:cNvPr id="62483" name="Freeform 19"/>
          <p:cNvSpPr>
            <a:spLocks noChangeAspect="1"/>
          </p:cNvSpPr>
          <p:nvPr/>
        </p:nvSpPr>
        <p:spPr bwMode="auto">
          <a:xfrm>
            <a:off x="5765800" y="3049588"/>
            <a:ext cx="201613" cy="141287"/>
          </a:xfrm>
          <a:custGeom>
            <a:avLst/>
            <a:gdLst/>
            <a:ahLst/>
            <a:cxnLst>
              <a:cxn ang="0">
                <a:pos x="311" y="0"/>
              </a:cxn>
              <a:cxn ang="0">
                <a:pos x="311" y="78"/>
              </a:cxn>
              <a:cxn ang="0">
                <a:pos x="0" y="231"/>
              </a:cxn>
              <a:cxn ang="0">
                <a:pos x="0" y="78"/>
              </a:cxn>
              <a:cxn ang="0">
                <a:pos x="311" y="0"/>
              </a:cxn>
            </a:cxnLst>
            <a:rect l="0" t="0" r="r" b="b"/>
            <a:pathLst>
              <a:path w="312" h="232">
                <a:moveTo>
                  <a:pt x="311" y="0"/>
                </a:moveTo>
                <a:lnTo>
                  <a:pt x="311" y="78"/>
                </a:lnTo>
                <a:lnTo>
                  <a:pt x="0" y="231"/>
                </a:lnTo>
                <a:lnTo>
                  <a:pt x="0" y="78"/>
                </a:lnTo>
                <a:lnTo>
                  <a:pt x="311" y="0"/>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84" name="Freeform 20"/>
          <p:cNvSpPr>
            <a:spLocks noChangeAspect="1"/>
          </p:cNvSpPr>
          <p:nvPr/>
        </p:nvSpPr>
        <p:spPr bwMode="auto">
          <a:xfrm>
            <a:off x="5770563" y="3054350"/>
            <a:ext cx="206375" cy="144463"/>
          </a:xfrm>
          <a:custGeom>
            <a:avLst/>
            <a:gdLst/>
            <a:ahLst/>
            <a:cxnLst>
              <a:cxn ang="0">
                <a:pos x="318" y="0"/>
              </a:cxn>
              <a:cxn ang="0">
                <a:pos x="318" y="80"/>
              </a:cxn>
              <a:cxn ang="0">
                <a:pos x="0" y="237"/>
              </a:cxn>
              <a:cxn ang="0">
                <a:pos x="0" y="80"/>
              </a:cxn>
              <a:cxn ang="0">
                <a:pos x="318" y="0"/>
              </a:cxn>
              <a:cxn ang="0">
                <a:pos x="318" y="80"/>
              </a:cxn>
              <a:cxn ang="0">
                <a:pos x="0" y="237"/>
              </a:cxn>
              <a:cxn ang="0">
                <a:pos x="0" y="80"/>
              </a:cxn>
              <a:cxn ang="0">
                <a:pos x="318" y="0"/>
              </a:cxn>
            </a:cxnLst>
            <a:rect l="0" t="0" r="r" b="b"/>
            <a:pathLst>
              <a:path w="319" h="238">
                <a:moveTo>
                  <a:pt x="318" y="0"/>
                </a:moveTo>
                <a:lnTo>
                  <a:pt x="318" y="80"/>
                </a:lnTo>
                <a:lnTo>
                  <a:pt x="0" y="237"/>
                </a:lnTo>
                <a:lnTo>
                  <a:pt x="0" y="80"/>
                </a:lnTo>
                <a:lnTo>
                  <a:pt x="318" y="0"/>
                </a:lnTo>
                <a:lnTo>
                  <a:pt x="318" y="80"/>
                </a:lnTo>
                <a:lnTo>
                  <a:pt x="0" y="237"/>
                </a:lnTo>
                <a:lnTo>
                  <a:pt x="0" y="80"/>
                </a:lnTo>
                <a:lnTo>
                  <a:pt x="318" y="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85" name="Freeform 21"/>
          <p:cNvSpPr>
            <a:spLocks noChangeAspect="1"/>
          </p:cNvSpPr>
          <p:nvPr/>
        </p:nvSpPr>
        <p:spPr bwMode="auto">
          <a:xfrm>
            <a:off x="5686425" y="2973388"/>
            <a:ext cx="280988" cy="122237"/>
          </a:xfrm>
          <a:custGeom>
            <a:avLst/>
            <a:gdLst/>
            <a:ahLst/>
            <a:cxnLst>
              <a:cxn ang="0">
                <a:pos x="436" y="121"/>
              </a:cxn>
              <a:cxn ang="0">
                <a:pos x="313" y="0"/>
              </a:cxn>
              <a:cxn ang="0">
                <a:pos x="0" y="77"/>
              </a:cxn>
              <a:cxn ang="0">
                <a:pos x="123" y="198"/>
              </a:cxn>
              <a:cxn ang="0">
                <a:pos x="436" y="121"/>
              </a:cxn>
            </a:cxnLst>
            <a:rect l="0" t="0" r="r" b="b"/>
            <a:pathLst>
              <a:path w="437" h="199">
                <a:moveTo>
                  <a:pt x="436" y="121"/>
                </a:moveTo>
                <a:lnTo>
                  <a:pt x="313" y="0"/>
                </a:lnTo>
                <a:lnTo>
                  <a:pt x="0" y="77"/>
                </a:lnTo>
                <a:lnTo>
                  <a:pt x="123" y="198"/>
                </a:lnTo>
                <a:lnTo>
                  <a:pt x="436" y="121"/>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86" name="Freeform 22"/>
          <p:cNvSpPr>
            <a:spLocks noChangeAspect="1"/>
          </p:cNvSpPr>
          <p:nvPr/>
        </p:nvSpPr>
        <p:spPr bwMode="auto">
          <a:xfrm>
            <a:off x="5689600" y="2978150"/>
            <a:ext cx="287338" cy="125413"/>
          </a:xfrm>
          <a:custGeom>
            <a:avLst/>
            <a:gdLst/>
            <a:ahLst/>
            <a:cxnLst>
              <a:cxn ang="0">
                <a:pos x="443" y="124"/>
              </a:cxn>
              <a:cxn ang="0">
                <a:pos x="318" y="0"/>
              </a:cxn>
              <a:cxn ang="0">
                <a:pos x="0" y="80"/>
              </a:cxn>
              <a:cxn ang="0">
                <a:pos x="125" y="204"/>
              </a:cxn>
              <a:cxn ang="0">
                <a:pos x="443" y="124"/>
              </a:cxn>
              <a:cxn ang="0">
                <a:pos x="318" y="0"/>
              </a:cxn>
              <a:cxn ang="0">
                <a:pos x="0" y="80"/>
              </a:cxn>
              <a:cxn ang="0">
                <a:pos x="125" y="204"/>
              </a:cxn>
              <a:cxn ang="0">
                <a:pos x="443" y="124"/>
              </a:cxn>
            </a:cxnLst>
            <a:rect l="0" t="0" r="r" b="b"/>
            <a:pathLst>
              <a:path w="444" h="205">
                <a:moveTo>
                  <a:pt x="443" y="124"/>
                </a:moveTo>
                <a:lnTo>
                  <a:pt x="318" y="0"/>
                </a:lnTo>
                <a:lnTo>
                  <a:pt x="0" y="80"/>
                </a:lnTo>
                <a:lnTo>
                  <a:pt x="125" y="204"/>
                </a:lnTo>
                <a:lnTo>
                  <a:pt x="443" y="124"/>
                </a:lnTo>
                <a:lnTo>
                  <a:pt x="318" y="0"/>
                </a:lnTo>
                <a:lnTo>
                  <a:pt x="0" y="80"/>
                </a:lnTo>
                <a:lnTo>
                  <a:pt x="125" y="204"/>
                </a:lnTo>
                <a:lnTo>
                  <a:pt x="443" y="124"/>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87" name="Freeform 23"/>
          <p:cNvSpPr>
            <a:spLocks noChangeAspect="1"/>
          </p:cNvSpPr>
          <p:nvPr/>
        </p:nvSpPr>
        <p:spPr bwMode="auto">
          <a:xfrm>
            <a:off x="4848225" y="2981325"/>
            <a:ext cx="246063" cy="127000"/>
          </a:xfrm>
          <a:custGeom>
            <a:avLst/>
            <a:gdLst/>
            <a:ahLst/>
            <a:cxnLst>
              <a:cxn ang="0">
                <a:pos x="33" y="208"/>
              </a:cxn>
              <a:cxn ang="0">
                <a:pos x="0" y="175"/>
              </a:cxn>
              <a:cxn ang="0">
                <a:pos x="346" y="0"/>
              </a:cxn>
              <a:cxn ang="0">
                <a:pos x="379" y="33"/>
              </a:cxn>
              <a:cxn ang="0">
                <a:pos x="33" y="208"/>
              </a:cxn>
            </a:cxnLst>
            <a:rect l="0" t="0" r="r" b="b"/>
            <a:pathLst>
              <a:path w="380" h="209">
                <a:moveTo>
                  <a:pt x="33" y="208"/>
                </a:moveTo>
                <a:lnTo>
                  <a:pt x="0" y="175"/>
                </a:lnTo>
                <a:lnTo>
                  <a:pt x="346" y="0"/>
                </a:lnTo>
                <a:lnTo>
                  <a:pt x="379" y="33"/>
                </a:lnTo>
                <a:lnTo>
                  <a:pt x="33" y="208"/>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88" name="Freeform 24"/>
          <p:cNvSpPr>
            <a:spLocks noChangeAspect="1"/>
          </p:cNvSpPr>
          <p:nvPr/>
        </p:nvSpPr>
        <p:spPr bwMode="auto">
          <a:xfrm>
            <a:off x="4852988" y="2984500"/>
            <a:ext cx="250825" cy="131763"/>
          </a:xfrm>
          <a:custGeom>
            <a:avLst/>
            <a:gdLst/>
            <a:ahLst/>
            <a:cxnLst>
              <a:cxn ang="0">
                <a:pos x="34" y="215"/>
              </a:cxn>
              <a:cxn ang="0">
                <a:pos x="0" y="181"/>
              </a:cxn>
              <a:cxn ang="0">
                <a:pos x="352" y="0"/>
              </a:cxn>
              <a:cxn ang="0">
                <a:pos x="386" y="34"/>
              </a:cxn>
              <a:cxn ang="0">
                <a:pos x="34" y="215"/>
              </a:cxn>
              <a:cxn ang="0">
                <a:pos x="0" y="181"/>
              </a:cxn>
              <a:cxn ang="0">
                <a:pos x="352" y="0"/>
              </a:cxn>
              <a:cxn ang="0">
                <a:pos x="386" y="34"/>
              </a:cxn>
              <a:cxn ang="0">
                <a:pos x="34" y="215"/>
              </a:cxn>
            </a:cxnLst>
            <a:rect l="0" t="0" r="r" b="b"/>
            <a:pathLst>
              <a:path w="387" h="216">
                <a:moveTo>
                  <a:pt x="34" y="215"/>
                </a:moveTo>
                <a:lnTo>
                  <a:pt x="0" y="181"/>
                </a:lnTo>
                <a:lnTo>
                  <a:pt x="352" y="0"/>
                </a:lnTo>
                <a:lnTo>
                  <a:pt x="386" y="34"/>
                </a:lnTo>
                <a:lnTo>
                  <a:pt x="34" y="215"/>
                </a:lnTo>
                <a:lnTo>
                  <a:pt x="0" y="181"/>
                </a:lnTo>
                <a:lnTo>
                  <a:pt x="352" y="0"/>
                </a:lnTo>
                <a:lnTo>
                  <a:pt x="386" y="34"/>
                </a:lnTo>
                <a:lnTo>
                  <a:pt x="34" y="215"/>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89" name="Freeform 25"/>
          <p:cNvSpPr>
            <a:spLocks noChangeAspect="1"/>
          </p:cNvSpPr>
          <p:nvPr/>
        </p:nvSpPr>
        <p:spPr bwMode="auto">
          <a:xfrm>
            <a:off x="4848225" y="2925763"/>
            <a:ext cx="223838" cy="161925"/>
          </a:xfrm>
          <a:custGeom>
            <a:avLst/>
            <a:gdLst/>
            <a:ahLst/>
            <a:cxnLst>
              <a:cxn ang="0">
                <a:pos x="0" y="166"/>
              </a:cxn>
              <a:cxn ang="0">
                <a:pos x="0" y="265"/>
              </a:cxn>
              <a:cxn ang="0">
                <a:pos x="345" y="89"/>
              </a:cxn>
              <a:cxn ang="0">
                <a:pos x="345" y="0"/>
              </a:cxn>
              <a:cxn ang="0">
                <a:pos x="0" y="166"/>
              </a:cxn>
            </a:cxnLst>
            <a:rect l="0" t="0" r="r" b="b"/>
            <a:pathLst>
              <a:path w="346" h="266">
                <a:moveTo>
                  <a:pt x="0" y="166"/>
                </a:moveTo>
                <a:lnTo>
                  <a:pt x="0" y="265"/>
                </a:lnTo>
                <a:lnTo>
                  <a:pt x="345" y="89"/>
                </a:lnTo>
                <a:lnTo>
                  <a:pt x="345" y="0"/>
                </a:lnTo>
                <a:lnTo>
                  <a:pt x="0" y="16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90" name="Freeform 26"/>
          <p:cNvSpPr>
            <a:spLocks noChangeAspect="1"/>
          </p:cNvSpPr>
          <p:nvPr/>
        </p:nvSpPr>
        <p:spPr bwMode="auto">
          <a:xfrm>
            <a:off x="4852988" y="2930525"/>
            <a:ext cx="228600" cy="165100"/>
          </a:xfrm>
          <a:custGeom>
            <a:avLst/>
            <a:gdLst/>
            <a:ahLst/>
            <a:cxnLst>
              <a:cxn ang="0">
                <a:pos x="0" y="169"/>
              </a:cxn>
              <a:cxn ang="0">
                <a:pos x="0" y="271"/>
              </a:cxn>
              <a:cxn ang="0">
                <a:pos x="352" y="91"/>
              </a:cxn>
              <a:cxn ang="0">
                <a:pos x="352" y="0"/>
              </a:cxn>
              <a:cxn ang="0">
                <a:pos x="0" y="169"/>
              </a:cxn>
              <a:cxn ang="0">
                <a:pos x="0" y="271"/>
              </a:cxn>
              <a:cxn ang="0">
                <a:pos x="352" y="91"/>
              </a:cxn>
              <a:cxn ang="0">
                <a:pos x="352" y="0"/>
              </a:cxn>
              <a:cxn ang="0">
                <a:pos x="0" y="169"/>
              </a:cxn>
            </a:cxnLst>
            <a:rect l="0" t="0" r="r" b="b"/>
            <a:pathLst>
              <a:path w="353" h="272">
                <a:moveTo>
                  <a:pt x="0" y="169"/>
                </a:moveTo>
                <a:lnTo>
                  <a:pt x="0" y="271"/>
                </a:lnTo>
                <a:lnTo>
                  <a:pt x="352" y="91"/>
                </a:lnTo>
                <a:lnTo>
                  <a:pt x="352" y="0"/>
                </a:lnTo>
                <a:lnTo>
                  <a:pt x="0" y="169"/>
                </a:lnTo>
                <a:lnTo>
                  <a:pt x="0" y="271"/>
                </a:lnTo>
                <a:lnTo>
                  <a:pt x="352" y="91"/>
                </a:lnTo>
                <a:lnTo>
                  <a:pt x="352" y="0"/>
                </a:lnTo>
                <a:lnTo>
                  <a:pt x="0" y="169"/>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91" name="Freeform 27"/>
          <p:cNvSpPr>
            <a:spLocks noChangeAspect="1"/>
          </p:cNvSpPr>
          <p:nvPr/>
        </p:nvSpPr>
        <p:spPr bwMode="auto">
          <a:xfrm>
            <a:off x="4892675" y="2960688"/>
            <a:ext cx="223838" cy="168275"/>
          </a:xfrm>
          <a:custGeom>
            <a:avLst/>
            <a:gdLst/>
            <a:ahLst/>
            <a:cxnLst>
              <a:cxn ang="0">
                <a:pos x="0" y="177"/>
              </a:cxn>
              <a:cxn ang="0">
                <a:pos x="0" y="276"/>
              </a:cxn>
              <a:cxn ang="0">
                <a:pos x="346" y="99"/>
              </a:cxn>
              <a:cxn ang="0">
                <a:pos x="346" y="0"/>
              </a:cxn>
              <a:cxn ang="0">
                <a:pos x="0" y="177"/>
              </a:cxn>
            </a:cxnLst>
            <a:rect l="0" t="0" r="r" b="b"/>
            <a:pathLst>
              <a:path w="347" h="277">
                <a:moveTo>
                  <a:pt x="0" y="177"/>
                </a:moveTo>
                <a:lnTo>
                  <a:pt x="0" y="276"/>
                </a:lnTo>
                <a:lnTo>
                  <a:pt x="346" y="99"/>
                </a:lnTo>
                <a:lnTo>
                  <a:pt x="346" y="0"/>
                </a:lnTo>
                <a:lnTo>
                  <a:pt x="0" y="177"/>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92" name="Freeform 28"/>
          <p:cNvSpPr>
            <a:spLocks noChangeAspect="1"/>
          </p:cNvSpPr>
          <p:nvPr/>
        </p:nvSpPr>
        <p:spPr bwMode="auto">
          <a:xfrm>
            <a:off x="4897438" y="2963863"/>
            <a:ext cx="228600" cy="173037"/>
          </a:xfrm>
          <a:custGeom>
            <a:avLst/>
            <a:gdLst/>
            <a:ahLst/>
            <a:cxnLst>
              <a:cxn ang="0">
                <a:pos x="0" y="181"/>
              </a:cxn>
              <a:cxn ang="0">
                <a:pos x="0" y="283"/>
              </a:cxn>
              <a:cxn ang="0">
                <a:pos x="352" y="102"/>
              </a:cxn>
              <a:cxn ang="0">
                <a:pos x="352" y="0"/>
              </a:cxn>
              <a:cxn ang="0">
                <a:pos x="0" y="181"/>
              </a:cxn>
              <a:cxn ang="0">
                <a:pos x="0" y="283"/>
              </a:cxn>
              <a:cxn ang="0">
                <a:pos x="352" y="102"/>
              </a:cxn>
              <a:cxn ang="0">
                <a:pos x="352" y="0"/>
              </a:cxn>
              <a:cxn ang="0">
                <a:pos x="0" y="181"/>
              </a:cxn>
            </a:cxnLst>
            <a:rect l="0" t="0" r="r" b="b"/>
            <a:pathLst>
              <a:path w="353" h="284">
                <a:moveTo>
                  <a:pt x="0" y="181"/>
                </a:moveTo>
                <a:lnTo>
                  <a:pt x="0" y="283"/>
                </a:lnTo>
                <a:lnTo>
                  <a:pt x="352" y="102"/>
                </a:lnTo>
                <a:lnTo>
                  <a:pt x="352" y="0"/>
                </a:lnTo>
                <a:lnTo>
                  <a:pt x="0" y="181"/>
                </a:lnTo>
                <a:lnTo>
                  <a:pt x="0" y="283"/>
                </a:lnTo>
                <a:lnTo>
                  <a:pt x="352" y="102"/>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93" name="Freeform 29"/>
          <p:cNvSpPr>
            <a:spLocks noChangeAspect="1"/>
          </p:cNvSpPr>
          <p:nvPr/>
        </p:nvSpPr>
        <p:spPr bwMode="auto">
          <a:xfrm>
            <a:off x="4937125" y="3001963"/>
            <a:ext cx="223838" cy="161925"/>
          </a:xfrm>
          <a:custGeom>
            <a:avLst/>
            <a:gdLst/>
            <a:ahLst/>
            <a:cxnLst>
              <a:cxn ang="0">
                <a:pos x="0" y="176"/>
              </a:cxn>
              <a:cxn ang="0">
                <a:pos x="0" y="265"/>
              </a:cxn>
              <a:cxn ang="0">
                <a:pos x="346" y="99"/>
              </a:cxn>
              <a:cxn ang="0">
                <a:pos x="346" y="0"/>
              </a:cxn>
              <a:cxn ang="0">
                <a:pos x="0" y="176"/>
              </a:cxn>
            </a:cxnLst>
            <a:rect l="0" t="0" r="r" b="b"/>
            <a:pathLst>
              <a:path w="347" h="266">
                <a:moveTo>
                  <a:pt x="0" y="176"/>
                </a:moveTo>
                <a:lnTo>
                  <a:pt x="0" y="265"/>
                </a:lnTo>
                <a:lnTo>
                  <a:pt x="346" y="99"/>
                </a:lnTo>
                <a:lnTo>
                  <a:pt x="346" y="0"/>
                </a:lnTo>
                <a:lnTo>
                  <a:pt x="0" y="17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94" name="Freeform 30"/>
          <p:cNvSpPr>
            <a:spLocks noChangeAspect="1"/>
          </p:cNvSpPr>
          <p:nvPr/>
        </p:nvSpPr>
        <p:spPr bwMode="auto">
          <a:xfrm>
            <a:off x="4941888" y="3005138"/>
            <a:ext cx="227012" cy="166687"/>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95" name="Freeform 31"/>
          <p:cNvSpPr>
            <a:spLocks noChangeAspect="1"/>
          </p:cNvSpPr>
          <p:nvPr/>
        </p:nvSpPr>
        <p:spPr bwMode="auto">
          <a:xfrm>
            <a:off x="4973638" y="3043238"/>
            <a:ext cx="231775" cy="161925"/>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96" name="Freeform 32"/>
          <p:cNvSpPr>
            <a:spLocks noChangeAspect="1"/>
          </p:cNvSpPr>
          <p:nvPr/>
        </p:nvSpPr>
        <p:spPr bwMode="auto">
          <a:xfrm>
            <a:off x="4978400" y="3048000"/>
            <a:ext cx="234950" cy="165100"/>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97" name="Freeform 33"/>
          <p:cNvSpPr>
            <a:spLocks noChangeAspect="1"/>
          </p:cNvSpPr>
          <p:nvPr/>
        </p:nvSpPr>
        <p:spPr bwMode="auto">
          <a:xfrm>
            <a:off x="5016500" y="3078163"/>
            <a:ext cx="225425" cy="168275"/>
          </a:xfrm>
          <a:custGeom>
            <a:avLst/>
            <a:gdLst/>
            <a:ahLst/>
            <a:cxnLst>
              <a:cxn ang="0">
                <a:pos x="0" y="177"/>
              </a:cxn>
              <a:cxn ang="0">
                <a:pos x="0" y="277"/>
              </a:cxn>
              <a:cxn ang="0">
                <a:pos x="346" y="100"/>
              </a:cxn>
              <a:cxn ang="0">
                <a:pos x="346" y="0"/>
              </a:cxn>
              <a:cxn ang="0">
                <a:pos x="0" y="177"/>
              </a:cxn>
            </a:cxnLst>
            <a:rect l="0" t="0" r="r" b="b"/>
            <a:pathLst>
              <a:path w="347" h="278">
                <a:moveTo>
                  <a:pt x="0" y="177"/>
                </a:moveTo>
                <a:lnTo>
                  <a:pt x="0" y="277"/>
                </a:lnTo>
                <a:lnTo>
                  <a:pt x="346" y="100"/>
                </a:lnTo>
                <a:lnTo>
                  <a:pt x="346" y="0"/>
                </a:lnTo>
                <a:lnTo>
                  <a:pt x="0" y="177"/>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498" name="Freeform 34"/>
          <p:cNvSpPr>
            <a:spLocks noChangeAspect="1"/>
          </p:cNvSpPr>
          <p:nvPr/>
        </p:nvSpPr>
        <p:spPr bwMode="auto">
          <a:xfrm>
            <a:off x="5022850" y="3081338"/>
            <a:ext cx="227013" cy="173037"/>
          </a:xfrm>
          <a:custGeom>
            <a:avLst/>
            <a:gdLst/>
            <a:ahLst/>
            <a:cxnLst>
              <a:cxn ang="0">
                <a:pos x="0" y="181"/>
              </a:cxn>
              <a:cxn ang="0">
                <a:pos x="0" y="283"/>
              </a:cxn>
              <a:cxn ang="0">
                <a:pos x="352" y="103"/>
              </a:cxn>
              <a:cxn ang="0">
                <a:pos x="352" y="0"/>
              </a:cxn>
              <a:cxn ang="0">
                <a:pos x="0" y="181"/>
              </a:cxn>
              <a:cxn ang="0">
                <a:pos x="0" y="283"/>
              </a:cxn>
              <a:cxn ang="0">
                <a:pos x="352" y="103"/>
              </a:cxn>
              <a:cxn ang="0">
                <a:pos x="352" y="0"/>
              </a:cxn>
              <a:cxn ang="0">
                <a:pos x="0" y="181"/>
              </a:cxn>
            </a:cxnLst>
            <a:rect l="0" t="0" r="r" b="b"/>
            <a:pathLst>
              <a:path w="353" h="284">
                <a:moveTo>
                  <a:pt x="0" y="181"/>
                </a:moveTo>
                <a:lnTo>
                  <a:pt x="0" y="283"/>
                </a:lnTo>
                <a:lnTo>
                  <a:pt x="352" y="103"/>
                </a:lnTo>
                <a:lnTo>
                  <a:pt x="352" y="0"/>
                </a:lnTo>
                <a:lnTo>
                  <a:pt x="0" y="181"/>
                </a:lnTo>
                <a:lnTo>
                  <a:pt x="0" y="283"/>
                </a:lnTo>
                <a:lnTo>
                  <a:pt x="352" y="103"/>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499" name="Freeform 35"/>
          <p:cNvSpPr>
            <a:spLocks noChangeAspect="1"/>
          </p:cNvSpPr>
          <p:nvPr/>
        </p:nvSpPr>
        <p:spPr bwMode="auto">
          <a:xfrm>
            <a:off x="5097463" y="3160713"/>
            <a:ext cx="231775" cy="161925"/>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00" name="Freeform 36"/>
          <p:cNvSpPr>
            <a:spLocks noChangeAspect="1"/>
          </p:cNvSpPr>
          <p:nvPr/>
        </p:nvSpPr>
        <p:spPr bwMode="auto">
          <a:xfrm>
            <a:off x="5103813" y="3163888"/>
            <a:ext cx="234950" cy="166687"/>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01" name="Freeform 37"/>
          <p:cNvSpPr>
            <a:spLocks noChangeAspect="1"/>
          </p:cNvSpPr>
          <p:nvPr/>
        </p:nvSpPr>
        <p:spPr bwMode="auto">
          <a:xfrm>
            <a:off x="5062538" y="3119438"/>
            <a:ext cx="222250" cy="161925"/>
          </a:xfrm>
          <a:custGeom>
            <a:avLst/>
            <a:gdLst/>
            <a:ahLst/>
            <a:cxnLst>
              <a:cxn ang="0">
                <a:pos x="0" y="176"/>
              </a:cxn>
              <a:cxn ang="0">
                <a:pos x="0" y="265"/>
              </a:cxn>
              <a:cxn ang="0">
                <a:pos x="345" y="99"/>
              </a:cxn>
              <a:cxn ang="0">
                <a:pos x="345" y="0"/>
              </a:cxn>
              <a:cxn ang="0">
                <a:pos x="0" y="176"/>
              </a:cxn>
            </a:cxnLst>
            <a:rect l="0" t="0" r="r" b="b"/>
            <a:pathLst>
              <a:path w="346" h="266">
                <a:moveTo>
                  <a:pt x="0" y="176"/>
                </a:moveTo>
                <a:lnTo>
                  <a:pt x="0" y="265"/>
                </a:lnTo>
                <a:lnTo>
                  <a:pt x="345" y="99"/>
                </a:lnTo>
                <a:lnTo>
                  <a:pt x="345" y="0"/>
                </a:lnTo>
                <a:lnTo>
                  <a:pt x="0" y="17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02" name="Freeform 38"/>
          <p:cNvSpPr>
            <a:spLocks noChangeAspect="1"/>
          </p:cNvSpPr>
          <p:nvPr/>
        </p:nvSpPr>
        <p:spPr bwMode="auto">
          <a:xfrm>
            <a:off x="5065713" y="3122613"/>
            <a:ext cx="228600" cy="166687"/>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03" name="Freeform 39"/>
          <p:cNvSpPr>
            <a:spLocks noChangeAspect="1"/>
          </p:cNvSpPr>
          <p:nvPr/>
        </p:nvSpPr>
        <p:spPr bwMode="auto">
          <a:xfrm>
            <a:off x="4760913" y="2946400"/>
            <a:ext cx="407987" cy="584200"/>
          </a:xfrm>
          <a:custGeom>
            <a:avLst/>
            <a:gdLst/>
            <a:ahLst/>
            <a:cxnLst>
              <a:cxn ang="0">
                <a:pos x="0" y="316"/>
              </a:cxn>
              <a:cxn ang="0">
                <a:pos x="0" y="0"/>
              </a:cxn>
              <a:cxn ang="0">
                <a:pos x="79" y="78"/>
              </a:cxn>
              <a:cxn ang="0">
                <a:pos x="79" y="169"/>
              </a:cxn>
              <a:cxn ang="0">
                <a:pos x="102" y="203"/>
              </a:cxn>
              <a:cxn ang="0">
                <a:pos x="102" y="112"/>
              </a:cxn>
              <a:cxn ang="0">
                <a:pos x="135" y="135"/>
              </a:cxn>
              <a:cxn ang="0">
                <a:pos x="135" y="236"/>
              </a:cxn>
              <a:cxn ang="0">
                <a:pos x="169" y="270"/>
              </a:cxn>
              <a:cxn ang="0">
                <a:pos x="169" y="169"/>
              </a:cxn>
              <a:cxn ang="0">
                <a:pos x="203" y="203"/>
              </a:cxn>
              <a:cxn ang="0">
                <a:pos x="203" y="304"/>
              </a:cxn>
              <a:cxn ang="0">
                <a:pos x="236" y="327"/>
              </a:cxn>
              <a:cxn ang="0">
                <a:pos x="236" y="236"/>
              </a:cxn>
              <a:cxn ang="0">
                <a:pos x="270" y="270"/>
              </a:cxn>
              <a:cxn ang="0">
                <a:pos x="270" y="360"/>
              </a:cxn>
              <a:cxn ang="0">
                <a:pos x="293" y="394"/>
              </a:cxn>
              <a:cxn ang="0">
                <a:pos x="293" y="304"/>
              </a:cxn>
              <a:cxn ang="0">
                <a:pos x="326" y="327"/>
              </a:cxn>
              <a:cxn ang="0">
                <a:pos x="326" y="428"/>
              </a:cxn>
              <a:cxn ang="0">
                <a:pos x="360" y="462"/>
              </a:cxn>
              <a:cxn ang="0">
                <a:pos x="360" y="360"/>
              </a:cxn>
              <a:cxn ang="0">
                <a:pos x="394" y="394"/>
              </a:cxn>
              <a:cxn ang="0">
                <a:pos x="394" y="495"/>
              </a:cxn>
              <a:cxn ang="0">
                <a:pos x="427" y="518"/>
              </a:cxn>
              <a:cxn ang="0">
                <a:pos x="427" y="428"/>
              </a:cxn>
              <a:cxn ang="0">
                <a:pos x="462" y="462"/>
              </a:cxn>
              <a:cxn ang="0">
                <a:pos x="462" y="552"/>
              </a:cxn>
              <a:cxn ang="0">
                <a:pos x="484" y="586"/>
              </a:cxn>
              <a:cxn ang="0">
                <a:pos x="484" y="495"/>
              </a:cxn>
              <a:cxn ang="0">
                <a:pos x="517" y="518"/>
              </a:cxn>
              <a:cxn ang="0">
                <a:pos x="517" y="620"/>
              </a:cxn>
              <a:cxn ang="0">
                <a:pos x="552" y="653"/>
              </a:cxn>
              <a:cxn ang="0">
                <a:pos x="552" y="552"/>
              </a:cxn>
              <a:cxn ang="0">
                <a:pos x="630" y="631"/>
              </a:cxn>
              <a:cxn ang="0">
                <a:pos x="630" y="958"/>
              </a:cxn>
              <a:cxn ang="0">
                <a:pos x="0" y="316"/>
              </a:cxn>
            </a:cxnLst>
            <a:rect l="0" t="0" r="r" b="b"/>
            <a:pathLst>
              <a:path w="631" h="959">
                <a:moveTo>
                  <a:pt x="0" y="316"/>
                </a:moveTo>
                <a:lnTo>
                  <a:pt x="0" y="0"/>
                </a:lnTo>
                <a:lnTo>
                  <a:pt x="79" y="78"/>
                </a:lnTo>
                <a:lnTo>
                  <a:pt x="79" y="169"/>
                </a:lnTo>
                <a:lnTo>
                  <a:pt x="102" y="203"/>
                </a:lnTo>
                <a:lnTo>
                  <a:pt x="102" y="112"/>
                </a:lnTo>
                <a:lnTo>
                  <a:pt x="135" y="135"/>
                </a:lnTo>
                <a:lnTo>
                  <a:pt x="135" y="236"/>
                </a:lnTo>
                <a:lnTo>
                  <a:pt x="169" y="270"/>
                </a:lnTo>
                <a:lnTo>
                  <a:pt x="169" y="169"/>
                </a:lnTo>
                <a:lnTo>
                  <a:pt x="203" y="203"/>
                </a:lnTo>
                <a:lnTo>
                  <a:pt x="203" y="304"/>
                </a:lnTo>
                <a:lnTo>
                  <a:pt x="236" y="327"/>
                </a:lnTo>
                <a:lnTo>
                  <a:pt x="236" y="236"/>
                </a:lnTo>
                <a:lnTo>
                  <a:pt x="270" y="270"/>
                </a:lnTo>
                <a:lnTo>
                  <a:pt x="270" y="360"/>
                </a:lnTo>
                <a:lnTo>
                  <a:pt x="293" y="394"/>
                </a:lnTo>
                <a:lnTo>
                  <a:pt x="293" y="304"/>
                </a:lnTo>
                <a:lnTo>
                  <a:pt x="326" y="327"/>
                </a:lnTo>
                <a:lnTo>
                  <a:pt x="326" y="428"/>
                </a:lnTo>
                <a:lnTo>
                  <a:pt x="360" y="462"/>
                </a:lnTo>
                <a:lnTo>
                  <a:pt x="360" y="360"/>
                </a:lnTo>
                <a:lnTo>
                  <a:pt x="394" y="394"/>
                </a:lnTo>
                <a:lnTo>
                  <a:pt x="394" y="495"/>
                </a:lnTo>
                <a:lnTo>
                  <a:pt x="427" y="518"/>
                </a:lnTo>
                <a:lnTo>
                  <a:pt x="427" y="428"/>
                </a:lnTo>
                <a:lnTo>
                  <a:pt x="462" y="462"/>
                </a:lnTo>
                <a:lnTo>
                  <a:pt x="462" y="552"/>
                </a:lnTo>
                <a:lnTo>
                  <a:pt x="484" y="586"/>
                </a:lnTo>
                <a:lnTo>
                  <a:pt x="484" y="495"/>
                </a:lnTo>
                <a:lnTo>
                  <a:pt x="517" y="518"/>
                </a:lnTo>
                <a:lnTo>
                  <a:pt x="517" y="620"/>
                </a:lnTo>
                <a:lnTo>
                  <a:pt x="552" y="653"/>
                </a:lnTo>
                <a:lnTo>
                  <a:pt x="552" y="552"/>
                </a:lnTo>
                <a:lnTo>
                  <a:pt x="630" y="631"/>
                </a:lnTo>
                <a:lnTo>
                  <a:pt x="630" y="958"/>
                </a:lnTo>
                <a:lnTo>
                  <a:pt x="0" y="31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04" name="Freeform 40"/>
          <p:cNvSpPr>
            <a:spLocks noChangeAspect="1"/>
          </p:cNvSpPr>
          <p:nvPr/>
        </p:nvSpPr>
        <p:spPr bwMode="auto">
          <a:xfrm>
            <a:off x="4765675" y="2951163"/>
            <a:ext cx="411163" cy="587375"/>
          </a:xfrm>
          <a:custGeom>
            <a:avLst/>
            <a:gdLst/>
            <a:ahLst/>
            <a:cxnLst>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Lst>
            <a:rect l="0" t="0" r="r" b="b"/>
            <a:pathLst>
              <a:path w="637" h="965">
                <a:moveTo>
                  <a:pt x="0" y="318"/>
                </a:move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05" name="Freeform 41"/>
          <p:cNvSpPr>
            <a:spLocks noChangeAspect="1"/>
          </p:cNvSpPr>
          <p:nvPr/>
        </p:nvSpPr>
        <p:spPr bwMode="auto">
          <a:xfrm>
            <a:off x="4827588" y="2905125"/>
            <a:ext cx="244475" cy="120650"/>
          </a:xfrm>
          <a:custGeom>
            <a:avLst/>
            <a:gdLst/>
            <a:ahLst/>
            <a:cxnLst>
              <a:cxn ang="0">
                <a:pos x="0" y="175"/>
              </a:cxn>
              <a:cxn ang="0">
                <a:pos x="33" y="197"/>
              </a:cxn>
              <a:cxn ang="0">
                <a:pos x="379" y="33"/>
              </a:cxn>
              <a:cxn ang="0">
                <a:pos x="357" y="0"/>
              </a:cxn>
              <a:cxn ang="0">
                <a:pos x="0" y="175"/>
              </a:cxn>
            </a:cxnLst>
            <a:rect l="0" t="0" r="r" b="b"/>
            <a:pathLst>
              <a:path w="380" h="198">
                <a:moveTo>
                  <a:pt x="0" y="175"/>
                </a:moveTo>
                <a:lnTo>
                  <a:pt x="33" y="197"/>
                </a:lnTo>
                <a:lnTo>
                  <a:pt x="379" y="33"/>
                </a:lnTo>
                <a:lnTo>
                  <a:pt x="357"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06" name="Freeform 42"/>
          <p:cNvSpPr>
            <a:spLocks noChangeAspect="1"/>
          </p:cNvSpPr>
          <p:nvPr/>
        </p:nvSpPr>
        <p:spPr bwMode="auto">
          <a:xfrm>
            <a:off x="4832350" y="2908300"/>
            <a:ext cx="249238" cy="125413"/>
          </a:xfrm>
          <a:custGeom>
            <a:avLst/>
            <a:gdLst/>
            <a:ahLst/>
            <a:cxnLst>
              <a:cxn ang="0">
                <a:pos x="0" y="181"/>
              </a:cxn>
              <a:cxn ang="0">
                <a:pos x="34" y="204"/>
              </a:cxn>
              <a:cxn ang="0">
                <a:pos x="386" y="34"/>
              </a:cxn>
              <a:cxn ang="0">
                <a:pos x="364" y="0"/>
              </a:cxn>
              <a:cxn ang="0">
                <a:pos x="0" y="181"/>
              </a:cxn>
              <a:cxn ang="0">
                <a:pos x="34" y="204"/>
              </a:cxn>
              <a:cxn ang="0">
                <a:pos x="386" y="34"/>
              </a:cxn>
              <a:cxn ang="0">
                <a:pos x="364" y="0"/>
              </a:cxn>
              <a:cxn ang="0">
                <a:pos x="0" y="181"/>
              </a:cxn>
            </a:cxnLst>
            <a:rect l="0" t="0" r="r" b="b"/>
            <a:pathLst>
              <a:path w="387" h="205">
                <a:moveTo>
                  <a:pt x="0" y="181"/>
                </a:moveTo>
                <a:lnTo>
                  <a:pt x="34" y="204"/>
                </a:lnTo>
                <a:lnTo>
                  <a:pt x="386" y="34"/>
                </a:lnTo>
                <a:lnTo>
                  <a:pt x="364" y="0"/>
                </a:lnTo>
                <a:lnTo>
                  <a:pt x="0" y="181"/>
                </a:lnTo>
                <a:lnTo>
                  <a:pt x="34" y="204"/>
                </a:lnTo>
                <a:lnTo>
                  <a:pt x="386" y="34"/>
                </a:lnTo>
                <a:lnTo>
                  <a:pt x="364"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07" name="Freeform 43"/>
          <p:cNvSpPr>
            <a:spLocks noChangeAspect="1"/>
          </p:cNvSpPr>
          <p:nvPr/>
        </p:nvSpPr>
        <p:spPr bwMode="auto">
          <a:xfrm>
            <a:off x="4870450" y="2946400"/>
            <a:ext cx="246063" cy="120650"/>
          </a:xfrm>
          <a:custGeom>
            <a:avLst/>
            <a:gdLst/>
            <a:ahLst/>
            <a:cxnLst>
              <a:cxn ang="0">
                <a:pos x="0" y="164"/>
              </a:cxn>
              <a:cxn ang="0">
                <a:pos x="33" y="197"/>
              </a:cxn>
              <a:cxn ang="0">
                <a:pos x="380" y="22"/>
              </a:cxn>
              <a:cxn ang="0">
                <a:pos x="346" y="0"/>
              </a:cxn>
              <a:cxn ang="0">
                <a:pos x="0" y="164"/>
              </a:cxn>
            </a:cxnLst>
            <a:rect l="0" t="0" r="r" b="b"/>
            <a:pathLst>
              <a:path w="381" h="198">
                <a:moveTo>
                  <a:pt x="0" y="164"/>
                </a:moveTo>
                <a:lnTo>
                  <a:pt x="33" y="197"/>
                </a:lnTo>
                <a:lnTo>
                  <a:pt x="380" y="22"/>
                </a:lnTo>
                <a:lnTo>
                  <a:pt x="346" y="0"/>
                </a:lnTo>
                <a:lnTo>
                  <a:pt x="0" y="164"/>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08" name="Freeform 44"/>
          <p:cNvSpPr>
            <a:spLocks noChangeAspect="1"/>
          </p:cNvSpPr>
          <p:nvPr/>
        </p:nvSpPr>
        <p:spPr bwMode="auto">
          <a:xfrm>
            <a:off x="4875213" y="2951163"/>
            <a:ext cx="250825" cy="123825"/>
          </a:xfrm>
          <a:custGeom>
            <a:avLst/>
            <a:gdLst/>
            <a:ahLst/>
            <a:cxnLst>
              <a:cxn ang="0">
                <a:pos x="0" y="169"/>
              </a:cxn>
              <a:cxn ang="0">
                <a:pos x="34" y="203"/>
              </a:cxn>
              <a:cxn ang="0">
                <a:pos x="386" y="23"/>
              </a:cxn>
              <a:cxn ang="0">
                <a:pos x="351" y="0"/>
              </a:cxn>
              <a:cxn ang="0">
                <a:pos x="0" y="169"/>
              </a:cxn>
              <a:cxn ang="0">
                <a:pos x="34" y="203"/>
              </a:cxn>
              <a:cxn ang="0">
                <a:pos x="386" y="23"/>
              </a:cxn>
              <a:cxn ang="0">
                <a:pos x="351" y="0"/>
              </a:cxn>
              <a:cxn ang="0">
                <a:pos x="0" y="169"/>
              </a:cxn>
            </a:cxnLst>
            <a:rect l="0" t="0" r="r" b="b"/>
            <a:pathLst>
              <a:path w="387" h="204">
                <a:moveTo>
                  <a:pt x="0" y="169"/>
                </a:moveTo>
                <a:lnTo>
                  <a:pt x="34" y="203"/>
                </a:lnTo>
                <a:lnTo>
                  <a:pt x="386" y="23"/>
                </a:lnTo>
                <a:lnTo>
                  <a:pt x="351" y="0"/>
                </a:lnTo>
                <a:lnTo>
                  <a:pt x="0" y="169"/>
                </a:lnTo>
                <a:lnTo>
                  <a:pt x="34" y="203"/>
                </a:lnTo>
                <a:lnTo>
                  <a:pt x="386" y="23"/>
                </a:lnTo>
                <a:lnTo>
                  <a:pt x="351" y="0"/>
                </a:lnTo>
                <a:lnTo>
                  <a:pt x="0" y="169"/>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09" name="Freeform 45"/>
          <p:cNvSpPr>
            <a:spLocks noChangeAspect="1"/>
          </p:cNvSpPr>
          <p:nvPr/>
        </p:nvSpPr>
        <p:spPr bwMode="auto">
          <a:xfrm>
            <a:off x="4914900" y="2981325"/>
            <a:ext cx="246063" cy="127000"/>
          </a:xfrm>
          <a:custGeom>
            <a:avLst/>
            <a:gdLst/>
            <a:ahLst/>
            <a:cxnLst>
              <a:cxn ang="0">
                <a:pos x="0" y="175"/>
              </a:cxn>
              <a:cxn ang="0">
                <a:pos x="33" y="208"/>
              </a:cxn>
              <a:cxn ang="0">
                <a:pos x="380" y="33"/>
              </a:cxn>
              <a:cxn ang="0">
                <a:pos x="347" y="0"/>
              </a:cxn>
              <a:cxn ang="0">
                <a:pos x="0" y="175"/>
              </a:cxn>
            </a:cxnLst>
            <a:rect l="0" t="0" r="r" b="b"/>
            <a:pathLst>
              <a:path w="381" h="209">
                <a:moveTo>
                  <a:pt x="0" y="175"/>
                </a:moveTo>
                <a:lnTo>
                  <a:pt x="33" y="208"/>
                </a:lnTo>
                <a:lnTo>
                  <a:pt x="380" y="33"/>
                </a:lnTo>
                <a:lnTo>
                  <a:pt x="347"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10" name="Freeform 46"/>
          <p:cNvSpPr>
            <a:spLocks noChangeAspect="1"/>
          </p:cNvSpPr>
          <p:nvPr/>
        </p:nvSpPr>
        <p:spPr bwMode="auto">
          <a:xfrm>
            <a:off x="4919663" y="2984500"/>
            <a:ext cx="249237" cy="131763"/>
          </a:xfrm>
          <a:custGeom>
            <a:avLst/>
            <a:gdLst/>
            <a:ahLst/>
            <a:cxnLst>
              <a:cxn ang="0">
                <a:pos x="0" y="181"/>
              </a:cxn>
              <a:cxn ang="0">
                <a:pos x="34" y="215"/>
              </a:cxn>
              <a:cxn ang="0">
                <a:pos x="386" y="34"/>
              </a:cxn>
              <a:cxn ang="0">
                <a:pos x="352" y="0"/>
              </a:cxn>
              <a:cxn ang="0">
                <a:pos x="0" y="181"/>
              </a:cxn>
              <a:cxn ang="0">
                <a:pos x="34" y="215"/>
              </a:cxn>
              <a:cxn ang="0">
                <a:pos x="386" y="34"/>
              </a:cxn>
              <a:cxn ang="0">
                <a:pos x="352" y="0"/>
              </a:cxn>
              <a:cxn ang="0">
                <a:pos x="0" y="181"/>
              </a:cxn>
            </a:cxnLst>
            <a:rect l="0" t="0" r="r" b="b"/>
            <a:pathLst>
              <a:path w="387" h="216">
                <a:moveTo>
                  <a:pt x="0" y="181"/>
                </a:moveTo>
                <a:lnTo>
                  <a:pt x="34" y="215"/>
                </a:lnTo>
                <a:lnTo>
                  <a:pt x="386" y="34"/>
                </a:lnTo>
                <a:lnTo>
                  <a:pt x="352" y="0"/>
                </a:lnTo>
                <a:lnTo>
                  <a:pt x="0" y="181"/>
                </a:lnTo>
                <a:lnTo>
                  <a:pt x="34" y="215"/>
                </a:lnTo>
                <a:lnTo>
                  <a:pt x="386" y="34"/>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11" name="Freeform 47"/>
          <p:cNvSpPr>
            <a:spLocks noChangeAspect="1"/>
          </p:cNvSpPr>
          <p:nvPr/>
        </p:nvSpPr>
        <p:spPr bwMode="auto">
          <a:xfrm>
            <a:off x="4951413" y="3022600"/>
            <a:ext cx="254000" cy="12065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12" name="Freeform 48"/>
          <p:cNvSpPr>
            <a:spLocks noChangeAspect="1"/>
          </p:cNvSpPr>
          <p:nvPr/>
        </p:nvSpPr>
        <p:spPr bwMode="auto">
          <a:xfrm>
            <a:off x="4956175" y="3025775"/>
            <a:ext cx="257175" cy="125413"/>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13" name="Freeform 49"/>
          <p:cNvSpPr>
            <a:spLocks noChangeAspect="1"/>
          </p:cNvSpPr>
          <p:nvPr/>
        </p:nvSpPr>
        <p:spPr bwMode="auto">
          <a:xfrm>
            <a:off x="4995863" y="3063875"/>
            <a:ext cx="246062" cy="120650"/>
          </a:xfrm>
          <a:custGeom>
            <a:avLst/>
            <a:gdLst/>
            <a:ahLst/>
            <a:cxnLst>
              <a:cxn ang="0">
                <a:pos x="0" y="164"/>
              </a:cxn>
              <a:cxn ang="0">
                <a:pos x="33" y="197"/>
              </a:cxn>
              <a:cxn ang="0">
                <a:pos x="380" y="21"/>
              </a:cxn>
              <a:cxn ang="0">
                <a:pos x="347" y="0"/>
              </a:cxn>
              <a:cxn ang="0">
                <a:pos x="0" y="164"/>
              </a:cxn>
            </a:cxnLst>
            <a:rect l="0" t="0" r="r" b="b"/>
            <a:pathLst>
              <a:path w="381" h="198">
                <a:moveTo>
                  <a:pt x="0" y="164"/>
                </a:moveTo>
                <a:lnTo>
                  <a:pt x="33" y="197"/>
                </a:lnTo>
                <a:lnTo>
                  <a:pt x="380" y="21"/>
                </a:lnTo>
                <a:lnTo>
                  <a:pt x="347" y="0"/>
                </a:lnTo>
                <a:lnTo>
                  <a:pt x="0" y="164"/>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14" name="Freeform 50"/>
          <p:cNvSpPr>
            <a:spLocks noChangeAspect="1"/>
          </p:cNvSpPr>
          <p:nvPr/>
        </p:nvSpPr>
        <p:spPr bwMode="auto">
          <a:xfrm>
            <a:off x="5000625" y="3067050"/>
            <a:ext cx="249238" cy="125413"/>
          </a:xfrm>
          <a:custGeom>
            <a:avLst/>
            <a:gdLst/>
            <a:ahLst/>
            <a:cxnLst>
              <a:cxn ang="0">
                <a:pos x="0" y="170"/>
              </a:cxn>
              <a:cxn ang="0">
                <a:pos x="34" y="204"/>
              </a:cxn>
              <a:cxn ang="0">
                <a:pos x="386" y="22"/>
              </a:cxn>
              <a:cxn ang="0">
                <a:pos x="352" y="0"/>
              </a:cxn>
              <a:cxn ang="0">
                <a:pos x="0" y="170"/>
              </a:cxn>
              <a:cxn ang="0">
                <a:pos x="34" y="204"/>
              </a:cxn>
              <a:cxn ang="0">
                <a:pos x="386" y="22"/>
              </a:cxn>
              <a:cxn ang="0">
                <a:pos x="352" y="0"/>
              </a:cxn>
              <a:cxn ang="0">
                <a:pos x="0" y="170"/>
              </a:cxn>
            </a:cxnLst>
            <a:rect l="0" t="0" r="r" b="b"/>
            <a:pathLst>
              <a:path w="387" h="205">
                <a:moveTo>
                  <a:pt x="0" y="170"/>
                </a:moveTo>
                <a:lnTo>
                  <a:pt x="34" y="204"/>
                </a:lnTo>
                <a:lnTo>
                  <a:pt x="386" y="22"/>
                </a:lnTo>
                <a:lnTo>
                  <a:pt x="352" y="0"/>
                </a:lnTo>
                <a:lnTo>
                  <a:pt x="0" y="170"/>
                </a:lnTo>
                <a:lnTo>
                  <a:pt x="34" y="204"/>
                </a:lnTo>
                <a:lnTo>
                  <a:pt x="386" y="22"/>
                </a:lnTo>
                <a:lnTo>
                  <a:pt x="352" y="0"/>
                </a:lnTo>
                <a:lnTo>
                  <a:pt x="0" y="17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15" name="Freeform 51"/>
          <p:cNvSpPr>
            <a:spLocks noChangeAspect="1"/>
          </p:cNvSpPr>
          <p:nvPr/>
        </p:nvSpPr>
        <p:spPr bwMode="auto">
          <a:xfrm>
            <a:off x="5040313" y="3098800"/>
            <a:ext cx="244475" cy="127000"/>
          </a:xfrm>
          <a:custGeom>
            <a:avLst/>
            <a:gdLst/>
            <a:ahLst/>
            <a:cxnLst>
              <a:cxn ang="0">
                <a:pos x="0" y="175"/>
              </a:cxn>
              <a:cxn ang="0">
                <a:pos x="34" y="208"/>
              </a:cxn>
              <a:cxn ang="0">
                <a:pos x="380" y="33"/>
              </a:cxn>
              <a:cxn ang="0">
                <a:pos x="347" y="0"/>
              </a:cxn>
              <a:cxn ang="0">
                <a:pos x="0" y="175"/>
              </a:cxn>
            </a:cxnLst>
            <a:rect l="0" t="0" r="r" b="b"/>
            <a:pathLst>
              <a:path w="381" h="209">
                <a:moveTo>
                  <a:pt x="0" y="175"/>
                </a:moveTo>
                <a:lnTo>
                  <a:pt x="34" y="208"/>
                </a:lnTo>
                <a:lnTo>
                  <a:pt x="380" y="33"/>
                </a:lnTo>
                <a:lnTo>
                  <a:pt x="347"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16" name="Freeform 52"/>
          <p:cNvSpPr>
            <a:spLocks noChangeAspect="1"/>
          </p:cNvSpPr>
          <p:nvPr/>
        </p:nvSpPr>
        <p:spPr bwMode="auto">
          <a:xfrm>
            <a:off x="5043488" y="3101975"/>
            <a:ext cx="250825" cy="131763"/>
          </a:xfrm>
          <a:custGeom>
            <a:avLst/>
            <a:gdLst/>
            <a:ahLst/>
            <a:cxnLst>
              <a:cxn ang="0">
                <a:pos x="0" y="181"/>
              </a:cxn>
              <a:cxn ang="0">
                <a:pos x="35" y="215"/>
              </a:cxn>
              <a:cxn ang="0">
                <a:pos x="386" y="34"/>
              </a:cxn>
              <a:cxn ang="0">
                <a:pos x="352" y="0"/>
              </a:cxn>
              <a:cxn ang="0">
                <a:pos x="0" y="181"/>
              </a:cxn>
              <a:cxn ang="0">
                <a:pos x="35" y="215"/>
              </a:cxn>
              <a:cxn ang="0">
                <a:pos x="386" y="34"/>
              </a:cxn>
              <a:cxn ang="0">
                <a:pos x="352" y="0"/>
              </a:cxn>
              <a:cxn ang="0">
                <a:pos x="0" y="181"/>
              </a:cxn>
            </a:cxnLst>
            <a:rect l="0" t="0" r="r" b="b"/>
            <a:pathLst>
              <a:path w="387" h="216">
                <a:moveTo>
                  <a:pt x="0" y="181"/>
                </a:moveTo>
                <a:lnTo>
                  <a:pt x="35" y="215"/>
                </a:lnTo>
                <a:lnTo>
                  <a:pt x="386" y="34"/>
                </a:lnTo>
                <a:lnTo>
                  <a:pt x="352" y="0"/>
                </a:lnTo>
                <a:lnTo>
                  <a:pt x="0" y="181"/>
                </a:lnTo>
                <a:lnTo>
                  <a:pt x="35" y="215"/>
                </a:lnTo>
                <a:lnTo>
                  <a:pt x="386" y="34"/>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17" name="Freeform 53"/>
          <p:cNvSpPr>
            <a:spLocks noChangeAspect="1"/>
          </p:cNvSpPr>
          <p:nvPr/>
        </p:nvSpPr>
        <p:spPr bwMode="auto">
          <a:xfrm>
            <a:off x="5076825" y="3140075"/>
            <a:ext cx="252413" cy="12065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18" name="Freeform 54"/>
          <p:cNvSpPr>
            <a:spLocks noChangeAspect="1"/>
          </p:cNvSpPr>
          <p:nvPr/>
        </p:nvSpPr>
        <p:spPr bwMode="auto">
          <a:xfrm>
            <a:off x="5080000" y="3144838"/>
            <a:ext cx="258763" cy="123825"/>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19" name="Freeform 55"/>
          <p:cNvSpPr>
            <a:spLocks noChangeAspect="1"/>
          </p:cNvSpPr>
          <p:nvPr/>
        </p:nvSpPr>
        <p:spPr bwMode="auto">
          <a:xfrm>
            <a:off x="5172075" y="3043238"/>
            <a:ext cx="620713" cy="487362"/>
          </a:xfrm>
          <a:custGeom>
            <a:avLst/>
            <a:gdLst/>
            <a:ahLst/>
            <a:cxnLst>
              <a:cxn ang="0">
                <a:pos x="0" y="799"/>
              </a:cxn>
              <a:cxn ang="0">
                <a:pos x="0" y="472"/>
              </a:cxn>
              <a:cxn ang="0">
                <a:pos x="959" y="0"/>
              </a:cxn>
              <a:cxn ang="0">
                <a:pos x="959" y="315"/>
              </a:cxn>
              <a:cxn ang="0">
                <a:pos x="0" y="799"/>
              </a:cxn>
            </a:cxnLst>
            <a:rect l="0" t="0" r="r" b="b"/>
            <a:pathLst>
              <a:path w="960" h="800">
                <a:moveTo>
                  <a:pt x="0" y="799"/>
                </a:moveTo>
                <a:lnTo>
                  <a:pt x="0" y="472"/>
                </a:lnTo>
                <a:lnTo>
                  <a:pt x="959" y="0"/>
                </a:lnTo>
                <a:lnTo>
                  <a:pt x="959" y="315"/>
                </a:lnTo>
                <a:lnTo>
                  <a:pt x="0" y="799"/>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20" name="Freeform 56"/>
          <p:cNvSpPr>
            <a:spLocks noChangeAspect="1"/>
          </p:cNvSpPr>
          <p:nvPr/>
        </p:nvSpPr>
        <p:spPr bwMode="auto">
          <a:xfrm>
            <a:off x="5175250" y="3048000"/>
            <a:ext cx="625475" cy="490538"/>
          </a:xfrm>
          <a:custGeom>
            <a:avLst/>
            <a:gdLst/>
            <a:ahLst/>
            <a:cxnLst>
              <a:cxn ang="0">
                <a:pos x="0" y="806"/>
              </a:cxn>
              <a:cxn ang="0">
                <a:pos x="0" y="476"/>
              </a:cxn>
              <a:cxn ang="0">
                <a:pos x="967" y="0"/>
              </a:cxn>
              <a:cxn ang="0">
                <a:pos x="967" y="318"/>
              </a:cxn>
              <a:cxn ang="0">
                <a:pos x="0" y="806"/>
              </a:cxn>
              <a:cxn ang="0">
                <a:pos x="0" y="476"/>
              </a:cxn>
              <a:cxn ang="0">
                <a:pos x="967" y="0"/>
              </a:cxn>
              <a:cxn ang="0">
                <a:pos x="967" y="318"/>
              </a:cxn>
              <a:cxn ang="0">
                <a:pos x="0" y="806"/>
              </a:cxn>
            </a:cxnLst>
            <a:rect l="0" t="0" r="r" b="b"/>
            <a:pathLst>
              <a:path w="968" h="807">
                <a:moveTo>
                  <a:pt x="0" y="806"/>
                </a:moveTo>
                <a:lnTo>
                  <a:pt x="0" y="476"/>
                </a:lnTo>
                <a:lnTo>
                  <a:pt x="967" y="0"/>
                </a:lnTo>
                <a:lnTo>
                  <a:pt x="967" y="318"/>
                </a:lnTo>
                <a:lnTo>
                  <a:pt x="0" y="806"/>
                </a:lnTo>
                <a:lnTo>
                  <a:pt x="0" y="476"/>
                </a:lnTo>
                <a:lnTo>
                  <a:pt x="967" y="0"/>
                </a:lnTo>
                <a:lnTo>
                  <a:pt x="967" y="318"/>
                </a:lnTo>
                <a:lnTo>
                  <a:pt x="0" y="806"/>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21" name="Line 57"/>
          <p:cNvSpPr>
            <a:spLocks noChangeAspect="1" noChangeShapeType="1"/>
          </p:cNvSpPr>
          <p:nvPr/>
        </p:nvSpPr>
        <p:spPr bwMode="auto">
          <a:xfrm flipV="1">
            <a:off x="4811713" y="3043238"/>
            <a:ext cx="22225" cy="14287"/>
          </a:xfrm>
          <a:prstGeom prst="line">
            <a:avLst/>
          </a:prstGeom>
          <a:noFill/>
          <a:ln w="25400">
            <a:solidFill>
              <a:srgbClr val="000000"/>
            </a:solidFill>
            <a:round/>
            <a:headEnd type="none" w="sm" len="sm"/>
            <a:tailEnd type="none" w="sm" len="sm"/>
          </a:ln>
          <a:effectLst/>
        </p:spPr>
        <p:txBody>
          <a:bodyPr wrap="none" lIns="185571" tIns="92786" rIns="185571" bIns="92786">
            <a:spAutoFit/>
          </a:bodyPr>
          <a:lstStyle/>
          <a:p>
            <a:endParaRPr lang="zh-CN" altLang="en-US"/>
          </a:p>
        </p:txBody>
      </p:sp>
      <p:sp>
        <p:nvSpPr>
          <p:cNvPr id="62522" name="Freeform 58"/>
          <p:cNvSpPr>
            <a:spLocks noChangeAspect="1"/>
          </p:cNvSpPr>
          <p:nvPr/>
        </p:nvSpPr>
        <p:spPr bwMode="auto">
          <a:xfrm>
            <a:off x="4746625" y="3160713"/>
            <a:ext cx="311150" cy="369887"/>
          </a:xfrm>
          <a:custGeom>
            <a:avLst/>
            <a:gdLst/>
            <a:ahLst/>
            <a:cxnLst>
              <a:cxn ang="0">
                <a:pos x="0" y="0"/>
              </a:cxn>
              <a:cxn ang="0">
                <a:pos x="483" y="471"/>
              </a:cxn>
              <a:cxn ang="0">
                <a:pos x="483" y="606"/>
              </a:cxn>
              <a:cxn ang="0">
                <a:pos x="0" y="124"/>
              </a:cxn>
              <a:cxn ang="0">
                <a:pos x="0" y="0"/>
              </a:cxn>
            </a:cxnLst>
            <a:rect l="0" t="0" r="r" b="b"/>
            <a:pathLst>
              <a:path w="484" h="607">
                <a:moveTo>
                  <a:pt x="0" y="0"/>
                </a:moveTo>
                <a:lnTo>
                  <a:pt x="483" y="471"/>
                </a:lnTo>
                <a:lnTo>
                  <a:pt x="483" y="606"/>
                </a:lnTo>
                <a:lnTo>
                  <a:pt x="0" y="124"/>
                </a:lnTo>
                <a:lnTo>
                  <a:pt x="0" y="0"/>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23" name="Freeform 59"/>
          <p:cNvSpPr>
            <a:spLocks noChangeAspect="1"/>
          </p:cNvSpPr>
          <p:nvPr/>
        </p:nvSpPr>
        <p:spPr bwMode="auto">
          <a:xfrm>
            <a:off x="4749800" y="3163888"/>
            <a:ext cx="315913" cy="374650"/>
          </a:xfrm>
          <a:custGeom>
            <a:avLst/>
            <a:gdLst/>
            <a:ahLst/>
            <a:cxnLst>
              <a:cxn ang="0">
                <a:pos x="0" y="0"/>
              </a:cxn>
              <a:cxn ang="0">
                <a:pos x="489" y="476"/>
              </a:cxn>
              <a:cxn ang="0">
                <a:pos x="489" y="613"/>
              </a:cxn>
              <a:cxn ang="0">
                <a:pos x="0" y="125"/>
              </a:cxn>
              <a:cxn ang="0">
                <a:pos x="0" y="0"/>
              </a:cxn>
              <a:cxn ang="0">
                <a:pos x="489" y="476"/>
              </a:cxn>
              <a:cxn ang="0">
                <a:pos x="489" y="613"/>
              </a:cxn>
              <a:cxn ang="0">
                <a:pos x="0" y="125"/>
              </a:cxn>
              <a:cxn ang="0">
                <a:pos x="0" y="0"/>
              </a:cxn>
            </a:cxnLst>
            <a:rect l="0" t="0" r="r" b="b"/>
            <a:pathLst>
              <a:path w="490" h="614">
                <a:moveTo>
                  <a:pt x="0" y="0"/>
                </a:moveTo>
                <a:lnTo>
                  <a:pt x="489" y="476"/>
                </a:lnTo>
                <a:lnTo>
                  <a:pt x="489" y="613"/>
                </a:lnTo>
                <a:lnTo>
                  <a:pt x="0" y="125"/>
                </a:lnTo>
                <a:lnTo>
                  <a:pt x="0" y="0"/>
                </a:lnTo>
                <a:lnTo>
                  <a:pt x="489" y="476"/>
                </a:lnTo>
                <a:lnTo>
                  <a:pt x="489" y="613"/>
                </a:lnTo>
                <a:lnTo>
                  <a:pt x="0" y="125"/>
                </a:lnTo>
                <a:lnTo>
                  <a:pt x="0" y="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24" name="Freeform 60"/>
          <p:cNvSpPr>
            <a:spLocks noChangeAspect="1"/>
          </p:cNvSpPr>
          <p:nvPr/>
        </p:nvSpPr>
        <p:spPr bwMode="auto">
          <a:xfrm>
            <a:off x="4746625" y="3140075"/>
            <a:ext cx="347663" cy="307975"/>
          </a:xfrm>
          <a:custGeom>
            <a:avLst/>
            <a:gdLst/>
            <a:ahLst/>
            <a:cxnLst>
              <a:cxn ang="0">
                <a:pos x="0" y="34"/>
              </a:cxn>
              <a:cxn ang="0">
                <a:pos x="68" y="0"/>
              </a:cxn>
              <a:cxn ang="0">
                <a:pos x="539" y="469"/>
              </a:cxn>
              <a:cxn ang="0">
                <a:pos x="484" y="503"/>
              </a:cxn>
              <a:cxn ang="0">
                <a:pos x="0" y="34"/>
              </a:cxn>
            </a:cxnLst>
            <a:rect l="0" t="0" r="r" b="b"/>
            <a:pathLst>
              <a:path w="540" h="504">
                <a:moveTo>
                  <a:pt x="0" y="34"/>
                </a:moveTo>
                <a:lnTo>
                  <a:pt x="68" y="0"/>
                </a:lnTo>
                <a:lnTo>
                  <a:pt x="539" y="469"/>
                </a:lnTo>
                <a:lnTo>
                  <a:pt x="484" y="503"/>
                </a:lnTo>
                <a:lnTo>
                  <a:pt x="0" y="34"/>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25" name="Freeform 61"/>
          <p:cNvSpPr>
            <a:spLocks noChangeAspect="1"/>
          </p:cNvSpPr>
          <p:nvPr/>
        </p:nvSpPr>
        <p:spPr bwMode="auto">
          <a:xfrm>
            <a:off x="4749800" y="3144838"/>
            <a:ext cx="354013" cy="309562"/>
          </a:xfrm>
          <a:custGeom>
            <a:avLst/>
            <a:gdLst/>
            <a:ahLst/>
            <a:cxnLst>
              <a:cxn ang="0">
                <a:pos x="0" y="34"/>
              </a:cxn>
              <a:cxn ang="0">
                <a:pos x="69" y="0"/>
              </a:cxn>
              <a:cxn ang="0">
                <a:pos x="546" y="476"/>
              </a:cxn>
              <a:cxn ang="0">
                <a:pos x="490" y="510"/>
              </a:cxn>
              <a:cxn ang="0">
                <a:pos x="0" y="34"/>
              </a:cxn>
              <a:cxn ang="0">
                <a:pos x="69" y="0"/>
              </a:cxn>
              <a:cxn ang="0">
                <a:pos x="546" y="476"/>
              </a:cxn>
              <a:cxn ang="0">
                <a:pos x="490" y="510"/>
              </a:cxn>
              <a:cxn ang="0">
                <a:pos x="0" y="34"/>
              </a:cxn>
            </a:cxnLst>
            <a:rect l="0" t="0" r="r" b="b"/>
            <a:pathLst>
              <a:path w="547" h="511">
                <a:moveTo>
                  <a:pt x="0" y="34"/>
                </a:moveTo>
                <a:lnTo>
                  <a:pt x="69" y="0"/>
                </a:lnTo>
                <a:lnTo>
                  <a:pt x="546" y="476"/>
                </a:lnTo>
                <a:lnTo>
                  <a:pt x="490" y="510"/>
                </a:lnTo>
                <a:lnTo>
                  <a:pt x="0" y="34"/>
                </a:lnTo>
                <a:lnTo>
                  <a:pt x="69" y="0"/>
                </a:lnTo>
                <a:lnTo>
                  <a:pt x="546" y="476"/>
                </a:lnTo>
                <a:lnTo>
                  <a:pt x="490" y="510"/>
                </a:lnTo>
                <a:lnTo>
                  <a:pt x="0" y="34"/>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26" name="Freeform 62"/>
          <p:cNvSpPr>
            <a:spLocks noChangeAspect="1"/>
          </p:cNvSpPr>
          <p:nvPr/>
        </p:nvSpPr>
        <p:spPr bwMode="auto">
          <a:xfrm>
            <a:off x="5062538" y="3430588"/>
            <a:ext cx="69850" cy="100012"/>
          </a:xfrm>
          <a:custGeom>
            <a:avLst/>
            <a:gdLst/>
            <a:ahLst/>
            <a:cxnLst>
              <a:cxn ang="0">
                <a:pos x="0" y="33"/>
              </a:cxn>
              <a:cxn ang="0">
                <a:pos x="53" y="0"/>
              </a:cxn>
              <a:cxn ang="0">
                <a:pos x="53" y="55"/>
              </a:cxn>
              <a:cxn ang="0">
                <a:pos x="106" y="99"/>
              </a:cxn>
              <a:cxn ang="0">
                <a:pos x="0" y="164"/>
              </a:cxn>
              <a:cxn ang="0">
                <a:pos x="0" y="33"/>
              </a:cxn>
            </a:cxnLst>
            <a:rect l="0" t="0" r="r" b="b"/>
            <a:pathLst>
              <a:path w="107" h="165">
                <a:moveTo>
                  <a:pt x="0" y="33"/>
                </a:moveTo>
                <a:lnTo>
                  <a:pt x="53" y="0"/>
                </a:lnTo>
                <a:lnTo>
                  <a:pt x="53" y="55"/>
                </a:lnTo>
                <a:lnTo>
                  <a:pt x="106" y="99"/>
                </a:lnTo>
                <a:lnTo>
                  <a:pt x="0" y="164"/>
                </a:lnTo>
                <a:lnTo>
                  <a:pt x="0" y="33"/>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27" name="Freeform 63"/>
          <p:cNvSpPr>
            <a:spLocks noChangeAspect="1"/>
          </p:cNvSpPr>
          <p:nvPr/>
        </p:nvSpPr>
        <p:spPr bwMode="auto">
          <a:xfrm>
            <a:off x="5065713" y="3433763"/>
            <a:ext cx="74612" cy="104775"/>
          </a:xfrm>
          <a:custGeom>
            <a:avLst/>
            <a:gdLst/>
            <a:ahLst/>
            <a:cxnLst>
              <a:cxn ang="0">
                <a:pos x="0" y="34"/>
              </a:cxn>
              <a:cxn ang="0">
                <a:pos x="56" y="0"/>
              </a:cxn>
              <a:cxn ang="0">
                <a:pos x="56" y="57"/>
              </a:cxn>
              <a:cxn ang="0">
                <a:pos x="113" y="103"/>
              </a:cxn>
              <a:cxn ang="0">
                <a:pos x="0" y="171"/>
              </a:cxn>
              <a:cxn ang="0">
                <a:pos x="0" y="34"/>
              </a:cxn>
              <a:cxn ang="0">
                <a:pos x="56" y="0"/>
              </a:cxn>
              <a:cxn ang="0">
                <a:pos x="56" y="57"/>
              </a:cxn>
              <a:cxn ang="0">
                <a:pos x="113" y="103"/>
              </a:cxn>
              <a:cxn ang="0">
                <a:pos x="0" y="171"/>
              </a:cxn>
              <a:cxn ang="0">
                <a:pos x="0" y="34"/>
              </a:cxn>
            </a:cxnLst>
            <a:rect l="0" t="0" r="r" b="b"/>
            <a:pathLst>
              <a:path w="114" h="172">
                <a:moveTo>
                  <a:pt x="0" y="34"/>
                </a:moveTo>
                <a:lnTo>
                  <a:pt x="56" y="0"/>
                </a:lnTo>
                <a:lnTo>
                  <a:pt x="56" y="57"/>
                </a:lnTo>
                <a:lnTo>
                  <a:pt x="113" y="103"/>
                </a:lnTo>
                <a:lnTo>
                  <a:pt x="0" y="171"/>
                </a:lnTo>
                <a:lnTo>
                  <a:pt x="0" y="34"/>
                </a:lnTo>
                <a:lnTo>
                  <a:pt x="56" y="0"/>
                </a:lnTo>
                <a:lnTo>
                  <a:pt x="56" y="57"/>
                </a:lnTo>
                <a:lnTo>
                  <a:pt x="113" y="103"/>
                </a:lnTo>
                <a:lnTo>
                  <a:pt x="0" y="171"/>
                </a:lnTo>
                <a:lnTo>
                  <a:pt x="0" y="34"/>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28" name="Rectangle 64"/>
          <p:cNvSpPr>
            <a:spLocks noChangeAspect="1" noChangeArrowheads="1"/>
          </p:cNvSpPr>
          <p:nvPr/>
        </p:nvSpPr>
        <p:spPr bwMode="auto">
          <a:xfrm flipH="1">
            <a:off x="4716463" y="3441700"/>
            <a:ext cx="474662" cy="412750"/>
          </a:xfrm>
          <a:prstGeom prst="rect">
            <a:avLst/>
          </a:prstGeom>
          <a:noFill/>
          <a:ln w="9525">
            <a:noFill/>
            <a:miter lim="800000"/>
            <a:headEnd/>
            <a:tailEnd/>
          </a:ln>
          <a:effectLst/>
        </p:spPr>
        <p:txBody>
          <a:bodyPr wrap="none" lIns="185571" tIns="92786" rIns="185571" bIns="92786">
            <a:spAutoFit/>
          </a:bodyPr>
          <a:lstStyle/>
          <a:p>
            <a:pPr defTabSz="1027113" eaLnBrk="0" hangingPunct="0"/>
            <a:r>
              <a:rPr kumimoji="0" lang="en-US" altLang="zh-CN" sz="1500" b="1">
                <a:latin typeface="Helvetica" pitchFamily="34" charset="0"/>
              </a:rPr>
              <a:t>1</a:t>
            </a:r>
            <a:endParaRPr kumimoji="0" lang="en-US" altLang="zh-CN" sz="1500" b="1">
              <a:solidFill>
                <a:srgbClr val="000000"/>
              </a:solidFill>
              <a:latin typeface="Helvetica" pitchFamily="34" charset="0"/>
            </a:endParaRPr>
          </a:p>
        </p:txBody>
      </p:sp>
      <p:sp>
        <p:nvSpPr>
          <p:cNvPr id="62529" name="Rectangle 65"/>
          <p:cNvSpPr>
            <a:spLocks noChangeAspect="1" noChangeArrowheads="1"/>
          </p:cNvSpPr>
          <p:nvPr/>
        </p:nvSpPr>
        <p:spPr bwMode="auto">
          <a:xfrm flipH="1">
            <a:off x="4419600" y="3059113"/>
            <a:ext cx="474663" cy="412750"/>
          </a:xfrm>
          <a:prstGeom prst="rect">
            <a:avLst/>
          </a:prstGeom>
          <a:noFill/>
          <a:ln w="9525">
            <a:noFill/>
            <a:miter lim="800000"/>
            <a:headEnd/>
            <a:tailEnd/>
          </a:ln>
          <a:effectLst/>
        </p:spPr>
        <p:txBody>
          <a:bodyPr wrap="none" lIns="185571" tIns="92786" rIns="185571" bIns="92786">
            <a:spAutoFit/>
          </a:bodyPr>
          <a:lstStyle/>
          <a:p>
            <a:pPr defTabSz="1027113" eaLnBrk="0" hangingPunct="0"/>
            <a:r>
              <a:rPr kumimoji="0" lang="en-US" altLang="zh-CN" sz="1500" b="1">
                <a:latin typeface="Helvetica" pitchFamily="34" charset="0"/>
              </a:rPr>
              <a:t>8</a:t>
            </a:r>
            <a:endParaRPr kumimoji="0" lang="en-US" altLang="zh-CN" sz="1500" b="1">
              <a:solidFill>
                <a:schemeClr val="accent2"/>
              </a:solidFill>
              <a:latin typeface="Helvetica" pitchFamily="34" charset="0"/>
            </a:endParaRPr>
          </a:p>
        </p:txBody>
      </p:sp>
      <p:sp>
        <p:nvSpPr>
          <p:cNvPr id="62530" name="Line 66"/>
          <p:cNvSpPr>
            <a:spLocks noChangeAspect="1" noChangeShapeType="1"/>
          </p:cNvSpPr>
          <p:nvPr/>
        </p:nvSpPr>
        <p:spPr bwMode="auto">
          <a:xfrm flipH="1">
            <a:off x="5367338" y="2981325"/>
            <a:ext cx="371475" cy="177800"/>
          </a:xfrm>
          <a:prstGeom prst="line">
            <a:avLst/>
          </a:prstGeom>
          <a:noFill/>
          <a:ln w="76200">
            <a:pattFill prst="lgGrid">
              <a:fgClr>
                <a:srgbClr val="33CC33"/>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531" name="Line 67"/>
          <p:cNvSpPr>
            <a:spLocks noChangeAspect="1" noChangeShapeType="1"/>
          </p:cNvSpPr>
          <p:nvPr/>
        </p:nvSpPr>
        <p:spPr bwMode="auto">
          <a:xfrm flipH="1">
            <a:off x="5332413" y="2946400"/>
            <a:ext cx="369887" cy="176213"/>
          </a:xfrm>
          <a:prstGeom prst="line">
            <a:avLst/>
          </a:prstGeom>
          <a:noFill/>
          <a:ln w="76200">
            <a:solidFill>
              <a:schemeClr val="accent2"/>
            </a:solidFill>
            <a:round/>
            <a:headEnd type="none" w="sm" len="sm"/>
            <a:tailEnd type="none" w="sm" len="sm"/>
          </a:ln>
          <a:effectLst/>
        </p:spPr>
        <p:txBody>
          <a:bodyPr wrap="none" lIns="185571" tIns="92786" rIns="185571" bIns="92786">
            <a:spAutoFit/>
          </a:bodyPr>
          <a:lstStyle/>
          <a:p>
            <a:endParaRPr lang="zh-CN" altLang="en-US"/>
          </a:p>
        </p:txBody>
      </p:sp>
      <p:sp>
        <p:nvSpPr>
          <p:cNvPr id="62532" name="Line 68"/>
          <p:cNvSpPr>
            <a:spLocks noChangeAspect="1" noChangeShapeType="1"/>
          </p:cNvSpPr>
          <p:nvPr/>
        </p:nvSpPr>
        <p:spPr bwMode="auto">
          <a:xfrm flipH="1">
            <a:off x="5283200" y="2905125"/>
            <a:ext cx="371475" cy="177800"/>
          </a:xfrm>
          <a:prstGeom prst="line">
            <a:avLst/>
          </a:prstGeom>
          <a:noFill/>
          <a:ln w="76200">
            <a:pattFill prst="lgGrid">
              <a:fgClr>
                <a:srgbClr val="33CC33"/>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533" name="Line 69"/>
          <p:cNvSpPr>
            <a:spLocks noChangeAspect="1" noChangeShapeType="1"/>
          </p:cNvSpPr>
          <p:nvPr/>
        </p:nvSpPr>
        <p:spPr bwMode="auto">
          <a:xfrm flipH="1">
            <a:off x="5257800" y="2895600"/>
            <a:ext cx="369888" cy="177800"/>
          </a:xfrm>
          <a:prstGeom prst="line">
            <a:avLst/>
          </a:prstGeom>
          <a:noFill/>
          <a:ln w="76200">
            <a:solidFill>
              <a:schemeClr val="accent1"/>
            </a:solidFill>
            <a:round/>
            <a:headEnd type="none" w="sm" len="sm"/>
            <a:tailEnd type="none" w="sm" len="sm"/>
          </a:ln>
          <a:effectLst/>
        </p:spPr>
        <p:txBody>
          <a:bodyPr wrap="none" lIns="185571" tIns="92786" rIns="185571" bIns="92786">
            <a:spAutoFit/>
          </a:bodyPr>
          <a:lstStyle/>
          <a:p>
            <a:endParaRPr lang="zh-CN" altLang="en-US"/>
          </a:p>
        </p:txBody>
      </p:sp>
      <p:sp>
        <p:nvSpPr>
          <p:cNvPr id="62534" name="Line 70"/>
          <p:cNvSpPr>
            <a:spLocks noChangeAspect="1" noChangeShapeType="1"/>
          </p:cNvSpPr>
          <p:nvPr/>
        </p:nvSpPr>
        <p:spPr bwMode="auto">
          <a:xfrm flipH="1">
            <a:off x="5176838" y="2808288"/>
            <a:ext cx="371475" cy="179387"/>
          </a:xfrm>
          <a:prstGeom prst="line">
            <a:avLst/>
          </a:prstGeom>
          <a:noFill/>
          <a:ln w="76200">
            <a:pattFill prst="lgGrid">
              <a:fgClr>
                <a:srgbClr val="0066FF"/>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535" name="Line 71"/>
          <p:cNvSpPr>
            <a:spLocks noChangeAspect="1" noChangeShapeType="1"/>
          </p:cNvSpPr>
          <p:nvPr/>
        </p:nvSpPr>
        <p:spPr bwMode="auto">
          <a:xfrm flipH="1">
            <a:off x="5160963" y="2773363"/>
            <a:ext cx="371475" cy="179387"/>
          </a:xfrm>
          <a:prstGeom prst="line">
            <a:avLst/>
          </a:prstGeom>
          <a:noFill/>
          <a:ln w="76200">
            <a:solidFill>
              <a:schemeClr val="folHlink"/>
            </a:solidFill>
            <a:round/>
            <a:headEnd type="none" w="sm" len="sm"/>
            <a:tailEnd type="none" w="sm" len="sm"/>
          </a:ln>
          <a:effectLst/>
        </p:spPr>
        <p:txBody>
          <a:bodyPr wrap="none" lIns="185571" tIns="92786" rIns="185571" bIns="92786">
            <a:spAutoFit/>
          </a:bodyPr>
          <a:lstStyle/>
          <a:p>
            <a:endParaRPr lang="zh-CN" altLang="en-US"/>
          </a:p>
        </p:txBody>
      </p:sp>
      <p:sp>
        <p:nvSpPr>
          <p:cNvPr id="62536" name="Line 72"/>
          <p:cNvSpPr>
            <a:spLocks noChangeAspect="1" noChangeShapeType="1"/>
          </p:cNvSpPr>
          <p:nvPr/>
        </p:nvSpPr>
        <p:spPr bwMode="auto">
          <a:xfrm flipH="1">
            <a:off x="5114925" y="2747963"/>
            <a:ext cx="369888" cy="177800"/>
          </a:xfrm>
          <a:prstGeom prst="line">
            <a:avLst/>
          </a:prstGeom>
          <a:noFill/>
          <a:ln w="76200">
            <a:pattFill prst="lgGrid">
              <a:fgClr>
                <a:srgbClr val="996633"/>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537" name="Line 73"/>
          <p:cNvSpPr>
            <a:spLocks noChangeAspect="1" noChangeShapeType="1"/>
          </p:cNvSpPr>
          <p:nvPr/>
        </p:nvSpPr>
        <p:spPr bwMode="auto">
          <a:xfrm rot="99560" flipH="1" flipV="1">
            <a:off x="5062538" y="2882900"/>
            <a:ext cx="319087" cy="277813"/>
          </a:xfrm>
          <a:prstGeom prst="line">
            <a:avLst/>
          </a:prstGeom>
          <a:noFill/>
          <a:ln w="28575">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38" name="Rectangle 74"/>
          <p:cNvSpPr>
            <a:spLocks noChangeArrowheads="1"/>
          </p:cNvSpPr>
          <p:nvPr/>
        </p:nvSpPr>
        <p:spPr bwMode="auto">
          <a:xfrm>
            <a:off x="4722813" y="1782763"/>
            <a:ext cx="3967162" cy="581025"/>
          </a:xfrm>
          <a:prstGeom prst="rect">
            <a:avLst/>
          </a:prstGeom>
          <a:noFill/>
          <a:ln w="9525">
            <a:noFill/>
            <a:miter lim="800000"/>
            <a:headEnd type="none" w="sm" len="sm"/>
            <a:tailEnd type="none" w="sm" len="sm"/>
          </a:ln>
          <a:effectLst/>
        </p:spPr>
        <p:txBody>
          <a:bodyPr wrap="none" lIns="185571" tIns="92786" rIns="185571" bIns="92786">
            <a:spAutoFit/>
          </a:bodyPr>
          <a:lstStyle/>
          <a:p>
            <a:pPr defTabSz="1027113" eaLnBrk="0" hangingPunct="0"/>
            <a:r>
              <a:rPr kumimoji="0" lang="en-US" altLang="zh-CN" sz="2600" b="1">
                <a:latin typeface="Helvetica" pitchFamily="34" charset="0"/>
              </a:rPr>
              <a:t>Straight-through Cable</a:t>
            </a:r>
            <a:endParaRPr kumimoji="0" lang="en-US" altLang="zh-CN" sz="2600" b="1">
              <a:solidFill>
                <a:srgbClr val="000000"/>
              </a:solidFill>
              <a:latin typeface="Helvetica" pitchFamily="34" charset="0"/>
            </a:endParaRPr>
          </a:p>
        </p:txBody>
      </p:sp>
      <p:grpSp>
        <p:nvGrpSpPr>
          <p:cNvPr id="2" name="Group 75"/>
          <p:cNvGrpSpPr>
            <a:grpSpLocks/>
          </p:cNvGrpSpPr>
          <p:nvPr/>
        </p:nvGrpSpPr>
        <p:grpSpPr bwMode="auto">
          <a:xfrm>
            <a:off x="5432425" y="2557463"/>
            <a:ext cx="2409825" cy="355600"/>
            <a:chOff x="3407" y="1416"/>
            <a:chExt cx="1518" cy="224"/>
          </a:xfrm>
        </p:grpSpPr>
        <p:sp>
          <p:nvSpPr>
            <p:cNvPr id="62540" name="Line 76"/>
            <p:cNvSpPr>
              <a:spLocks noChangeShapeType="1"/>
            </p:cNvSpPr>
            <p:nvPr/>
          </p:nvSpPr>
          <p:spPr bwMode="auto">
            <a:xfrm flipV="1">
              <a:off x="3879" y="1416"/>
              <a:ext cx="618" cy="0"/>
            </a:xfrm>
            <a:prstGeom prst="line">
              <a:avLst/>
            </a:prstGeom>
            <a:noFill/>
            <a:ln w="19050">
              <a:solidFill>
                <a:schemeClr val="tx1"/>
              </a:solidFill>
              <a:prstDash val="sysDot"/>
              <a:round/>
              <a:headEnd type="none" w="sm" len="sm"/>
              <a:tailEnd type="none" w="sm" len="sm"/>
            </a:ln>
            <a:effectLst/>
          </p:spPr>
          <p:txBody>
            <a:bodyPr wrap="none" lIns="185571" tIns="92786" rIns="185571" bIns="92786">
              <a:spAutoFit/>
            </a:bodyPr>
            <a:lstStyle/>
            <a:p>
              <a:endParaRPr lang="zh-CN" altLang="en-US"/>
            </a:p>
          </p:txBody>
        </p:sp>
        <p:sp>
          <p:nvSpPr>
            <p:cNvPr id="62541" name="Line 77"/>
            <p:cNvSpPr>
              <a:spLocks noChangeShapeType="1"/>
            </p:cNvSpPr>
            <p:nvPr/>
          </p:nvSpPr>
          <p:spPr bwMode="auto">
            <a:xfrm flipV="1">
              <a:off x="3893" y="1429"/>
              <a:ext cx="591" cy="0"/>
            </a:xfrm>
            <a:prstGeom prst="line">
              <a:avLst/>
            </a:prstGeom>
            <a:noFill/>
            <a:ln w="19050">
              <a:solidFill>
                <a:schemeClr val="tx1"/>
              </a:solidFill>
              <a:prstDash val="sysDot"/>
              <a:round/>
              <a:headEnd type="none" w="sm" len="sm"/>
              <a:tailEnd type="none" w="sm" len="sm"/>
            </a:ln>
            <a:effectLst/>
          </p:spPr>
          <p:txBody>
            <a:bodyPr wrap="none" lIns="185571" tIns="92786" rIns="185571" bIns="92786">
              <a:spAutoFit/>
            </a:bodyPr>
            <a:lstStyle/>
            <a:p>
              <a:endParaRPr lang="zh-CN" altLang="en-US"/>
            </a:p>
          </p:txBody>
        </p:sp>
        <p:sp>
          <p:nvSpPr>
            <p:cNvPr id="62542" name="Arc 78"/>
            <p:cNvSpPr>
              <a:spLocks noChangeAspect="1"/>
            </p:cNvSpPr>
            <p:nvPr/>
          </p:nvSpPr>
          <p:spPr bwMode="auto">
            <a:xfrm flipH="1">
              <a:off x="4385" y="1527"/>
              <a:ext cx="428" cy="84"/>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43" name="Arc 79"/>
            <p:cNvSpPr>
              <a:spLocks noChangeAspect="1"/>
            </p:cNvSpPr>
            <p:nvPr/>
          </p:nvSpPr>
          <p:spPr bwMode="auto">
            <a:xfrm flipH="1">
              <a:off x="4375" y="1536"/>
              <a:ext cx="429" cy="83"/>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44" name="Line 80"/>
            <p:cNvSpPr>
              <a:spLocks noChangeShapeType="1"/>
            </p:cNvSpPr>
            <p:nvPr/>
          </p:nvSpPr>
          <p:spPr bwMode="auto">
            <a:xfrm flipV="1">
              <a:off x="4313" y="1527"/>
              <a:ext cx="81" cy="0"/>
            </a:xfrm>
            <a:prstGeom prst="line">
              <a:avLst/>
            </a:prstGeom>
            <a:noFill/>
            <a:ln w="19050">
              <a:solidFill>
                <a:schemeClr val="tx1"/>
              </a:solidFill>
              <a:prstDash val="sysDot"/>
              <a:round/>
              <a:headEnd type="none" w="sm" len="sm"/>
              <a:tailEnd type="none" w="sm" len="sm"/>
            </a:ln>
            <a:effectLst/>
          </p:spPr>
          <p:txBody>
            <a:bodyPr wrap="none" lIns="185571" tIns="92786" rIns="185571" bIns="92786">
              <a:spAutoFit/>
            </a:bodyPr>
            <a:lstStyle/>
            <a:p>
              <a:endParaRPr lang="zh-CN" altLang="en-US"/>
            </a:p>
          </p:txBody>
        </p:sp>
        <p:sp>
          <p:nvSpPr>
            <p:cNvPr id="62545" name="Line 81"/>
            <p:cNvSpPr>
              <a:spLocks noChangeShapeType="1"/>
            </p:cNvSpPr>
            <p:nvPr/>
          </p:nvSpPr>
          <p:spPr bwMode="auto">
            <a:xfrm flipV="1">
              <a:off x="4313" y="1536"/>
              <a:ext cx="81" cy="0"/>
            </a:xfrm>
            <a:prstGeom prst="line">
              <a:avLst/>
            </a:prstGeom>
            <a:noFill/>
            <a:ln w="19050">
              <a:solidFill>
                <a:schemeClr val="tx1"/>
              </a:solidFill>
              <a:prstDash val="sysDot"/>
              <a:round/>
              <a:headEnd type="none" w="sm" len="sm"/>
              <a:tailEnd type="none" w="sm" len="sm"/>
            </a:ln>
            <a:effectLst/>
          </p:spPr>
          <p:txBody>
            <a:bodyPr wrap="none" lIns="185571" tIns="92786" rIns="185571" bIns="92786">
              <a:spAutoFit/>
            </a:bodyPr>
            <a:lstStyle/>
            <a:p>
              <a:endParaRPr lang="zh-CN" altLang="en-US"/>
            </a:p>
          </p:txBody>
        </p:sp>
        <p:sp>
          <p:nvSpPr>
            <p:cNvPr id="62546" name="Arc 82"/>
            <p:cNvSpPr>
              <a:spLocks noChangeAspect="1"/>
            </p:cNvSpPr>
            <p:nvPr/>
          </p:nvSpPr>
          <p:spPr bwMode="auto">
            <a:xfrm>
              <a:off x="3451" y="1416"/>
              <a:ext cx="428" cy="83"/>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47" name="Arc 83"/>
            <p:cNvSpPr>
              <a:spLocks noChangeAspect="1"/>
            </p:cNvSpPr>
            <p:nvPr/>
          </p:nvSpPr>
          <p:spPr bwMode="auto">
            <a:xfrm>
              <a:off x="3465" y="1429"/>
              <a:ext cx="428" cy="84"/>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48" name="Line 84"/>
            <p:cNvSpPr>
              <a:spLocks noChangeAspect="1" noChangeShapeType="1"/>
            </p:cNvSpPr>
            <p:nvPr/>
          </p:nvSpPr>
          <p:spPr bwMode="auto">
            <a:xfrm rot="99560" flipH="1" flipV="1">
              <a:off x="3407" y="1464"/>
              <a:ext cx="200" cy="176"/>
            </a:xfrm>
            <a:prstGeom prst="line">
              <a:avLst/>
            </a:prstGeom>
            <a:noFill/>
            <a:ln w="28575">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49" name="Arc 85"/>
            <p:cNvSpPr>
              <a:spLocks noChangeAspect="1"/>
            </p:cNvSpPr>
            <p:nvPr/>
          </p:nvSpPr>
          <p:spPr bwMode="auto">
            <a:xfrm flipH="1">
              <a:off x="4487" y="1429"/>
              <a:ext cx="429" cy="84"/>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50" name="Arc 86"/>
            <p:cNvSpPr>
              <a:spLocks noChangeAspect="1"/>
            </p:cNvSpPr>
            <p:nvPr/>
          </p:nvSpPr>
          <p:spPr bwMode="auto">
            <a:xfrm>
              <a:off x="3576" y="1520"/>
              <a:ext cx="428" cy="84"/>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51" name="Arc 87"/>
            <p:cNvSpPr>
              <a:spLocks noChangeAspect="1"/>
            </p:cNvSpPr>
            <p:nvPr/>
          </p:nvSpPr>
          <p:spPr bwMode="auto">
            <a:xfrm>
              <a:off x="3585" y="1529"/>
              <a:ext cx="429" cy="84"/>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552" name="Line 88"/>
            <p:cNvSpPr>
              <a:spLocks noChangeShapeType="1"/>
            </p:cNvSpPr>
            <p:nvPr/>
          </p:nvSpPr>
          <p:spPr bwMode="auto">
            <a:xfrm flipH="1" flipV="1">
              <a:off x="3995" y="1520"/>
              <a:ext cx="343" cy="7"/>
            </a:xfrm>
            <a:prstGeom prst="line">
              <a:avLst/>
            </a:prstGeom>
            <a:noFill/>
            <a:ln w="19050">
              <a:solidFill>
                <a:schemeClr val="tx1"/>
              </a:solidFill>
              <a:prstDash val="sysDot"/>
              <a:round/>
              <a:headEnd type="none" w="sm" len="sm"/>
              <a:tailEnd type="none" w="sm" len="sm"/>
            </a:ln>
            <a:effectLst/>
          </p:spPr>
          <p:txBody>
            <a:bodyPr wrap="none" lIns="185571" tIns="92786" rIns="185571" bIns="92786">
              <a:spAutoFit/>
            </a:bodyPr>
            <a:lstStyle/>
            <a:p>
              <a:endParaRPr lang="zh-CN" altLang="en-US"/>
            </a:p>
          </p:txBody>
        </p:sp>
        <p:sp>
          <p:nvSpPr>
            <p:cNvPr id="62553" name="Line 89"/>
            <p:cNvSpPr>
              <a:spLocks noChangeShapeType="1"/>
            </p:cNvSpPr>
            <p:nvPr/>
          </p:nvSpPr>
          <p:spPr bwMode="auto">
            <a:xfrm flipH="1" flipV="1">
              <a:off x="3995" y="1529"/>
              <a:ext cx="380" cy="7"/>
            </a:xfrm>
            <a:prstGeom prst="line">
              <a:avLst/>
            </a:prstGeom>
            <a:noFill/>
            <a:ln w="19050">
              <a:solidFill>
                <a:schemeClr val="tx1"/>
              </a:solidFill>
              <a:prstDash val="sysDot"/>
              <a:round/>
              <a:headEnd type="none" w="sm" len="sm"/>
              <a:tailEnd type="none" w="sm" len="sm"/>
            </a:ln>
            <a:effectLst/>
          </p:spPr>
          <p:txBody>
            <a:bodyPr wrap="none" lIns="185571" tIns="92786" rIns="185571" bIns="92786">
              <a:spAutoFit/>
            </a:bodyPr>
            <a:lstStyle/>
            <a:p>
              <a:endParaRPr lang="zh-CN" altLang="en-US"/>
            </a:p>
          </p:txBody>
        </p:sp>
        <p:sp>
          <p:nvSpPr>
            <p:cNvPr id="62554" name="Arc 90"/>
            <p:cNvSpPr>
              <a:spLocks noChangeAspect="1"/>
            </p:cNvSpPr>
            <p:nvPr/>
          </p:nvSpPr>
          <p:spPr bwMode="auto">
            <a:xfrm flipH="1">
              <a:off x="4497" y="1416"/>
              <a:ext cx="428" cy="84"/>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lIns="185571" tIns="92786" rIns="185571" bIns="92786">
              <a:spAutoFit/>
            </a:bodyPr>
            <a:lstStyle/>
            <a:p>
              <a:endParaRPr lang="zh-CN" altLang="en-US"/>
            </a:p>
          </p:txBody>
        </p:sp>
      </p:grpSp>
      <p:sp>
        <p:nvSpPr>
          <p:cNvPr id="62555" name="Freeform 91"/>
          <p:cNvSpPr>
            <a:spLocks noChangeAspect="1"/>
          </p:cNvSpPr>
          <p:nvPr/>
        </p:nvSpPr>
        <p:spPr bwMode="auto">
          <a:xfrm flipH="1">
            <a:off x="7399338" y="2957513"/>
            <a:ext cx="201612" cy="141287"/>
          </a:xfrm>
          <a:custGeom>
            <a:avLst/>
            <a:gdLst/>
            <a:ahLst/>
            <a:cxnLst>
              <a:cxn ang="0">
                <a:pos x="311" y="0"/>
              </a:cxn>
              <a:cxn ang="0">
                <a:pos x="311" y="78"/>
              </a:cxn>
              <a:cxn ang="0">
                <a:pos x="0" y="231"/>
              </a:cxn>
              <a:cxn ang="0">
                <a:pos x="0" y="78"/>
              </a:cxn>
              <a:cxn ang="0">
                <a:pos x="311" y="0"/>
              </a:cxn>
            </a:cxnLst>
            <a:rect l="0" t="0" r="r" b="b"/>
            <a:pathLst>
              <a:path w="312" h="232">
                <a:moveTo>
                  <a:pt x="311" y="0"/>
                </a:moveTo>
                <a:lnTo>
                  <a:pt x="311" y="78"/>
                </a:lnTo>
                <a:lnTo>
                  <a:pt x="0" y="231"/>
                </a:lnTo>
                <a:lnTo>
                  <a:pt x="0" y="78"/>
                </a:lnTo>
                <a:lnTo>
                  <a:pt x="311" y="0"/>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56" name="Freeform 92"/>
          <p:cNvSpPr>
            <a:spLocks noChangeAspect="1"/>
          </p:cNvSpPr>
          <p:nvPr/>
        </p:nvSpPr>
        <p:spPr bwMode="auto">
          <a:xfrm flipH="1">
            <a:off x="7389813" y="2962275"/>
            <a:ext cx="206375" cy="144463"/>
          </a:xfrm>
          <a:custGeom>
            <a:avLst/>
            <a:gdLst/>
            <a:ahLst/>
            <a:cxnLst>
              <a:cxn ang="0">
                <a:pos x="318" y="0"/>
              </a:cxn>
              <a:cxn ang="0">
                <a:pos x="318" y="80"/>
              </a:cxn>
              <a:cxn ang="0">
                <a:pos x="0" y="237"/>
              </a:cxn>
              <a:cxn ang="0">
                <a:pos x="0" y="80"/>
              </a:cxn>
              <a:cxn ang="0">
                <a:pos x="318" y="0"/>
              </a:cxn>
              <a:cxn ang="0">
                <a:pos x="318" y="80"/>
              </a:cxn>
              <a:cxn ang="0">
                <a:pos x="0" y="237"/>
              </a:cxn>
              <a:cxn ang="0">
                <a:pos x="0" y="80"/>
              </a:cxn>
              <a:cxn ang="0">
                <a:pos x="318" y="0"/>
              </a:cxn>
            </a:cxnLst>
            <a:rect l="0" t="0" r="r" b="b"/>
            <a:pathLst>
              <a:path w="319" h="238">
                <a:moveTo>
                  <a:pt x="318" y="0"/>
                </a:moveTo>
                <a:lnTo>
                  <a:pt x="318" y="80"/>
                </a:lnTo>
                <a:lnTo>
                  <a:pt x="0" y="237"/>
                </a:lnTo>
                <a:lnTo>
                  <a:pt x="0" y="80"/>
                </a:lnTo>
                <a:lnTo>
                  <a:pt x="318" y="0"/>
                </a:lnTo>
                <a:lnTo>
                  <a:pt x="318" y="80"/>
                </a:lnTo>
                <a:lnTo>
                  <a:pt x="0" y="237"/>
                </a:lnTo>
                <a:lnTo>
                  <a:pt x="0" y="80"/>
                </a:lnTo>
                <a:lnTo>
                  <a:pt x="318" y="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57" name="Freeform 93"/>
          <p:cNvSpPr>
            <a:spLocks noChangeAspect="1"/>
          </p:cNvSpPr>
          <p:nvPr/>
        </p:nvSpPr>
        <p:spPr bwMode="auto">
          <a:xfrm flipH="1">
            <a:off x="7399338" y="2881313"/>
            <a:ext cx="280987" cy="122237"/>
          </a:xfrm>
          <a:custGeom>
            <a:avLst/>
            <a:gdLst/>
            <a:ahLst/>
            <a:cxnLst>
              <a:cxn ang="0">
                <a:pos x="436" y="121"/>
              </a:cxn>
              <a:cxn ang="0">
                <a:pos x="313" y="0"/>
              </a:cxn>
              <a:cxn ang="0">
                <a:pos x="0" y="77"/>
              </a:cxn>
              <a:cxn ang="0">
                <a:pos x="123" y="198"/>
              </a:cxn>
              <a:cxn ang="0">
                <a:pos x="436" y="121"/>
              </a:cxn>
            </a:cxnLst>
            <a:rect l="0" t="0" r="r" b="b"/>
            <a:pathLst>
              <a:path w="437" h="199">
                <a:moveTo>
                  <a:pt x="436" y="121"/>
                </a:moveTo>
                <a:lnTo>
                  <a:pt x="313" y="0"/>
                </a:lnTo>
                <a:lnTo>
                  <a:pt x="0" y="77"/>
                </a:lnTo>
                <a:lnTo>
                  <a:pt x="123" y="198"/>
                </a:lnTo>
                <a:lnTo>
                  <a:pt x="436" y="121"/>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58" name="Freeform 94"/>
          <p:cNvSpPr>
            <a:spLocks noChangeAspect="1"/>
          </p:cNvSpPr>
          <p:nvPr/>
        </p:nvSpPr>
        <p:spPr bwMode="auto">
          <a:xfrm flipH="1">
            <a:off x="7389813" y="2886075"/>
            <a:ext cx="285750" cy="125413"/>
          </a:xfrm>
          <a:custGeom>
            <a:avLst/>
            <a:gdLst/>
            <a:ahLst/>
            <a:cxnLst>
              <a:cxn ang="0">
                <a:pos x="443" y="124"/>
              </a:cxn>
              <a:cxn ang="0">
                <a:pos x="318" y="0"/>
              </a:cxn>
              <a:cxn ang="0">
                <a:pos x="0" y="80"/>
              </a:cxn>
              <a:cxn ang="0">
                <a:pos x="125" y="204"/>
              </a:cxn>
              <a:cxn ang="0">
                <a:pos x="443" y="124"/>
              </a:cxn>
              <a:cxn ang="0">
                <a:pos x="318" y="0"/>
              </a:cxn>
              <a:cxn ang="0">
                <a:pos x="0" y="80"/>
              </a:cxn>
              <a:cxn ang="0">
                <a:pos x="125" y="204"/>
              </a:cxn>
              <a:cxn ang="0">
                <a:pos x="443" y="124"/>
              </a:cxn>
            </a:cxnLst>
            <a:rect l="0" t="0" r="r" b="b"/>
            <a:pathLst>
              <a:path w="444" h="205">
                <a:moveTo>
                  <a:pt x="443" y="124"/>
                </a:moveTo>
                <a:lnTo>
                  <a:pt x="318" y="0"/>
                </a:lnTo>
                <a:lnTo>
                  <a:pt x="0" y="80"/>
                </a:lnTo>
                <a:lnTo>
                  <a:pt x="125" y="204"/>
                </a:lnTo>
                <a:lnTo>
                  <a:pt x="443" y="124"/>
                </a:lnTo>
                <a:lnTo>
                  <a:pt x="318" y="0"/>
                </a:lnTo>
                <a:lnTo>
                  <a:pt x="0" y="80"/>
                </a:lnTo>
                <a:lnTo>
                  <a:pt x="125" y="204"/>
                </a:lnTo>
                <a:lnTo>
                  <a:pt x="443" y="124"/>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59" name="Freeform 95"/>
          <p:cNvSpPr>
            <a:spLocks noChangeAspect="1"/>
          </p:cNvSpPr>
          <p:nvPr/>
        </p:nvSpPr>
        <p:spPr bwMode="auto">
          <a:xfrm flipH="1">
            <a:off x="8270875" y="2889250"/>
            <a:ext cx="246063" cy="127000"/>
          </a:xfrm>
          <a:custGeom>
            <a:avLst/>
            <a:gdLst/>
            <a:ahLst/>
            <a:cxnLst>
              <a:cxn ang="0">
                <a:pos x="33" y="208"/>
              </a:cxn>
              <a:cxn ang="0">
                <a:pos x="0" y="175"/>
              </a:cxn>
              <a:cxn ang="0">
                <a:pos x="346" y="0"/>
              </a:cxn>
              <a:cxn ang="0">
                <a:pos x="379" y="33"/>
              </a:cxn>
              <a:cxn ang="0">
                <a:pos x="33" y="208"/>
              </a:cxn>
            </a:cxnLst>
            <a:rect l="0" t="0" r="r" b="b"/>
            <a:pathLst>
              <a:path w="380" h="209">
                <a:moveTo>
                  <a:pt x="33" y="208"/>
                </a:moveTo>
                <a:lnTo>
                  <a:pt x="0" y="175"/>
                </a:lnTo>
                <a:lnTo>
                  <a:pt x="346" y="0"/>
                </a:lnTo>
                <a:lnTo>
                  <a:pt x="379" y="33"/>
                </a:lnTo>
                <a:lnTo>
                  <a:pt x="33" y="208"/>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60" name="Freeform 96"/>
          <p:cNvSpPr>
            <a:spLocks noChangeAspect="1"/>
          </p:cNvSpPr>
          <p:nvPr/>
        </p:nvSpPr>
        <p:spPr bwMode="auto">
          <a:xfrm flipH="1">
            <a:off x="8262938" y="2892425"/>
            <a:ext cx="249237" cy="131763"/>
          </a:xfrm>
          <a:custGeom>
            <a:avLst/>
            <a:gdLst/>
            <a:ahLst/>
            <a:cxnLst>
              <a:cxn ang="0">
                <a:pos x="34" y="215"/>
              </a:cxn>
              <a:cxn ang="0">
                <a:pos x="0" y="181"/>
              </a:cxn>
              <a:cxn ang="0">
                <a:pos x="352" y="0"/>
              </a:cxn>
              <a:cxn ang="0">
                <a:pos x="386" y="34"/>
              </a:cxn>
              <a:cxn ang="0">
                <a:pos x="34" y="215"/>
              </a:cxn>
              <a:cxn ang="0">
                <a:pos x="0" y="181"/>
              </a:cxn>
              <a:cxn ang="0">
                <a:pos x="352" y="0"/>
              </a:cxn>
              <a:cxn ang="0">
                <a:pos x="386" y="34"/>
              </a:cxn>
              <a:cxn ang="0">
                <a:pos x="34" y="215"/>
              </a:cxn>
            </a:cxnLst>
            <a:rect l="0" t="0" r="r" b="b"/>
            <a:pathLst>
              <a:path w="387" h="216">
                <a:moveTo>
                  <a:pt x="34" y="215"/>
                </a:moveTo>
                <a:lnTo>
                  <a:pt x="0" y="181"/>
                </a:lnTo>
                <a:lnTo>
                  <a:pt x="352" y="0"/>
                </a:lnTo>
                <a:lnTo>
                  <a:pt x="386" y="34"/>
                </a:lnTo>
                <a:lnTo>
                  <a:pt x="34" y="215"/>
                </a:lnTo>
                <a:lnTo>
                  <a:pt x="0" y="181"/>
                </a:lnTo>
                <a:lnTo>
                  <a:pt x="352" y="0"/>
                </a:lnTo>
                <a:lnTo>
                  <a:pt x="386" y="34"/>
                </a:lnTo>
                <a:lnTo>
                  <a:pt x="34" y="215"/>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61" name="Freeform 97"/>
          <p:cNvSpPr>
            <a:spLocks noChangeAspect="1"/>
          </p:cNvSpPr>
          <p:nvPr/>
        </p:nvSpPr>
        <p:spPr bwMode="auto">
          <a:xfrm flipH="1">
            <a:off x="8294688" y="2833688"/>
            <a:ext cx="222250" cy="161925"/>
          </a:xfrm>
          <a:custGeom>
            <a:avLst/>
            <a:gdLst/>
            <a:ahLst/>
            <a:cxnLst>
              <a:cxn ang="0">
                <a:pos x="0" y="166"/>
              </a:cxn>
              <a:cxn ang="0">
                <a:pos x="0" y="265"/>
              </a:cxn>
              <a:cxn ang="0">
                <a:pos x="345" y="89"/>
              </a:cxn>
              <a:cxn ang="0">
                <a:pos x="345" y="0"/>
              </a:cxn>
              <a:cxn ang="0">
                <a:pos x="0" y="166"/>
              </a:cxn>
            </a:cxnLst>
            <a:rect l="0" t="0" r="r" b="b"/>
            <a:pathLst>
              <a:path w="346" h="266">
                <a:moveTo>
                  <a:pt x="0" y="166"/>
                </a:moveTo>
                <a:lnTo>
                  <a:pt x="0" y="265"/>
                </a:lnTo>
                <a:lnTo>
                  <a:pt x="345" y="89"/>
                </a:lnTo>
                <a:lnTo>
                  <a:pt x="345" y="0"/>
                </a:lnTo>
                <a:lnTo>
                  <a:pt x="0" y="16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62" name="Freeform 98"/>
          <p:cNvSpPr>
            <a:spLocks noChangeAspect="1"/>
          </p:cNvSpPr>
          <p:nvPr/>
        </p:nvSpPr>
        <p:spPr bwMode="auto">
          <a:xfrm flipH="1">
            <a:off x="8285163" y="2838450"/>
            <a:ext cx="227012" cy="165100"/>
          </a:xfrm>
          <a:custGeom>
            <a:avLst/>
            <a:gdLst/>
            <a:ahLst/>
            <a:cxnLst>
              <a:cxn ang="0">
                <a:pos x="0" y="169"/>
              </a:cxn>
              <a:cxn ang="0">
                <a:pos x="0" y="271"/>
              </a:cxn>
              <a:cxn ang="0">
                <a:pos x="352" y="91"/>
              </a:cxn>
              <a:cxn ang="0">
                <a:pos x="352" y="0"/>
              </a:cxn>
              <a:cxn ang="0">
                <a:pos x="0" y="169"/>
              </a:cxn>
              <a:cxn ang="0">
                <a:pos x="0" y="271"/>
              </a:cxn>
              <a:cxn ang="0">
                <a:pos x="352" y="91"/>
              </a:cxn>
              <a:cxn ang="0">
                <a:pos x="352" y="0"/>
              </a:cxn>
              <a:cxn ang="0">
                <a:pos x="0" y="169"/>
              </a:cxn>
            </a:cxnLst>
            <a:rect l="0" t="0" r="r" b="b"/>
            <a:pathLst>
              <a:path w="353" h="272">
                <a:moveTo>
                  <a:pt x="0" y="169"/>
                </a:moveTo>
                <a:lnTo>
                  <a:pt x="0" y="271"/>
                </a:lnTo>
                <a:lnTo>
                  <a:pt x="352" y="91"/>
                </a:lnTo>
                <a:lnTo>
                  <a:pt x="352" y="0"/>
                </a:lnTo>
                <a:lnTo>
                  <a:pt x="0" y="169"/>
                </a:lnTo>
                <a:lnTo>
                  <a:pt x="0" y="271"/>
                </a:lnTo>
                <a:lnTo>
                  <a:pt x="352" y="91"/>
                </a:lnTo>
                <a:lnTo>
                  <a:pt x="352" y="0"/>
                </a:lnTo>
                <a:lnTo>
                  <a:pt x="0" y="169"/>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63" name="Freeform 99"/>
          <p:cNvSpPr>
            <a:spLocks noChangeAspect="1"/>
          </p:cNvSpPr>
          <p:nvPr/>
        </p:nvSpPr>
        <p:spPr bwMode="auto">
          <a:xfrm flipH="1">
            <a:off x="8248650" y="2868613"/>
            <a:ext cx="225425" cy="168275"/>
          </a:xfrm>
          <a:custGeom>
            <a:avLst/>
            <a:gdLst/>
            <a:ahLst/>
            <a:cxnLst>
              <a:cxn ang="0">
                <a:pos x="0" y="177"/>
              </a:cxn>
              <a:cxn ang="0">
                <a:pos x="0" y="276"/>
              </a:cxn>
              <a:cxn ang="0">
                <a:pos x="346" y="99"/>
              </a:cxn>
              <a:cxn ang="0">
                <a:pos x="346" y="0"/>
              </a:cxn>
              <a:cxn ang="0">
                <a:pos x="0" y="177"/>
              </a:cxn>
            </a:cxnLst>
            <a:rect l="0" t="0" r="r" b="b"/>
            <a:pathLst>
              <a:path w="347" h="277">
                <a:moveTo>
                  <a:pt x="0" y="177"/>
                </a:moveTo>
                <a:lnTo>
                  <a:pt x="0" y="276"/>
                </a:lnTo>
                <a:lnTo>
                  <a:pt x="346" y="99"/>
                </a:lnTo>
                <a:lnTo>
                  <a:pt x="346" y="0"/>
                </a:lnTo>
                <a:lnTo>
                  <a:pt x="0" y="177"/>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64" name="Freeform 100"/>
          <p:cNvSpPr>
            <a:spLocks noChangeAspect="1"/>
          </p:cNvSpPr>
          <p:nvPr/>
        </p:nvSpPr>
        <p:spPr bwMode="auto">
          <a:xfrm flipH="1">
            <a:off x="8240713" y="2871788"/>
            <a:ext cx="227012" cy="173037"/>
          </a:xfrm>
          <a:custGeom>
            <a:avLst/>
            <a:gdLst/>
            <a:ahLst/>
            <a:cxnLst>
              <a:cxn ang="0">
                <a:pos x="0" y="181"/>
              </a:cxn>
              <a:cxn ang="0">
                <a:pos x="0" y="283"/>
              </a:cxn>
              <a:cxn ang="0">
                <a:pos x="352" y="102"/>
              </a:cxn>
              <a:cxn ang="0">
                <a:pos x="352" y="0"/>
              </a:cxn>
              <a:cxn ang="0">
                <a:pos x="0" y="181"/>
              </a:cxn>
              <a:cxn ang="0">
                <a:pos x="0" y="283"/>
              </a:cxn>
              <a:cxn ang="0">
                <a:pos x="352" y="102"/>
              </a:cxn>
              <a:cxn ang="0">
                <a:pos x="352" y="0"/>
              </a:cxn>
              <a:cxn ang="0">
                <a:pos x="0" y="181"/>
              </a:cxn>
            </a:cxnLst>
            <a:rect l="0" t="0" r="r" b="b"/>
            <a:pathLst>
              <a:path w="353" h="284">
                <a:moveTo>
                  <a:pt x="0" y="181"/>
                </a:moveTo>
                <a:lnTo>
                  <a:pt x="0" y="283"/>
                </a:lnTo>
                <a:lnTo>
                  <a:pt x="352" y="102"/>
                </a:lnTo>
                <a:lnTo>
                  <a:pt x="352" y="0"/>
                </a:lnTo>
                <a:lnTo>
                  <a:pt x="0" y="181"/>
                </a:lnTo>
                <a:lnTo>
                  <a:pt x="0" y="283"/>
                </a:lnTo>
                <a:lnTo>
                  <a:pt x="352" y="102"/>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65" name="Freeform 101"/>
          <p:cNvSpPr>
            <a:spLocks noChangeAspect="1"/>
          </p:cNvSpPr>
          <p:nvPr/>
        </p:nvSpPr>
        <p:spPr bwMode="auto">
          <a:xfrm flipH="1">
            <a:off x="8205788" y="2909888"/>
            <a:ext cx="223837" cy="161925"/>
          </a:xfrm>
          <a:custGeom>
            <a:avLst/>
            <a:gdLst/>
            <a:ahLst/>
            <a:cxnLst>
              <a:cxn ang="0">
                <a:pos x="0" y="176"/>
              </a:cxn>
              <a:cxn ang="0">
                <a:pos x="0" y="265"/>
              </a:cxn>
              <a:cxn ang="0">
                <a:pos x="346" y="99"/>
              </a:cxn>
              <a:cxn ang="0">
                <a:pos x="346" y="0"/>
              </a:cxn>
              <a:cxn ang="0">
                <a:pos x="0" y="176"/>
              </a:cxn>
            </a:cxnLst>
            <a:rect l="0" t="0" r="r" b="b"/>
            <a:pathLst>
              <a:path w="347" h="266">
                <a:moveTo>
                  <a:pt x="0" y="176"/>
                </a:moveTo>
                <a:lnTo>
                  <a:pt x="0" y="265"/>
                </a:lnTo>
                <a:lnTo>
                  <a:pt x="346" y="99"/>
                </a:lnTo>
                <a:lnTo>
                  <a:pt x="346" y="0"/>
                </a:lnTo>
                <a:lnTo>
                  <a:pt x="0" y="17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66" name="Freeform 102"/>
          <p:cNvSpPr>
            <a:spLocks noChangeAspect="1"/>
          </p:cNvSpPr>
          <p:nvPr/>
        </p:nvSpPr>
        <p:spPr bwMode="auto">
          <a:xfrm flipH="1">
            <a:off x="8197850" y="2913063"/>
            <a:ext cx="227013" cy="166687"/>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67" name="Freeform 103"/>
          <p:cNvSpPr>
            <a:spLocks noChangeAspect="1"/>
          </p:cNvSpPr>
          <p:nvPr/>
        </p:nvSpPr>
        <p:spPr bwMode="auto">
          <a:xfrm flipH="1">
            <a:off x="8161338" y="2951163"/>
            <a:ext cx="231775" cy="161925"/>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68" name="Freeform 104"/>
          <p:cNvSpPr>
            <a:spLocks noChangeAspect="1"/>
          </p:cNvSpPr>
          <p:nvPr/>
        </p:nvSpPr>
        <p:spPr bwMode="auto">
          <a:xfrm flipH="1">
            <a:off x="8153400" y="2955925"/>
            <a:ext cx="234950" cy="165100"/>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69" name="Freeform 105"/>
          <p:cNvSpPr>
            <a:spLocks noChangeAspect="1"/>
          </p:cNvSpPr>
          <p:nvPr/>
        </p:nvSpPr>
        <p:spPr bwMode="auto">
          <a:xfrm flipH="1">
            <a:off x="8124825" y="2986088"/>
            <a:ext cx="223838" cy="168275"/>
          </a:xfrm>
          <a:custGeom>
            <a:avLst/>
            <a:gdLst/>
            <a:ahLst/>
            <a:cxnLst>
              <a:cxn ang="0">
                <a:pos x="0" y="177"/>
              </a:cxn>
              <a:cxn ang="0">
                <a:pos x="0" y="277"/>
              </a:cxn>
              <a:cxn ang="0">
                <a:pos x="346" y="100"/>
              </a:cxn>
              <a:cxn ang="0">
                <a:pos x="346" y="0"/>
              </a:cxn>
              <a:cxn ang="0">
                <a:pos x="0" y="177"/>
              </a:cxn>
            </a:cxnLst>
            <a:rect l="0" t="0" r="r" b="b"/>
            <a:pathLst>
              <a:path w="347" h="278">
                <a:moveTo>
                  <a:pt x="0" y="177"/>
                </a:moveTo>
                <a:lnTo>
                  <a:pt x="0" y="277"/>
                </a:lnTo>
                <a:lnTo>
                  <a:pt x="346" y="100"/>
                </a:lnTo>
                <a:lnTo>
                  <a:pt x="346" y="0"/>
                </a:lnTo>
                <a:lnTo>
                  <a:pt x="0" y="177"/>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70" name="Freeform 106"/>
          <p:cNvSpPr>
            <a:spLocks noChangeAspect="1"/>
          </p:cNvSpPr>
          <p:nvPr/>
        </p:nvSpPr>
        <p:spPr bwMode="auto">
          <a:xfrm flipH="1">
            <a:off x="8116888" y="2989263"/>
            <a:ext cx="227012" cy="173037"/>
          </a:xfrm>
          <a:custGeom>
            <a:avLst/>
            <a:gdLst/>
            <a:ahLst/>
            <a:cxnLst>
              <a:cxn ang="0">
                <a:pos x="0" y="181"/>
              </a:cxn>
              <a:cxn ang="0">
                <a:pos x="0" y="283"/>
              </a:cxn>
              <a:cxn ang="0">
                <a:pos x="352" y="103"/>
              </a:cxn>
              <a:cxn ang="0">
                <a:pos x="352" y="0"/>
              </a:cxn>
              <a:cxn ang="0">
                <a:pos x="0" y="181"/>
              </a:cxn>
              <a:cxn ang="0">
                <a:pos x="0" y="283"/>
              </a:cxn>
              <a:cxn ang="0">
                <a:pos x="352" y="103"/>
              </a:cxn>
              <a:cxn ang="0">
                <a:pos x="352" y="0"/>
              </a:cxn>
              <a:cxn ang="0">
                <a:pos x="0" y="181"/>
              </a:cxn>
            </a:cxnLst>
            <a:rect l="0" t="0" r="r" b="b"/>
            <a:pathLst>
              <a:path w="353" h="284">
                <a:moveTo>
                  <a:pt x="0" y="181"/>
                </a:moveTo>
                <a:lnTo>
                  <a:pt x="0" y="283"/>
                </a:lnTo>
                <a:lnTo>
                  <a:pt x="352" y="103"/>
                </a:lnTo>
                <a:lnTo>
                  <a:pt x="352" y="0"/>
                </a:lnTo>
                <a:lnTo>
                  <a:pt x="0" y="181"/>
                </a:lnTo>
                <a:lnTo>
                  <a:pt x="0" y="283"/>
                </a:lnTo>
                <a:lnTo>
                  <a:pt x="352" y="103"/>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71" name="Freeform 107"/>
          <p:cNvSpPr>
            <a:spLocks noChangeAspect="1"/>
          </p:cNvSpPr>
          <p:nvPr/>
        </p:nvSpPr>
        <p:spPr bwMode="auto">
          <a:xfrm flipH="1">
            <a:off x="8037513" y="3068638"/>
            <a:ext cx="231775" cy="161925"/>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72" name="Freeform 108"/>
          <p:cNvSpPr>
            <a:spLocks noChangeAspect="1"/>
          </p:cNvSpPr>
          <p:nvPr/>
        </p:nvSpPr>
        <p:spPr bwMode="auto">
          <a:xfrm flipH="1">
            <a:off x="8027988" y="3071813"/>
            <a:ext cx="234950" cy="166687"/>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73" name="Freeform 109"/>
          <p:cNvSpPr>
            <a:spLocks noChangeAspect="1"/>
          </p:cNvSpPr>
          <p:nvPr/>
        </p:nvSpPr>
        <p:spPr bwMode="auto">
          <a:xfrm flipH="1">
            <a:off x="8080375" y="3027363"/>
            <a:ext cx="223838" cy="161925"/>
          </a:xfrm>
          <a:custGeom>
            <a:avLst/>
            <a:gdLst/>
            <a:ahLst/>
            <a:cxnLst>
              <a:cxn ang="0">
                <a:pos x="0" y="176"/>
              </a:cxn>
              <a:cxn ang="0">
                <a:pos x="0" y="265"/>
              </a:cxn>
              <a:cxn ang="0">
                <a:pos x="345" y="99"/>
              </a:cxn>
              <a:cxn ang="0">
                <a:pos x="345" y="0"/>
              </a:cxn>
              <a:cxn ang="0">
                <a:pos x="0" y="176"/>
              </a:cxn>
            </a:cxnLst>
            <a:rect l="0" t="0" r="r" b="b"/>
            <a:pathLst>
              <a:path w="346" h="266">
                <a:moveTo>
                  <a:pt x="0" y="176"/>
                </a:moveTo>
                <a:lnTo>
                  <a:pt x="0" y="265"/>
                </a:lnTo>
                <a:lnTo>
                  <a:pt x="345" y="99"/>
                </a:lnTo>
                <a:lnTo>
                  <a:pt x="345" y="0"/>
                </a:lnTo>
                <a:lnTo>
                  <a:pt x="0" y="17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74" name="Freeform 110"/>
          <p:cNvSpPr>
            <a:spLocks noChangeAspect="1"/>
          </p:cNvSpPr>
          <p:nvPr/>
        </p:nvSpPr>
        <p:spPr bwMode="auto">
          <a:xfrm flipH="1">
            <a:off x="8072438" y="3030538"/>
            <a:ext cx="228600" cy="166687"/>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75" name="Freeform 111"/>
          <p:cNvSpPr>
            <a:spLocks noChangeAspect="1"/>
          </p:cNvSpPr>
          <p:nvPr/>
        </p:nvSpPr>
        <p:spPr bwMode="auto">
          <a:xfrm flipH="1">
            <a:off x="8197850" y="2854325"/>
            <a:ext cx="406400" cy="584200"/>
          </a:xfrm>
          <a:custGeom>
            <a:avLst/>
            <a:gdLst/>
            <a:ahLst/>
            <a:cxnLst>
              <a:cxn ang="0">
                <a:pos x="0" y="316"/>
              </a:cxn>
              <a:cxn ang="0">
                <a:pos x="0" y="0"/>
              </a:cxn>
              <a:cxn ang="0">
                <a:pos x="79" y="78"/>
              </a:cxn>
              <a:cxn ang="0">
                <a:pos x="79" y="169"/>
              </a:cxn>
              <a:cxn ang="0">
                <a:pos x="102" y="203"/>
              </a:cxn>
              <a:cxn ang="0">
                <a:pos x="102" y="112"/>
              </a:cxn>
              <a:cxn ang="0">
                <a:pos x="135" y="135"/>
              </a:cxn>
              <a:cxn ang="0">
                <a:pos x="135" y="236"/>
              </a:cxn>
              <a:cxn ang="0">
                <a:pos x="169" y="270"/>
              </a:cxn>
              <a:cxn ang="0">
                <a:pos x="169" y="169"/>
              </a:cxn>
              <a:cxn ang="0">
                <a:pos x="203" y="203"/>
              </a:cxn>
              <a:cxn ang="0">
                <a:pos x="203" y="304"/>
              </a:cxn>
              <a:cxn ang="0">
                <a:pos x="236" y="327"/>
              </a:cxn>
              <a:cxn ang="0">
                <a:pos x="236" y="236"/>
              </a:cxn>
              <a:cxn ang="0">
                <a:pos x="270" y="270"/>
              </a:cxn>
              <a:cxn ang="0">
                <a:pos x="270" y="360"/>
              </a:cxn>
              <a:cxn ang="0">
                <a:pos x="293" y="394"/>
              </a:cxn>
              <a:cxn ang="0">
                <a:pos x="293" y="304"/>
              </a:cxn>
              <a:cxn ang="0">
                <a:pos x="326" y="327"/>
              </a:cxn>
              <a:cxn ang="0">
                <a:pos x="326" y="428"/>
              </a:cxn>
              <a:cxn ang="0">
                <a:pos x="360" y="462"/>
              </a:cxn>
              <a:cxn ang="0">
                <a:pos x="360" y="360"/>
              </a:cxn>
              <a:cxn ang="0">
                <a:pos x="394" y="394"/>
              </a:cxn>
              <a:cxn ang="0">
                <a:pos x="394" y="495"/>
              </a:cxn>
              <a:cxn ang="0">
                <a:pos x="427" y="518"/>
              </a:cxn>
              <a:cxn ang="0">
                <a:pos x="427" y="428"/>
              </a:cxn>
              <a:cxn ang="0">
                <a:pos x="462" y="462"/>
              </a:cxn>
              <a:cxn ang="0">
                <a:pos x="462" y="552"/>
              </a:cxn>
              <a:cxn ang="0">
                <a:pos x="484" y="586"/>
              </a:cxn>
              <a:cxn ang="0">
                <a:pos x="484" y="495"/>
              </a:cxn>
              <a:cxn ang="0">
                <a:pos x="517" y="518"/>
              </a:cxn>
              <a:cxn ang="0">
                <a:pos x="517" y="620"/>
              </a:cxn>
              <a:cxn ang="0">
                <a:pos x="552" y="653"/>
              </a:cxn>
              <a:cxn ang="0">
                <a:pos x="552" y="552"/>
              </a:cxn>
              <a:cxn ang="0">
                <a:pos x="630" y="631"/>
              </a:cxn>
              <a:cxn ang="0">
                <a:pos x="630" y="958"/>
              </a:cxn>
              <a:cxn ang="0">
                <a:pos x="0" y="316"/>
              </a:cxn>
            </a:cxnLst>
            <a:rect l="0" t="0" r="r" b="b"/>
            <a:pathLst>
              <a:path w="631" h="959">
                <a:moveTo>
                  <a:pt x="0" y="316"/>
                </a:moveTo>
                <a:lnTo>
                  <a:pt x="0" y="0"/>
                </a:lnTo>
                <a:lnTo>
                  <a:pt x="79" y="78"/>
                </a:lnTo>
                <a:lnTo>
                  <a:pt x="79" y="169"/>
                </a:lnTo>
                <a:lnTo>
                  <a:pt x="102" y="203"/>
                </a:lnTo>
                <a:lnTo>
                  <a:pt x="102" y="112"/>
                </a:lnTo>
                <a:lnTo>
                  <a:pt x="135" y="135"/>
                </a:lnTo>
                <a:lnTo>
                  <a:pt x="135" y="236"/>
                </a:lnTo>
                <a:lnTo>
                  <a:pt x="169" y="270"/>
                </a:lnTo>
                <a:lnTo>
                  <a:pt x="169" y="169"/>
                </a:lnTo>
                <a:lnTo>
                  <a:pt x="203" y="203"/>
                </a:lnTo>
                <a:lnTo>
                  <a:pt x="203" y="304"/>
                </a:lnTo>
                <a:lnTo>
                  <a:pt x="236" y="327"/>
                </a:lnTo>
                <a:lnTo>
                  <a:pt x="236" y="236"/>
                </a:lnTo>
                <a:lnTo>
                  <a:pt x="270" y="270"/>
                </a:lnTo>
                <a:lnTo>
                  <a:pt x="270" y="360"/>
                </a:lnTo>
                <a:lnTo>
                  <a:pt x="293" y="394"/>
                </a:lnTo>
                <a:lnTo>
                  <a:pt x="293" y="304"/>
                </a:lnTo>
                <a:lnTo>
                  <a:pt x="326" y="327"/>
                </a:lnTo>
                <a:lnTo>
                  <a:pt x="326" y="428"/>
                </a:lnTo>
                <a:lnTo>
                  <a:pt x="360" y="462"/>
                </a:lnTo>
                <a:lnTo>
                  <a:pt x="360" y="360"/>
                </a:lnTo>
                <a:lnTo>
                  <a:pt x="394" y="394"/>
                </a:lnTo>
                <a:lnTo>
                  <a:pt x="394" y="495"/>
                </a:lnTo>
                <a:lnTo>
                  <a:pt x="427" y="518"/>
                </a:lnTo>
                <a:lnTo>
                  <a:pt x="427" y="428"/>
                </a:lnTo>
                <a:lnTo>
                  <a:pt x="462" y="462"/>
                </a:lnTo>
                <a:lnTo>
                  <a:pt x="462" y="552"/>
                </a:lnTo>
                <a:lnTo>
                  <a:pt x="484" y="586"/>
                </a:lnTo>
                <a:lnTo>
                  <a:pt x="484" y="495"/>
                </a:lnTo>
                <a:lnTo>
                  <a:pt x="517" y="518"/>
                </a:lnTo>
                <a:lnTo>
                  <a:pt x="517" y="620"/>
                </a:lnTo>
                <a:lnTo>
                  <a:pt x="552" y="653"/>
                </a:lnTo>
                <a:lnTo>
                  <a:pt x="552" y="552"/>
                </a:lnTo>
                <a:lnTo>
                  <a:pt x="630" y="631"/>
                </a:lnTo>
                <a:lnTo>
                  <a:pt x="630" y="958"/>
                </a:lnTo>
                <a:lnTo>
                  <a:pt x="0" y="31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76" name="Freeform 112"/>
          <p:cNvSpPr>
            <a:spLocks noChangeAspect="1"/>
          </p:cNvSpPr>
          <p:nvPr/>
        </p:nvSpPr>
        <p:spPr bwMode="auto">
          <a:xfrm flipH="1">
            <a:off x="8189913" y="2859088"/>
            <a:ext cx="411162" cy="587375"/>
          </a:xfrm>
          <a:custGeom>
            <a:avLst/>
            <a:gdLst/>
            <a:ahLst/>
            <a:cxnLst>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Lst>
            <a:rect l="0" t="0" r="r" b="b"/>
            <a:pathLst>
              <a:path w="637" h="965">
                <a:moveTo>
                  <a:pt x="0" y="318"/>
                </a:move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77" name="Freeform 113"/>
          <p:cNvSpPr>
            <a:spLocks noChangeAspect="1"/>
          </p:cNvSpPr>
          <p:nvPr/>
        </p:nvSpPr>
        <p:spPr bwMode="auto">
          <a:xfrm flipH="1">
            <a:off x="8294688" y="2813050"/>
            <a:ext cx="244475" cy="120650"/>
          </a:xfrm>
          <a:custGeom>
            <a:avLst/>
            <a:gdLst/>
            <a:ahLst/>
            <a:cxnLst>
              <a:cxn ang="0">
                <a:pos x="0" y="175"/>
              </a:cxn>
              <a:cxn ang="0">
                <a:pos x="33" y="197"/>
              </a:cxn>
              <a:cxn ang="0">
                <a:pos x="379" y="33"/>
              </a:cxn>
              <a:cxn ang="0">
                <a:pos x="357" y="0"/>
              </a:cxn>
              <a:cxn ang="0">
                <a:pos x="0" y="175"/>
              </a:cxn>
            </a:cxnLst>
            <a:rect l="0" t="0" r="r" b="b"/>
            <a:pathLst>
              <a:path w="380" h="198">
                <a:moveTo>
                  <a:pt x="0" y="175"/>
                </a:moveTo>
                <a:lnTo>
                  <a:pt x="33" y="197"/>
                </a:lnTo>
                <a:lnTo>
                  <a:pt x="379" y="33"/>
                </a:lnTo>
                <a:lnTo>
                  <a:pt x="357"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78" name="Freeform 114"/>
          <p:cNvSpPr>
            <a:spLocks noChangeAspect="1"/>
          </p:cNvSpPr>
          <p:nvPr/>
        </p:nvSpPr>
        <p:spPr bwMode="auto">
          <a:xfrm flipH="1">
            <a:off x="8285163" y="2816225"/>
            <a:ext cx="249237" cy="125413"/>
          </a:xfrm>
          <a:custGeom>
            <a:avLst/>
            <a:gdLst/>
            <a:ahLst/>
            <a:cxnLst>
              <a:cxn ang="0">
                <a:pos x="0" y="181"/>
              </a:cxn>
              <a:cxn ang="0">
                <a:pos x="34" y="204"/>
              </a:cxn>
              <a:cxn ang="0">
                <a:pos x="386" y="34"/>
              </a:cxn>
              <a:cxn ang="0">
                <a:pos x="364" y="0"/>
              </a:cxn>
              <a:cxn ang="0">
                <a:pos x="0" y="181"/>
              </a:cxn>
              <a:cxn ang="0">
                <a:pos x="34" y="204"/>
              </a:cxn>
              <a:cxn ang="0">
                <a:pos x="386" y="34"/>
              </a:cxn>
              <a:cxn ang="0">
                <a:pos x="364" y="0"/>
              </a:cxn>
              <a:cxn ang="0">
                <a:pos x="0" y="181"/>
              </a:cxn>
            </a:cxnLst>
            <a:rect l="0" t="0" r="r" b="b"/>
            <a:pathLst>
              <a:path w="387" h="205">
                <a:moveTo>
                  <a:pt x="0" y="181"/>
                </a:moveTo>
                <a:lnTo>
                  <a:pt x="34" y="204"/>
                </a:lnTo>
                <a:lnTo>
                  <a:pt x="386" y="34"/>
                </a:lnTo>
                <a:lnTo>
                  <a:pt x="364" y="0"/>
                </a:lnTo>
                <a:lnTo>
                  <a:pt x="0" y="181"/>
                </a:lnTo>
                <a:lnTo>
                  <a:pt x="34" y="204"/>
                </a:lnTo>
                <a:lnTo>
                  <a:pt x="386" y="34"/>
                </a:lnTo>
                <a:lnTo>
                  <a:pt x="364"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79" name="Freeform 115"/>
          <p:cNvSpPr>
            <a:spLocks noChangeAspect="1"/>
          </p:cNvSpPr>
          <p:nvPr/>
        </p:nvSpPr>
        <p:spPr bwMode="auto">
          <a:xfrm flipH="1">
            <a:off x="8248650" y="2854325"/>
            <a:ext cx="246063" cy="120650"/>
          </a:xfrm>
          <a:custGeom>
            <a:avLst/>
            <a:gdLst/>
            <a:ahLst/>
            <a:cxnLst>
              <a:cxn ang="0">
                <a:pos x="0" y="164"/>
              </a:cxn>
              <a:cxn ang="0">
                <a:pos x="33" y="197"/>
              </a:cxn>
              <a:cxn ang="0">
                <a:pos x="380" y="22"/>
              </a:cxn>
              <a:cxn ang="0">
                <a:pos x="346" y="0"/>
              </a:cxn>
              <a:cxn ang="0">
                <a:pos x="0" y="164"/>
              </a:cxn>
            </a:cxnLst>
            <a:rect l="0" t="0" r="r" b="b"/>
            <a:pathLst>
              <a:path w="381" h="198">
                <a:moveTo>
                  <a:pt x="0" y="164"/>
                </a:moveTo>
                <a:lnTo>
                  <a:pt x="33" y="197"/>
                </a:lnTo>
                <a:lnTo>
                  <a:pt x="380" y="22"/>
                </a:lnTo>
                <a:lnTo>
                  <a:pt x="346" y="0"/>
                </a:lnTo>
                <a:lnTo>
                  <a:pt x="0" y="164"/>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80" name="Freeform 116"/>
          <p:cNvSpPr>
            <a:spLocks noChangeAspect="1"/>
          </p:cNvSpPr>
          <p:nvPr/>
        </p:nvSpPr>
        <p:spPr bwMode="auto">
          <a:xfrm flipH="1">
            <a:off x="8240713" y="2859088"/>
            <a:ext cx="249237" cy="123825"/>
          </a:xfrm>
          <a:custGeom>
            <a:avLst/>
            <a:gdLst/>
            <a:ahLst/>
            <a:cxnLst>
              <a:cxn ang="0">
                <a:pos x="0" y="169"/>
              </a:cxn>
              <a:cxn ang="0">
                <a:pos x="34" y="203"/>
              </a:cxn>
              <a:cxn ang="0">
                <a:pos x="386" y="23"/>
              </a:cxn>
              <a:cxn ang="0">
                <a:pos x="351" y="0"/>
              </a:cxn>
              <a:cxn ang="0">
                <a:pos x="0" y="169"/>
              </a:cxn>
              <a:cxn ang="0">
                <a:pos x="34" y="203"/>
              </a:cxn>
              <a:cxn ang="0">
                <a:pos x="386" y="23"/>
              </a:cxn>
              <a:cxn ang="0">
                <a:pos x="351" y="0"/>
              </a:cxn>
              <a:cxn ang="0">
                <a:pos x="0" y="169"/>
              </a:cxn>
            </a:cxnLst>
            <a:rect l="0" t="0" r="r" b="b"/>
            <a:pathLst>
              <a:path w="387" h="204">
                <a:moveTo>
                  <a:pt x="0" y="169"/>
                </a:moveTo>
                <a:lnTo>
                  <a:pt x="34" y="203"/>
                </a:lnTo>
                <a:lnTo>
                  <a:pt x="386" y="23"/>
                </a:lnTo>
                <a:lnTo>
                  <a:pt x="351" y="0"/>
                </a:lnTo>
                <a:lnTo>
                  <a:pt x="0" y="169"/>
                </a:lnTo>
                <a:lnTo>
                  <a:pt x="34" y="203"/>
                </a:lnTo>
                <a:lnTo>
                  <a:pt x="386" y="23"/>
                </a:lnTo>
                <a:lnTo>
                  <a:pt x="351" y="0"/>
                </a:lnTo>
                <a:lnTo>
                  <a:pt x="0" y="169"/>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81" name="Freeform 117"/>
          <p:cNvSpPr>
            <a:spLocks noChangeAspect="1"/>
          </p:cNvSpPr>
          <p:nvPr/>
        </p:nvSpPr>
        <p:spPr bwMode="auto">
          <a:xfrm flipH="1">
            <a:off x="8205788" y="2889250"/>
            <a:ext cx="246062" cy="127000"/>
          </a:xfrm>
          <a:custGeom>
            <a:avLst/>
            <a:gdLst/>
            <a:ahLst/>
            <a:cxnLst>
              <a:cxn ang="0">
                <a:pos x="0" y="175"/>
              </a:cxn>
              <a:cxn ang="0">
                <a:pos x="33" y="208"/>
              </a:cxn>
              <a:cxn ang="0">
                <a:pos x="380" y="33"/>
              </a:cxn>
              <a:cxn ang="0">
                <a:pos x="347" y="0"/>
              </a:cxn>
              <a:cxn ang="0">
                <a:pos x="0" y="175"/>
              </a:cxn>
            </a:cxnLst>
            <a:rect l="0" t="0" r="r" b="b"/>
            <a:pathLst>
              <a:path w="381" h="209">
                <a:moveTo>
                  <a:pt x="0" y="175"/>
                </a:moveTo>
                <a:lnTo>
                  <a:pt x="33" y="208"/>
                </a:lnTo>
                <a:lnTo>
                  <a:pt x="380" y="33"/>
                </a:lnTo>
                <a:lnTo>
                  <a:pt x="347"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82" name="Freeform 118"/>
          <p:cNvSpPr>
            <a:spLocks noChangeAspect="1"/>
          </p:cNvSpPr>
          <p:nvPr/>
        </p:nvSpPr>
        <p:spPr bwMode="auto">
          <a:xfrm flipH="1">
            <a:off x="8197850" y="2892425"/>
            <a:ext cx="249238" cy="131763"/>
          </a:xfrm>
          <a:custGeom>
            <a:avLst/>
            <a:gdLst/>
            <a:ahLst/>
            <a:cxnLst>
              <a:cxn ang="0">
                <a:pos x="0" y="181"/>
              </a:cxn>
              <a:cxn ang="0">
                <a:pos x="34" y="215"/>
              </a:cxn>
              <a:cxn ang="0">
                <a:pos x="386" y="34"/>
              </a:cxn>
              <a:cxn ang="0">
                <a:pos x="352" y="0"/>
              </a:cxn>
              <a:cxn ang="0">
                <a:pos x="0" y="181"/>
              </a:cxn>
              <a:cxn ang="0">
                <a:pos x="34" y="215"/>
              </a:cxn>
              <a:cxn ang="0">
                <a:pos x="386" y="34"/>
              </a:cxn>
              <a:cxn ang="0">
                <a:pos x="352" y="0"/>
              </a:cxn>
              <a:cxn ang="0">
                <a:pos x="0" y="181"/>
              </a:cxn>
            </a:cxnLst>
            <a:rect l="0" t="0" r="r" b="b"/>
            <a:pathLst>
              <a:path w="387" h="216">
                <a:moveTo>
                  <a:pt x="0" y="181"/>
                </a:moveTo>
                <a:lnTo>
                  <a:pt x="34" y="215"/>
                </a:lnTo>
                <a:lnTo>
                  <a:pt x="386" y="34"/>
                </a:lnTo>
                <a:lnTo>
                  <a:pt x="352" y="0"/>
                </a:lnTo>
                <a:lnTo>
                  <a:pt x="0" y="181"/>
                </a:lnTo>
                <a:lnTo>
                  <a:pt x="34" y="215"/>
                </a:lnTo>
                <a:lnTo>
                  <a:pt x="386" y="34"/>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83" name="Freeform 119"/>
          <p:cNvSpPr>
            <a:spLocks noChangeAspect="1"/>
          </p:cNvSpPr>
          <p:nvPr/>
        </p:nvSpPr>
        <p:spPr bwMode="auto">
          <a:xfrm flipH="1">
            <a:off x="8161338" y="2930525"/>
            <a:ext cx="254000" cy="12065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84" name="Freeform 120"/>
          <p:cNvSpPr>
            <a:spLocks noChangeAspect="1"/>
          </p:cNvSpPr>
          <p:nvPr/>
        </p:nvSpPr>
        <p:spPr bwMode="auto">
          <a:xfrm flipH="1">
            <a:off x="8153400" y="2933700"/>
            <a:ext cx="257175" cy="125413"/>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85" name="Freeform 121"/>
          <p:cNvSpPr>
            <a:spLocks noChangeAspect="1"/>
          </p:cNvSpPr>
          <p:nvPr/>
        </p:nvSpPr>
        <p:spPr bwMode="auto">
          <a:xfrm flipH="1">
            <a:off x="8124825" y="2971800"/>
            <a:ext cx="246063" cy="120650"/>
          </a:xfrm>
          <a:custGeom>
            <a:avLst/>
            <a:gdLst/>
            <a:ahLst/>
            <a:cxnLst>
              <a:cxn ang="0">
                <a:pos x="0" y="164"/>
              </a:cxn>
              <a:cxn ang="0">
                <a:pos x="33" y="197"/>
              </a:cxn>
              <a:cxn ang="0">
                <a:pos x="380" y="21"/>
              </a:cxn>
              <a:cxn ang="0">
                <a:pos x="347" y="0"/>
              </a:cxn>
              <a:cxn ang="0">
                <a:pos x="0" y="164"/>
              </a:cxn>
            </a:cxnLst>
            <a:rect l="0" t="0" r="r" b="b"/>
            <a:pathLst>
              <a:path w="381" h="198">
                <a:moveTo>
                  <a:pt x="0" y="164"/>
                </a:moveTo>
                <a:lnTo>
                  <a:pt x="33" y="197"/>
                </a:lnTo>
                <a:lnTo>
                  <a:pt x="380" y="21"/>
                </a:lnTo>
                <a:lnTo>
                  <a:pt x="347" y="0"/>
                </a:lnTo>
                <a:lnTo>
                  <a:pt x="0" y="164"/>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86" name="Freeform 122"/>
          <p:cNvSpPr>
            <a:spLocks noChangeAspect="1"/>
          </p:cNvSpPr>
          <p:nvPr/>
        </p:nvSpPr>
        <p:spPr bwMode="auto">
          <a:xfrm flipH="1">
            <a:off x="8116888" y="2974975"/>
            <a:ext cx="249237" cy="125413"/>
          </a:xfrm>
          <a:custGeom>
            <a:avLst/>
            <a:gdLst/>
            <a:ahLst/>
            <a:cxnLst>
              <a:cxn ang="0">
                <a:pos x="0" y="170"/>
              </a:cxn>
              <a:cxn ang="0">
                <a:pos x="34" y="204"/>
              </a:cxn>
              <a:cxn ang="0">
                <a:pos x="386" y="22"/>
              </a:cxn>
              <a:cxn ang="0">
                <a:pos x="352" y="0"/>
              </a:cxn>
              <a:cxn ang="0">
                <a:pos x="0" y="170"/>
              </a:cxn>
              <a:cxn ang="0">
                <a:pos x="34" y="204"/>
              </a:cxn>
              <a:cxn ang="0">
                <a:pos x="386" y="22"/>
              </a:cxn>
              <a:cxn ang="0">
                <a:pos x="352" y="0"/>
              </a:cxn>
              <a:cxn ang="0">
                <a:pos x="0" y="170"/>
              </a:cxn>
            </a:cxnLst>
            <a:rect l="0" t="0" r="r" b="b"/>
            <a:pathLst>
              <a:path w="387" h="205">
                <a:moveTo>
                  <a:pt x="0" y="170"/>
                </a:moveTo>
                <a:lnTo>
                  <a:pt x="34" y="204"/>
                </a:lnTo>
                <a:lnTo>
                  <a:pt x="386" y="22"/>
                </a:lnTo>
                <a:lnTo>
                  <a:pt x="352" y="0"/>
                </a:lnTo>
                <a:lnTo>
                  <a:pt x="0" y="170"/>
                </a:lnTo>
                <a:lnTo>
                  <a:pt x="34" y="204"/>
                </a:lnTo>
                <a:lnTo>
                  <a:pt x="386" y="22"/>
                </a:lnTo>
                <a:lnTo>
                  <a:pt x="352" y="0"/>
                </a:lnTo>
                <a:lnTo>
                  <a:pt x="0" y="17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87" name="Freeform 123"/>
          <p:cNvSpPr>
            <a:spLocks noChangeAspect="1"/>
          </p:cNvSpPr>
          <p:nvPr/>
        </p:nvSpPr>
        <p:spPr bwMode="auto">
          <a:xfrm flipH="1">
            <a:off x="8080375" y="3006725"/>
            <a:ext cx="246063" cy="127000"/>
          </a:xfrm>
          <a:custGeom>
            <a:avLst/>
            <a:gdLst/>
            <a:ahLst/>
            <a:cxnLst>
              <a:cxn ang="0">
                <a:pos x="0" y="175"/>
              </a:cxn>
              <a:cxn ang="0">
                <a:pos x="34" y="208"/>
              </a:cxn>
              <a:cxn ang="0">
                <a:pos x="380" y="33"/>
              </a:cxn>
              <a:cxn ang="0">
                <a:pos x="347" y="0"/>
              </a:cxn>
              <a:cxn ang="0">
                <a:pos x="0" y="175"/>
              </a:cxn>
            </a:cxnLst>
            <a:rect l="0" t="0" r="r" b="b"/>
            <a:pathLst>
              <a:path w="381" h="209">
                <a:moveTo>
                  <a:pt x="0" y="175"/>
                </a:moveTo>
                <a:lnTo>
                  <a:pt x="34" y="208"/>
                </a:lnTo>
                <a:lnTo>
                  <a:pt x="380" y="33"/>
                </a:lnTo>
                <a:lnTo>
                  <a:pt x="347"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88" name="Freeform 124"/>
          <p:cNvSpPr>
            <a:spLocks noChangeAspect="1"/>
          </p:cNvSpPr>
          <p:nvPr/>
        </p:nvSpPr>
        <p:spPr bwMode="auto">
          <a:xfrm flipH="1">
            <a:off x="8072438" y="3009900"/>
            <a:ext cx="249237" cy="131763"/>
          </a:xfrm>
          <a:custGeom>
            <a:avLst/>
            <a:gdLst/>
            <a:ahLst/>
            <a:cxnLst>
              <a:cxn ang="0">
                <a:pos x="0" y="181"/>
              </a:cxn>
              <a:cxn ang="0">
                <a:pos x="35" y="215"/>
              </a:cxn>
              <a:cxn ang="0">
                <a:pos x="386" y="34"/>
              </a:cxn>
              <a:cxn ang="0">
                <a:pos x="352" y="0"/>
              </a:cxn>
              <a:cxn ang="0">
                <a:pos x="0" y="181"/>
              </a:cxn>
              <a:cxn ang="0">
                <a:pos x="35" y="215"/>
              </a:cxn>
              <a:cxn ang="0">
                <a:pos x="386" y="34"/>
              </a:cxn>
              <a:cxn ang="0">
                <a:pos x="352" y="0"/>
              </a:cxn>
              <a:cxn ang="0">
                <a:pos x="0" y="181"/>
              </a:cxn>
            </a:cxnLst>
            <a:rect l="0" t="0" r="r" b="b"/>
            <a:pathLst>
              <a:path w="387" h="216">
                <a:moveTo>
                  <a:pt x="0" y="181"/>
                </a:moveTo>
                <a:lnTo>
                  <a:pt x="35" y="215"/>
                </a:lnTo>
                <a:lnTo>
                  <a:pt x="386" y="34"/>
                </a:lnTo>
                <a:lnTo>
                  <a:pt x="352" y="0"/>
                </a:lnTo>
                <a:lnTo>
                  <a:pt x="0" y="181"/>
                </a:lnTo>
                <a:lnTo>
                  <a:pt x="35" y="215"/>
                </a:lnTo>
                <a:lnTo>
                  <a:pt x="386" y="34"/>
                </a:lnTo>
                <a:lnTo>
                  <a:pt x="352"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89" name="Freeform 125"/>
          <p:cNvSpPr>
            <a:spLocks noChangeAspect="1"/>
          </p:cNvSpPr>
          <p:nvPr/>
        </p:nvSpPr>
        <p:spPr bwMode="auto">
          <a:xfrm flipH="1">
            <a:off x="8037513" y="3048000"/>
            <a:ext cx="252412" cy="12065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90" name="Freeform 126"/>
          <p:cNvSpPr>
            <a:spLocks noChangeAspect="1"/>
          </p:cNvSpPr>
          <p:nvPr/>
        </p:nvSpPr>
        <p:spPr bwMode="auto">
          <a:xfrm flipH="1">
            <a:off x="8027988" y="3052763"/>
            <a:ext cx="257175" cy="123825"/>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91" name="Freeform 127"/>
          <p:cNvSpPr>
            <a:spLocks noChangeAspect="1"/>
          </p:cNvSpPr>
          <p:nvPr/>
        </p:nvSpPr>
        <p:spPr bwMode="auto">
          <a:xfrm flipH="1">
            <a:off x="7573963" y="2951163"/>
            <a:ext cx="620712" cy="487362"/>
          </a:xfrm>
          <a:custGeom>
            <a:avLst/>
            <a:gdLst/>
            <a:ahLst/>
            <a:cxnLst>
              <a:cxn ang="0">
                <a:pos x="0" y="799"/>
              </a:cxn>
              <a:cxn ang="0">
                <a:pos x="0" y="472"/>
              </a:cxn>
              <a:cxn ang="0">
                <a:pos x="959" y="0"/>
              </a:cxn>
              <a:cxn ang="0">
                <a:pos x="959" y="315"/>
              </a:cxn>
              <a:cxn ang="0">
                <a:pos x="0" y="799"/>
              </a:cxn>
            </a:cxnLst>
            <a:rect l="0" t="0" r="r" b="b"/>
            <a:pathLst>
              <a:path w="960" h="800">
                <a:moveTo>
                  <a:pt x="0" y="799"/>
                </a:moveTo>
                <a:lnTo>
                  <a:pt x="0" y="472"/>
                </a:lnTo>
                <a:lnTo>
                  <a:pt x="959" y="0"/>
                </a:lnTo>
                <a:lnTo>
                  <a:pt x="959" y="315"/>
                </a:lnTo>
                <a:lnTo>
                  <a:pt x="0" y="799"/>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92" name="Freeform 128"/>
          <p:cNvSpPr>
            <a:spLocks noChangeAspect="1"/>
          </p:cNvSpPr>
          <p:nvPr/>
        </p:nvSpPr>
        <p:spPr bwMode="auto">
          <a:xfrm flipH="1">
            <a:off x="7566025" y="2955925"/>
            <a:ext cx="623888" cy="490538"/>
          </a:xfrm>
          <a:custGeom>
            <a:avLst/>
            <a:gdLst/>
            <a:ahLst/>
            <a:cxnLst>
              <a:cxn ang="0">
                <a:pos x="0" y="806"/>
              </a:cxn>
              <a:cxn ang="0">
                <a:pos x="0" y="476"/>
              </a:cxn>
              <a:cxn ang="0">
                <a:pos x="967" y="0"/>
              </a:cxn>
              <a:cxn ang="0">
                <a:pos x="967" y="318"/>
              </a:cxn>
              <a:cxn ang="0">
                <a:pos x="0" y="806"/>
              </a:cxn>
              <a:cxn ang="0">
                <a:pos x="0" y="476"/>
              </a:cxn>
              <a:cxn ang="0">
                <a:pos x="967" y="0"/>
              </a:cxn>
              <a:cxn ang="0">
                <a:pos x="967" y="318"/>
              </a:cxn>
              <a:cxn ang="0">
                <a:pos x="0" y="806"/>
              </a:cxn>
            </a:cxnLst>
            <a:rect l="0" t="0" r="r" b="b"/>
            <a:pathLst>
              <a:path w="968" h="807">
                <a:moveTo>
                  <a:pt x="0" y="806"/>
                </a:moveTo>
                <a:lnTo>
                  <a:pt x="0" y="476"/>
                </a:lnTo>
                <a:lnTo>
                  <a:pt x="967" y="0"/>
                </a:lnTo>
                <a:lnTo>
                  <a:pt x="967" y="318"/>
                </a:lnTo>
                <a:lnTo>
                  <a:pt x="0" y="806"/>
                </a:lnTo>
                <a:lnTo>
                  <a:pt x="0" y="476"/>
                </a:lnTo>
                <a:lnTo>
                  <a:pt x="967" y="0"/>
                </a:lnTo>
                <a:lnTo>
                  <a:pt x="967" y="318"/>
                </a:lnTo>
                <a:lnTo>
                  <a:pt x="0" y="806"/>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93" name="Freeform 129"/>
          <p:cNvSpPr>
            <a:spLocks noChangeAspect="1"/>
          </p:cNvSpPr>
          <p:nvPr/>
        </p:nvSpPr>
        <p:spPr bwMode="auto">
          <a:xfrm flipH="1">
            <a:off x="7573963" y="2557463"/>
            <a:ext cx="1030287" cy="679450"/>
          </a:xfrm>
          <a:custGeom>
            <a:avLst/>
            <a:gdLst/>
            <a:ahLst/>
            <a:cxnLst>
              <a:cxn ang="0">
                <a:pos x="634" y="1116"/>
              </a:cxn>
              <a:cxn ang="0">
                <a:pos x="1596" y="643"/>
              </a:cxn>
              <a:cxn ang="0">
                <a:pos x="962" y="0"/>
              </a:cxn>
              <a:cxn ang="0">
                <a:pos x="0" y="485"/>
              </a:cxn>
              <a:cxn ang="0">
                <a:pos x="80" y="563"/>
              </a:cxn>
              <a:cxn ang="0">
                <a:pos x="465" y="372"/>
              </a:cxn>
              <a:cxn ang="0">
                <a:pos x="939" y="846"/>
              </a:cxn>
              <a:cxn ang="0">
                <a:pos x="555" y="1037"/>
              </a:cxn>
              <a:cxn ang="0">
                <a:pos x="634" y="1116"/>
              </a:cxn>
            </a:cxnLst>
            <a:rect l="0" t="0" r="r" b="b"/>
            <a:pathLst>
              <a:path w="1597" h="1117">
                <a:moveTo>
                  <a:pt x="634" y="1116"/>
                </a:moveTo>
                <a:lnTo>
                  <a:pt x="1596" y="643"/>
                </a:lnTo>
                <a:lnTo>
                  <a:pt x="962" y="0"/>
                </a:lnTo>
                <a:lnTo>
                  <a:pt x="0" y="485"/>
                </a:lnTo>
                <a:lnTo>
                  <a:pt x="80" y="563"/>
                </a:lnTo>
                <a:lnTo>
                  <a:pt x="465" y="372"/>
                </a:lnTo>
                <a:lnTo>
                  <a:pt x="939" y="846"/>
                </a:lnTo>
                <a:lnTo>
                  <a:pt x="555" y="1037"/>
                </a:lnTo>
                <a:lnTo>
                  <a:pt x="634" y="1116"/>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94" name="Freeform 130"/>
          <p:cNvSpPr>
            <a:spLocks noChangeAspect="1"/>
          </p:cNvSpPr>
          <p:nvPr/>
        </p:nvSpPr>
        <p:spPr bwMode="auto">
          <a:xfrm flipH="1">
            <a:off x="7566025" y="2562225"/>
            <a:ext cx="1035050" cy="682625"/>
          </a:xfrm>
          <a:custGeom>
            <a:avLst/>
            <a:gdLst/>
            <a:ahLst/>
            <a:cxnLst>
              <a:cxn ang="0">
                <a:pos x="637" y="1122"/>
              </a:cxn>
              <a:cxn ang="0">
                <a:pos x="1603" y="646"/>
              </a:cxn>
              <a:cxn ang="0">
                <a:pos x="966" y="0"/>
              </a:cxn>
              <a:cxn ang="0">
                <a:pos x="0" y="488"/>
              </a:cxn>
              <a:cxn ang="0">
                <a:pos x="80" y="567"/>
              </a:cxn>
              <a:cxn ang="0">
                <a:pos x="467" y="374"/>
              </a:cxn>
              <a:cxn ang="0">
                <a:pos x="943" y="850"/>
              </a:cxn>
              <a:cxn ang="0">
                <a:pos x="558" y="1043"/>
              </a:cxn>
              <a:cxn ang="0">
                <a:pos x="637" y="1122"/>
              </a:cxn>
              <a:cxn ang="0">
                <a:pos x="1603" y="646"/>
              </a:cxn>
              <a:cxn ang="0">
                <a:pos x="966" y="0"/>
              </a:cxn>
              <a:cxn ang="0">
                <a:pos x="0" y="488"/>
              </a:cxn>
              <a:cxn ang="0">
                <a:pos x="80" y="567"/>
              </a:cxn>
              <a:cxn ang="0">
                <a:pos x="467" y="374"/>
              </a:cxn>
              <a:cxn ang="0">
                <a:pos x="943" y="850"/>
              </a:cxn>
              <a:cxn ang="0">
                <a:pos x="558" y="1043"/>
              </a:cxn>
              <a:cxn ang="0">
                <a:pos x="637" y="1122"/>
              </a:cxn>
            </a:cxnLst>
            <a:rect l="0" t="0" r="r" b="b"/>
            <a:pathLst>
              <a:path w="1604" h="1123">
                <a:moveTo>
                  <a:pt x="637" y="1122"/>
                </a:moveTo>
                <a:lnTo>
                  <a:pt x="1603" y="646"/>
                </a:lnTo>
                <a:lnTo>
                  <a:pt x="966" y="0"/>
                </a:lnTo>
                <a:lnTo>
                  <a:pt x="0" y="488"/>
                </a:lnTo>
                <a:lnTo>
                  <a:pt x="80" y="567"/>
                </a:lnTo>
                <a:lnTo>
                  <a:pt x="467" y="374"/>
                </a:lnTo>
                <a:lnTo>
                  <a:pt x="943" y="850"/>
                </a:lnTo>
                <a:lnTo>
                  <a:pt x="558" y="1043"/>
                </a:lnTo>
                <a:lnTo>
                  <a:pt x="637" y="1122"/>
                </a:lnTo>
                <a:lnTo>
                  <a:pt x="1603" y="646"/>
                </a:lnTo>
                <a:lnTo>
                  <a:pt x="966" y="0"/>
                </a:lnTo>
                <a:lnTo>
                  <a:pt x="0" y="488"/>
                </a:lnTo>
                <a:lnTo>
                  <a:pt x="80" y="567"/>
                </a:lnTo>
                <a:lnTo>
                  <a:pt x="467" y="374"/>
                </a:lnTo>
                <a:lnTo>
                  <a:pt x="943" y="850"/>
                </a:lnTo>
                <a:lnTo>
                  <a:pt x="558" y="1043"/>
                </a:lnTo>
                <a:lnTo>
                  <a:pt x="637" y="1122"/>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95" name="Line 131"/>
          <p:cNvSpPr>
            <a:spLocks noChangeAspect="1" noChangeShapeType="1"/>
          </p:cNvSpPr>
          <p:nvPr/>
        </p:nvSpPr>
        <p:spPr bwMode="auto">
          <a:xfrm flipH="1" flipV="1">
            <a:off x="8531225" y="2951163"/>
            <a:ext cx="22225" cy="14287"/>
          </a:xfrm>
          <a:prstGeom prst="line">
            <a:avLst/>
          </a:prstGeom>
          <a:noFill/>
          <a:ln w="25400">
            <a:solidFill>
              <a:srgbClr val="000000"/>
            </a:solidFill>
            <a:round/>
            <a:headEnd type="none" w="sm" len="sm"/>
            <a:tailEnd type="none" w="sm" len="sm"/>
          </a:ln>
          <a:effectLst/>
        </p:spPr>
        <p:txBody>
          <a:bodyPr wrap="none" lIns="185571" tIns="92786" rIns="185571" bIns="92786">
            <a:spAutoFit/>
          </a:bodyPr>
          <a:lstStyle/>
          <a:p>
            <a:endParaRPr lang="zh-CN" altLang="en-US"/>
          </a:p>
        </p:txBody>
      </p:sp>
      <p:sp>
        <p:nvSpPr>
          <p:cNvPr id="62596" name="Freeform 132"/>
          <p:cNvSpPr>
            <a:spLocks noChangeAspect="1"/>
          </p:cNvSpPr>
          <p:nvPr/>
        </p:nvSpPr>
        <p:spPr bwMode="auto">
          <a:xfrm flipH="1">
            <a:off x="8307388" y="3068638"/>
            <a:ext cx="312737" cy="369887"/>
          </a:xfrm>
          <a:custGeom>
            <a:avLst/>
            <a:gdLst/>
            <a:ahLst/>
            <a:cxnLst>
              <a:cxn ang="0">
                <a:pos x="0" y="0"/>
              </a:cxn>
              <a:cxn ang="0">
                <a:pos x="483" y="471"/>
              </a:cxn>
              <a:cxn ang="0">
                <a:pos x="483" y="606"/>
              </a:cxn>
              <a:cxn ang="0">
                <a:pos x="0" y="124"/>
              </a:cxn>
              <a:cxn ang="0">
                <a:pos x="0" y="0"/>
              </a:cxn>
            </a:cxnLst>
            <a:rect l="0" t="0" r="r" b="b"/>
            <a:pathLst>
              <a:path w="484" h="607">
                <a:moveTo>
                  <a:pt x="0" y="0"/>
                </a:moveTo>
                <a:lnTo>
                  <a:pt x="483" y="471"/>
                </a:lnTo>
                <a:lnTo>
                  <a:pt x="483" y="606"/>
                </a:lnTo>
                <a:lnTo>
                  <a:pt x="0" y="124"/>
                </a:lnTo>
                <a:lnTo>
                  <a:pt x="0" y="0"/>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97" name="Freeform 133"/>
          <p:cNvSpPr>
            <a:spLocks noChangeAspect="1"/>
          </p:cNvSpPr>
          <p:nvPr/>
        </p:nvSpPr>
        <p:spPr bwMode="auto">
          <a:xfrm flipH="1">
            <a:off x="8301038" y="3071813"/>
            <a:ext cx="315912" cy="374650"/>
          </a:xfrm>
          <a:custGeom>
            <a:avLst/>
            <a:gdLst/>
            <a:ahLst/>
            <a:cxnLst>
              <a:cxn ang="0">
                <a:pos x="0" y="0"/>
              </a:cxn>
              <a:cxn ang="0">
                <a:pos x="489" y="476"/>
              </a:cxn>
              <a:cxn ang="0">
                <a:pos x="489" y="613"/>
              </a:cxn>
              <a:cxn ang="0">
                <a:pos x="0" y="125"/>
              </a:cxn>
              <a:cxn ang="0">
                <a:pos x="0" y="0"/>
              </a:cxn>
              <a:cxn ang="0">
                <a:pos x="489" y="476"/>
              </a:cxn>
              <a:cxn ang="0">
                <a:pos x="489" y="613"/>
              </a:cxn>
              <a:cxn ang="0">
                <a:pos x="0" y="125"/>
              </a:cxn>
              <a:cxn ang="0">
                <a:pos x="0" y="0"/>
              </a:cxn>
            </a:cxnLst>
            <a:rect l="0" t="0" r="r" b="b"/>
            <a:pathLst>
              <a:path w="490" h="614">
                <a:moveTo>
                  <a:pt x="0" y="0"/>
                </a:moveTo>
                <a:lnTo>
                  <a:pt x="489" y="476"/>
                </a:lnTo>
                <a:lnTo>
                  <a:pt x="489" y="613"/>
                </a:lnTo>
                <a:lnTo>
                  <a:pt x="0" y="125"/>
                </a:lnTo>
                <a:lnTo>
                  <a:pt x="0" y="0"/>
                </a:lnTo>
                <a:lnTo>
                  <a:pt x="489" y="476"/>
                </a:lnTo>
                <a:lnTo>
                  <a:pt x="489" y="613"/>
                </a:lnTo>
                <a:lnTo>
                  <a:pt x="0" y="125"/>
                </a:lnTo>
                <a:lnTo>
                  <a:pt x="0" y="0"/>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598" name="Freeform 134"/>
          <p:cNvSpPr>
            <a:spLocks noChangeAspect="1"/>
          </p:cNvSpPr>
          <p:nvPr/>
        </p:nvSpPr>
        <p:spPr bwMode="auto">
          <a:xfrm flipH="1">
            <a:off x="8270875" y="3048000"/>
            <a:ext cx="349250" cy="307975"/>
          </a:xfrm>
          <a:custGeom>
            <a:avLst/>
            <a:gdLst/>
            <a:ahLst/>
            <a:cxnLst>
              <a:cxn ang="0">
                <a:pos x="0" y="34"/>
              </a:cxn>
              <a:cxn ang="0">
                <a:pos x="68" y="0"/>
              </a:cxn>
              <a:cxn ang="0">
                <a:pos x="539" y="469"/>
              </a:cxn>
              <a:cxn ang="0">
                <a:pos x="484" y="503"/>
              </a:cxn>
              <a:cxn ang="0">
                <a:pos x="0" y="34"/>
              </a:cxn>
            </a:cxnLst>
            <a:rect l="0" t="0" r="r" b="b"/>
            <a:pathLst>
              <a:path w="540" h="504">
                <a:moveTo>
                  <a:pt x="0" y="34"/>
                </a:moveTo>
                <a:lnTo>
                  <a:pt x="68" y="0"/>
                </a:lnTo>
                <a:lnTo>
                  <a:pt x="539" y="469"/>
                </a:lnTo>
                <a:lnTo>
                  <a:pt x="484" y="503"/>
                </a:lnTo>
                <a:lnTo>
                  <a:pt x="0" y="34"/>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599" name="Freeform 135"/>
          <p:cNvSpPr>
            <a:spLocks noChangeAspect="1"/>
          </p:cNvSpPr>
          <p:nvPr/>
        </p:nvSpPr>
        <p:spPr bwMode="auto">
          <a:xfrm flipH="1">
            <a:off x="8262938" y="3052763"/>
            <a:ext cx="354012" cy="309562"/>
          </a:xfrm>
          <a:custGeom>
            <a:avLst/>
            <a:gdLst/>
            <a:ahLst/>
            <a:cxnLst>
              <a:cxn ang="0">
                <a:pos x="0" y="34"/>
              </a:cxn>
              <a:cxn ang="0">
                <a:pos x="69" y="0"/>
              </a:cxn>
              <a:cxn ang="0">
                <a:pos x="546" y="476"/>
              </a:cxn>
              <a:cxn ang="0">
                <a:pos x="490" y="510"/>
              </a:cxn>
              <a:cxn ang="0">
                <a:pos x="0" y="34"/>
              </a:cxn>
              <a:cxn ang="0">
                <a:pos x="69" y="0"/>
              </a:cxn>
              <a:cxn ang="0">
                <a:pos x="546" y="476"/>
              </a:cxn>
              <a:cxn ang="0">
                <a:pos x="490" y="510"/>
              </a:cxn>
              <a:cxn ang="0">
                <a:pos x="0" y="34"/>
              </a:cxn>
            </a:cxnLst>
            <a:rect l="0" t="0" r="r" b="b"/>
            <a:pathLst>
              <a:path w="547" h="511">
                <a:moveTo>
                  <a:pt x="0" y="34"/>
                </a:moveTo>
                <a:lnTo>
                  <a:pt x="69" y="0"/>
                </a:lnTo>
                <a:lnTo>
                  <a:pt x="546" y="476"/>
                </a:lnTo>
                <a:lnTo>
                  <a:pt x="490" y="510"/>
                </a:lnTo>
                <a:lnTo>
                  <a:pt x="0" y="34"/>
                </a:lnTo>
                <a:lnTo>
                  <a:pt x="69" y="0"/>
                </a:lnTo>
                <a:lnTo>
                  <a:pt x="546" y="476"/>
                </a:lnTo>
                <a:lnTo>
                  <a:pt x="490" y="510"/>
                </a:lnTo>
                <a:lnTo>
                  <a:pt x="0" y="34"/>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600" name="Freeform 136"/>
          <p:cNvSpPr>
            <a:spLocks noChangeAspect="1"/>
          </p:cNvSpPr>
          <p:nvPr/>
        </p:nvSpPr>
        <p:spPr bwMode="auto">
          <a:xfrm flipH="1">
            <a:off x="8234363" y="3338513"/>
            <a:ext cx="69850" cy="100012"/>
          </a:xfrm>
          <a:custGeom>
            <a:avLst/>
            <a:gdLst/>
            <a:ahLst/>
            <a:cxnLst>
              <a:cxn ang="0">
                <a:pos x="0" y="33"/>
              </a:cxn>
              <a:cxn ang="0">
                <a:pos x="53" y="0"/>
              </a:cxn>
              <a:cxn ang="0">
                <a:pos x="53" y="55"/>
              </a:cxn>
              <a:cxn ang="0">
                <a:pos x="106" y="99"/>
              </a:cxn>
              <a:cxn ang="0">
                <a:pos x="0" y="164"/>
              </a:cxn>
              <a:cxn ang="0">
                <a:pos x="0" y="33"/>
              </a:cxn>
            </a:cxnLst>
            <a:rect l="0" t="0" r="r" b="b"/>
            <a:pathLst>
              <a:path w="107" h="165">
                <a:moveTo>
                  <a:pt x="0" y="33"/>
                </a:moveTo>
                <a:lnTo>
                  <a:pt x="53" y="0"/>
                </a:lnTo>
                <a:lnTo>
                  <a:pt x="53" y="55"/>
                </a:lnTo>
                <a:lnTo>
                  <a:pt x="106" y="99"/>
                </a:lnTo>
                <a:lnTo>
                  <a:pt x="0" y="164"/>
                </a:lnTo>
                <a:lnTo>
                  <a:pt x="0" y="33"/>
                </a:lnTo>
              </a:path>
            </a:pathLst>
          </a:custGeom>
          <a:solidFill>
            <a:srgbClr val="FFFFFF"/>
          </a:solidFill>
          <a:ln w="9525" cap="rnd">
            <a:noFill/>
            <a:round/>
            <a:headEnd/>
            <a:tailEnd/>
          </a:ln>
          <a:effectLst/>
        </p:spPr>
        <p:txBody>
          <a:bodyPr wrap="none" lIns="185571" tIns="92786" rIns="185571" bIns="92786">
            <a:spAutoFit/>
          </a:bodyPr>
          <a:lstStyle/>
          <a:p>
            <a:endParaRPr lang="zh-CN" altLang="en-US"/>
          </a:p>
        </p:txBody>
      </p:sp>
      <p:sp>
        <p:nvSpPr>
          <p:cNvPr id="62601" name="Freeform 137"/>
          <p:cNvSpPr>
            <a:spLocks noChangeAspect="1"/>
          </p:cNvSpPr>
          <p:nvPr/>
        </p:nvSpPr>
        <p:spPr bwMode="auto">
          <a:xfrm flipH="1">
            <a:off x="8226425" y="3341688"/>
            <a:ext cx="74613" cy="104775"/>
          </a:xfrm>
          <a:custGeom>
            <a:avLst/>
            <a:gdLst/>
            <a:ahLst/>
            <a:cxnLst>
              <a:cxn ang="0">
                <a:pos x="0" y="34"/>
              </a:cxn>
              <a:cxn ang="0">
                <a:pos x="56" y="0"/>
              </a:cxn>
              <a:cxn ang="0">
                <a:pos x="56" y="57"/>
              </a:cxn>
              <a:cxn ang="0">
                <a:pos x="113" y="103"/>
              </a:cxn>
              <a:cxn ang="0">
                <a:pos x="0" y="171"/>
              </a:cxn>
              <a:cxn ang="0">
                <a:pos x="0" y="34"/>
              </a:cxn>
              <a:cxn ang="0">
                <a:pos x="56" y="0"/>
              </a:cxn>
              <a:cxn ang="0">
                <a:pos x="56" y="57"/>
              </a:cxn>
              <a:cxn ang="0">
                <a:pos x="113" y="103"/>
              </a:cxn>
              <a:cxn ang="0">
                <a:pos x="0" y="171"/>
              </a:cxn>
              <a:cxn ang="0">
                <a:pos x="0" y="34"/>
              </a:cxn>
            </a:cxnLst>
            <a:rect l="0" t="0" r="r" b="b"/>
            <a:pathLst>
              <a:path w="114" h="172">
                <a:moveTo>
                  <a:pt x="0" y="34"/>
                </a:moveTo>
                <a:lnTo>
                  <a:pt x="56" y="0"/>
                </a:lnTo>
                <a:lnTo>
                  <a:pt x="56" y="57"/>
                </a:lnTo>
                <a:lnTo>
                  <a:pt x="113" y="103"/>
                </a:lnTo>
                <a:lnTo>
                  <a:pt x="0" y="171"/>
                </a:lnTo>
                <a:lnTo>
                  <a:pt x="0" y="34"/>
                </a:lnTo>
                <a:lnTo>
                  <a:pt x="56" y="0"/>
                </a:lnTo>
                <a:lnTo>
                  <a:pt x="56" y="57"/>
                </a:lnTo>
                <a:lnTo>
                  <a:pt x="113" y="103"/>
                </a:lnTo>
                <a:lnTo>
                  <a:pt x="0" y="171"/>
                </a:lnTo>
                <a:lnTo>
                  <a:pt x="0" y="34"/>
                </a:lnTo>
              </a:path>
            </a:pathLst>
          </a:custGeom>
          <a:noFill/>
          <a:ln w="25400" cap="rnd" cmpd="sng">
            <a:solidFill>
              <a:srgbClr val="000000"/>
            </a:solidFill>
            <a:prstDash val="solid"/>
            <a:round/>
            <a:headEnd/>
            <a:tailEnd/>
          </a:ln>
          <a:effectLst/>
        </p:spPr>
        <p:txBody>
          <a:bodyPr wrap="none" lIns="185571" tIns="92786" rIns="185571" bIns="92786">
            <a:spAutoFit/>
          </a:bodyPr>
          <a:lstStyle/>
          <a:p>
            <a:endParaRPr lang="zh-CN" altLang="en-US"/>
          </a:p>
        </p:txBody>
      </p:sp>
      <p:sp>
        <p:nvSpPr>
          <p:cNvPr id="62602" name="Rectangle 138"/>
          <p:cNvSpPr>
            <a:spLocks noChangeAspect="1" noChangeArrowheads="1"/>
          </p:cNvSpPr>
          <p:nvPr/>
        </p:nvSpPr>
        <p:spPr bwMode="auto">
          <a:xfrm>
            <a:off x="8047038" y="3227388"/>
            <a:ext cx="371475" cy="412750"/>
          </a:xfrm>
          <a:prstGeom prst="rect">
            <a:avLst/>
          </a:prstGeom>
          <a:noFill/>
          <a:ln w="9525">
            <a:noFill/>
            <a:miter lim="800000"/>
            <a:headEnd/>
            <a:tailEnd/>
          </a:ln>
          <a:effectLst/>
        </p:spPr>
        <p:txBody>
          <a:bodyPr wrap="none" lIns="185571" tIns="92786" rIns="185571" bIns="92786">
            <a:spAutoFit/>
          </a:bodyPr>
          <a:lstStyle/>
          <a:p>
            <a:pPr defTabSz="1027113" eaLnBrk="0" hangingPunct="0"/>
            <a:endParaRPr kumimoji="0" lang="zh-CN" altLang="zh-CN" sz="1500" b="1">
              <a:solidFill>
                <a:srgbClr val="000000"/>
              </a:solidFill>
              <a:latin typeface="Helvetica" pitchFamily="34" charset="0"/>
            </a:endParaRPr>
          </a:p>
        </p:txBody>
      </p:sp>
      <p:sp>
        <p:nvSpPr>
          <p:cNvPr id="62603" name="Rectangle 139"/>
          <p:cNvSpPr>
            <a:spLocks noChangeAspect="1" noChangeArrowheads="1"/>
          </p:cNvSpPr>
          <p:nvPr/>
        </p:nvSpPr>
        <p:spPr bwMode="auto">
          <a:xfrm>
            <a:off x="8108950" y="3367088"/>
            <a:ext cx="477838" cy="412750"/>
          </a:xfrm>
          <a:prstGeom prst="rect">
            <a:avLst/>
          </a:prstGeom>
          <a:noFill/>
          <a:ln w="9525">
            <a:noFill/>
            <a:miter lim="800000"/>
            <a:headEnd/>
            <a:tailEnd/>
          </a:ln>
          <a:effectLst/>
        </p:spPr>
        <p:txBody>
          <a:bodyPr wrap="none" lIns="185571" tIns="92786" rIns="185571" bIns="92786">
            <a:spAutoFit/>
          </a:bodyPr>
          <a:lstStyle/>
          <a:p>
            <a:pPr defTabSz="1027113" eaLnBrk="0" hangingPunct="0"/>
            <a:r>
              <a:rPr kumimoji="0" lang="en-US" altLang="zh-CN" sz="1500" b="1">
                <a:latin typeface="Helvetica" pitchFamily="34" charset="0"/>
              </a:rPr>
              <a:t>8</a:t>
            </a:r>
          </a:p>
        </p:txBody>
      </p:sp>
      <p:sp>
        <p:nvSpPr>
          <p:cNvPr id="62604" name="Line 140"/>
          <p:cNvSpPr>
            <a:spLocks noChangeAspect="1" noChangeShapeType="1"/>
          </p:cNvSpPr>
          <p:nvPr/>
        </p:nvSpPr>
        <p:spPr bwMode="auto">
          <a:xfrm>
            <a:off x="7913688" y="2613025"/>
            <a:ext cx="371475" cy="177800"/>
          </a:xfrm>
          <a:prstGeom prst="line">
            <a:avLst/>
          </a:prstGeom>
          <a:noFill/>
          <a:ln w="76200">
            <a:pattFill prst="lgGrid">
              <a:fgClr>
                <a:srgbClr val="33CC33"/>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605" name="Line 141"/>
          <p:cNvSpPr>
            <a:spLocks noChangeAspect="1" noChangeShapeType="1"/>
          </p:cNvSpPr>
          <p:nvPr/>
        </p:nvSpPr>
        <p:spPr bwMode="auto">
          <a:xfrm>
            <a:off x="7891463" y="2651125"/>
            <a:ext cx="371475" cy="177800"/>
          </a:xfrm>
          <a:prstGeom prst="line">
            <a:avLst/>
          </a:prstGeom>
          <a:noFill/>
          <a:ln w="76200">
            <a:solidFill>
              <a:schemeClr val="accent2"/>
            </a:solidFill>
            <a:round/>
            <a:headEnd type="none" w="sm" len="sm"/>
            <a:tailEnd type="none" w="sm" len="sm"/>
          </a:ln>
          <a:effectLst/>
        </p:spPr>
        <p:txBody>
          <a:bodyPr wrap="none" lIns="185571" tIns="92786" rIns="185571" bIns="92786">
            <a:spAutoFit/>
          </a:bodyPr>
          <a:lstStyle/>
          <a:p>
            <a:endParaRPr lang="zh-CN" altLang="en-US"/>
          </a:p>
        </p:txBody>
      </p:sp>
      <p:sp>
        <p:nvSpPr>
          <p:cNvPr id="62606" name="Line 142"/>
          <p:cNvSpPr>
            <a:spLocks noChangeAspect="1" noChangeShapeType="1"/>
          </p:cNvSpPr>
          <p:nvPr/>
        </p:nvSpPr>
        <p:spPr bwMode="auto">
          <a:xfrm>
            <a:off x="7827963" y="2674938"/>
            <a:ext cx="369887" cy="177800"/>
          </a:xfrm>
          <a:prstGeom prst="line">
            <a:avLst/>
          </a:prstGeom>
          <a:noFill/>
          <a:ln w="76200">
            <a:pattFill prst="lgGrid">
              <a:fgClr>
                <a:srgbClr val="33CC33"/>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607" name="Line 143"/>
          <p:cNvSpPr>
            <a:spLocks noChangeAspect="1" noChangeShapeType="1"/>
          </p:cNvSpPr>
          <p:nvPr/>
        </p:nvSpPr>
        <p:spPr bwMode="auto">
          <a:xfrm>
            <a:off x="7791450" y="2728913"/>
            <a:ext cx="369888" cy="176212"/>
          </a:xfrm>
          <a:prstGeom prst="line">
            <a:avLst/>
          </a:prstGeom>
          <a:noFill/>
          <a:ln w="76200">
            <a:solidFill>
              <a:schemeClr val="accent1"/>
            </a:solidFill>
            <a:round/>
            <a:headEnd type="none" w="sm" len="sm"/>
            <a:tailEnd type="none" w="sm" len="sm"/>
          </a:ln>
          <a:effectLst/>
        </p:spPr>
        <p:txBody>
          <a:bodyPr wrap="none" lIns="185571" tIns="92786" rIns="185571" bIns="92786">
            <a:spAutoFit/>
          </a:bodyPr>
          <a:lstStyle/>
          <a:p>
            <a:endParaRPr lang="zh-CN" altLang="en-US"/>
          </a:p>
        </p:txBody>
      </p:sp>
      <p:sp>
        <p:nvSpPr>
          <p:cNvPr id="62608" name="Line 144"/>
          <p:cNvSpPr>
            <a:spLocks noChangeAspect="1" noChangeShapeType="1"/>
          </p:cNvSpPr>
          <p:nvPr/>
        </p:nvSpPr>
        <p:spPr bwMode="auto">
          <a:xfrm>
            <a:off x="7754938" y="2765425"/>
            <a:ext cx="369887" cy="177800"/>
          </a:xfrm>
          <a:prstGeom prst="line">
            <a:avLst/>
          </a:prstGeom>
          <a:noFill/>
          <a:ln w="76200">
            <a:pattFill prst="lgGrid">
              <a:fgClr>
                <a:srgbClr val="0066FF"/>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609" name="Line 145"/>
          <p:cNvSpPr>
            <a:spLocks noChangeAspect="1" noChangeShapeType="1"/>
          </p:cNvSpPr>
          <p:nvPr/>
        </p:nvSpPr>
        <p:spPr bwMode="auto">
          <a:xfrm>
            <a:off x="7710488" y="2811463"/>
            <a:ext cx="369887" cy="177800"/>
          </a:xfrm>
          <a:prstGeom prst="line">
            <a:avLst/>
          </a:prstGeom>
          <a:noFill/>
          <a:ln w="76200">
            <a:solidFill>
              <a:schemeClr val="folHlink"/>
            </a:solidFill>
            <a:round/>
            <a:headEnd type="none" w="sm" len="sm"/>
            <a:tailEnd type="none" w="sm" len="sm"/>
          </a:ln>
          <a:effectLst/>
        </p:spPr>
        <p:txBody>
          <a:bodyPr wrap="none" lIns="185571" tIns="92786" rIns="185571" bIns="92786">
            <a:spAutoFit/>
          </a:bodyPr>
          <a:lstStyle/>
          <a:p>
            <a:endParaRPr lang="zh-CN" altLang="en-US"/>
          </a:p>
        </p:txBody>
      </p:sp>
      <p:sp>
        <p:nvSpPr>
          <p:cNvPr id="62610" name="Line 146"/>
          <p:cNvSpPr>
            <a:spLocks noChangeAspect="1" noChangeShapeType="1"/>
          </p:cNvSpPr>
          <p:nvPr/>
        </p:nvSpPr>
        <p:spPr bwMode="auto">
          <a:xfrm>
            <a:off x="7680325" y="2844800"/>
            <a:ext cx="371475" cy="177800"/>
          </a:xfrm>
          <a:prstGeom prst="line">
            <a:avLst/>
          </a:prstGeom>
          <a:noFill/>
          <a:ln w="76200">
            <a:pattFill prst="lgGrid">
              <a:fgClr>
                <a:srgbClr val="996633"/>
              </a:fgClr>
              <a:bgClr>
                <a:srgbClr val="FFFFFF"/>
              </a:bgClr>
            </a:pattFill>
            <a:round/>
            <a:headEnd type="none" w="sm" len="sm"/>
            <a:tailEnd type="none" w="sm" len="sm"/>
          </a:ln>
          <a:effectLst/>
        </p:spPr>
        <p:txBody>
          <a:bodyPr wrap="none" lIns="185571" tIns="92786" rIns="185571" bIns="92786">
            <a:spAutoFit/>
          </a:bodyPr>
          <a:lstStyle/>
          <a:p>
            <a:endParaRPr lang="zh-CN" altLang="en-US"/>
          </a:p>
        </p:txBody>
      </p:sp>
      <p:sp>
        <p:nvSpPr>
          <p:cNvPr id="62611" name="Line 147"/>
          <p:cNvSpPr>
            <a:spLocks noChangeAspect="1" noChangeShapeType="1"/>
          </p:cNvSpPr>
          <p:nvPr/>
        </p:nvSpPr>
        <p:spPr bwMode="auto">
          <a:xfrm>
            <a:off x="7656513" y="2886075"/>
            <a:ext cx="371475" cy="177800"/>
          </a:xfrm>
          <a:prstGeom prst="line">
            <a:avLst/>
          </a:prstGeom>
          <a:noFill/>
          <a:ln w="76200">
            <a:solidFill>
              <a:srgbClr val="996633"/>
            </a:solidFill>
            <a:round/>
            <a:headEnd type="none" w="sm" len="sm"/>
            <a:tailEnd type="none" w="sm" len="sm"/>
          </a:ln>
          <a:effectLst/>
        </p:spPr>
        <p:txBody>
          <a:bodyPr wrap="none" lIns="185571" tIns="92786" rIns="185571" bIns="92786">
            <a:spAutoFit/>
          </a:bodyPr>
          <a:lstStyle/>
          <a:p>
            <a:endParaRPr lang="zh-CN" altLang="en-US"/>
          </a:p>
        </p:txBody>
      </p:sp>
      <p:sp>
        <p:nvSpPr>
          <p:cNvPr id="62612" name="Line 148"/>
          <p:cNvSpPr>
            <a:spLocks noChangeAspect="1" noChangeShapeType="1"/>
          </p:cNvSpPr>
          <p:nvPr/>
        </p:nvSpPr>
        <p:spPr bwMode="auto">
          <a:xfrm rot="21500440" flipV="1">
            <a:off x="7985125" y="2790825"/>
            <a:ext cx="319088" cy="277813"/>
          </a:xfrm>
          <a:prstGeom prst="line">
            <a:avLst/>
          </a:prstGeom>
          <a:noFill/>
          <a:ln w="28575">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613" name="Line 149"/>
          <p:cNvSpPr>
            <a:spLocks noChangeAspect="1" noChangeShapeType="1"/>
          </p:cNvSpPr>
          <p:nvPr/>
        </p:nvSpPr>
        <p:spPr bwMode="auto">
          <a:xfrm rot="21500440" flipV="1">
            <a:off x="7615238" y="2613025"/>
            <a:ext cx="317500" cy="279400"/>
          </a:xfrm>
          <a:prstGeom prst="line">
            <a:avLst/>
          </a:prstGeom>
          <a:noFill/>
          <a:ln w="28575">
            <a:solidFill>
              <a:schemeClr val="tx1"/>
            </a:solidFill>
            <a:round/>
            <a:headEnd type="none" w="sm" len="sm"/>
            <a:tailEnd type="none" w="sm" len="sm"/>
          </a:ln>
          <a:effectLst/>
        </p:spPr>
        <p:txBody>
          <a:bodyPr wrap="none" lIns="185571" tIns="92786" rIns="185571" bIns="92786">
            <a:spAutoFit/>
          </a:bodyPr>
          <a:lstStyle/>
          <a:p>
            <a:endParaRPr lang="zh-CN" altLang="en-US"/>
          </a:p>
        </p:txBody>
      </p:sp>
      <p:sp>
        <p:nvSpPr>
          <p:cNvPr id="62614" name="Rectangle 150"/>
          <p:cNvSpPr>
            <a:spLocks noChangeAspect="1" noChangeArrowheads="1"/>
          </p:cNvSpPr>
          <p:nvPr/>
        </p:nvSpPr>
        <p:spPr bwMode="auto">
          <a:xfrm>
            <a:off x="8426450" y="3082925"/>
            <a:ext cx="474663" cy="412750"/>
          </a:xfrm>
          <a:prstGeom prst="rect">
            <a:avLst/>
          </a:prstGeom>
          <a:noFill/>
          <a:ln w="9525">
            <a:noFill/>
            <a:miter lim="800000"/>
            <a:headEnd/>
            <a:tailEnd/>
          </a:ln>
          <a:effectLst/>
        </p:spPr>
        <p:txBody>
          <a:bodyPr wrap="none" lIns="185571" tIns="92786" rIns="185571" bIns="92786">
            <a:spAutoFit/>
          </a:bodyPr>
          <a:lstStyle/>
          <a:p>
            <a:pPr defTabSz="1027113" eaLnBrk="0" hangingPunct="0"/>
            <a:r>
              <a:rPr kumimoji="0" lang="en-US" altLang="zh-CN" sz="1500" b="1">
                <a:latin typeface="Helvetica" pitchFamily="34" charset="0"/>
              </a:rPr>
              <a:t>1</a:t>
            </a:r>
          </a:p>
        </p:txBody>
      </p:sp>
      <p:pic>
        <p:nvPicPr>
          <p:cNvPr id="62615" name="Picture 151"/>
          <p:cNvPicPr>
            <a:picLocks noChangeAspect="1" noChangeArrowheads="1"/>
          </p:cNvPicPr>
          <p:nvPr/>
        </p:nvPicPr>
        <p:blipFill>
          <a:blip r:embed="rId5" cstate="print"/>
          <a:srcRect/>
          <a:stretch>
            <a:fillRect/>
          </a:stretch>
        </p:blipFill>
        <p:spPr bwMode="auto">
          <a:xfrm>
            <a:off x="619125" y="2674938"/>
            <a:ext cx="1304925" cy="579437"/>
          </a:xfrm>
          <a:prstGeom prst="rect">
            <a:avLst/>
          </a:prstGeom>
          <a:noFill/>
          <a:ln w="9525">
            <a:noFill/>
            <a:miter lim="800000"/>
            <a:headEnd/>
            <a:tailEnd/>
          </a:ln>
          <a:effectLst/>
        </p:spPr>
      </p:pic>
      <p:sp>
        <p:nvSpPr>
          <p:cNvPr id="62616" name="Rectangle 152"/>
          <p:cNvSpPr>
            <a:spLocks noChangeArrowheads="1"/>
          </p:cNvSpPr>
          <p:nvPr/>
        </p:nvSpPr>
        <p:spPr bwMode="auto">
          <a:xfrm>
            <a:off x="509588" y="3214688"/>
            <a:ext cx="1290637"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chemeClr val="tx2"/>
                </a:solidFill>
                <a:latin typeface="Helvetica" pitchFamily="34" charset="0"/>
              </a:rPr>
              <a:t>Hub/Switch</a:t>
            </a:r>
          </a:p>
        </p:txBody>
      </p:sp>
      <p:sp>
        <p:nvSpPr>
          <p:cNvPr id="62617" name="Line 153"/>
          <p:cNvSpPr>
            <a:spLocks noChangeShapeType="1"/>
          </p:cNvSpPr>
          <p:nvPr/>
        </p:nvSpPr>
        <p:spPr bwMode="auto">
          <a:xfrm flipV="1">
            <a:off x="1720850" y="4567238"/>
            <a:ext cx="1006475" cy="12700"/>
          </a:xfrm>
          <a:prstGeom prst="line">
            <a:avLst/>
          </a:prstGeom>
          <a:noFill/>
          <a:ln w="38100">
            <a:solidFill>
              <a:schemeClr val="tx1"/>
            </a:solidFill>
            <a:round/>
            <a:headEnd type="none" w="sm" len="sm"/>
            <a:tailEnd type="triangle" w="med" len="med"/>
          </a:ln>
          <a:effectLst/>
        </p:spPr>
        <p:txBody>
          <a:bodyPr anchor="ctr">
            <a:spAutoFit/>
          </a:bodyPr>
          <a:lstStyle/>
          <a:p>
            <a:endParaRPr lang="zh-CN" altLang="en-US"/>
          </a:p>
        </p:txBody>
      </p:sp>
      <p:sp>
        <p:nvSpPr>
          <p:cNvPr id="62618" name="Line 154"/>
          <p:cNvSpPr>
            <a:spLocks noChangeShapeType="1"/>
          </p:cNvSpPr>
          <p:nvPr/>
        </p:nvSpPr>
        <p:spPr bwMode="auto">
          <a:xfrm flipH="1">
            <a:off x="4724400" y="4191000"/>
            <a:ext cx="0" cy="981075"/>
          </a:xfrm>
          <a:prstGeom prst="line">
            <a:avLst/>
          </a:prstGeom>
          <a:noFill/>
          <a:ln w="76200">
            <a:solidFill>
              <a:schemeClr val="accent2"/>
            </a:solidFill>
            <a:prstDash val="sysDot"/>
            <a:round/>
            <a:headEnd type="none" w="sm" len="sm"/>
            <a:tailEnd type="none" w="sm" len="sm"/>
          </a:ln>
          <a:effectLst/>
        </p:spPr>
        <p:txBody>
          <a:bodyPr wrap="none" anchor="ctr">
            <a:spAutoFit/>
          </a:bodyPr>
          <a:lstStyle/>
          <a:p>
            <a:endParaRPr lang="zh-CN" altLang="en-US"/>
          </a:p>
        </p:txBody>
      </p:sp>
      <p:sp>
        <p:nvSpPr>
          <p:cNvPr id="62619" name="Line 155"/>
          <p:cNvSpPr>
            <a:spLocks noChangeShapeType="1"/>
          </p:cNvSpPr>
          <p:nvPr/>
        </p:nvSpPr>
        <p:spPr bwMode="auto">
          <a:xfrm flipH="1">
            <a:off x="4953000" y="4191000"/>
            <a:ext cx="0" cy="981075"/>
          </a:xfrm>
          <a:prstGeom prst="line">
            <a:avLst/>
          </a:prstGeom>
          <a:noFill/>
          <a:ln w="76200">
            <a:solidFill>
              <a:schemeClr val="accent2"/>
            </a:solidFill>
            <a:round/>
            <a:headEnd type="none" w="sm" len="sm"/>
            <a:tailEnd type="none" w="sm" len="sm"/>
          </a:ln>
          <a:effectLst/>
        </p:spPr>
        <p:txBody>
          <a:bodyPr wrap="none" anchor="ctr">
            <a:spAutoFit/>
          </a:bodyPr>
          <a:lstStyle/>
          <a:p>
            <a:endParaRPr lang="zh-CN" altLang="en-US"/>
          </a:p>
        </p:txBody>
      </p:sp>
      <p:sp>
        <p:nvSpPr>
          <p:cNvPr id="62620" name="Line 156"/>
          <p:cNvSpPr>
            <a:spLocks noChangeShapeType="1"/>
          </p:cNvSpPr>
          <p:nvPr/>
        </p:nvSpPr>
        <p:spPr bwMode="auto">
          <a:xfrm flipH="1">
            <a:off x="5486400" y="4191000"/>
            <a:ext cx="0" cy="981075"/>
          </a:xfrm>
          <a:prstGeom prst="line">
            <a:avLst/>
          </a:prstGeom>
          <a:noFill/>
          <a:ln w="76200">
            <a:solidFill>
              <a:schemeClr val="folHlink"/>
            </a:solidFill>
            <a:round/>
            <a:headEnd type="none" w="sm" len="sm"/>
            <a:tailEnd type="none" w="sm" len="sm"/>
          </a:ln>
          <a:effectLst/>
        </p:spPr>
        <p:txBody>
          <a:bodyPr wrap="none" anchor="ctr">
            <a:spAutoFit/>
          </a:bodyPr>
          <a:lstStyle/>
          <a:p>
            <a:endParaRPr lang="zh-CN" altLang="en-US"/>
          </a:p>
        </p:txBody>
      </p:sp>
      <p:sp>
        <p:nvSpPr>
          <p:cNvPr id="62621" name="Line 157"/>
          <p:cNvSpPr>
            <a:spLocks noChangeShapeType="1"/>
          </p:cNvSpPr>
          <p:nvPr/>
        </p:nvSpPr>
        <p:spPr bwMode="auto">
          <a:xfrm flipH="1">
            <a:off x="6400800" y="4191000"/>
            <a:ext cx="0" cy="981075"/>
          </a:xfrm>
          <a:prstGeom prst="line">
            <a:avLst/>
          </a:prstGeom>
          <a:noFill/>
          <a:ln w="76200">
            <a:solidFill>
              <a:srgbClr val="996600"/>
            </a:solidFill>
            <a:round/>
            <a:headEnd type="none" w="sm" len="sm"/>
            <a:tailEnd type="none" w="sm" len="sm"/>
          </a:ln>
          <a:effectLst/>
        </p:spPr>
        <p:txBody>
          <a:bodyPr wrap="none" anchor="ctr">
            <a:spAutoFit/>
          </a:bodyPr>
          <a:lstStyle/>
          <a:p>
            <a:endParaRPr lang="zh-CN" altLang="en-US"/>
          </a:p>
        </p:txBody>
      </p:sp>
      <p:sp>
        <p:nvSpPr>
          <p:cNvPr id="62622" name="Line 158"/>
          <p:cNvSpPr>
            <a:spLocks noChangeShapeType="1"/>
          </p:cNvSpPr>
          <p:nvPr/>
        </p:nvSpPr>
        <p:spPr bwMode="auto">
          <a:xfrm flipH="1">
            <a:off x="5943600" y="4191000"/>
            <a:ext cx="0" cy="981075"/>
          </a:xfrm>
          <a:prstGeom prst="line">
            <a:avLst/>
          </a:prstGeom>
          <a:noFill/>
          <a:ln w="76200">
            <a:solidFill>
              <a:schemeClr val="accent1"/>
            </a:solidFill>
            <a:round/>
            <a:headEnd type="none" w="sm" len="sm"/>
            <a:tailEnd type="none" w="sm" len="sm"/>
          </a:ln>
          <a:effectLst/>
        </p:spPr>
        <p:txBody>
          <a:bodyPr wrap="none" anchor="ctr">
            <a:spAutoFit/>
          </a:bodyPr>
          <a:lstStyle/>
          <a:p>
            <a:endParaRPr lang="zh-CN" altLang="en-US"/>
          </a:p>
        </p:txBody>
      </p:sp>
      <p:sp>
        <p:nvSpPr>
          <p:cNvPr id="62623" name="Line 159"/>
          <p:cNvSpPr>
            <a:spLocks noChangeShapeType="1"/>
          </p:cNvSpPr>
          <p:nvPr/>
        </p:nvSpPr>
        <p:spPr bwMode="auto">
          <a:xfrm flipH="1">
            <a:off x="5715000" y="4191000"/>
            <a:ext cx="0" cy="981075"/>
          </a:xfrm>
          <a:prstGeom prst="line">
            <a:avLst/>
          </a:prstGeom>
          <a:noFill/>
          <a:ln w="76200">
            <a:solidFill>
              <a:schemeClr val="folHlink"/>
            </a:solidFill>
            <a:prstDash val="sysDot"/>
            <a:round/>
            <a:headEnd type="none" w="sm" len="sm"/>
            <a:tailEnd type="none" w="sm" len="sm"/>
          </a:ln>
          <a:effectLst/>
        </p:spPr>
        <p:txBody>
          <a:bodyPr wrap="none" anchor="ctr">
            <a:spAutoFit/>
          </a:bodyPr>
          <a:lstStyle/>
          <a:p>
            <a:endParaRPr lang="zh-CN" altLang="en-US"/>
          </a:p>
        </p:txBody>
      </p:sp>
      <p:sp>
        <p:nvSpPr>
          <p:cNvPr id="62624" name="Line 160"/>
          <p:cNvSpPr>
            <a:spLocks noChangeShapeType="1"/>
          </p:cNvSpPr>
          <p:nvPr/>
        </p:nvSpPr>
        <p:spPr bwMode="auto">
          <a:xfrm flipH="1">
            <a:off x="5181600" y="4191000"/>
            <a:ext cx="0" cy="981075"/>
          </a:xfrm>
          <a:prstGeom prst="line">
            <a:avLst/>
          </a:prstGeom>
          <a:noFill/>
          <a:ln w="76200">
            <a:solidFill>
              <a:schemeClr val="accent1"/>
            </a:solidFill>
            <a:prstDash val="sysDot"/>
            <a:round/>
            <a:headEnd type="none" w="sm" len="sm"/>
            <a:tailEnd type="none" w="sm" len="sm"/>
          </a:ln>
          <a:effectLst/>
        </p:spPr>
        <p:txBody>
          <a:bodyPr wrap="none" anchor="ctr">
            <a:spAutoFit/>
          </a:bodyPr>
          <a:lstStyle/>
          <a:p>
            <a:endParaRPr lang="zh-CN" altLang="en-US"/>
          </a:p>
        </p:txBody>
      </p:sp>
      <p:sp>
        <p:nvSpPr>
          <p:cNvPr id="62625" name="Line 161"/>
          <p:cNvSpPr>
            <a:spLocks noChangeShapeType="1"/>
          </p:cNvSpPr>
          <p:nvPr/>
        </p:nvSpPr>
        <p:spPr bwMode="auto">
          <a:xfrm flipH="1">
            <a:off x="7467600" y="4191000"/>
            <a:ext cx="0" cy="981075"/>
          </a:xfrm>
          <a:prstGeom prst="line">
            <a:avLst/>
          </a:prstGeom>
          <a:noFill/>
          <a:ln w="76200">
            <a:solidFill>
              <a:schemeClr val="accent1"/>
            </a:solidFill>
            <a:prstDash val="sysDot"/>
            <a:round/>
            <a:headEnd type="none" w="sm" len="sm"/>
            <a:tailEnd type="none" w="sm" len="sm"/>
          </a:ln>
          <a:effectLst/>
        </p:spPr>
        <p:txBody>
          <a:bodyPr anchor="ctr">
            <a:spAutoFit/>
          </a:bodyPr>
          <a:lstStyle/>
          <a:p>
            <a:endParaRPr lang="zh-CN" altLang="en-US"/>
          </a:p>
        </p:txBody>
      </p:sp>
      <p:sp>
        <p:nvSpPr>
          <p:cNvPr id="62626" name="Line 162"/>
          <p:cNvSpPr>
            <a:spLocks noChangeShapeType="1"/>
          </p:cNvSpPr>
          <p:nvPr/>
        </p:nvSpPr>
        <p:spPr bwMode="auto">
          <a:xfrm flipH="1">
            <a:off x="8229600" y="4191000"/>
            <a:ext cx="0" cy="981075"/>
          </a:xfrm>
          <a:prstGeom prst="line">
            <a:avLst/>
          </a:prstGeom>
          <a:noFill/>
          <a:ln w="76200">
            <a:solidFill>
              <a:schemeClr val="accent1"/>
            </a:solidFill>
            <a:round/>
            <a:headEnd type="none" w="sm" len="sm"/>
            <a:tailEnd type="none" w="sm" len="sm"/>
          </a:ln>
          <a:effectLst/>
        </p:spPr>
        <p:txBody>
          <a:bodyPr wrap="none" anchor="ctr">
            <a:spAutoFit/>
          </a:bodyPr>
          <a:lstStyle/>
          <a:p>
            <a:endParaRPr lang="zh-CN" altLang="en-US"/>
          </a:p>
        </p:txBody>
      </p:sp>
      <p:sp>
        <p:nvSpPr>
          <p:cNvPr id="62627" name="Line 163"/>
          <p:cNvSpPr>
            <a:spLocks noChangeShapeType="1"/>
          </p:cNvSpPr>
          <p:nvPr/>
        </p:nvSpPr>
        <p:spPr bwMode="auto">
          <a:xfrm flipH="1">
            <a:off x="6934200" y="4191000"/>
            <a:ext cx="0" cy="981075"/>
          </a:xfrm>
          <a:prstGeom prst="line">
            <a:avLst/>
          </a:prstGeom>
          <a:noFill/>
          <a:ln w="76200">
            <a:solidFill>
              <a:schemeClr val="accent2"/>
            </a:solidFill>
            <a:prstDash val="sysDot"/>
            <a:round/>
            <a:headEnd type="none" w="sm" len="sm"/>
            <a:tailEnd type="none" w="sm" len="sm"/>
          </a:ln>
          <a:effectLst/>
        </p:spPr>
        <p:txBody>
          <a:bodyPr wrap="none" anchor="ctr">
            <a:spAutoFit/>
          </a:bodyPr>
          <a:lstStyle/>
          <a:p>
            <a:endParaRPr lang="zh-CN" altLang="en-US"/>
          </a:p>
        </p:txBody>
      </p:sp>
      <p:sp>
        <p:nvSpPr>
          <p:cNvPr id="62628" name="Line 164"/>
          <p:cNvSpPr>
            <a:spLocks noChangeShapeType="1"/>
          </p:cNvSpPr>
          <p:nvPr/>
        </p:nvSpPr>
        <p:spPr bwMode="auto">
          <a:xfrm flipH="1">
            <a:off x="7162800" y="4191000"/>
            <a:ext cx="0" cy="981075"/>
          </a:xfrm>
          <a:prstGeom prst="line">
            <a:avLst/>
          </a:prstGeom>
          <a:noFill/>
          <a:ln w="76200">
            <a:solidFill>
              <a:schemeClr val="accent2"/>
            </a:solidFill>
            <a:round/>
            <a:headEnd type="none" w="sm" len="sm"/>
            <a:tailEnd type="none" w="sm" len="sm"/>
          </a:ln>
          <a:effectLst/>
        </p:spPr>
        <p:txBody>
          <a:bodyPr wrap="none" anchor="ctr">
            <a:spAutoFit/>
          </a:bodyPr>
          <a:lstStyle/>
          <a:p>
            <a:endParaRPr lang="zh-CN" altLang="en-US"/>
          </a:p>
        </p:txBody>
      </p:sp>
      <p:sp>
        <p:nvSpPr>
          <p:cNvPr id="62629" name="Line 165"/>
          <p:cNvSpPr>
            <a:spLocks noChangeShapeType="1"/>
          </p:cNvSpPr>
          <p:nvPr/>
        </p:nvSpPr>
        <p:spPr bwMode="auto">
          <a:xfrm flipH="1">
            <a:off x="8001000" y="4191000"/>
            <a:ext cx="0" cy="981075"/>
          </a:xfrm>
          <a:prstGeom prst="line">
            <a:avLst/>
          </a:prstGeom>
          <a:noFill/>
          <a:ln w="76200">
            <a:solidFill>
              <a:schemeClr val="folHlink"/>
            </a:solidFill>
            <a:prstDash val="sysDot"/>
            <a:round/>
            <a:headEnd type="none" w="sm" len="sm"/>
            <a:tailEnd type="none" w="sm" len="sm"/>
          </a:ln>
          <a:effectLst/>
        </p:spPr>
        <p:txBody>
          <a:bodyPr wrap="none" anchor="ctr">
            <a:spAutoFit/>
          </a:bodyPr>
          <a:lstStyle/>
          <a:p>
            <a:endParaRPr lang="zh-CN" altLang="en-US"/>
          </a:p>
        </p:txBody>
      </p:sp>
      <p:sp>
        <p:nvSpPr>
          <p:cNvPr id="62630" name="Line 166"/>
          <p:cNvSpPr>
            <a:spLocks noChangeShapeType="1"/>
          </p:cNvSpPr>
          <p:nvPr/>
        </p:nvSpPr>
        <p:spPr bwMode="auto">
          <a:xfrm flipH="1">
            <a:off x="7772400" y="4191000"/>
            <a:ext cx="0" cy="981075"/>
          </a:xfrm>
          <a:prstGeom prst="line">
            <a:avLst/>
          </a:prstGeom>
          <a:noFill/>
          <a:ln w="76200">
            <a:solidFill>
              <a:schemeClr val="folHlink"/>
            </a:solidFill>
            <a:round/>
            <a:headEnd type="none" w="sm" len="sm"/>
            <a:tailEnd type="none" w="sm" len="sm"/>
          </a:ln>
          <a:effectLst/>
        </p:spPr>
        <p:txBody>
          <a:bodyPr wrap="none" anchor="ctr">
            <a:spAutoFit/>
          </a:bodyPr>
          <a:lstStyle/>
          <a:p>
            <a:endParaRPr lang="zh-CN" altLang="en-US"/>
          </a:p>
        </p:txBody>
      </p:sp>
      <p:sp>
        <p:nvSpPr>
          <p:cNvPr id="62631" name="Line 167"/>
          <p:cNvSpPr>
            <a:spLocks noChangeShapeType="1"/>
          </p:cNvSpPr>
          <p:nvPr/>
        </p:nvSpPr>
        <p:spPr bwMode="auto">
          <a:xfrm flipH="1">
            <a:off x="8686800" y="4191000"/>
            <a:ext cx="0" cy="981075"/>
          </a:xfrm>
          <a:prstGeom prst="line">
            <a:avLst/>
          </a:prstGeom>
          <a:noFill/>
          <a:ln w="76200">
            <a:solidFill>
              <a:srgbClr val="996600"/>
            </a:solidFill>
            <a:round/>
            <a:headEnd type="none" w="sm" len="sm"/>
            <a:tailEnd type="none" w="sm" len="sm"/>
          </a:ln>
          <a:effectLst/>
        </p:spPr>
        <p:txBody>
          <a:bodyPr wrap="none" anchor="ctr">
            <a:spAutoFit/>
          </a:bodyPr>
          <a:lstStyle/>
          <a:p>
            <a:endParaRPr lang="zh-CN" altLang="en-US"/>
          </a:p>
        </p:txBody>
      </p:sp>
      <p:sp>
        <p:nvSpPr>
          <p:cNvPr id="62632" name="Line 168"/>
          <p:cNvSpPr>
            <a:spLocks noChangeShapeType="1"/>
          </p:cNvSpPr>
          <p:nvPr/>
        </p:nvSpPr>
        <p:spPr bwMode="auto">
          <a:xfrm flipH="1">
            <a:off x="6172200" y="4191000"/>
            <a:ext cx="0" cy="981075"/>
          </a:xfrm>
          <a:prstGeom prst="line">
            <a:avLst/>
          </a:prstGeom>
          <a:noFill/>
          <a:ln w="76200">
            <a:solidFill>
              <a:srgbClr val="996600"/>
            </a:solidFill>
            <a:prstDash val="sysDot"/>
            <a:round/>
            <a:headEnd type="none" w="sm" len="sm"/>
            <a:tailEnd type="none" w="sm" len="sm"/>
          </a:ln>
          <a:effectLst/>
        </p:spPr>
        <p:txBody>
          <a:bodyPr wrap="none" anchor="ctr">
            <a:spAutoFit/>
          </a:bodyPr>
          <a:lstStyle/>
          <a:p>
            <a:endParaRPr lang="zh-CN" altLang="en-US"/>
          </a:p>
        </p:txBody>
      </p:sp>
      <p:sp>
        <p:nvSpPr>
          <p:cNvPr id="62633" name="Line 169"/>
          <p:cNvSpPr>
            <a:spLocks noChangeShapeType="1"/>
          </p:cNvSpPr>
          <p:nvPr/>
        </p:nvSpPr>
        <p:spPr bwMode="auto">
          <a:xfrm flipH="1">
            <a:off x="8458200" y="4191000"/>
            <a:ext cx="0" cy="981075"/>
          </a:xfrm>
          <a:prstGeom prst="line">
            <a:avLst/>
          </a:prstGeom>
          <a:noFill/>
          <a:ln w="76200">
            <a:solidFill>
              <a:srgbClr val="996600"/>
            </a:solidFill>
            <a:prstDash val="sysDot"/>
            <a:round/>
            <a:headEnd type="none" w="sm" len="sm"/>
            <a:tailEnd type="none" w="sm" len="sm"/>
          </a:ln>
          <a:effectLst/>
        </p:spPr>
        <p:txBody>
          <a:bodyPr wrap="none" anchor="ctr">
            <a:spAutoFit/>
          </a:bodyPr>
          <a:lstStyle/>
          <a:p>
            <a:endParaRPr lang="zh-CN" altLang="en-US"/>
          </a:p>
        </p:txBody>
      </p:sp>
      <p:sp>
        <p:nvSpPr>
          <p:cNvPr id="62634" name="Rectangle 170"/>
          <p:cNvSpPr>
            <a:spLocks noChangeAspect="1" noChangeArrowheads="1"/>
          </p:cNvSpPr>
          <p:nvPr/>
        </p:nvSpPr>
        <p:spPr bwMode="auto">
          <a:xfrm>
            <a:off x="6172200" y="3581400"/>
            <a:ext cx="371475" cy="412750"/>
          </a:xfrm>
          <a:prstGeom prst="rect">
            <a:avLst/>
          </a:prstGeom>
          <a:noFill/>
          <a:ln w="9525">
            <a:noFill/>
            <a:miter lim="800000"/>
            <a:headEnd/>
            <a:tailEnd/>
          </a:ln>
          <a:effectLst/>
        </p:spPr>
        <p:txBody>
          <a:bodyPr wrap="none" lIns="185571" tIns="92786" rIns="185571" bIns="92786">
            <a:spAutoFit/>
          </a:bodyPr>
          <a:lstStyle/>
          <a:p>
            <a:pPr defTabSz="1027113" eaLnBrk="0" hangingPunct="0"/>
            <a:endParaRPr kumimoji="0" lang="zh-CN" altLang="zh-CN" sz="1500" b="1">
              <a:solidFill>
                <a:srgbClr val="000000"/>
              </a:solidFill>
              <a:latin typeface="Helvetica" pitchFamily="34" charset="0"/>
            </a:endParaRPr>
          </a:p>
        </p:txBody>
      </p:sp>
      <p:sp>
        <p:nvSpPr>
          <p:cNvPr id="62635" name="Rectangle 171"/>
          <p:cNvSpPr>
            <a:spLocks noChangeArrowheads="1"/>
          </p:cNvSpPr>
          <p:nvPr/>
        </p:nvSpPr>
        <p:spPr bwMode="auto">
          <a:xfrm flipH="1">
            <a:off x="4572000" y="37338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1</a:t>
            </a:r>
          </a:p>
        </p:txBody>
      </p:sp>
      <p:sp>
        <p:nvSpPr>
          <p:cNvPr id="62636" name="Rectangle 172"/>
          <p:cNvSpPr>
            <a:spLocks noChangeArrowheads="1"/>
          </p:cNvSpPr>
          <p:nvPr/>
        </p:nvSpPr>
        <p:spPr bwMode="auto">
          <a:xfrm flipH="1">
            <a:off x="6781800" y="38100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1</a:t>
            </a:r>
          </a:p>
        </p:txBody>
      </p:sp>
      <p:sp>
        <p:nvSpPr>
          <p:cNvPr id="62637" name="Rectangle 173"/>
          <p:cNvSpPr>
            <a:spLocks noChangeArrowheads="1"/>
          </p:cNvSpPr>
          <p:nvPr/>
        </p:nvSpPr>
        <p:spPr bwMode="auto">
          <a:xfrm flipH="1">
            <a:off x="6248400" y="38100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8</a:t>
            </a:r>
          </a:p>
        </p:txBody>
      </p:sp>
      <p:sp>
        <p:nvSpPr>
          <p:cNvPr id="62638" name="Rectangle 174"/>
          <p:cNvSpPr>
            <a:spLocks noChangeArrowheads="1"/>
          </p:cNvSpPr>
          <p:nvPr/>
        </p:nvSpPr>
        <p:spPr bwMode="auto">
          <a:xfrm flipH="1">
            <a:off x="8534400" y="38100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ChangeArrowheads="1"/>
          </p:cNvSpPr>
          <p:nvPr/>
        </p:nvSpPr>
        <p:spPr bwMode="auto">
          <a:xfrm>
            <a:off x="701675" y="2309813"/>
            <a:ext cx="8442325" cy="3932237"/>
          </a:xfrm>
          <a:prstGeom prst="rect">
            <a:avLst/>
          </a:prstGeom>
          <a:noFill/>
          <a:ln w="9525">
            <a:noFill/>
            <a:miter lim="800000"/>
            <a:headEnd/>
            <a:tailEnd/>
          </a:ln>
          <a:effectLst/>
        </p:spPr>
        <p:txBody>
          <a:bodyPr wrap="none" lIns="0" tIns="0" rIns="0">
            <a:spAutoFit/>
          </a:bodyPr>
          <a:lstStyle/>
          <a:p>
            <a:endParaRPr lang="zh-CN" altLang="en-US"/>
          </a:p>
        </p:txBody>
      </p:sp>
      <p:sp>
        <p:nvSpPr>
          <p:cNvPr id="64515" name="Rectangle 1027"/>
          <p:cNvSpPr>
            <a:spLocks noChangeArrowheads="1"/>
          </p:cNvSpPr>
          <p:nvPr/>
        </p:nvSpPr>
        <p:spPr bwMode="auto">
          <a:xfrm>
            <a:off x="4572000" y="3598863"/>
            <a:ext cx="0" cy="457200"/>
          </a:xfrm>
          <a:prstGeom prst="rect">
            <a:avLst/>
          </a:prstGeom>
          <a:noFill/>
          <a:ln w="9525">
            <a:noFill/>
            <a:miter lim="800000"/>
            <a:headEnd/>
            <a:tailEnd/>
          </a:ln>
          <a:effectLst/>
        </p:spPr>
        <p:txBody>
          <a:bodyPr wrap="none" lIns="0" tIns="0" rIns="0" bIns="0">
            <a:spAutoFit/>
          </a:bodyPr>
          <a:lstStyle/>
          <a:p>
            <a:pPr defTabSz="744538" eaLnBrk="0" hangingPunct="0"/>
            <a:endParaRPr kumimoji="0" lang="en-US" altLang="zh-CN" sz="1500" b="1">
              <a:solidFill>
                <a:srgbClr val="000000"/>
              </a:solidFill>
              <a:latin typeface="Helvetica" pitchFamily="34" charset="0"/>
            </a:endParaRPr>
          </a:p>
          <a:p>
            <a:pPr defTabSz="744538" eaLnBrk="0" hangingPunct="0"/>
            <a:endParaRPr kumimoji="0" lang="en-US" altLang="zh-CN" sz="1500" b="1">
              <a:solidFill>
                <a:srgbClr val="000000"/>
              </a:solidFill>
              <a:latin typeface="Helvetica" pitchFamily="34" charset="0"/>
            </a:endParaRPr>
          </a:p>
        </p:txBody>
      </p:sp>
      <p:sp>
        <p:nvSpPr>
          <p:cNvPr id="64516" name="Rectangle 1028"/>
          <p:cNvSpPr>
            <a:spLocks noChangeArrowheads="1"/>
          </p:cNvSpPr>
          <p:nvPr/>
        </p:nvSpPr>
        <p:spPr bwMode="auto">
          <a:xfrm>
            <a:off x="5859463" y="1893888"/>
            <a:ext cx="0" cy="457200"/>
          </a:xfrm>
          <a:prstGeom prst="rect">
            <a:avLst/>
          </a:prstGeom>
          <a:noFill/>
          <a:ln w="9525">
            <a:noFill/>
            <a:miter lim="800000"/>
            <a:headEnd/>
            <a:tailEnd/>
          </a:ln>
          <a:effectLst/>
        </p:spPr>
        <p:txBody>
          <a:bodyPr wrap="none" lIns="0" tIns="0" rIns="0" bIns="0">
            <a:spAutoFit/>
          </a:bodyPr>
          <a:lstStyle/>
          <a:p>
            <a:pPr defTabSz="744538" eaLnBrk="0" hangingPunct="0"/>
            <a:endParaRPr kumimoji="0" lang="en-US" altLang="zh-CN" sz="1500" b="1">
              <a:solidFill>
                <a:srgbClr val="000000"/>
              </a:solidFill>
              <a:latin typeface="Helvetica" pitchFamily="34" charset="0"/>
            </a:endParaRPr>
          </a:p>
          <a:p>
            <a:pPr defTabSz="744538" eaLnBrk="0" hangingPunct="0"/>
            <a:endParaRPr kumimoji="0" lang="en-US" altLang="zh-CN" sz="1500" b="1">
              <a:solidFill>
                <a:srgbClr val="000000"/>
              </a:solidFill>
              <a:latin typeface="Helvetica" pitchFamily="34" charset="0"/>
            </a:endParaRPr>
          </a:p>
        </p:txBody>
      </p:sp>
      <p:sp>
        <p:nvSpPr>
          <p:cNvPr id="64517" name="Rectangle 1029"/>
          <p:cNvSpPr>
            <a:spLocks noGrp="1" noChangeArrowheads="1"/>
          </p:cNvSpPr>
          <p:nvPr>
            <p:ph type="title"/>
          </p:nvPr>
        </p:nvSpPr>
        <p:spPr>
          <a:xfrm>
            <a:off x="766763" y="609600"/>
            <a:ext cx="7623175" cy="719138"/>
          </a:xfrm>
        </p:spPr>
        <p:txBody>
          <a:bodyPr/>
          <a:lstStyle/>
          <a:p>
            <a:r>
              <a:rPr lang="en-US" altLang="zh-CN"/>
              <a:t>Crossover  TIA/EIA T568B</a:t>
            </a:r>
          </a:p>
        </p:txBody>
      </p:sp>
      <p:sp>
        <p:nvSpPr>
          <p:cNvPr id="64518" name="Rectangle 1030"/>
          <p:cNvSpPr>
            <a:spLocks noChangeArrowheads="1"/>
          </p:cNvSpPr>
          <p:nvPr/>
        </p:nvSpPr>
        <p:spPr bwMode="auto">
          <a:xfrm>
            <a:off x="4843463" y="5065713"/>
            <a:ext cx="3978275" cy="1187450"/>
          </a:xfrm>
          <a:prstGeom prst="rect">
            <a:avLst/>
          </a:prstGeom>
          <a:noFill/>
          <a:ln w="9525">
            <a:noFill/>
            <a:miter lim="800000"/>
            <a:headEnd type="none" w="sm" len="sm"/>
            <a:tailEnd type="none" w="sm" len="sm"/>
          </a:ln>
          <a:effectLst/>
        </p:spPr>
        <p:txBody>
          <a:bodyPr lIns="102769" tIns="51385" rIns="102769" bIns="51385">
            <a:spAutoFit/>
          </a:bodyPr>
          <a:lstStyle/>
          <a:p>
            <a:pPr algn="ctr" defTabSz="1027113" eaLnBrk="0" hangingPunct="0">
              <a:lnSpc>
                <a:spcPct val="95000"/>
              </a:lnSpc>
            </a:pPr>
            <a:r>
              <a:rPr kumimoji="0" lang="en-US" altLang="zh-CN" sz="2500" b="1">
                <a:solidFill>
                  <a:srgbClr val="000000"/>
                </a:solidFill>
                <a:latin typeface="Helvetica" pitchFamily="34" charset="0"/>
              </a:rPr>
              <a:t/>
            </a:r>
            <a:br>
              <a:rPr kumimoji="0" lang="en-US" altLang="zh-CN" sz="2500" b="1">
                <a:solidFill>
                  <a:srgbClr val="000000"/>
                </a:solidFill>
                <a:latin typeface="Helvetica" pitchFamily="34" charset="0"/>
              </a:rPr>
            </a:br>
            <a:r>
              <a:rPr kumimoji="0" lang="en-US" altLang="zh-CN" sz="2500" b="1">
                <a:solidFill>
                  <a:srgbClr val="000000"/>
                </a:solidFill>
                <a:latin typeface="Helvetica" pitchFamily="34" charset="0"/>
              </a:rPr>
              <a:t>Some wires on cable ends are crossed</a:t>
            </a:r>
          </a:p>
        </p:txBody>
      </p:sp>
      <p:sp>
        <p:nvSpPr>
          <p:cNvPr id="64519" name="Rectangle 1031"/>
          <p:cNvSpPr>
            <a:spLocks noChangeArrowheads="1"/>
          </p:cNvSpPr>
          <p:nvPr/>
        </p:nvSpPr>
        <p:spPr bwMode="auto">
          <a:xfrm>
            <a:off x="330200" y="1608138"/>
            <a:ext cx="4454525" cy="857250"/>
          </a:xfrm>
          <a:prstGeom prst="rect">
            <a:avLst/>
          </a:prstGeom>
          <a:noFill/>
          <a:ln w="9525">
            <a:noFill/>
            <a:miter lim="800000"/>
            <a:headEnd type="none" w="sm" len="sm"/>
            <a:tailEnd type="none" w="sm" len="sm"/>
          </a:ln>
          <a:effectLst/>
        </p:spPr>
        <p:txBody>
          <a:bodyPr lIns="102769" tIns="51385" rIns="102769" bIns="51385">
            <a:spAutoFit/>
          </a:bodyPr>
          <a:lstStyle/>
          <a:p>
            <a:pPr algn="ctr" defTabSz="1027113" eaLnBrk="0" hangingPunct="0">
              <a:lnSpc>
                <a:spcPct val="95000"/>
              </a:lnSpc>
            </a:pPr>
            <a:r>
              <a:rPr kumimoji="0" lang="en-US" altLang="zh-CN" sz="2600" b="1">
                <a:solidFill>
                  <a:srgbClr val="000000"/>
                </a:solidFill>
                <a:latin typeface="Helvetica" pitchFamily="34" charset="0"/>
              </a:rPr>
              <a:t>Cable 10BaseT/</a:t>
            </a:r>
            <a:br>
              <a:rPr kumimoji="0" lang="en-US" altLang="zh-CN" sz="2600" b="1">
                <a:solidFill>
                  <a:srgbClr val="000000"/>
                </a:solidFill>
                <a:latin typeface="Helvetica" pitchFamily="34" charset="0"/>
              </a:rPr>
            </a:br>
            <a:r>
              <a:rPr kumimoji="0" lang="en-US" altLang="zh-CN" sz="2600" b="1">
                <a:solidFill>
                  <a:srgbClr val="000000"/>
                </a:solidFill>
                <a:latin typeface="Helvetica" pitchFamily="34" charset="0"/>
              </a:rPr>
              <a:t>100BaseT Crossover</a:t>
            </a:r>
          </a:p>
        </p:txBody>
      </p:sp>
      <p:sp>
        <p:nvSpPr>
          <p:cNvPr id="64520" name="Rectangle 1032"/>
          <p:cNvSpPr>
            <a:spLocks noChangeAspect="1" noChangeArrowheads="1"/>
          </p:cNvSpPr>
          <p:nvPr/>
        </p:nvSpPr>
        <p:spPr bwMode="auto">
          <a:xfrm>
            <a:off x="542925" y="3416300"/>
            <a:ext cx="2917825" cy="2725738"/>
          </a:xfrm>
          <a:prstGeom prst="rect">
            <a:avLst/>
          </a:prstGeom>
          <a:noFill/>
          <a:ln w="9525">
            <a:noFill/>
            <a:miter lim="800000"/>
            <a:headEnd/>
            <a:tailEnd/>
          </a:ln>
          <a:effectLst/>
        </p:spPr>
        <p:txBody>
          <a:bodyPr lIns="250144" tIns="127624" rIns="250144" bIns="127624">
            <a:spAutoFit/>
          </a:bodyPr>
          <a:lstStyle/>
          <a:p>
            <a:pPr defTabSz="1027113" eaLnBrk="0" hangingPunct="0">
              <a:tabLst>
                <a:tab pos="747713" algn="ctr"/>
              </a:tabLst>
            </a:pPr>
            <a:r>
              <a:rPr kumimoji="0" lang="en-US" altLang="zh-CN" sz="1800" b="1" dirty="0">
                <a:solidFill>
                  <a:srgbClr val="000000"/>
                </a:solidFill>
                <a:latin typeface="Helvetica" pitchFamily="34" charset="0"/>
              </a:rPr>
              <a:t>Pin 	Label</a:t>
            </a:r>
          </a:p>
          <a:p>
            <a:pPr defTabSz="1027113" eaLnBrk="0" hangingPunct="0">
              <a:tabLst>
                <a:tab pos="747713" algn="ctr"/>
              </a:tabLst>
            </a:pPr>
            <a:r>
              <a:rPr kumimoji="0" lang="en-US" altLang="zh-CN" sz="1800" b="1" dirty="0">
                <a:solidFill>
                  <a:srgbClr val="000000"/>
                </a:solidFill>
                <a:latin typeface="Helvetica" pitchFamily="34" charset="0"/>
              </a:rPr>
              <a:t>1	RD+</a:t>
            </a:r>
          </a:p>
          <a:p>
            <a:pPr defTabSz="1027113" eaLnBrk="0" hangingPunct="0">
              <a:tabLst>
                <a:tab pos="747713" algn="ctr"/>
              </a:tabLst>
            </a:pPr>
            <a:r>
              <a:rPr kumimoji="0" lang="en-US" altLang="zh-CN" sz="1800" b="1" dirty="0">
                <a:solidFill>
                  <a:srgbClr val="000000"/>
                </a:solidFill>
                <a:latin typeface="Helvetica" pitchFamily="34" charset="0"/>
              </a:rPr>
              <a:t>2	RD-</a:t>
            </a:r>
          </a:p>
          <a:p>
            <a:pPr defTabSz="1027113" eaLnBrk="0" hangingPunct="0">
              <a:tabLst>
                <a:tab pos="747713" algn="ctr"/>
              </a:tabLst>
            </a:pPr>
            <a:r>
              <a:rPr kumimoji="0" lang="en-US" altLang="zh-CN" sz="1800" b="1" dirty="0">
                <a:solidFill>
                  <a:srgbClr val="000000"/>
                </a:solidFill>
                <a:latin typeface="Helvetica" pitchFamily="34" charset="0"/>
              </a:rPr>
              <a:t>3	TD+</a:t>
            </a:r>
          </a:p>
          <a:p>
            <a:pPr defTabSz="1027113" eaLnBrk="0" hangingPunct="0">
              <a:tabLst>
                <a:tab pos="747713" algn="ctr"/>
              </a:tabLst>
            </a:pPr>
            <a:r>
              <a:rPr kumimoji="0" lang="en-US" altLang="zh-CN" sz="1800" b="1" dirty="0">
                <a:solidFill>
                  <a:srgbClr val="000000"/>
                </a:solidFill>
                <a:latin typeface="Helvetica" pitchFamily="34" charset="0"/>
              </a:rPr>
              <a:t>4	NC</a:t>
            </a:r>
          </a:p>
          <a:p>
            <a:pPr defTabSz="1027113" eaLnBrk="0" hangingPunct="0">
              <a:tabLst>
                <a:tab pos="747713" algn="ctr"/>
              </a:tabLst>
            </a:pPr>
            <a:r>
              <a:rPr kumimoji="0" lang="en-US" altLang="zh-CN" sz="1800" b="1" dirty="0">
                <a:solidFill>
                  <a:srgbClr val="000000"/>
                </a:solidFill>
                <a:latin typeface="Helvetica" pitchFamily="34" charset="0"/>
              </a:rPr>
              <a:t>5	NC</a:t>
            </a:r>
          </a:p>
          <a:p>
            <a:pPr defTabSz="1027113" eaLnBrk="0" hangingPunct="0">
              <a:tabLst>
                <a:tab pos="747713" algn="ctr"/>
              </a:tabLst>
            </a:pPr>
            <a:r>
              <a:rPr kumimoji="0" lang="en-US" altLang="zh-CN" sz="1800" b="1" dirty="0">
                <a:solidFill>
                  <a:srgbClr val="000000"/>
                </a:solidFill>
                <a:latin typeface="Helvetica" pitchFamily="34" charset="0"/>
              </a:rPr>
              <a:t>6	TD-</a:t>
            </a:r>
          </a:p>
          <a:p>
            <a:pPr defTabSz="1027113" eaLnBrk="0" hangingPunct="0">
              <a:tabLst>
                <a:tab pos="747713" algn="ctr"/>
              </a:tabLst>
            </a:pPr>
            <a:r>
              <a:rPr kumimoji="0" lang="en-US" altLang="zh-CN" sz="1800" b="1" dirty="0">
                <a:solidFill>
                  <a:srgbClr val="000000"/>
                </a:solidFill>
                <a:latin typeface="Helvetica" pitchFamily="34" charset="0"/>
              </a:rPr>
              <a:t>7	NC</a:t>
            </a:r>
          </a:p>
          <a:p>
            <a:pPr defTabSz="1027113" eaLnBrk="0" hangingPunct="0">
              <a:tabLst>
                <a:tab pos="747713" algn="ctr"/>
              </a:tabLst>
            </a:pPr>
            <a:r>
              <a:rPr kumimoji="0" lang="en-US" altLang="zh-CN" sz="1800" b="1" dirty="0">
                <a:solidFill>
                  <a:srgbClr val="000000"/>
                </a:solidFill>
                <a:latin typeface="Helvetica" pitchFamily="34" charset="0"/>
              </a:rPr>
              <a:t>8	NC</a:t>
            </a:r>
          </a:p>
        </p:txBody>
      </p:sp>
      <p:sp>
        <p:nvSpPr>
          <p:cNvPr id="64521" name="Rectangle 1033"/>
          <p:cNvSpPr>
            <a:spLocks noChangeAspect="1" noChangeArrowheads="1"/>
          </p:cNvSpPr>
          <p:nvPr/>
        </p:nvSpPr>
        <p:spPr bwMode="auto">
          <a:xfrm>
            <a:off x="2600325" y="3402013"/>
            <a:ext cx="1760538" cy="2725737"/>
          </a:xfrm>
          <a:prstGeom prst="rect">
            <a:avLst/>
          </a:prstGeom>
          <a:noFill/>
          <a:ln w="9525">
            <a:noFill/>
            <a:miter lim="800000"/>
            <a:headEnd/>
            <a:tailEnd/>
          </a:ln>
          <a:effectLst/>
        </p:spPr>
        <p:txBody>
          <a:bodyPr lIns="250144" tIns="127624" rIns="250144" bIns="127624">
            <a:spAutoFit/>
          </a:bodyPr>
          <a:lstStyle/>
          <a:p>
            <a:pPr defTabSz="1027113" eaLnBrk="0" hangingPunct="0">
              <a:tabLst>
                <a:tab pos="747713" algn="ctr"/>
              </a:tabLst>
            </a:pPr>
            <a:r>
              <a:rPr kumimoji="0" lang="en-US" altLang="zh-CN" sz="1800" b="1">
                <a:solidFill>
                  <a:srgbClr val="000000"/>
                </a:solidFill>
                <a:latin typeface="Helvetica" pitchFamily="34" charset="0"/>
              </a:rPr>
              <a:t>Pin 	Label</a:t>
            </a:r>
          </a:p>
          <a:p>
            <a:pPr defTabSz="1027113" eaLnBrk="0" hangingPunct="0">
              <a:tabLst>
                <a:tab pos="747713" algn="ctr"/>
              </a:tabLst>
            </a:pPr>
            <a:r>
              <a:rPr kumimoji="0" lang="en-US" altLang="zh-CN" sz="1800" b="1">
                <a:solidFill>
                  <a:srgbClr val="000000"/>
                </a:solidFill>
                <a:latin typeface="Helvetica" pitchFamily="34" charset="0"/>
              </a:rPr>
              <a:t>1	RD+</a:t>
            </a:r>
          </a:p>
          <a:p>
            <a:pPr defTabSz="1027113" eaLnBrk="0" hangingPunct="0">
              <a:tabLst>
                <a:tab pos="747713" algn="ctr"/>
              </a:tabLst>
            </a:pPr>
            <a:r>
              <a:rPr kumimoji="0" lang="en-US" altLang="zh-CN" sz="1800" b="1">
                <a:solidFill>
                  <a:srgbClr val="000000"/>
                </a:solidFill>
                <a:latin typeface="Helvetica" pitchFamily="34" charset="0"/>
              </a:rPr>
              <a:t>2	RD-</a:t>
            </a:r>
          </a:p>
          <a:p>
            <a:pPr defTabSz="1027113" eaLnBrk="0" hangingPunct="0">
              <a:tabLst>
                <a:tab pos="747713" algn="ctr"/>
              </a:tabLst>
            </a:pPr>
            <a:r>
              <a:rPr kumimoji="0" lang="en-US" altLang="zh-CN" sz="1800" b="1">
                <a:solidFill>
                  <a:srgbClr val="000000"/>
                </a:solidFill>
                <a:latin typeface="Helvetica" pitchFamily="34" charset="0"/>
              </a:rPr>
              <a:t>3	TD+</a:t>
            </a:r>
          </a:p>
          <a:p>
            <a:pPr defTabSz="1027113" eaLnBrk="0" hangingPunct="0">
              <a:tabLst>
                <a:tab pos="747713" algn="ctr"/>
              </a:tabLst>
            </a:pPr>
            <a:r>
              <a:rPr kumimoji="0" lang="en-US" altLang="zh-CN" sz="1800" b="1">
                <a:solidFill>
                  <a:srgbClr val="000000"/>
                </a:solidFill>
                <a:latin typeface="Helvetica" pitchFamily="34" charset="0"/>
              </a:rPr>
              <a:t>4	NC</a:t>
            </a:r>
          </a:p>
          <a:p>
            <a:pPr defTabSz="1027113" eaLnBrk="0" hangingPunct="0">
              <a:tabLst>
                <a:tab pos="747713" algn="ctr"/>
              </a:tabLst>
            </a:pPr>
            <a:r>
              <a:rPr kumimoji="0" lang="en-US" altLang="zh-CN" sz="1800" b="1">
                <a:solidFill>
                  <a:srgbClr val="000000"/>
                </a:solidFill>
                <a:latin typeface="Helvetica" pitchFamily="34" charset="0"/>
              </a:rPr>
              <a:t>5	NC</a:t>
            </a:r>
          </a:p>
          <a:p>
            <a:pPr defTabSz="1027113" eaLnBrk="0" hangingPunct="0">
              <a:tabLst>
                <a:tab pos="747713" algn="ctr"/>
              </a:tabLst>
            </a:pPr>
            <a:r>
              <a:rPr kumimoji="0" lang="en-US" altLang="zh-CN" sz="1800" b="1">
                <a:solidFill>
                  <a:srgbClr val="000000"/>
                </a:solidFill>
                <a:latin typeface="Helvetica" pitchFamily="34" charset="0"/>
              </a:rPr>
              <a:t>6	TD-</a:t>
            </a:r>
          </a:p>
          <a:p>
            <a:pPr defTabSz="1027113" eaLnBrk="0" hangingPunct="0">
              <a:tabLst>
                <a:tab pos="747713" algn="ctr"/>
              </a:tabLst>
            </a:pPr>
            <a:r>
              <a:rPr kumimoji="0" lang="en-US" altLang="zh-CN" sz="1800" b="1">
                <a:solidFill>
                  <a:srgbClr val="000000"/>
                </a:solidFill>
                <a:latin typeface="Helvetica" pitchFamily="34" charset="0"/>
              </a:rPr>
              <a:t>7	NC</a:t>
            </a:r>
          </a:p>
          <a:p>
            <a:pPr defTabSz="1027113" eaLnBrk="0" hangingPunct="0">
              <a:tabLst>
                <a:tab pos="747713" algn="ctr"/>
              </a:tabLst>
            </a:pPr>
            <a:r>
              <a:rPr kumimoji="0" lang="en-US" altLang="zh-CN" sz="1800" b="1">
                <a:solidFill>
                  <a:srgbClr val="000000"/>
                </a:solidFill>
                <a:latin typeface="Helvetica" pitchFamily="34" charset="0"/>
              </a:rPr>
              <a:t>8	NC</a:t>
            </a:r>
          </a:p>
        </p:txBody>
      </p:sp>
      <p:sp>
        <p:nvSpPr>
          <p:cNvPr id="64522" name="Line 1034"/>
          <p:cNvSpPr>
            <a:spLocks noChangeShapeType="1"/>
          </p:cNvSpPr>
          <p:nvPr/>
        </p:nvSpPr>
        <p:spPr bwMode="auto">
          <a:xfrm flipV="1">
            <a:off x="2411760" y="3933056"/>
            <a:ext cx="1031875" cy="546100"/>
          </a:xfrm>
          <a:prstGeom prst="line">
            <a:avLst/>
          </a:prstGeom>
          <a:noFill/>
          <a:ln w="38100">
            <a:solidFill>
              <a:schemeClr val="tx1"/>
            </a:solidFill>
            <a:round/>
            <a:headEnd type="none" w="sm" len="sm"/>
            <a:tailEnd type="triangle" w="med" len="med"/>
          </a:ln>
          <a:effectLst/>
        </p:spPr>
        <p:txBody>
          <a:bodyPr anchor="ctr">
            <a:spAutoFit/>
          </a:bodyPr>
          <a:lstStyle/>
          <a:p>
            <a:endParaRPr lang="zh-CN" altLang="en-US"/>
          </a:p>
        </p:txBody>
      </p:sp>
      <p:sp>
        <p:nvSpPr>
          <p:cNvPr id="64523" name="Line 1035"/>
          <p:cNvSpPr>
            <a:spLocks noChangeShapeType="1"/>
          </p:cNvSpPr>
          <p:nvPr/>
        </p:nvSpPr>
        <p:spPr bwMode="auto">
          <a:xfrm flipV="1">
            <a:off x="2411760" y="4221088"/>
            <a:ext cx="1085850" cy="1111250"/>
          </a:xfrm>
          <a:prstGeom prst="line">
            <a:avLst/>
          </a:prstGeom>
          <a:noFill/>
          <a:ln w="38100">
            <a:solidFill>
              <a:schemeClr val="tx1"/>
            </a:solidFill>
            <a:round/>
            <a:headEnd type="none" w="sm" len="sm"/>
            <a:tailEnd type="triangle" w="med" len="med"/>
          </a:ln>
          <a:effectLst/>
        </p:spPr>
        <p:txBody>
          <a:bodyPr anchor="ctr">
            <a:spAutoFit/>
          </a:bodyPr>
          <a:lstStyle/>
          <a:p>
            <a:endParaRPr lang="zh-CN" altLang="en-US"/>
          </a:p>
        </p:txBody>
      </p:sp>
      <p:sp>
        <p:nvSpPr>
          <p:cNvPr id="64524" name="Line 1036"/>
          <p:cNvSpPr>
            <a:spLocks noChangeShapeType="1"/>
          </p:cNvSpPr>
          <p:nvPr/>
        </p:nvSpPr>
        <p:spPr bwMode="auto">
          <a:xfrm flipH="1" flipV="1">
            <a:off x="2339752" y="3933056"/>
            <a:ext cx="1069975" cy="531812"/>
          </a:xfrm>
          <a:prstGeom prst="line">
            <a:avLst/>
          </a:prstGeom>
          <a:noFill/>
          <a:ln w="38100">
            <a:solidFill>
              <a:schemeClr val="tx1"/>
            </a:solidFill>
            <a:round/>
            <a:headEnd/>
            <a:tailEnd type="triangle" w="med" len="med"/>
          </a:ln>
          <a:effectLst/>
        </p:spPr>
        <p:txBody>
          <a:bodyPr anchor="ctr">
            <a:spAutoFit/>
          </a:bodyPr>
          <a:lstStyle/>
          <a:p>
            <a:endParaRPr lang="zh-CN" altLang="en-US"/>
          </a:p>
        </p:txBody>
      </p:sp>
      <p:sp>
        <p:nvSpPr>
          <p:cNvPr id="64525" name="Line 1037"/>
          <p:cNvSpPr>
            <a:spLocks noChangeShapeType="1"/>
          </p:cNvSpPr>
          <p:nvPr/>
        </p:nvSpPr>
        <p:spPr bwMode="auto">
          <a:xfrm flipH="1" flipV="1">
            <a:off x="2339752" y="4221088"/>
            <a:ext cx="1082675" cy="1079500"/>
          </a:xfrm>
          <a:prstGeom prst="line">
            <a:avLst/>
          </a:prstGeom>
          <a:noFill/>
          <a:ln w="38100">
            <a:solidFill>
              <a:schemeClr val="tx1"/>
            </a:solidFill>
            <a:round/>
            <a:headEnd/>
            <a:tailEnd type="triangle" w="med" len="med"/>
          </a:ln>
          <a:effectLst/>
        </p:spPr>
        <p:txBody>
          <a:bodyPr anchor="ctr">
            <a:spAutoFit/>
          </a:bodyPr>
          <a:lstStyle/>
          <a:p>
            <a:endParaRPr lang="zh-CN" altLang="en-US"/>
          </a:p>
        </p:txBody>
      </p:sp>
      <p:sp>
        <p:nvSpPr>
          <p:cNvPr id="64526" name="Rectangle 1038"/>
          <p:cNvSpPr>
            <a:spLocks noChangeArrowheads="1"/>
          </p:cNvSpPr>
          <p:nvPr/>
        </p:nvSpPr>
        <p:spPr bwMode="auto">
          <a:xfrm>
            <a:off x="5254625" y="1846263"/>
            <a:ext cx="2998788" cy="498475"/>
          </a:xfrm>
          <a:prstGeom prst="rect">
            <a:avLst/>
          </a:prstGeom>
          <a:noFill/>
          <a:ln w="9525">
            <a:noFill/>
            <a:miter lim="800000"/>
            <a:headEnd type="none" w="sm" len="sm"/>
            <a:tailEnd type="none" w="sm" len="sm"/>
          </a:ln>
          <a:effectLst/>
        </p:spPr>
        <p:txBody>
          <a:bodyPr lIns="102769" tIns="51385" rIns="102769" bIns="51385">
            <a:spAutoFit/>
          </a:bodyPr>
          <a:lstStyle/>
          <a:p>
            <a:pPr defTabSz="1027113" eaLnBrk="0" hangingPunct="0"/>
            <a:r>
              <a:rPr kumimoji="0" lang="en-US" altLang="zh-CN" sz="2600" b="1">
                <a:solidFill>
                  <a:srgbClr val="000000"/>
                </a:solidFill>
                <a:latin typeface="Helvetica" pitchFamily="34" charset="0"/>
              </a:rPr>
              <a:t>Crossover Cable</a:t>
            </a:r>
          </a:p>
        </p:txBody>
      </p:sp>
      <p:sp>
        <p:nvSpPr>
          <p:cNvPr id="64527" name="Freeform 1039"/>
          <p:cNvSpPr>
            <a:spLocks noChangeAspect="1"/>
          </p:cNvSpPr>
          <p:nvPr/>
        </p:nvSpPr>
        <p:spPr bwMode="auto">
          <a:xfrm flipH="1">
            <a:off x="7158038" y="3006725"/>
            <a:ext cx="209550" cy="131763"/>
          </a:xfrm>
          <a:custGeom>
            <a:avLst/>
            <a:gdLst/>
            <a:ahLst/>
            <a:cxnLst>
              <a:cxn ang="0">
                <a:pos x="311" y="0"/>
              </a:cxn>
              <a:cxn ang="0">
                <a:pos x="311" y="78"/>
              </a:cxn>
              <a:cxn ang="0">
                <a:pos x="0" y="231"/>
              </a:cxn>
              <a:cxn ang="0">
                <a:pos x="0" y="78"/>
              </a:cxn>
              <a:cxn ang="0">
                <a:pos x="311" y="0"/>
              </a:cxn>
            </a:cxnLst>
            <a:rect l="0" t="0" r="r" b="b"/>
            <a:pathLst>
              <a:path w="312" h="232">
                <a:moveTo>
                  <a:pt x="311" y="0"/>
                </a:moveTo>
                <a:lnTo>
                  <a:pt x="311" y="78"/>
                </a:lnTo>
                <a:lnTo>
                  <a:pt x="0" y="231"/>
                </a:lnTo>
                <a:lnTo>
                  <a:pt x="0" y="78"/>
                </a:lnTo>
                <a:lnTo>
                  <a:pt x="311" y="0"/>
                </a:lnTo>
              </a:path>
            </a:pathLst>
          </a:custGeom>
          <a:solidFill>
            <a:srgbClr val="FFFFFF"/>
          </a:solidFill>
          <a:ln w="9525" cap="rnd">
            <a:noFill/>
            <a:round/>
            <a:headEnd/>
            <a:tailEnd/>
          </a:ln>
          <a:effectLst/>
        </p:spPr>
        <p:txBody>
          <a:bodyPr/>
          <a:lstStyle/>
          <a:p>
            <a:endParaRPr lang="zh-CN" altLang="en-US"/>
          </a:p>
        </p:txBody>
      </p:sp>
      <p:sp>
        <p:nvSpPr>
          <p:cNvPr id="64528" name="Freeform 1040"/>
          <p:cNvSpPr>
            <a:spLocks noChangeAspect="1"/>
          </p:cNvSpPr>
          <p:nvPr/>
        </p:nvSpPr>
        <p:spPr bwMode="auto">
          <a:xfrm flipH="1">
            <a:off x="7148513" y="3009900"/>
            <a:ext cx="214312" cy="136525"/>
          </a:xfrm>
          <a:custGeom>
            <a:avLst/>
            <a:gdLst/>
            <a:ahLst/>
            <a:cxnLst>
              <a:cxn ang="0">
                <a:pos x="318" y="0"/>
              </a:cxn>
              <a:cxn ang="0">
                <a:pos x="318" y="80"/>
              </a:cxn>
              <a:cxn ang="0">
                <a:pos x="0" y="237"/>
              </a:cxn>
              <a:cxn ang="0">
                <a:pos x="0" y="80"/>
              </a:cxn>
              <a:cxn ang="0">
                <a:pos x="318" y="0"/>
              </a:cxn>
              <a:cxn ang="0">
                <a:pos x="318" y="80"/>
              </a:cxn>
              <a:cxn ang="0">
                <a:pos x="0" y="237"/>
              </a:cxn>
              <a:cxn ang="0">
                <a:pos x="0" y="80"/>
              </a:cxn>
              <a:cxn ang="0">
                <a:pos x="318" y="0"/>
              </a:cxn>
            </a:cxnLst>
            <a:rect l="0" t="0" r="r" b="b"/>
            <a:pathLst>
              <a:path w="319" h="238">
                <a:moveTo>
                  <a:pt x="318" y="0"/>
                </a:moveTo>
                <a:lnTo>
                  <a:pt x="318" y="80"/>
                </a:lnTo>
                <a:lnTo>
                  <a:pt x="0" y="237"/>
                </a:lnTo>
                <a:lnTo>
                  <a:pt x="0" y="80"/>
                </a:lnTo>
                <a:lnTo>
                  <a:pt x="318" y="0"/>
                </a:lnTo>
                <a:lnTo>
                  <a:pt x="318" y="80"/>
                </a:lnTo>
                <a:lnTo>
                  <a:pt x="0" y="237"/>
                </a:lnTo>
                <a:lnTo>
                  <a:pt x="0" y="80"/>
                </a:lnTo>
                <a:lnTo>
                  <a:pt x="318" y="0"/>
                </a:lnTo>
              </a:path>
            </a:pathLst>
          </a:custGeom>
          <a:noFill/>
          <a:ln w="25400" cap="rnd" cmpd="sng">
            <a:solidFill>
              <a:srgbClr val="000000"/>
            </a:solidFill>
            <a:prstDash val="solid"/>
            <a:round/>
            <a:headEnd/>
            <a:tailEnd/>
          </a:ln>
          <a:effectLst/>
        </p:spPr>
        <p:txBody>
          <a:bodyPr/>
          <a:lstStyle/>
          <a:p>
            <a:endParaRPr lang="zh-CN" altLang="en-US"/>
          </a:p>
        </p:txBody>
      </p:sp>
      <p:sp>
        <p:nvSpPr>
          <p:cNvPr id="64529" name="Freeform 1041"/>
          <p:cNvSpPr>
            <a:spLocks noChangeAspect="1"/>
          </p:cNvSpPr>
          <p:nvPr/>
        </p:nvSpPr>
        <p:spPr bwMode="auto">
          <a:xfrm flipH="1">
            <a:off x="7158038" y="2933700"/>
            <a:ext cx="293687" cy="115888"/>
          </a:xfrm>
          <a:custGeom>
            <a:avLst/>
            <a:gdLst/>
            <a:ahLst/>
            <a:cxnLst>
              <a:cxn ang="0">
                <a:pos x="436" y="121"/>
              </a:cxn>
              <a:cxn ang="0">
                <a:pos x="313" y="0"/>
              </a:cxn>
              <a:cxn ang="0">
                <a:pos x="0" y="77"/>
              </a:cxn>
              <a:cxn ang="0">
                <a:pos x="123" y="198"/>
              </a:cxn>
              <a:cxn ang="0">
                <a:pos x="436" y="121"/>
              </a:cxn>
            </a:cxnLst>
            <a:rect l="0" t="0" r="r" b="b"/>
            <a:pathLst>
              <a:path w="437" h="199">
                <a:moveTo>
                  <a:pt x="436" y="121"/>
                </a:moveTo>
                <a:lnTo>
                  <a:pt x="313" y="0"/>
                </a:lnTo>
                <a:lnTo>
                  <a:pt x="0" y="77"/>
                </a:lnTo>
                <a:lnTo>
                  <a:pt x="123" y="198"/>
                </a:lnTo>
                <a:lnTo>
                  <a:pt x="436" y="121"/>
                </a:lnTo>
              </a:path>
            </a:pathLst>
          </a:custGeom>
          <a:solidFill>
            <a:srgbClr val="FFFFFF"/>
          </a:solidFill>
          <a:ln w="9525" cap="rnd">
            <a:noFill/>
            <a:round/>
            <a:headEnd/>
            <a:tailEnd/>
          </a:ln>
          <a:effectLst/>
        </p:spPr>
        <p:txBody>
          <a:bodyPr/>
          <a:lstStyle/>
          <a:p>
            <a:endParaRPr lang="zh-CN" altLang="en-US"/>
          </a:p>
        </p:txBody>
      </p:sp>
      <p:sp>
        <p:nvSpPr>
          <p:cNvPr id="64530" name="Freeform 1042"/>
          <p:cNvSpPr>
            <a:spLocks noChangeAspect="1"/>
          </p:cNvSpPr>
          <p:nvPr/>
        </p:nvSpPr>
        <p:spPr bwMode="auto">
          <a:xfrm flipH="1">
            <a:off x="7148513" y="2938463"/>
            <a:ext cx="298450" cy="117475"/>
          </a:xfrm>
          <a:custGeom>
            <a:avLst/>
            <a:gdLst/>
            <a:ahLst/>
            <a:cxnLst>
              <a:cxn ang="0">
                <a:pos x="443" y="124"/>
              </a:cxn>
              <a:cxn ang="0">
                <a:pos x="318" y="0"/>
              </a:cxn>
              <a:cxn ang="0">
                <a:pos x="0" y="80"/>
              </a:cxn>
              <a:cxn ang="0">
                <a:pos x="125" y="204"/>
              </a:cxn>
              <a:cxn ang="0">
                <a:pos x="443" y="124"/>
              </a:cxn>
              <a:cxn ang="0">
                <a:pos x="318" y="0"/>
              </a:cxn>
              <a:cxn ang="0">
                <a:pos x="0" y="80"/>
              </a:cxn>
              <a:cxn ang="0">
                <a:pos x="125" y="204"/>
              </a:cxn>
              <a:cxn ang="0">
                <a:pos x="443" y="124"/>
              </a:cxn>
            </a:cxnLst>
            <a:rect l="0" t="0" r="r" b="b"/>
            <a:pathLst>
              <a:path w="444" h="205">
                <a:moveTo>
                  <a:pt x="443" y="124"/>
                </a:moveTo>
                <a:lnTo>
                  <a:pt x="318" y="0"/>
                </a:lnTo>
                <a:lnTo>
                  <a:pt x="0" y="80"/>
                </a:lnTo>
                <a:lnTo>
                  <a:pt x="125" y="204"/>
                </a:lnTo>
                <a:lnTo>
                  <a:pt x="443" y="124"/>
                </a:lnTo>
                <a:lnTo>
                  <a:pt x="318" y="0"/>
                </a:lnTo>
                <a:lnTo>
                  <a:pt x="0" y="80"/>
                </a:lnTo>
                <a:lnTo>
                  <a:pt x="125" y="204"/>
                </a:lnTo>
                <a:lnTo>
                  <a:pt x="443" y="124"/>
                </a:lnTo>
              </a:path>
            </a:pathLst>
          </a:custGeom>
          <a:noFill/>
          <a:ln w="25400" cap="rnd" cmpd="sng">
            <a:solidFill>
              <a:srgbClr val="000000"/>
            </a:solidFill>
            <a:prstDash val="solid"/>
            <a:round/>
            <a:headEnd/>
            <a:tailEnd/>
          </a:ln>
          <a:effectLst/>
        </p:spPr>
        <p:txBody>
          <a:bodyPr/>
          <a:lstStyle/>
          <a:p>
            <a:endParaRPr lang="zh-CN" altLang="en-US"/>
          </a:p>
        </p:txBody>
      </p:sp>
      <p:sp>
        <p:nvSpPr>
          <p:cNvPr id="64531" name="Freeform 1043"/>
          <p:cNvSpPr>
            <a:spLocks noChangeAspect="1"/>
          </p:cNvSpPr>
          <p:nvPr/>
        </p:nvSpPr>
        <p:spPr bwMode="auto">
          <a:xfrm flipH="1">
            <a:off x="8069263" y="2941638"/>
            <a:ext cx="257175" cy="119062"/>
          </a:xfrm>
          <a:custGeom>
            <a:avLst/>
            <a:gdLst/>
            <a:ahLst/>
            <a:cxnLst>
              <a:cxn ang="0">
                <a:pos x="33" y="208"/>
              </a:cxn>
              <a:cxn ang="0">
                <a:pos x="0" y="175"/>
              </a:cxn>
              <a:cxn ang="0">
                <a:pos x="346" y="0"/>
              </a:cxn>
              <a:cxn ang="0">
                <a:pos x="379" y="33"/>
              </a:cxn>
              <a:cxn ang="0">
                <a:pos x="33" y="208"/>
              </a:cxn>
            </a:cxnLst>
            <a:rect l="0" t="0" r="r" b="b"/>
            <a:pathLst>
              <a:path w="380" h="209">
                <a:moveTo>
                  <a:pt x="33" y="208"/>
                </a:moveTo>
                <a:lnTo>
                  <a:pt x="0" y="175"/>
                </a:lnTo>
                <a:lnTo>
                  <a:pt x="346" y="0"/>
                </a:lnTo>
                <a:lnTo>
                  <a:pt x="379" y="33"/>
                </a:lnTo>
                <a:lnTo>
                  <a:pt x="33" y="208"/>
                </a:lnTo>
              </a:path>
            </a:pathLst>
          </a:custGeom>
          <a:solidFill>
            <a:srgbClr val="FFFFFF"/>
          </a:solidFill>
          <a:ln w="9525" cap="rnd">
            <a:noFill/>
            <a:round/>
            <a:headEnd/>
            <a:tailEnd/>
          </a:ln>
          <a:effectLst/>
        </p:spPr>
        <p:txBody>
          <a:bodyPr/>
          <a:lstStyle/>
          <a:p>
            <a:endParaRPr lang="zh-CN" altLang="en-US"/>
          </a:p>
        </p:txBody>
      </p:sp>
      <p:sp>
        <p:nvSpPr>
          <p:cNvPr id="64532" name="Freeform 1044"/>
          <p:cNvSpPr>
            <a:spLocks noChangeAspect="1"/>
          </p:cNvSpPr>
          <p:nvPr/>
        </p:nvSpPr>
        <p:spPr bwMode="auto">
          <a:xfrm flipH="1">
            <a:off x="8059738" y="2944813"/>
            <a:ext cx="260350" cy="123825"/>
          </a:xfrm>
          <a:custGeom>
            <a:avLst/>
            <a:gdLst/>
            <a:ahLst/>
            <a:cxnLst>
              <a:cxn ang="0">
                <a:pos x="34" y="215"/>
              </a:cxn>
              <a:cxn ang="0">
                <a:pos x="0" y="181"/>
              </a:cxn>
              <a:cxn ang="0">
                <a:pos x="352" y="0"/>
              </a:cxn>
              <a:cxn ang="0">
                <a:pos x="386" y="34"/>
              </a:cxn>
              <a:cxn ang="0">
                <a:pos x="34" y="215"/>
              </a:cxn>
              <a:cxn ang="0">
                <a:pos x="0" y="181"/>
              </a:cxn>
              <a:cxn ang="0">
                <a:pos x="352" y="0"/>
              </a:cxn>
              <a:cxn ang="0">
                <a:pos x="386" y="34"/>
              </a:cxn>
              <a:cxn ang="0">
                <a:pos x="34" y="215"/>
              </a:cxn>
            </a:cxnLst>
            <a:rect l="0" t="0" r="r" b="b"/>
            <a:pathLst>
              <a:path w="387" h="216">
                <a:moveTo>
                  <a:pt x="34" y="215"/>
                </a:moveTo>
                <a:lnTo>
                  <a:pt x="0" y="181"/>
                </a:lnTo>
                <a:lnTo>
                  <a:pt x="352" y="0"/>
                </a:lnTo>
                <a:lnTo>
                  <a:pt x="386" y="34"/>
                </a:lnTo>
                <a:lnTo>
                  <a:pt x="34" y="215"/>
                </a:lnTo>
                <a:lnTo>
                  <a:pt x="0" y="181"/>
                </a:lnTo>
                <a:lnTo>
                  <a:pt x="352" y="0"/>
                </a:lnTo>
                <a:lnTo>
                  <a:pt x="386" y="34"/>
                </a:lnTo>
                <a:lnTo>
                  <a:pt x="34" y="215"/>
                </a:lnTo>
              </a:path>
            </a:pathLst>
          </a:custGeom>
          <a:noFill/>
          <a:ln w="25400" cap="rnd" cmpd="sng">
            <a:solidFill>
              <a:srgbClr val="000000"/>
            </a:solidFill>
            <a:prstDash val="solid"/>
            <a:round/>
            <a:headEnd/>
            <a:tailEnd/>
          </a:ln>
          <a:effectLst/>
        </p:spPr>
        <p:txBody>
          <a:bodyPr/>
          <a:lstStyle/>
          <a:p>
            <a:endParaRPr lang="zh-CN" altLang="en-US"/>
          </a:p>
        </p:txBody>
      </p:sp>
      <p:sp>
        <p:nvSpPr>
          <p:cNvPr id="64533" name="Freeform 1045"/>
          <p:cNvSpPr>
            <a:spLocks noChangeAspect="1"/>
          </p:cNvSpPr>
          <p:nvPr/>
        </p:nvSpPr>
        <p:spPr bwMode="auto">
          <a:xfrm flipH="1">
            <a:off x="8093075" y="2889250"/>
            <a:ext cx="233363" cy="152400"/>
          </a:xfrm>
          <a:custGeom>
            <a:avLst/>
            <a:gdLst/>
            <a:ahLst/>
            <a:cxnLst>
              <a:cxn ang="0">
                <a:pos x="0" y="166"/>
              </a:cxn>
              <a:cxn ang="0">
                <a:pos x="0" y="265"/>
              </a:cxn>
              <a:cxn ang="0">
                <a:pos x="345" y="89"/>
              </a:cxn>
              <a:cxn ang="0">
                <a:pos x="345" y="0"/>
              </a:cxn>
              <a:cxn ang="0">
                <a:pos x="0" y="166"/>
              </a:cxn>
            </a:cxnLst>
            <a:rect l="0" t="0" r="r" b="b"/>
            <a:pathLst>
              <a:path w="346" h="266">
                <a:moveTo>
                  <a:pt x="0" y="166"/>
                </a:moveTo>
                <a:lnTo>
                  <a:pt x="0" y="265"/>
                </a:lnTo>
                <a:lnTo>
                  <a:pt x="345" y="89"/>
                </a:lnTo>
                <a:lnTo>
                  <a:pt x="345" y="0"/>
                </a:lnTo>
                <a:lnTo>
                  <a:pt x="0" y="166"/>
                </a:lnTo>
              </a:path>
            </a:pathLst>
          </a:custGeom>
          <a:solidFill>
            <a:srgbClr val="FFFFFF"/>
          </a:solidFill>
          <a:ln w="9525" cap="rnd">
            <a:noFill/>
            <a:round/>
            <a:headEnd/>
            <a:tailEnd/>
          </a:ln>
          <a:effectLst/>
        </p:spPr>
        <p:txBody>
          <a:bodyPr/>
          <a:lstStyle/>
          <a:p>
            <a:endParaRPr lang="zh-CN" altLang="en-US"/>
          </a:p>
        </p:txBody>
      </p:sp>
      <p:sp>
        <p:nvSpPr>
          <p:cNvPr id="64534" name="Freeform 1046"/>
          <p:cNvSpPr>
            <a:spLocks noChangeAspect="1"/>
          </p:cNvSpPr>
          <p:nvPr/>
        </p:nvSpPr>
        <p:spPr bwMode="auto">
          <a:xfrm flipH="1">
            <a:off x="8083550" y="2892425"/>
            <a:ext cx="236538" cy="157163"/>
          </a:xfrm>
          <a:custGeom>
            <a:avLst/>
            <a:gdLst/>
            <a:ahLst/>
            <a:cxnLst>
              <a:cxn ang="0">
                <a:pos x="0" y="169"/>
              </a:cxn>
              <a:cxn ang="0">
                <a:pos x="0" y="271"/>
              </a:cxn>
              <a:cxn ang="0">
                <a:pos x="352" y="91"/>
              </a:cxn>
              <a:cxn ang="0">
                <a:pos x="352" y="0"/>
              </a:cxn>
              <a:cxn ang="0">
                <a:pos x="0" y="169"/>
              </a:cxn>
              <a:cxn ang="0">
                <a:pos x="0" y="271"/>
              </a:cxn>
              <a:cxn ang="0">
                <a:pos x="352" y="91"/>
              </a:cxn>
              <a:cxn ang="0">
                <a:pos x="352" y="0"/>
              </a:cxn>
              <a:cxn ang="0">
                <a:pos x="0" y="169"/>
              </a:cxn>
            </a:cxnLst>
            <a:rect l="0" t="0" r="r" b="b"/>
            <a:pathLst>
              <a:path w="353" h="272">
                <a:moveTo>
                  <a:pt x="0" y="169"/>
                </a:moveTo>
                <a:lnTo>
                  <a:pt x="0" y="271"/>
                </a:lnTo>
                <a:lnTo>
                  <a:pt x="352" y="91"/>
                </a:lnTo>
                <a:lnTo>
                  <a:pt x="352" y="0"/>
                </a:lnTo>
                <a:lnTo>
                  <a:pt x="0" y="169"/>
                </a:lnTo>
                <a:lnTo>
                  <a:pt x="0" y="271"/>
                </a:lnTo>
                <a:lnTo>
                  <a:pt x="352" y="91"/>
                </a:lnTo>
                <a:lnTo>
                  <a:pt x="352" y="0"/>
                </a:lnTo>
                <a:lnTo>
                  <a:pt x="0" y="169"/>
                </a:lnTo>
              </a:path>
            </a:pathLst>
          </a:custGeom>
          <a:noFill/>
          <a:ln w="25400" cap="rnd" cmpd="sng">
            <a:solidFill>
              <a:srgbClr val="000000"/>
            </a:solidFill>
            <a:prstDash val="solid"/>
            <a:round/>
            <a:headEnd/>
            <a:tailEnd/>
          </a:ln>
          <a:effectLst/>
        </p:spPr>
        <p:txBody>
          <a:bodyPr/>
          <a:lstStyle/>
          <a:p>
            <a:endParaRPr lang="zh-CN" altLang="en-US"/>
          </a:p>
        </p:txBody>
      </p:sp>
      <p:sp>
        <p:nvSpPr>
          <p:cNvPr id="64535" name="Freeform 1047"/>
          <p:cNvSpPr>
            <a:spLocks noChangeAspect="1"/>
          </p:cNvSpPr>
          <p:nvPr/>
        </p:nvSpPr>
        <p:spPr bwMode="auto">
          <a:xfrm flipH="1">
            <a:off x="8045450" y="2921000"/>
            <a:ext cx="233363" cy="160338"/>
          </a:xfrm>
          <a:custGeom>
            <a:avLst/>
            <a:gdLst/>
            <a:ahLst/>
            <a:cxnLst>
              <a:cxn ang="0">
                <a:pos x="0" y="177"/>
              </a:cxn>
              <a:cxn ang="0">
                <a:pos x="0" y="276"/>
              </a:cxn>
              <a:cxn ang="0">
                <a:pos x="346" y="99"/>
              </a:cxn>
              <a:cxn ang="0">
                <a:pos x="346" y="0"/>
              </a:cxn>
              <a:cxn ang="0">
                <a:pos x="0" y="177"/>
              </a:cxn>
            </a:cxnLst>
            <a:rect l="0" t="0" r="r" b="b"/>
            <a:pathLst>
              <a:path w="347" h="277">
                <a:moveTo>
                  <a:pt x="0" y="177"/>
                </a:moveTo>
                <a:lnTo>
                  <a:pt x="0" y="276"/>
                </a:lnTo>
                <a:lnTo>
                  <a:pt x="346" y="99"/>
                </a:lnTo>
                <a:lnTo>
                  <a:pt x="346" y="0"/>
                </a:lnTo>
                <a:lnTo>
                  <a:pt x="0" y="177"/>
                </a:lnTo>
              </a:path>
            </a:pathLst>
          </a:custGeom>
          <a:solidFill>
            <a:srgbClr val="FFFFFF"/>
          </a:solidFill>
          <a:ln w="9525" cap="rnd">
            <a:noFill/>
            <a:round/>
            <a:headEnd/>
            <a:tailEnd/>
          </a:ln>
          <a:effectLst/>
        </p:spPr>
        <p:txBody>
          <a:bodyPr/>
          <a:lstStyle/>
          <a:p>
            <a:endParaRPr lang="zh-CN" altLang="en-US"/>
          </a:p>
        </p:txBody>
      </p:sp>
      <p:sp>
        <p:nvSpPr>
          <p:cNvPr id="64536" name="Freeform 1048"/>
          <p:cNvSpPr>
            <a:spLocks noChangeAspect="1"/>
          </p:cNvSpPr>
          <p:nvPr/>
        </p:nvSpPr>
        <p:spPr bwMode="auto">
          <a:xfrm flipH="1">
            <a:off x="8035925" y="2925763"/>
            <a:ext cx="238125" cy="163512"/>
          </a:xfrm>
          <a:custGeom>
            <a:avLst/>
            <a:gdLst/>
            <a:ahLst/>
            <a:cxnLst>
              <a:cxn ang="0">
                <a:pos x="0" y="181"/>
              </a:cxn>
              <a:cxn ang="0">
                <a:pos x="0" y="283"/>
              </a:cxn>
              <a:cxn ang="0">
                <a:pos x="352" y="102"/>
              </a:cxn>
              <a:cxn ang="0">
                <a:pos x="352" y="0"/>
              </a:cxn>
              <a:cxn ang="0">
                <a:pos x="0" y="181"/>
              </a:cxn>
              <a:cxn ang="0">
                <a:pos x="0" y="283"/>
              </a:cxn>
              <a:cxn ang="0">
                <a:pos x="352" y="102"/>
              </a:cxn>
              <a:cxn ang="0">
                <a:pos x="352" y="0"/>
              </a:cxn>
              <a:cxn ang="0">
                <a:pos x="0" y="181"/>
              </a:cxn>
            </a:cxnLst>
            <a:rect l="0" t="0" r="r" b="b"/>
            <a:pathLst>
              <a:path w="353" h="284">
                <a:moveTo>
                  <a:pt x="0" y="181"/>
                </a:moveTo>
                <a:lnTo>
                  <a:pt x="0" y="283"/>
                </a:lnTo>
                <a:lnTo>
                  <a:pt x="352" y="102"/>
                </a:lnTo>
                <a:lnTo>
                  <a:pt x="352" y="0"/>
                </a:lnTo>
                <a:lnTo>
                  <a:pt x="0" y="181"/>
                </a:lnTo>
                <a:lnTo>
                  <a:pt x="0" y="283"/>
                </a:lnTo>
                <a:lnTo>
                  <a:pt x="352" y="102"/>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37" name="Freeform 1049"/>
          <p:cNvSpPr>
            <a:spLocks noChangeAspect="1"/>
          </p:cNvSpPr>
          <p:nvPr/>
        </p:nvSpPr>
        <p:spPr bwMode="auto">
          <a:xfrm flipH="1">
            <a:off x="8001000" y="2960688"/>
            <a:ext cx="233363" cy="152400"/>
          </a:xfrm>
          <a:custGeom>
            <a:avLst/>
            <a:gdLst/>
            <a:ahLst/>
            <a:cxnLst>
              <a:cxn ang="0">
                <a:pos x="0" y="176"/>
              </a:cxn>
              <a:cxn ang="0">
                <a:pos x="0" y="265"/>
              </a:cxn>
              <a:cxn ang="0">
                <a:pos x="346" y="99"/>
              </a:cxn>
              <a:cxn ang="0">
                <a:pos x="346" y="0"/>
              </a:cxn>
              <a:cxn ang="0">
                <a:pos x="0" y="176"/>
              </a:cxn>
            </a:cxnLst>
            <a:rect l="0" t="0" r="r" b="b"/>
            <a:pathLst>
              <a:path w="347" h="266">
                <a:moveTo>
                  <a:pt x="0" y="176"/>
                </a:moveTo>
                <a:lnTo>
                  <a:pt x="0" y="265"/>
                </a:lnTo>
                <a:lnTo>
                  <a:pt x="346" y="99"/>
                </a:lnTo>
                <a:lnTo>
                  <a:pt x="346" y="0"/>
                </a:lnTo>
                <a:lnTo>
                  <a:pt x="0" y="176"/>
                </a:lnTo>
              </a:path>
            </a:pathLst>
          </a:custGeom>
          <a:solidFill>
            <a:srgbClr val="FFFFFF"/>
          </a:solidFill>
          <a:ln w="9525" cap="rnd">
            <a:noFill/>
            <a:round/>
            <a:headEnd/>
            <a:tailEnd/>
          </a:ln>
          <a:effectLst/>
        </p:spPr>
        <p:txBody>
          <a:bodyPr/>
          <a:lstStyle/>
          <a:p>
            <a:endParaRPr lang="zh-CN" altLang="en-US"/>
          </a:p>
        </p:txBody>
      </p:sp>
      <p:sp>
        <p:nvSpPr>
          <p:cNvPr id="64538" name="Freeform 1050"/>
          <p:cNvSpPr>
            <a:spLocks noChangeAspect="1"/>
          </p:cNvSpPr>
          <p:nvPr/>
        </p:nvSpPr>
        <p:spPr bwMode="auto">
          <a:xfrm flipH="1">
            <a:off x="7991475" y="2963863"/>
            <a:ext cx="236538" cy="157162"/>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39" name="Freeform 1051"/>
          <p:cNvSpPr>
            <a:spLocks noChangeAspect="1"/>
          </p:cNvSpPr>
          <p:nvPr/>
        </p:nvSpPr>
        <p:spPr bwMode="auto">
          <a:xfrm flipH="1">
            <a:off x="7954963" y="3000375"/>
            <a:ext cx="239712" cy="152400"/>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a:lstStyle/>
          <a:p>
            <a:endParaRPr lang="zh-CN" altLang="en-US"/>
          </a:p>
        </p:txBody>
      </p:sp>
      <p:sp>
        <p:nvSpPr>
          <p:cNvPr id="64540" name="Freeform 1052"/>
          <p:cNvSpPr>
            <a:spLocks noChangeAspect="1"/>
          </p:cNvSpPr>
          <p:nvPr/>
        </p:nvSpPr>
        <p:spPr bwMode="auto">
          <a:xfrm flipH="1">
            <a:off x="7945438" y="3003550"/>
            <a:ext cx="244475" cy="157163"/>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a:lstStyle/>
          <a:p>
            <a:endParaRPr lang="zh-CN" altLang="en-US"/>
          </a:p>
        </p:txBody>
      </p:sp>
      <p:sp>
        <p:nvSpPr>
          <p:cNvPr id="64541" name="Freeform 1053"/>
          <p:cNvSpPr>
            <a:spLocks noChangeAspect="1"/>
          </p:cNvSpPr>
          <p:nvPr/>
        </p:nvSpPr>
        <p:spPr bwMode="auto">
          <a:xfrm flipH="1">
            <a:off x="7915275" y="3032125"/>
            <a:ext cx="234950" cy="160338"/>
          </a:xfrm>
          <a:custGeom>
            <a:avLst/>
            <a:gdLst/>
            <a:ahLst/>
            <a:cxnLst>
              <a:cxn ang="0">
                <a:pos x="0" y="177"/>
              </a:cxn>
              <a:cxn ang="0">
                <a:pos x="0" y="277"/>
              </a:cxn>
              <a:cxn ang="0">
                <a:pos x="346" y="100"/>
              </a:cxn>
              <a:cxn ang="0">
                <a:pos x="346" y="0"/>
              </a:cxn>
              <a:cxn ang="0">
                <a:pos x="0" y="177"/>
              </a:cxn>
            </a:cxnLst>
            <a:rect l="0" t="0" r="r" b="b"/>
            <a:pathLst>
              <a:path w="347" h="278">
                <a:moveTo>
                  <a:pt x="0" y="177"/>
                </a:moveTo>
                <a:lnTo>
                  <a:pt x="0" y="277"/>
                </a:lnTo>
                <a:lnTo>
                  <a:pt x="346" y="100"/>
                </a:lnTo>
                <a:lnTo>
                  <a:pt x="346" y="0"/>
                </a:lnTo>
                <a:lnTo>
                  <a:pt x="0" y="177"/>
                </a:lnTo>
              </a:path>
            </a:pathLst>
          </a:custGeom>
          <a:solidFill>
            <a:srgbClr val="FFFFFF"/>
          </a:solidFill>
          <a:ln w="9525" cap="rnd">
            <a:noFill/>
            <a:round/>
            <a:headEnd/>
            <a:tailEnd/>
          </a:ln>
          <a:effectLst/>
        </p:spPr>
        <p:txBody>
          <a:bodyPr/>
          <a:lstStyle/>
          <a:p>
            <a:endParaRPr lang="zh-CN" altLang="en-US"/>
          </a:p>
        </p:txBody>
      </p:sp>
      <p:sp>
        <p:nvSpPr>
          <p:cNvPr id="64542" name="Freeform 1054"/>
          <p:cNvSpPr>
            <a:spLocks noChangeAspect="1"/>
          </p:cNvSpPr>
          <p:nvPr/>
        </p:nvSpPr>
        <p:spPr bwMode="auto">
          <a:xfrm flipH="1">
            <a:off x="7907338" y="3035300"/>
            <a:ext cx="236537" cy="163513"/>
          </a:xfrm>
          <a:custGeom>
            <a:avLst/>
            <a:gdLst/>
            <a:ahLst/>
            <a:cxnLst>
              <a:cxn ang="0">
                <a:pos x="0" y="181"/>
              </a:cxn>
              <a:cxn ang="0">
                <a:pos x="0" y="283"/>
              </a:cxn>
              <a:cxn ang="0">
                <a:pos x="352" y="103"/>
              </a:cxn>
              <a:cxn ang="0">
                <a:pos x="352" y="0"/>
              </a:cxn>
              <a:cxn ang="0">
                <a:pos x="0" y="181"/>
              </a:cxn>
              <a:cxn ang="0">
                <a:pos x="0" y="283"/>
              </a:cxn>
              <a:cxn ang="0">
                <a:pos x="352" y="103"/>
              </a:cxn>
              <a:cxn ang="0">
                <a:pos x="352" y="0"/>
              </a:cxn>
              <a:cxn ang="0">
                <a:pos x="0" y="181"/>
              </a:cxn>
            </a:cxnLst>
            <a:rect l="0" t="0" r="r" b="b"/>
            <a:pathLst>
              <a:path w="353" h="284">
                <a:moveTo>
                  <a:pt x="0" y="181"/>
                </a:moveTo>
                <a:lnTo>
                  <a:pt x="0" y="283"/>
                </a:lnTo>
                <a:lnTo>
                  <a:pt x="352" y="103"/>
                </a:lnTo>
                <a:lnTo>
                  <a:pt x="352" y="0"/>
                </a:lnTo>
                <a:lnTo>
                  <a:pt x="0" y="181"/>
                </a:lnTo>
                <a:lnTo>
                  <a:pt x="0" y="283"/>
                </a:lnTo>
                <a:lnTo>
                  <a:pt x="352" y="103"/>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43" name="Freeform 1055"/>
          <p:cNvSpPr>
            <a:spLocks noChangeAspect="1"/>
          </p:cNvSpPr>
          <p:nvPr/>
        </p:nvSpPr>
        <p:spPr bwMode="auto">
          <a:xfrm flipH="1">
            <a:off x="7823200" y="3111500"/>
            <a:ext cx="242888" cy="152400"/>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a:lstStyle/>
          <a:p>
            <a:endParaRPr lang="zh-CN" altLang="en-US"/>
          </a:p>
        </p:txBody>
      </p:sp>
      <p:sp>
        <p:nvSpPr>
          <p:cNvPr id="64544" name="Freeform 1056"/>
          <p:cNvSpPr>
            <a:spLocks noChangeAspect="1"/>
          </p:cNvSpPr>
          <p:nvPr/>
        </p:nvSpPr>
        <p:spPr bwMode="auto">
          <a:xfrm flipH="1">
            <a:off x="7815263" y="3114675"/>
            <a:ext cx="244475" cy="157163"/>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a:lstStyle/>
          <a:p>
            <a:endParaRPr lang="zh-CN" altLang="en-US"/>
          </a:p>
        </p:txBody>
      </p:sp>
      <p:sp>
        <p:nvSpPr>
          <p:cNvPr id="64545" name="Freeform 1057"/>
          <p:cNvSpPr>
            <a:spLocks noChangeAspect="1"/>
          </p:cNvSpPr>
          <p:nvPr/>
        </p:nvSpPr>
        <p:spPr bwMode="auto">
          <a:xfrm flipH="1">
            <a:off x="7869238" y="3071813"/>
            <a:ext cx="233362" cy="152400"/>
          </a:xfrm>
          <a:custGeom>
            <a:avLst/>
            <a:gdLst/>
            <a:ahLst/>
            <a:cxnLst>
              <a:cxn ang="0">
                <a:pos x="0" y="176"/>
              </a:cxn>
              <a:cxn ang="0">
                <a:pos x="0" y="265"/>
              </a:cxn>
              <a:cxn ang="0">
                <a:pos x="345" y="99"/>
              </a:cxn>
              <a:cxn ang="0">
                <a:pos x="345" y="0"/>
              </a:cxn>
              <a:cxn ang="0">
                <a:pos x="0" y="176"/>
              </a:cxn>
            </a:cxnLst>
            <a:rect l="0" t="0" r="r" b="b"/>
            <a:pathLst>
              <a:path w="346" h="266">
                <a:moveTo>
                  <a:pt x="0" y="176"/>
                </a:moveTo>
                <a:lnTo>
                  <a:pt x="0" y="265"/>
                </a:lnTo>
                <a:lnTo>
                  <a:pt x="345" y="99"/>
                </a:lnTo>
                <a:lnTo>
                  <a:pt x="345" y="0"/>
                </a:lnTo>
                <a:lnTo>
                  <a:pt x="0" y="176"/>
                </a:lnTo>
              </a:path>
            </a:pathLst>
          </a:custGeom>
          <a:solidFill>
            <a:srgbClr val="FFFFFF"/>
          </a:solidFill>
          <a:ln w="9525" cap="rnd">
            <a:noFill/>
            <a:round/>
            <a:headEnd/>
            <a:tailEnd/>
          </a:ln>
          <a:effectLst/>
        </p:spPr>
        <p:txBody>
          <a:bodyPr/>
          <a:lstStyle/>
          <a:p>
            <a:endParaRPr lang="zh-CN" altLang="en-US"/>
          </a:p>
        </p:txBody>
      </p:sp>
      <p:sp>
        <p:nvSpPr>
          <p:cNvPr id="64546" name="Freeform 1058"/>
          <p:cNvSpPr>
            <a:spLocks noChangeAspect="1"/>
          </p:cNvSpPr>
          <p:nvPr/>
        </p:nvSpPr>
        <p:spPr bwMode="auto">
          <a:xfrm flipH="1">
            <a:off x="7859713" y="3074988"/>
            <a:ext cx="239712" cy="157162"/>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47" name="Freeform 1059"/>
          <p:cNvSpPr>
            <a:spLocks noChangeAspect="1"/>
          </p:cNvSpPr>
          <p:nvPr/>
        </p:nvSpPr>
        <p:spPr bwMode="auto">
          <a:xfrm flipH="1">
            <a:off x="7993063" y="2908300"/>
            <a:ext cx="423862" cy="550863"/>
          </a:xfrm>
          <a:custGeom>
            <a:avLst/>
            <a:gdLst/>
            <a:ahLst/>
            <a:cxnLst>
              <a:cxn ang="0">
                <a:pos x="0" y="316"/>
              </a:cxn>
              <a:cxn ang="0">
                <a:pos x="0" y="0"/>
              </a:cxn>
              <a:cxn ang="0">
                <a:pos x="79" y="78"/>
              </a:cxn>
              <a:cxn ang="0">
                <a:pos x="79" y="169"/>
              </a:cxn>
              <a:cxn ang="0">
                <a:pos x="102" y="203"/>
              </a:cxn>
              <a:cxn ang="0">
                <a:pos x="102" y="112"/>
              </a:cxn>
              <a:cxn ang="0">
                <a:pos x="135" y="135"/>
              </a:cxn>
              <a:cxn ang="0">
                <a:pos x="135" y="236"/>
              </a:cxn>
              <a:cxn ang="0">
                <a:pos x="169" y="270"/>
              </a:cxn>
              <a:cxn ang="0">
                <a:pos x="169" y="169"/>
              </a:cxn>
              <a:cxn ang="0">
                <a:pos x="203" y="203"/>
              </a:cxn>
              <a:cxn ang="0">
                <a:pos x="203" y="304"/>
              </a:cxn>
              <a:cxn ang="0">
                <a:pos x="236" y="327"/>
              </a:cxn>
              <a:cxn ang="0">
                <a:pos x="236" y="236"/>
              </a:cxn>
              <a:cxn ang="0">
                <a:pos x="270" y="270"/>
              </a:cxn>
              <a:cxn ang="0">
                <a:pos x="270" y="360"/>
              </a:cxn>
              <a:cxn ang="0">
                <a:pos x="293" y="394"/>
              </a:cxn>
              <a:cxn ang="0">
                <a:pos x="293" y="304"/>
              </a:cxn>
              <a:cxn ang="0">
                <a:pos x="326" y="327"/>
              </a:cxn>
              <a:cxn ang="0">
                <a:pos x="326" y="428"/>
              </a:cxn>
              <a:cxn ang="0">
                <a:pos x="360" y="462"/>
              </a:cxn>
              <a:cxn ang="0">
                <a:pos x="360" y="360"/>
              </a:cxn>
              <a:cxn ang="0">
                <a:pos x="394" y="394"/>
              </a:cxn>
              <a:cxn ang="0">
                <a:pos x="394" y="495"/>
              </a:cxn>
              <a:cxn ang="0">
                <a:pos x="427" y="518"/>
              </a:cxn>
              <a:cxn ang="0">
                <a:pos x="427" y="428"/>
              </a:cxn>
              <a:cxn ang="0">
                <a:pos x="462" y="462"/>
              </a:cxn>
              <a:cxn ang="0">
                <a:pos x="462" y="552"/>
              </a:cxn>
              <a:cxn ang="0">
                <a:pos x="484" y="586"/>
              </a:cxn>
              <a:cxn ang="0">
                <a:pos x="484" y="495"/>
              </a:cxn>
              <a:cxn ang="0">
                <a:pos x="517" y="518"/>
              </a:cxn>
              <a:cxn ang="0">
                <a:pos x="517" y="620"/>
              </a:cxn>
              <a:cxn ang="0">
                <a:pos x="552" y="653"/>
              </a:cxn>
              <a:cxn ang="0">
                <a:pos x="552" y="552"/>
              </a:cxn>
              <a:cxn ang="0">
                <a:pos x="630" y="631"/>
              </a:cxn>
              <a:cxn ang="0">
                <a:pos x="630" y="958"/>
              </a:cxn>
              <a:cxn ang="0">
                <a:pos x="0" y="316"/>
              </a:cxn>
            </a:cxnLst>
            <a:rect l="0" t="0" r="r" b="b"/>
            <a:pathLst>
              <a:path w="631" h="959">
                <a:moveTo>
                  <a:pt x="0" y="316"/>
                </a:moveTo>
                <a:lnTo>
                  <a:pt x="0" y="0"/>
                </a:lnTo>
                <a:lnTo>
                  <a:pt x="79" y="78"/>
                </a:lnTo>
                <a:lnTo>
                  <a:pt x="79" y="169"/>
                </a:lnTo>
                <a:lnTo>
                  <a:pt x="102" y="203"/>
                </a:lnTo>
                <a:lnTo>
                  <a:pt x="102" y="112"/>
                </a:lnTo>
                <a:lnTo>
                  <a:pt x="135" y="135"/>
                </a:lnTo>
                <a:lnTo>
                  <a:pt x="135" y="236"/>
                </a:lnTo>
                <a:lnTo>
                  <a:pt x="169" y="270"/>
                </a:lnTo>
                <a:lnTo>
                  <a:pt x="169" y="169"/>
                </a:lnTo>
                <a:lnTo>
                  <a:pt x="203" y="203"/>
                </a:lnTo>
                <a:lnTo>
                  <a:pt x="203" y="304"/>
                </a:lnTo>
                <a:lnTo>
                  <a:pt x="236" y="327"/>
                </a:lnTo>
                <a:lnTo>
                  <a:pt x="236" y="236"/>
                </a:lnTo>
                <a:lnTo>
                  <a:pt x="270" y="270"/>
                </a:lnTo>
                <a:lnTo>
                  <a:pt x="270" y="360"/>
                </a:lnTo>
                <a:lnTo>
                  <a:pt x="293" y="394"/>
                </a:lnTo>
                <a:lnTo>
                  <a:pt x="293" y="304"/>
                </a:lnTo>
                <a:lnTo>
                  <a:pt x="326" y="327"/>
                </a:lnTo>
                <a:lnTo>
                  <a:pt x="326" y="428"/>
                </a:lnTo>
                <a:lnTo>
                  <a:pt x="360" y="462"/>
                </a:lnTo>
                <a:lnTo>
                  <a:pt x="360" y="360"/>
                </a:lnTo>
                <a:lnTo>
                  <a:pt x="394" y="394"/>
                </a:lnTo>
                <a:lnTo>
                  <a:pt x="394" y="495"/>
                </a:lnTo>
                <a:lnTo>
                  <a:pt x="427" y="518"/>
                </a:lnTo>
                <a:lnTo>
                  <a:pt x="427" y="428"/>
                </a:lnTo>
                <a:lnTo>
                  <a:pt x="462" y="462"/>
                </a:lnTo>
                <a:lnTo>
                  <a:pt x="462" y="552"/>
                </a:lnTo>
                <a:lnTo>
                  <a:pt x="484" y="586"/>
                </a:lnTo>
                <a:lnTo>
                  <a:pt x="484" y="495"/>
                </a:lnTo>
                <a:lnTo>
                  <a:pt x="517" y="518"/>
                </a:lnTo>
                <a:lnTo>
                  <a:pt x="517" y="620"/>
                </a:lnTo>
                <a:lnTo>
                  <a:pt x="552" y="653"/>
                </a:lnTo>
                <a:lnTo>
                  <a:pt x="552" y="552"/>
                </a:lnTo>
                <a:lnTo>
                  <a:pt x="630" y="631"/>
                </a:lnTo>
                <a:lnTo>
                  <a:pt x="630" y="958"/>
                </a:lnTo>
                <a:lnTo>
                  <a:pt x="0" y="316"/>
                </a:lnTo>
              </a:path>
            </a:pathLst>
          </a:custGeom>
          <a:solidFill>
            <a:srgbClr val="FFFFFF"/>
          </a:solidFill>
          <a:ln w="9525" cap="rnd">
            <a:noFill/>
            <a:round/>
            <a:headEnd/>
            <a:tailEnd/>
          </a:ln>
          <a:effectLst/>
        </p:spPr>
        <p:txBody>
          <a:bodyPr/>
          <a:lstStyle/>
          <a:p>
            <a:endParaRPr lang="zh-CN" altLang="en-US"/>
          </a:p>
        </p:txBody>
      </p:sp>
      <p:sp>
        <p:nvSpPr>
          <p:cNvPr id="64548" name="Freeform 1060"/>
          <p:cNvSpPr>
            <a:spLocks noChangeAspect="1"/>
          </p:cNvSpPr>
          <p:nvPr/>
        </p:nvSpPr>
        <p:spPr bwMode="auto">
          <a:xfrm flipH="1">
            <a:off x="7983538" y="2911475"/>
            <a:ext cx="428625" cy="555625"/>
          </a:xfrm>
          <a:custGeom>
            <a:avLst/>
            <a:gdLst/>
            <a:ahLst/>
            <a:cxnLst>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Lst>
            <a:rect l="0" t="0" r="r" b="b"/>
            <a:pathLst>
              <a:path w="637" h="965">
                <a:moveTo>
                  <a:pt x="0" y="318"/>
                </a:move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path>
            </a:pathLst>
          </a:custGeom>
          <a:noFill/>
          <a:ln w="25400" cap="rnd" cmpd="sng">
            <a:solidFill>
              <a:srgbClr val="000000"/>
            </a:solidFill>
            <a:prstDash val="solid"/>
            <a:round/>
            <a:headEnd/>
            <a:tailEnd/>
          </a:ln>
          <a:effectLst/>
        </p:spPr>
        <p:txBody>
          <a:bodyPr/>
          <a:lstStyle/>
          <a:p>
            <a:endParaRPr lang="zh-CN" altLang="en-US"/>
          </a:p>
        </p:txBody>
      </p:sp>
      <p:sp>
        <p:nvSpPr>
          <p:cNvPr id="64549" name="Freeform 1061"/>
          <p:cNvSpPr>
            <a:spLocks noChangeAspect="1"/>
          </p:cNvSpPr>
          <p:nvPr/>
        </p:nvSpPr>
        <p:spPr bwMode="auto">
          <a:xfrm flipH="1">
            <a:off x="8093075" y="2868613"/>
            <a:ext cx="254000" cy="114300"/>
          </a:xfrm>
          <a:custGeom>
            <a:avLst/>
            <a:gdLst/>
            <a:ahLst/>
            <a:cxnLst>
              <a:cxn ang="0">
                <a:pos x="0" y="175"/>
              </a:cxn>
              <a:cxn ang="0">
                <a:pos x="33" y="197"/>
              </a:cxn>
              <a:cxn ang="0">
                <a:pos x="379" y="33"/>
              </a:cxn>
              <a:cxn ang="0">
                <a:pos x="357" y="0"/>
              </a:cxn>
              <a:cxn ang="0">
                <a:pos x="0" y="175"/>
              </a:cxn>
            </a:cxnLst>
            <a:rect l="0" t="0" r="r" b="b"/>
            <a:pathLst>
              <a:path w="380" h="198">
                <a:moveTo>
                  <a:pt x="0" y="175"/>
                </a:moveTo>
                <a:lnTo>
                  <a:pt x="33" y="197"/>
                </a:lnTo>
                <a:lnTo>
                  <a:pt x="379" y="33"/>
                </a:lnTo>
                <a:lnTo>
                  <a:pt x="357" y="0"/>
                </a:lnTo>
                <a:lnTo>
                  <a:pt x="0" y="175"/>
                </a:lnTo>
              </a:path>
            </a:pathLst>
          </a:custGeom>
          <a:solidFill>
            <a:srgbClr val="FFFFFF"/>
          </a:solidFill>
          <a:ln w="9525" cap="rnd">
            <a:noFill/>
            <a:round/>
            <a:headEnd/>
            <a:tailEnd/>
          </a:ln>
          <a:effectLst/>
        </p:spPr>
        <p:txBody>
          <a:bodyPr/>
          <a:lstStyle/>
          <a:p>
            <a:endParaRPr lang="zh-CN" altLang="en-US"/>
          </a:p>
        </p:txBody>
      </p:sp>
      <p:sp>
        <p:nvSpPr>
          <p:cNvPr id="64550" name="Freeform 1062"/>
          <p:cNvSpPr>
            <a:spLocks noChangeAspect="1"/>
          </p:cNvSpPr>
          <p:nvPr/>
        </p:nvSpPr>
        <p:spPr bwMode="auto">
          <a:xfrm flipH="1">
            <a:off x="8083550" y="2873375"/>
            <a:ext cx="260350" cy="117475"/>
          </a:xfrm>
          <a:custGeom>
            <a:avLst/>
            <a:gdLst/>
            <a:ahLst/>
            <a:cxnLst>
              <a:cxn ang="0">
                <a:pos x="0" y="181"/>
              </a:cxn>
              <a:cxn ang="0">
                <a:pos x="34" y="204"/>
              </a:cxn>
              <a:cxn ang="0">
                <a:pos x="386" y="34"/>
              </a:cxn>
              <a:cxn ang="0">
                <a:pos x="364" y="0"/>
              </a:cxn>
              <a:cxn ang="0">
                <a:pos x="0" y="181"/>
              </a:cxn>
              <a:cxn ang="0">
                <a:pos x="34" y="204"/>
              </a:cxn>
              <a:cxn ang="0">
                <a:pos x="386" y="34"/>
              </a:cxn>
              <a:cxn ang="0">
                <a:pos x="364" y="0"/>
              </a:cxn>
              <a:cxn ang="0">
                <a:pos x="0" y="181"/>
              </a:cxn>
            </a:cxnLst>
            <a:rect l="0" t="0" r="r" b="b"/>
            <a:pathLst>
              <a:path w="387" h="205">
                <a:moveTo>
                  <a:pt x="0" y="181"/>
                </a:moveTo>
                <a:lnTo>
                  <a:pt x="34" y="204"/>
                </a:lnTo>
                <a:lnTo>
                  <a:pt x="386" y="34"/>
                </a:lnTo>
                <a:lnTo>
                  <a:pt x="364" y="0"/>
                </a:lnTo>
                <a:lnTo>
                  <a:pt x="0" y="181"/>
                </a:lnTo>
                <a:lnTo>
                  <a:pt x="34" y="204"/>
                </a:lnTo>
                <a:lnTo>
                  <a:pt x="386" y="34"/>
                </a:lnTo>
                <a:lnTo>
                  <a:pt x="364"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51" name="Freeform 1063"/>
          <p:cNvSpPr>
            <a:spLocks noChangeAspect="1"/>
          </p:cNvSpPr>
          <p:nvPr/>
        </p:nvSpPr>
        <p:spPr bwMode="auto">
          <a:xfrm flipH="1">
            <a:off x="8045450" y="2908300"/>
            <a:ext cx="257175" cy="112713"/>
          </a:xfrm>
          <a:custGeom>
            <a:avLst/>
            <a:gdLst/>
            <a:ahLst/>
            <a:cxnLst>
              <a:cxn ang="0">
                <a:pos x="0" y="164"/>
              </a:cxn>
              <a:cxn ang="0">
                <a:pos x="33" y="197"/>
              </a:cxn>
              <a:cxn ang="0">
                <a:pos x="380" y="22"/>
              </a:cxn>
              <a:cxn ang="0">
                <a:pos x="346" y="0"/>
              </a:cxn>
              <a:cxn ang="0">
                <a:pos x="0" y="164"/>
              </a:cxn>
            </a:cxnLst>
            <a:rect l="0" t="0" r="r" b="b"/>
            <a:pathLst>
              <a:path w="381" h="198">
                <a:moveTo>
                  <a:pt x="0" y="164"/>
                </a:moveTo>
                <a:lnTo>
                  <a:pt x="33" y="197"/>
                </a:lnTo>
                <a:lnTo>
                  <a:pt x="380" y="22"/>
                </a:lnTo>
                <a:lnTo>
                  <a:pt x="346" y="0"/>
                </a:lnTo>
                <a:lnTo>
                  <a:pt x="0" y="164"/>
                </a:lnTo>
              </a:path>
            </a:pathLst>
          </a:custGeom>
          <a:solidFill>
            <a:srgbClr val="FFFFFF"/>
          </a:solidFill>
          <a:ln w="9525" cap="rnd">
            <a:noFill/>
            <a:round/>
            <a:headEnd/>
            <a:tailEnd/>
          </a:ln>
          <a:effectLst/>
        </p:spPr>
        <p:txBody>
          <a:bodyPr/>
          <a:lstStyle/>
          <a:p>
            <a:endParaRPr lang="zh-CN" altLang="en-US"/>
          </a:p>
        </p:txBody>
      </p:sp>
      <p:sp>
        <p:nvSpPr>
          <p:cNvPr id="64552" name="Freeform 1064"/>
          <p:cNvSpPr>
            <a:spLocks noChangeAspect="1"/>
          </p:cNvSpPr>
          <p:nvPr/>
        </p:nvSpPr>
        <p:spPr bwMode="auto">
          <a:xfrm flipH="1">
            <a:off x="8035925" y="2911475"/>
            <a:ext cx="261938" cy="117475"/>
          </a:xfrm>
          <a:custGeom>
            <a:avLst/>
            <a:gdLst/>
            <a:ahLst/>
            <a:cxnLst>
              <a:cxn ang="0">
                <a:pos x="0" y="169"/>
              </a:cxn>
              <a:cxn ang="0">
                <a:pos x="34" y="203"/>
              </a:cxn>
              <a:cxn ang="0">
                <a:pos x="386" y="23"/>
              </a:cxn>
              <a:cxn ang="0">
                <a:pos x="351" y="0"/>
              </a:cxn>
              <a:cxn ang="0">
                <a:pos x="0" y="169"/>
              </a:cxn>
              <a:cxn ang="0">
                <a:pos x="34" y="203"/>
              </a:cxn>
              <a:cxn ang="0">
                <a:pos x="386" y="23"/>
              </a:cxn>
              <a:cxn ang="0">
                <a:pos x="351" y="0"/>
              </a:cxn>
              <a:cxn ang="0">
                <a:pos x="0" y="169"/>
              </a:cxn>
            </a:cxnLst>
            <a:rect l="0" t="0" r="r" b="b"/>
            <a:pathLst>
              <a:path w="387" h="204">
                <a:moveTo>
                  <a:pt x="0" y="169"/>
                </a:moveTo>
                <a:lnTo>
                  <a:pt x="34" y="203"/>
                </a:lnTo>
                <a:lnTo>
                  <a:pt x="386" y="23"/>
                </a:lnTo>
                <a:lnTo>
                  <a:pt x="351" y="0"/>
                </a:lnTo>
                <a:lnTo>
                  <a:pt x="0" y="169"/>
                </a:lnTo>
                <a:lnTo>
                  <a:pt x="34" y="203"/>
                </a:lnTo>
                <a:lnTo>
                  <a:pt x="386" y="23"/>
                </a:lnTo>
                <a:lnTo>
                  <a:pt x="351" y="0"/>
                </a:lnTo>
                <a:lnTo>
                  <a:pt x="0" y="169"/>
                </a:lnTo>
              </a:path>
            </a:pathLst>
          </a:custGeom>
          <a:noFill/>
          <a:ln w="25400" cap="rnd" cmpd="sng">
            <a:solidFill>
              <a:srgbClr val="000000"/>
            </a:solidFill>
            <a:prstDash val="solid"/>
            <a:round/>
            <a:headEnd/>
            <a:tailEnd/>
          </a:ln>
          <a:effectLst/>
        </p:spPr>
        <p:txBody>
          <a:bodyPr/>
          <a:lstStyle/>
          <a:p>
            <a:endParaRPr lang="zh-CN" altLang="en-US"/>
          </a:p>
        </p:txBody>
      </p:sp>
      <p:sp>
        <p:nvSpPr>
          <p:cNvPr id="64553" name="Freeform 1065"/>
          <p:cNvSpPr>
            <a:spLocks noChangeAspect="1"/>
          </p:cNvSpPr>
          <p:nvPr/>
        </p:nvSpPr>
        <p:spPr bwMode="auto">
          <a:xfrm flipH="1">
            <a:off x="8001000" y="2941638"/>
            <a:ext cx="255588" cy="119062"/>
          </a:xfrm>
          <a:custGeom>
            <a:avLst/>
            <a:gdLst/>
            <a:ahLst/>
            <a:cxnLst>
              <a:cxn ang="0">
                <a:pos x="0" y="175"/>
              </a:cxn>
              <a:cxn ang="0">
                <a:pos x="33" y="208"/>
              </a:cxn>
              <a:cxn ang="0">
                <a:pos x="380" y="33"/>
              </a:cxn>
              <a:cxn ang="0">
                <a:pos x="347" y="0"/>
              </a:cxn>
              <a:cxn ang="0">
                <a:pos x="0" y="175"/>
              </a:cxn>
            </a:cxnLst>
            <a:rect l="0" t="0" r="r" b="b"/>
            <a:pathLst>
              <a:path w="381" h="209">
                <a:moveTo>
                  <a:pt x="0" y="175"/>
                </a:moveTo>
                <a:lnTo>
                  <a:pt x="33" y="208"/>
                </a:lnTo>
                <a:lnTo>
                  <a:pt x="380" y="33"/>
                </a:lnTo>
                <a:lnTo>
                  <a:pt x="347" y="0"/>
                </a:lnTo>
                <a:lnTo>
                  <a:pt x="0" y="175"/>
                </a:lnTo>
              </a:path>
            </a:pathLst>
          </a:custGeom>
          <a:solidFill>
            <a:srgbClr val="FFFFFF"/>
          </a:solidFill>
          <a:ln w="9525" cap="rnd">
            <a:noFill/>
            <a:round/>
            <a:headEnd/>
            <a:tailEnd/>
          </a:ln>
          <a:effectLst/>
        </p:spPr>
        <p:txBody>
          <a:bodyPr/>
          <a:lstStyle/>
          <a:p>
            <a:endParaRPr lang="zh-CN" altLang="en-US"/>
          </a:p>
        </p:txBody>
      </p:sp>
      <p:sp>
        <p:nvSpPr>
          <p:cNvPr id="64554" name="Freeform 1066"/>
          <p:cNvSpPr>
            <a:spLocks noChangeAspect="1"/>
          </p:cNvSpPr>
          <p:nvPr/>
        </p:nvSpPr>
        <p:spPr bwMode="auto">
          <a:xfrm flipH="1">
            <a:off x="7991475" y="2944813"/>
            <a:ext cx="261938" cy="123825"/>
          </a:xfrm>
          <a:custGeom>
            <a:avLst/>
            <a:gdLst/>
            <a:ahLst/>
            <a:cxnLst>
              <a:cxn ang="0">
                <a:pos x="0" y="181"/>
              </a:cxn>
              <a:cxn ang="0">
                <a:pos x="34" y="215"/>
              </a:cxn>
              <a:cxn ang="0">
                <a:pos x="386" y="34"/>
              </a:cxn>
              <a:cxn ang="0">
                <a:pos x="352" y="0"/>
              </a:cxn>
              <a:cxn ang="0">
                <a:pos x="0" y="181"/>
              </a:cxn>
              <a:cxn ang="0">
                <a:pos x="34" y="215"/>
              </a:cxn>
              <a:cxn ang="0">
                <a:pos x="386" y="34"/>
              </a:cxn>
              <a:cxn ang="0">
                <a:pos x="352" y="0"/>
              </a:cxn>
              <a:cxn ang="0">
                <a:pos x="0" y="181"/>
              </a:cxn>
            </a:cxnLst>
            <a:rect l="0" t="0" r="r" b="b"/>
            <a:pathLst>
              <a:path w="387" h="216">
                <a:moveTo>
                  <a:pt x="0" y="181"/>
                </a:moveTo>
                <a:lnTo>
                  <a:pt x="34" y="215"/>
                </a:lnTo>
                <a:lnTo>
                  <a:pt x="386" y="34"/>
                </a:lnTo>
                <a:lnTo>
                  <a:pt x="352" y="0"/>
                </a:lnTo>
                <a:lnTo>
                  <a:pt x="0" y="181"/>
                </a:lnTo>
                <a:lnTo>
                  <a:pt x="34" y="215"/>
                </a:lnTo>
                <a:lnTo>
                  <a:pt x="386" y="34"/>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55" name="Freeform 1067"/>
          <p:cNvSpPr>
            <a:spLocks noChangeAspect="1"/>
          </p:cNvSpPr>
          <p:nvPr/>
        </p:nvSpPr>
        <p:spPr bwMode="auto">
          <a:xfrm flipH="1">
            <a:off x="7954963" y="2979738"/>
            <a:ext cx="263525" cy="11430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a:lstStyle/>
          <a:p>
            <a:endParaRPr lang="zh-CN" altLang="en-US"/>
          </a:p>
        </p:txBody>
      </p:sp>
      <p:sp>
        <p:nvSpPr>
          <p:cNvPr id="64556" name="Freeform 1068"/>
          <p:cNvSpPr>
            <a:spLocks noChangeAspect="1"/>
          </p:cNvSpPr>
          <p:nvPr/>
        </p:nvSpPr>
        <p:spPr bwMode="auto">
          <a:xfrm flipH="1">
            <a:off x="7945438" y="2982913"/>
            <a:ext cx="268287" cy="119062"/>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57" name="Freeform 1069"/>
          <p:cNvSpPr>
            <a:spLocks noChangeAspect="1"/>
          </p:cNvSpPr>
          <p:nvPr/>
        </p:nvSpPr>
        <p:spPr bwMode="auto">
          <a:xfrm flipH="1">
            <a:off x="7915275" y="3019425"/>
            <a:ext cx="257175" cy="114300"/>
          </a:xfrm>
          <a:custGeom>
            <a:avLst/>
            <a:gdLst/>
            <a:ahLst/>
            <a:cxnLst>
              <a:cxn ang="0">
                <a:pos x="0" y="164"/>
              </a:cxn>
              <a:cxn ang="0">
                <a:pos x="33" y="197"/>
              </a:cxn>
              <a:cxn ang="0">
                <a:pos x="380" y="21"/>
              </a:cxn>
              <a:cxn ang="0">
                <a:pos x="347" y="0"/>
              </a:cxn>
              <a:cxn ang="0">
                <a:pos x="0" y="164"/>
              </a:cxn>
            </a:cxnLst>
            <a:rect l="0" t="0" r="r" b="b"/>
            <a:pathLst>
              <a:path w="381" h="198">
                <a:moveTo>
                  <a:pt x="0" y="164"/>
                </a:moveTo>
                <a:lnTo>
                  <a:pt x="33" y="197"/>
                </a:lnTo>
                <a:lnTo>
                  <a:pt x="380" y="21"/>
                </a:lnTo>
                <a:lnTo>
                  <a:pt x="347" y="0"/>
                </a:lnTo>
                <a:lnTo>
                  <a:pt x="0" y="164"/>
                </a:lnTo>
              </a:path>
            </a:pathLst>
          </a:custGeom>
          <a:solidFill>
            <a:srgbClr val="FFFFFF"/>
          </a:solidFill>
          <a:ln w="9525" cap="rnd">
            <a:noFill/>
            <a:round/>
            <a:headEnd/>
            <a:tailEnd/>
          </a:ln>
          <a:effectLst/>
        </p:spPr>
        <p:txBody>
          <a:bodyPr/>
          <a:lstStyle/>
          <a:p>
            <a:endParaRPr lang="zh-CN" altLang="en-US"/>
          </a:p>
        </p:txBody>
      </p:sp>
      <p:sp>
        <p:nvSpPr>
          <p:cNvPr id="64558" name="Freeform 1070"/>
          <p:cNvSpPr>
            <a:spLocks noChangeAspect="1"/>
          </p:cNvSpPr>
          <p:nvPr/>
        </p:nvSpPr>
        <p:spPr bwMode="auto">
          <a:xfrm flipH="1">
            <a:off x="7907338" y="3022600"/>
            <a:ext cx="260350" cy="117475"/>
          </a:xfrm>
          <a:custGeom>
            <a:avLst/>
            <a:gdLst/>
            <a:ahLst/>
            <a:cxnLst>
              <a:cxn ang="0">
                <a:pos x="0" y="170"/>
              </a:cxn>
              <a:cxn ang="0">
                <a:pos x="34" y="204"/>
              </a:cxn>
              <a:cxn ang="0">
                <a:pos x="386" y="22"/>
              </a:cxn>
              <a:cxn ang="0">
                <a:pos x="352" y="0"/>
              </a:cxn>
              <a:cxn ang="0">
                <a:pos x="0" y="170"/>
              </a:cxn>
              <a:cxn ang="0">
                <a:pos x="34" y="204"/>
              </a:cxn>
              <a:cxn ang="0">
                <a:pos x="386" y="22"/>
              </a:cxn>
              <a:cxn ang="0">
                <a:pos x="352" y="0"/>
              </a:cxn>
              <a:cxn ang="0">
                <a:pos x="0" y="170"/>
              </a:cxn>
            </a:cxnLst>
            <a:rect l="0" t="0" r="r" b="b"/>
            <a:pathLst>
              <a:path w="387" h="205">
                <a:moveTo>
                  <a:pt x="0" y="170"/>
                </a:moveTo>
                <a:lnTo>
                  <a:pt x="34" y="204"/>
                </a:lnTo>
                <a:lnTo>
                  <a:pt x="386" y="22"/>
                </a:lnTo>
                <a:lnTo>
                  <a:pt x="352" y="0"/>
                </a:lnTo>
                <a:lnTo>
                  <a:pt x="0" y="170"/>
                </a:lnTo>
                <a:lnTo>
                  <a:pt x="34" y="204"/>
                </a:lnTo>
                <a:lnTo>
                  <a:pt x="386" y="22"/>
                </a:lnTo>
                <a:lnTo>
                  <a:pt x="352" y="0"/>
                </a:lnTo>
                <a:lnTo>
                  <a:pt x="0" y="170"/>
                </a:lnTo>
              </a:path>
            </a:pathLst>
          </a:custGeom>
          <a:noFill/>
          <a:ln w="25400" cap="rnd" cmpd="sng">
            <a:solidFill>
              <a:srgbClr val="000000"/>
            </a:solidFill>
            <a:prstDash val="solid"/>
            <a:round/>
            <a:headEnd/>
            <a:tailEnd/>
          </a:ln>
          <a:effectLst/>
        </p:spPr>
        <p:txBody>
          <a:bodyPr/>
          <a:lstStyle/>
          <a:p>
            <a:endParaRPr lang="zh-CN" altLang="en-US"/>
          </a:p>
        </p:txBody>
      </p:sp>
      <p:sp>
        <p:nvSpPr>
          <p:cNvPr id="64559" name="Freeform 1071"/>
          <p:cNvSpPr>
            <a:spLocks noChangeAspect="1"/>
          </p:cNvSpPr>
          <p:nvPr/>
        </p:nvSpPr>
        <p:spPr bwMode="auto">
          <a:xfrm flipH="1">
            <a:off x="7869238" y="3051175"/>
            <a:ext cx="257175" cy="122238"/>
          </a:xfrm>
          <a:custGeom>
            <a:avLst/>
            <a:gdLst/>
            <a:ahLst/>
            <a:cxnLst>
              <a:cxn ang="0">
                <a:pos x="0" y="175"/>
              </a:cxn>
              <a:cxn ang="0">
                <a:pos x="34" y="208"/>
              </a:cxn>
              <a:cxn ang="0">
                <a:pos x="380" y="33"/>
              </a:cxn>
              <a:cxn ang="0">
                <a:pos x="347" y="0"/>
              </a:cxn>
              <a:cxn ang="0">
                <a:pos x="0" y="175"/>
              </a:cxn>
            </a:cxnLst>
            <a:rect l="0" t="0" r="r" b="b"/>
            <a:pathLst>
              <a:path w="381" h="209">
                <a:moveTo>
                  <a:pt x="0" y="175"/>
                </a:moveTo>
                <a:lnTo>
                  <a:pt x="34" y="208"/>
                </a:lnTo>
                <a:lnTo>
                  <a:pt x="380" y="33"/>
                </a:lnTo>
                <a:lnTo>
                  <a:pt x="347" y="0"/>
                </a:lnTo>
                <a:lnTo>
                  <a:pt x="0" y="175"/>
                </a:lnTo>
              </a:path>
            </a:pathLst>
          </a:custGeom>
          <a:solidFill>
            <a:srgbClr val="FFFFFF"/>
          </a:solidFill>
          <a:ln w="9525" cap="rnd">
            <a:noFill/>
            <a:round/>
            <a:headEnd/>
            <a:tailEnd/>
          </a:ln>
          <a:effectLst/>
        </p:spPr>
        <p:txBody>
          <a:bodyPr/>
          <a:lstStyle/>
          <a:p>
            <a:endParaRPr lang="zh-CN" altLang="en-US"/>
          </a:p>
        </p:txBody>
      </p:sp>
      <p:sp>
        <p:nvSpPr>
          <p:cNvPr id="64560" name="Freeform 1072"/>
          <p:cNvSpPr>
            <a:spLocks noChangeAspect="1"/>
          </p:cNvSpPr>
          <p:nvPr/>
        </p:nvSpPr>
        <p:spPr bwMode="auto">
          <a:xfrm flipH="1">
            <a:off x="7859713" y="3055938"/>
            <a:ext cx="261937" cy="123825"/>
          </a:xfrm>
          <a:custGeom>
            <a:avLst/>
            <a:gdLst/>
            <a:ahLst/>
            <a:cxnLst>
              <a:cxn ang="0">
                <a:pos x="0" y="181"/>
              </a:cxn>
              <a:cxn ang="0">
                <a:pos x="35" y="215"/>
              </a:cxn>
              <a:cxn ang="0">
                <a:pos x="386" y="34"/>
              </a:cxn>
              <a:cxn ang="0">
                <a:pos x="352" y="0"/>
              </a:cxn>
              <a:cxn ang="0">
                <a:pos x="0" y="181"/>
              </a:cxn>
              <a:cxn ang="0">
                <a:pos x="35" y="215"/>
              </a:cxn>
              <a:cxn ang="0">
                <a:pos x="386" y="34"/>
              </a:cxn>
              <a:cxn ang="0">
                <a:pos x="352" y="0"/>
              </a:cxn>
              <a:cxn ang="0">
                <a:pos x="0" y="181"/>
              </a:cxn>
            </a:cxnLst>
            <a:rect l="0" t="0" r="r" b="b"/>
            <a:pathLst>
              <a:path w="387" h="216">
                <a:moveTo>
                  <a:pt x="0" y="181"/>
                </a:moveTo>
                <a:lnTo>
                  <a:pt x="35" y="215"/>
                </a:lnTo>
                <a:lnTo>
                  <a:pt x="386" y="34"/>
                </a:lnTo>
                <a:lnTo>
                  <a:pt x="352" y="0"/>
                </a:lnTo>
                <a:lnTo>
                  <a:pt x="0" y="181"/>
                </a:lnTo>
                <a:lnTo>
                  <a:pt x="35" y="215"/>
                </a:lnTo>
                <a:lnTo>
                  <a:pt x="386" y="34"/>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61" name="Freeform 1073"/>
          <p:cNvSpPr>
            <a:spLocks noChangeAspect="1"/>
          </p:cNvSpPr>
          <p:nvPr/>
        </p:nvSpPr>
        <p:spPr bwMode="auto">
          <a:xfrm flipH="1">
            <a:off x="7823200" y="3090863"/>
            <a:ext cx="263525" cy="11430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a:lstStyle/>
          <a:p>
            <a:endParaRPr lang="zh-CN" altLang="en-US"/>
          </a:p>
        </p:txBody>
      </p:sp>
      <p:sp>
        <p:nvSpPr>
          <p:cNvPr id="64562" name="Freeform 1074"/>
          <p:cNvSpPr>
            <a:spLocks noChangeAspect="1"/>
          </p:cNvSpPr>
          <p:nvPr/>
        </p:nvSpPr>
        <p:spPr bwMode="auto">
          <a:xfrm flipH="1">
            <a:off x="7815263" y="3094038"/>
            <a:ext cx="268287" cy="119062"/>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63" name="Freeform 1075"/>
          <p:cNvSpPr>
            <a:spLocks noChangeAspect="1"/>
          </p:cNvSpPr>
          <p:nvPr/>
        </p:nvSpPr>
        <p:spPr bwMode="auto">
          <a:xfrm flipH="1">
            <a:off x="7340600" y="3000375"/>
            <a:ext cx="647700" cy="458788"/>
          </a:xfrm>
          <a:custGeom>
            <a:avLst/>
            <a:gdLst/>
            <a:ahLst/>
            <a:cxnLst>
              <a:cxn ang="0">
                <a:pos x="0" y="799"/>
              </a:cxn>
              <a:cxn ang="0">
                <a:pos x="0" y="472"/>
              </a:cxn>
              <a:cxn ang="0">
                <a:pos x="959" y="0"/>
              </a:cxn>
              <a:cxn ang="0">
                <a:pos x="959" y="315"/>
              </a:cxn>
              <a:cxn ang="0">
                <a:pos x="0" y="799"/>
              </a:cxn>
            </a:cxnLst>
            <a:rect l="0" t="0" r="r" b="b"/>
            <a:pathLst>
              <a:path w="960" h="800">
                <a:moveTo>
                  <a:pt x="0" y="799"/>
                </a:moveTo>
                <a:lnTo>
                  <a:pt x="0" y="472"/>
                </a:lnTo>
                <a:lnTo>
                  <a:pt x="959" y="0"/>
                </a:lnTo>
                <a:lnTo>
                  <a:pt x="959" y="315"/>
                </a:lnTo>
                <a:lnTo>
                  <a:pt x="0" y="799"/>
                </a:lnTo>
              </a:path>
            </a:pathLst>
          </a:custGeom>
          <a:solidFill>
            <a:srgbClr val="FFFFFF"/>
          </a:solidFill>
          <a:ln w="9525" cap="rnd">
            <a:noFill/>
            <a:round/>
            <a:headEnd/>
            <a:tailEnd/>
          </a:ln>
          <a:effectLst/>
        </p:spPr>
        <p:txBody>
          <a:bodyPr/>
          <a:lstStyle/>
          <a:p>
            <a:endParaRPr lang="zh-CN" altLang="en-US"/>
          </a:p>
        </p:txBody>
      </p:sp>
      <p:sp>
        <p:nvSpPr>
          <p:cNvPr id="64564" name="Freeform 1076"/>
          <p:cNvSpPr>
            <a:spLocks noChangeAspect="1"/>
          </p:cNvSpPr>
          <p:nvPr/>
        </p:nvSpPr>
        <p:spPr bwMode="auto">
          <a:xfrm flipH="1">
            <a:off x="7331075" y="3003550"/>
            <a:ext cx="654050" cy="463550"/>
          </a:xfrm>
          <a:custGeom>
            <a:avLst/>
            <a:gdLst/>
            <a:ahLst/>
            <a:cxnLst>
              <a:cxn ang="0">
                <a:pos x="0" y="806"/>
              </a:cxn>
              <a:cxn ang="0">
                <a:pos x="0" y="476"/>
              </a:cxn>
              <a:cxn ang="0">
                <a:pos x="967" y="0"/>
              </a:cxn>
              <a:cxn ang="0">
                <a:pos x="967" y="318"/>
              </a:cxn>
              <a:cxn ang="0">
                <a:pos x="0" y="806"/>
              </a:cxn>
              <a:cxn ang="0">
                <a:pos x="0" y="476"/>
              </a:cxn>
              <a:cxn ang="0">
                <a:pos x="967" y="0"/>
              </a:cxn>
              <a:cxn ang="0">
                <a:pos x="967" y="318"/>
              </a:cxn>
              <a:cxn ang="0">
                <a:pos x="0" y="806"/>
              </a:cxn>
            </a:cxnLst>
            <a:rect l="0" t="0" r="r" b="b"/>
            <a:pathLst>
              <a:path w="968" h="807">
                <a:moveTo>
                  <a:pt x="0" y="806"/>
                </a:moveTo>
                <a:lnTo>
                  <a:pt x="0" y="476"/>
                </a:lnTo>
                <a:lnTo>
                  <a:pt x="967" y="0"/>
                </a:lnTo>
                <a:lnTo>
                  <a:pt x="967" y="318"/>
                </a:lnTo>
                <a:lnTo>
                  <a:pt x="0" y="806"/>
                </a:lnTo>
                <a:lnTo>
                  <a:pt x="0" y="476"/>
                </a:lnTo>
                <a:lnTo>
                  <a:pt x="967" y="0"/>
                </a:lnTo>
                <a:lnTo>
                  <a:pt x="967" y="318"/>
                </a:lnTo>
                <a:lnTo>
                  <a:pt x="0" y="806"/>
                </a:lnTo>
              </a:path>
            </a:pathLst>
          </a:custGeom>
          <a:noFill/>
          <a:ln w="25400" cap="rnd" cmpd="sng">
            <a:solidFill>
              <a:srgbClr val="000000"/>
            </a:solidFill>
            <a:prstDash val="solid"/>
            <a:round/>
            <a:headEnd/>
            <a:tailEnd/>
          </a:ln>
          <a:effectLst/>
        </p:spPr>
        <p:txBody>
          <a:bodyPr/>
          <a:lstStyle/>
          <a:p>
            <a:endParaRPr lang="zh-CN" altLang="en-US"/>
          </a:p>
        </p:txBody>
      </p:sp>
      <p:sp>
        <p:nvSpPr>
          <p:cNvPr id="64565" name="Freeform 1077"/>
          <p:cNvSpPr>
            <a:spLocks noChangeAspect="1"/>
          </p:cNvSpPr>
          <p:nvPr/>
        </p:nvSpPr>
        <p:spPr bwMode="auto">
          <a:xfrm flipH="1">
            <a:off x="7340600" y="2627313"/>
            <a:ext cx="1076325" cy="642937"/>
          </a:xfrm>
          <a:custGeom>
            <a:avLst/>
            <a:gdLst/>
            <a:ahLst/>
            <a:cxnLst>
              <a:cxn ang="0">
                <a:pos x="634" y="1116"/>
              </a:cxn>
              <a:cxn ang="0">
                <a:pos x="1596" y="643"/>
              </a:cxn>
              <a:cxn ang="0">
                <a:pos x="962" y="0"/>
              </a:cxn>
              <a:cxn ang="0">
                <a:pos x="0" y="485"/>
              </a:cxn>
              <a:cxn ang="0">
                <a:pos x="80" y="563"/>
              </a:cxn>
              <a:cxn ang="0">
                <a:pos x="465" y="372"/>
              </a:cxn>
              <a:cxn ang="0">
                <a:pos x="939" y="846"/>
              </a:cxn>
              <a:cxn ang="0">
                <a:pos x="555" y="1037"/>
              </a:cxn>
              <a:cxn ang="0">
                <a:pos x="634" y="1116"/>
              </a:cxn>
            </a:cxnLst>
            <a:rect l="0" t="0" r="r" b="b"/>
            <a:pathLst>
              <a:path w="1597" h="1117">
                <a:moveTo>
                  <a:pt x="634" y="1116"/>
                </a:moveTo>
                <a:lnTo>
                  <a:pt x="1596" y="643"/>
                </a:lnTo>
                <a:lnTo>
                  <a:pt x="962" y="0"/>
                </a:lnTo>
                <a:lnTo>
                  <a:pt x="0" y="485"/>
                </a:lnTo>
                <a:lnTo>
                  <a:pt x="80" y="563"/>
                </a:lnTo>
                <a:lnTo>
                  <a:pt x="465" y="372"/>
                </a:lnTo>
                <a:lnTo>
                  <a:pt x="939" y="846"/>
                </a:lnTo>
                <a:lnTo>
                  <a:pt x="555" y="1037"/>
                </a:lnTo>
                <a:lnTo>
                  <a:pt x="634" y="1116"/>
                </a:lnTo>
              </a:path>
            </a:pathLst>
          </a:custGeom>
          <a:solidFill>
            <a:srgbClr val="FFFFFF"/>
          </a:solidFill>
          <a:ln w="9525" cap="rnd">
            <a:noFill/>
            <a:round/>
            <a:headEnd/>
            <a:tailEnd/>
          </a:ln>
          <a:effectLst/>
        </p:spPr>
        <p:txBody>
          <a:bodyPr/>
          <a:lstStyle/>
          <a:p>
            <a:endParaRPr lang="zh-CN" altLang="en-US"/>
          </a:p>
        </p:txBody>
      </p:sp>
      <p:sp>
        <p:nvSpPr>
          <p:cNvPr id="64566" name="Freeform 1078"/>
          <p:cNvSpPr>
            <a:spLocks noChangeAspect="1"/>
          </p:cNvSpPr>
          <p:nvPr/>
        </p:nvSpPr>
        <p:spPr bwMode="auto">
          <a:xfrm flipH="1">
            <a:off x="7331075" y="2632075"/>
            <a:ext cx="1081088" cy="646113"/>
          </a:xfrm>
          <a:custGeom>
            <a:avLst/>
            <a:gdLst/>
            <a:ahLst/>
            <a:cxnLst>
              <a:cxn ang="0">
                <a:pos x="637" y="1122"/>
              </a:cxn>
              <a:cxn ang="0">
                <a:pos x="1603" y="646"/>
              </a:cxn>
              <a:cxn ang="0">
                <a:pos x="966" y="0"/>
              </a:cxn>
              <a:cxn ang="0">
                <a:pos x="0" y="488"/>
              </a:cxn>
              <a:cxn ang="0">
                <a:pos x="80" y="567"/>
              </a:cxn>
              <a:cxn ang="0">
                <a:pos x="467" y="374"/>
              </a:cxn>
              <a:cxn ang="0">
                <a:pos x="943" y="850"/>
              </a:cxn>
              <a:cxn ang="0">
                <a:pos x="558" y="1043"/>
              </a:cxn>
              <a:cxn ang="0">
                <a:pos x="637" y="1122"/>
              </a:cxn>
              <a:cxn ang="0">
                <a:pos x="1603" y="646"/>
              </a:cxn>
              <a:cxn ang="0">
                <a:pos x="966" y="0"/>
              </a:cxn>
              <a:cxn ang="0">
                <a:pos x="0" y="488"/>
              </a:cxn>
              <a:cxn ang="0">
                <a:pos x="80" y="567"/>
              </a:cxn>
              <a:cxn ang="0">
                <a:pos x="467" y="374"/>
              </a:cxn>
              <a:cxn ang="0">
                <a:pos x="943" y="850"/>
              </a:cxn>
              <a:cxn ang="0">
                <a:pos x="558" y="1043"/>
              </a:cxn>
              <a:cxn ang="0">
                <a:pos x="637" y="1122"/>
              </a:cxn>
            </a:cxnLst>
            <a:rect l="0" t="0" r="r" b="b"/>
            <a:pathLst>
              <a:path w="1604" h="1123">
                <a:moveTo>
                  <a:pt x="637" y="1122"/>
                </a:moveTo>
                <a:lnTo>
                  <a:pt x="1603" y="646"/>
                </a:lnTo>
                <a:lnTo>
                  <a:pt x="966" y="0"/>
                </a:lnTo>
                <a:lnTo>
                  <a:pt x="0" y="488"/>
                </a:lnTo>
                <a:lnTo>
                  <a:pt x="80" y="567"/>
                </a:lnTo>
                <a:lnTo>
                  <a:pt x="467" y="374"/>
                </a:lnTo>
                <a:lnTo>
                  <a:pt x="943" y="850"/>
                </a:lnTo>
                <a:lnTo>
                  <a:pt x="558" y="1043"/>
                </a:lnTo>
                <a:lnTo>
                  <a:pt x="637" y="1122"/>
                </a:lnTo>
                <a:lnTo>
                  <a:pt x="1603" y="646"/>
                </a:lnTo>
                <a:lnTo>
                  <a:pt x="966" y="0"/>
                </a:lnTo>
                <a:lnTo>
                  <a:pt x="0" y="488"/>
                </a:lnTo>
                <a:lnTo>
                  <a:pt x="80" y="567"/>
                </a:lnTo>
                <a:lnTo>
                  <a:pt x="467" y="374"/>
                </a:lnTo>
                <a:lnTo>
                  <a:pt x="943" y="850"/>
                </a:lnTo>
                <a:lnTo>
                  <a:pt x="558" y="1043"/>
                </a:lnTo>
                <a:lnTo>
                  <a:pt x="637" y="1122"/>
                </a:lnTo>
              </a:path>
            </a:pathLst>
          </a:custGeom>
          <a:noFill/>
          <a:ln w="25400" cap="rnd" cmpd="sng">
            <a:solidFill>
              <a:srgbClr val="000000"/>
            </a:solidFill>
            <a:prstDash val="solid"/>
            <a:round/>
            <a:headEnd/>
            <a:tailEnd/>
          </a:ln>
          <a:effectLst/>
        </p:spPr>
        <p:txBody>
          <a:bodyPr/>
          <a:lstStyle/>
          <a:p>
            <a:endParaRPr lang="zh-CN" altLang="en-US"/>
          </a:p>
        </p:txBody>
      </p:sp>
      <p:sp>
        <p:nvSpPr>
          <p:cNvPr id="64567" name="Line 1079"/>
          <p:cNvSpPr>
            <a:spLocks noChangeAspect="1" noChangeShapeType="1"/>
          </p:cNvSpPr>
          <p:nvPr/>
        </p:nvSpPr>
        <p:spPr bwMode="auto">
          <a:xfrm flipH="1" flipV="1">
            <a:off x="8340725" y="3000375"/>
            <a:ext cx="22225" cy="1270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64568" name="Freeform 1080"/>
          <p:cNvSpPr>
            <a:spLocks noChangeAspect="1"/>
          </p:cNvSpPr>
          <p:nvPr/>
        </p:nvSpPr>
        <p:spPr bwMode="auto">
          <a:xfrm flipH="1">
            <a:off x="8107363" y="3111500"/>
            <a:ext cx="325437" cy="347663"/>
          </a:xfrm>
          <a:custGeom>
            <a:avLst/>
            <a:gdLst/>
            <a:ahLst/>
            <a:cxnLst>
              <a:cxn ang="0">
                <a:pos x="0" y="0"/>
              </a:cxn>
              <a:cxn ang="0">
                <a:pos x="483" y="471"/>
              </a:cxn>
              <a:cxn ang="0">
                <a:pos x="483" y="606"/>
              </a:cxn>
              <a:cxn ang="0">
                <a:pos x="0" y="124"/>
              </a:cxn>
              <a:cxn ang="0">
                <a:pos x="0" y="0"/>
              </a:cxn>
            </a:cxnLst>
            <a:rect l="0" t="0" r="r" b="b"/>
            <a:pathLst>
              <a:path w="484" h="607">
                <a:moveTo>
                  <a:pt x="0" y="0"/>
                </a:moveTo>
                <a:lnTo>
                  <a:pt x="483" y="471"/>
                </a:lnTo>
                <a:lnTo>
                  <a:pt x="483" y="606"/>
                </a:lnTo>
                <a:lnTo>
                  <a:pt x="0" y="124"/>
                </a:lnTo>
                <a:lnTo>
                  <a:pt x="0" y="0"/>
                </a:lnTo>
              </a:path>
            </a:pathLst>
          </a:custGeom>
          <a:solidFill>
            <a:srgbClr val="FFFFFF"/>
          </a:solidFill>
          <a:ln w="9525" cap="rnd">
            <a:noFill/>
            <a:round/>
            <a:headEnd/>
            <a:tailEnd/>
          </a:ln>
          <a:effectLst/>
        </p:spPr>
        <p:txBody>
          <a:bodyPr/>
          <a:lstStyle/>
          <a:p>
            <a:endParaRPr lang="zh-CN" altLang="en-US"/>
          </a:p>
        </p:txBody>
      </p:sp>
      <p:sp>
        <p:nvSpPr>
          <p:cNvPr id="64569" name="Freeform 1081"/>
          <p:cNvSpPr>
            <a:spLocks noChangeAspect="1"/>
          </p:cNvSpPr>
          <p:nvPr/>
        </p:nvSpPr>
        <p:spPr bwMode="auto">
          <a:xfrm flipH="1">
            <a:off x="8099425" y="3114675"/>
            <a:ext cx="328613" cy="352425"/>
          </a:xfrm>
          <a:custGeom>
            <a:avLst/>
            <a:gdLst/>
            <a:ahLst/>
            <a:cxnLst>
              <a:cxn ang="0">
                <a:pos x="0" y="0"/>
              </a:cxn>
              <a:cxn ang="0">
                <a:pos x="489" y="476"/>
              </a:cxn>
              <a:cxn ang="0">
                <a:pos x="489" y="613"/>
              </a:cxn>
              <a:cxn ang="0">
                <a:pos x="0" y="125"/>
              </a:cxn>
              <a:cxn ang="0">
                <a:pos x="0" y="0"/>
              </a:cxn>
              <a:cxn ang="0">
                <a:pos x="489" y="476"/>
              </a:cxn>
              <a:cxn ang="0">
                <a:pos x="489" y="613"/>
              </a:cxn>
              <a:cxn ang="0">
                <a:pos x="0" y="125"/>
              </a:cxn>
              <a:cxn ang="0">
                <a:pos x="0" y="0"/>
              </a:cxn>
            </a:cxnLst>
            <a:rect l="0" t="0" r="r" b="b"/>
            <a:pathLst>
              <a:path w="490" h="614">
                <a:moveTo>
                  <a:pt x="0" y="0"/>
                </a:moveTo>
                <a:lnTo>
                  <a:pt x="489" y="476"/>
                </a:lnTo>
                <a:lnTo>
                  <a:pt x="489" y="613"/>
                </a:lnTo>
                <a:lnTo>
                  <a:pt x="0" y="125"/>
                </a:lnTo>
                <a:lnTo>
                  <a:pt x="0" y="0"/>
                </a:lnTo>
                <a:lnTo>
                  <a:pt x="489" y="476"/>
                </a:lnTo>
                <a:lnTo>
                  <a:pt x="489" y="613"/>
                </a:lnTo>
                <a:lnTo>
                  <a:pt x="0" y="125"/>
                </a:lnTo>
                <a:lnTo>
                  <a:pt x="0" y="0"/>
                </a:lnTo>
              </a:path>
            </a:pathLst>
          </a:custGeom>
          <a:noFill/>
          <a:ln w="25400" cap="rnd" cmpd="sng">
            <a:solidFill>
              <a:srgbClr val="000000"/>
            </a:solidFill>
            <a:prstDash val="solid"/>
            <a:round/>
            <a:headEnd/>
            <a:tailEnd/>
          </a:ln>
          <a:effectLst/>
        </p:spPr>
        <p:txBody>
          <a:bodyPr/>
          <a:lstStyle/>
          <a:p>
            <a:endParaRPr lang="zh-CN" altLang="en-US"/>
          </a:p>
        </p:txBody>
      </p:sp>
      <p:sp>
        <p:nvSpPr>
          <p:cNvPr id="64570" name="Freeform 1082"/>
          <p:cNvSpPr>
            <a:spLocks noChangeAspect="1"/>
          </p:cNvSpPr>
          <p:nvPr/>
        </p:nvSpPr>
        <p:spPr bwMode="auto">
          <a:xfrm flipH="1">
            <a:off x="8069263" y="3090863"/>
            <a:ext cx="363537" cy="290512"/>
          </a:xfrm>
          <a:custGeom>
            <a:avLst/>
            <a:gdLst/>
            <a:ahLst/>
            <a:cxnLst>
              <a:cxn ang="0">
                <a:pos x="0" y="34"/>
              </a:cxn>
              <a:cxn ang="0">
                <a:pos x="68" y="0"/>
              </a:cxn>
              <a:cxn ang="0">
                <a:pos x="539" y="469"/>
              </a:cxn>
              <a:cxn ang="0">
                <a:pos x="484" y="503"/>
              </a:cxn>
              <a:cxn ang="0">
                <a:pos x="0" y="34"/>
              </a:cxn>
            </a:cxnLst>
            <a:rect l="0" t="0" r="r" b="b"/>
            <a:pathLst>
              <a:path w="540" h="504">
                <a:moveTo>
                  <a:pt x="0" y="34"/>
                </a:moveTo>
                <a:lnTo>
                  <a:pt x="68" y="0"/>
                </a:lnTo>
                <a:lnTo>
                  <a:pt x="539" y="469"/>
                </a:lnTo>
                <a:lnTo>
                  <a:pt x="484" y="503"/>
                </a:lnTo>
                <a:lnTo>
                  <a:pt x="0" y="34"/>
                </a:lnTo>
              </a:path>
            </a:pathLst>
          </a:custGeom>
          <a:solidFill>
            <a:srgbClr val="FFFFFF"/>
          </a:solidFill>
          <a:ln w="9525" cap="rnd">
            <a:noFill/>
            <a:round/>
            <a:headEnd/>
            <a:tailEnd/>
          </a:ln>
          <a:effectLst/>
        </p:spPr>
        <p:txBody>
          <a:bodyPr/>
          <a:lstStyle/>
          <a:p>
            <a:endParaRPr lang="zh-CN" altLang="en-US"/>
          </a:p>
        </p:txBody>
      </p:sp>
      <p:sp>
        <p:nvSpPr>
          <p:cNvPr id="64571" name="Freeform 1083"/>
          <p:cNvSpPr>
            <a:spLocks noChangeAspect="1"/>
          </p:cNvSpPr>
          <p:nvPr/>
        </p:nvSpPr>
        <p:spPr bwMode="auto">
          <a:xfrm flipH="1">
            <a:off x="8059738" y="3094038"/>
            <a:ext cx="368300" cy="295275"/>
          </a:xfrm>
          <a:custGeom>
            <a:avLst/>
            <a:gdLst/>
            <a:ahLst/>
            <a:cxnLst>
              <a:cxn ang="0">
                <a:pos x="0" y="34"/>
              </a:cxn>
              <a:cxn ang="0">
                <a:pos x="69" y="0"/>
              </a:cxn>
              <a:cxn ang="0">
                <a:pos x="546" y="476"/>
              </a:cxn>
              <a:cxn ang="0">
                <a:pos x="490" y="510"/>
              </a:cxn>
              <a:cxn ang="0">
                <a:pos x="0" y="34"/>
              </a:cxn>
              <a:cxn ang="0">
                <a:pos x="69" y="0"/>
              </a:cxn>
              <a:cxn ang="0">
                <a:pos x="546" y="476"/>
              </a:cxn>
              <a:cxn ang="0">
                <a:pos x="490" y="510"/>
              </a:cxn>
              <a:cxn ang="0">
                <a:pos x="0" y="34"/>
              </a:cxn>
            </a:cxnLst>
            <a:rect l="0" t="0" r="r" b="b"/>
            <a:pathLst>
              <a:path w="547" h="511">
                <a:moveTo>
                  <a:pt x="0" y="34"/>
                </a:moveTo>
                <a:lnTo>
                  <a:pt x="69" y="0"/>
                </a:lnTo>
                <a:lnTo>
                  <a:pt x="546" y="476"/>
                </a:lnTo>
                <a:lnTo>
                  <a:pt x="490" y="510"/>
                </a:lnTo>
                <a:lnTo>
                  <a:pt x="0" y="34"/>
                </a:lnTo>
                <a:lnTo>
                  <a:pt x="69" y="0"/>
                </a:lnTo>
                <a:lnTo>
                  <a:pt x="546" y="476"/>
                </a:lnTo>
                <a:lnTo>
                  <a:pt x="490" y="510"/>
                </a:lnTo>
                <a:lnTo>
                  <a:pt x="0" y="34"/>
                </a:lnTo>
              </a:path>
            </a:pathLst>
          </a:custGeom>
          <a:noFill/>
          <a:ln w="25400" cap="rnd" cmpd="sng">
            <a:solidFill>
              <a:srgbClr val="000000"/>
            </a:solidFill>
            <a:prstDash val="solid"/>
            <a:round/>
            <a:headEnd/>
            <a:tailEnd/>
          </a:ln>
          <a:effectLst/>
        </p:spPr>
        <p:txBody>
          <a:bodyPr/>
          <a:lstStyle/>
          <a:p>
            <a:endParaRPr lang="zh-CN" altLang="en-US"/>
          </a:p>
        </p:txBody>
      </p:sp>
      <p:sp>
        <p:nvSpPr>
          <p:cNvPr id="64572" name="Freeform 1084"/>
          <p:cNvSpPr>
            <a:spLocks noChangeAspect="1"/>
          </p:cNvSpPr>
          <p:nvPr/>
        </p:nvSpPr>
        <p:spPr bwMode="auto">
          <a:xfrm flipH="1">
            <a:off x="8029575" y="3273425"/>
            <a:ext cx="73025" cy="95250"/>
          </a:xfrm>
          <a:custGeom>
            <a:avLst/>
            <a:gdLst/>
            <a:ahLst/>
            <a:cxnLst>
              <a:cxn ang="0">
                <a:pos x="0" y="33"/>
              </a:cxn>
              <a:cxn ang="0">
                <a:pos x="53" y="0"/>
              </a:cxn>
              <a:cxn ang="0">
                <a:pos x="53" y="55"/>
              </a:cxn>
              <a:cxn ang="0">
                <a:pos x="106" y="99"/>
              </a:cxn>
              <a:cxn ang="0">
                <a:pos x="0" y="164"/>
              </a:cxn>
              <a:cxn ang="0">
                <a:pos x="0" y="33"/>
              </a:cxn>
            </a:cxnLst>
            <a:rect l="0" t="0" r="r" b="b"/>
            <a:pathLst>
              <a:path w="107" h="165">
                <a:moveTo>
                  <a:pt x="0" y="33"/>
                </a:moveTo>
                <a:lnTo>
                  <a:pt x="53" y="0"/>
                </a:lnTo>
                <a:lnTo>
                  <a:pt x="53" y="55"/>
                </a:lnTo>
                <a:lnTo>
                  <a:pt x="106" y="99"/>
                </a:lnTo>
                <a:lnTo>
                  <a:pt x="0" y="164"/>
                </a:lnTo>
                <a:lnTo>
                  <a:pt x="0" y="33"/>
                </a:lnTo>
              </a:path>
            </a:pathLst>
          </a:custGeom>
          <a:solidFill>
            <a:srgbClr val="FFFFFF"/>
          </a:solidFill>
          <a:ln w="9525" cap="rnd">
            <a:noFill/>
            <a:round/>
            <a:headEnd/>
            <a:tailEnd/>
          </a:ln>
          <a:effectLst/>
        </p:spPr>
        <p:txBody>
          <a:bodyPr/>
          <a:lstStyle/>
          <a:p>
            <a:endParaRPr lang="zh-CN" altLang="en-US"/>
          </a:p>
        </p:txBody>
      </p:sp>
      <p:sp>
        <p:nvSpPr>
          <p:cNvPr id="64573" name="Freeform 1085"/>
          <p:cNvSpPr>
            <a:spLocks noChangeAspect="1"/>
          </p:cNvSpPr>
          <p:nvPr/>
        </p:nvSpPr>
        <p:spPr bwMode="auto">
          <a:xfrm flipH="1">
            <a:off x="8021638" y="3276600"/>
            <a:ext cx="77787" cy="100013"/>
          </a:xfrm>
          <a:custGeom>
            <a:avLst/>
            <a:gdLst/>
            <a:ahLst/>
            <a:cxnLst>
              <a:cxn ang="0">
                <a:pos x="0" y="34"/>
              </a:cxn>
              <a:cxn ang="0">
                <a:pos x="56" y="0"/>
              </a:cxn>
              <a:cxn ang="0">
                <a:pos x="56" y="57"/>
              </a:cxn>
              <a:cxn ang="0">
                <a:pos x="113" y="103"/>
              </a:cxn>
              <a:cxn ang="0">
                <a:pos x="0" y="171"/>
              </a:cxn>
              <a:cxn ang="0">
                <a:pos x="0" y="34"/>
              </a:cxn>
              <a:cxn ang="0">
                <a:pos x="56" y="0"/>
              </a:cxn>
              <a:cxn ang="0">
                <a:pos x="56" y="57"/>
              </a:cxn>
              <a:cxn ang="0">
                <a:pos x="113" y="103"/>
              </a:cxn>
              <a:cxn ang="0">
                <a:pos x="0" y="171"/>
              </a:cxn>
              <a:cxn ang="0">
                <a:pos x="0" y="34"/>
              </a:cxn>
            </a:cxnLst>
            <a:rect l="0" t="0" r="r" b="b"/>
            <a:pathLst>
              <a:path w="114" h="172">
                <a:moveTo>
                  <a:pt x="0" y="34"/>
                </a:moveTo>
                <a:lnTo>
                  <a:pt x="56" y="0"/>
                </a:lnTo>
                <a:lnTo>
                  <a:pt x="56" y="57"/>
                </a:lnTo>
                <a:lnTo>
                  <a:pt x="113" y="103"/>
                </a:lnTo>
                <a:lnTo>
                  <a:pt x="0" y="171"/>
                </a:lnTo>
                <a:lnTo>
                  <a:pt x="0" y="34"/>
                </a:lnTo>
                <a:lnTo>
                  <a:pt x="56" y="0"/>
                </a:lnTo>
                <a:lnTo>
                  <a:pt x="56" y="57"/>
                </a:lnTo>
                <a:lnTo>
                  <a:pt x="113" y="103"/>
                </a:lnTo>
                <a:lnTo>
                  <a:pt x="0" y="171"/>
                </a:lnTo>
                <a:lnTo>
                  <a:pt x="0" y="34"/>
                </a:lnTo>
              </a:path>
            </a:pathLst>
          </a:custGeom>
          <a:noFill/>
          <a:ln w="25400" cap="rnd" cmpd="sng">
            <a:solidFill>
              <a:srgbClr val="000000"/>
            </a:solidFill>
            <a:prstDash val="solid"/>
            <a:round/>
            <a:headEnd/>
            <a:tailEnd/>
          </a:ln>
          <a:effectLst/>
        </p:spPr>
        <p:txBody>
          <a:bodyPr/>
          <a:lstStyle/>
          <a:p>
            <a:endParaRPr lang="zh-CN" altLang="en-US"/>
          </a:p>
        </p:txBody>
      </p:sp>
      <p:sp>
        <p:nvSpPr>
          <p:cNvPr id="64574" name="Arc 1086"/>
          <p:cNvSpPr>
            <a:spLocks noChangeAspect="1"/>
          </p:cNvSpPr>
          <p:nvPr/>
        </p:nvSpPr>
        <p:spPr bwMode="auto">
          <a:xfrm flipH="1">
            <a:off x="6932613" y="2608263"/>
            <a:ext cx="711200" cy="125412"/>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575" name="Arc 1087"/>
          <p:cNvSpPr>
            <a:spLocks noChangeAspect="1"/>
          </p:cNvSpPr>
          <p:nvPr/>
        </p:nvSpPr>
        <p:spPr bwMode="auto">
          <a:xfrm flipH="1">
            <a:off x="6910388" y="2627313"/>
            <a:ext cx="709612" cy="127000"/>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576" name="Arc 1088"/>
          <p:cNvSpPr>
            <a:spLocks noChangeAspect="1"/>
          </p:cNvSpPr>
          <p:nvPr/>
        </p:nvSpPr>
        <p:spPr bwMode="auto">
          <a:xfrm flipH="1">
            <a:off x="6764338" y="2744788"/>
            <a:ext cx="711200" cy="125412"/>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577" name="Arc 1089"/>
          <p:cNvSpPr>
            <a:spLocks noChangeAspect="1"/>
          </p:cNvSpPr>
          <p:nvPr/>
        </p:nvSpPr>
        <p:spPr bwMode="auto">
          <a:xfrm flipH="1">
            <a:off x="6748463" y="2765425"/>
            <a:ext cx="711200" cy="125413"/>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578" name="Arc 1090"/>
          <p:cNvSpPr>
            <a:spLocks noChangeAspect="1"/>
          </p:cNvSpPr>
          <p:nvPr/>
        </p:nvSpPr>
        <p:spPr bwMode="auto">
          <a:xfrm flipH="1">
            <a:off x="6732588" y="2778125"/>
            <a:ext cx="711200" cy="125413"/>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579" name="Line 1091"/>
          <p:cNvSpPr>
            <a:spLocks noChangeAspect="1" noChangeShapeType="1"/>
          </p:cNvSpPr>
          <p:nvPr/>
        </p:nvSpPr>
        <p:spPr bwMode="auto">
          <a:xfrm>
            <a:off x="7481888" y="2876550"/>
            <a:ext cx="385762" cy="166688"/>
          </a:xfrm>
          <a:prstGeom prst="line">
            <a:avLst/>
          </a:prstGeom>
          <a:noFill/>
          <a:ln w="76200">
            <a:solidFill>
              <a:schemeClr val="accent1"/>
            </a:solidFill>
            <a:round/>
            <a:headEnd type="none" w="sm" len="sm"/>
            <a:tailEnd type="none" w="sm" len="sm"/>
          </a:ln>
          <a:effectLst/>
        </p:spPr>
        <p:txBody>
          <a:bodyPr wrap="none" anchor="ctr"/>
          <a:lstStyle/>
          <a:p>
            <a:endParaRPr lang="zh-CN" altLang="en-US"/>
          </a:p>
        </p:txBody>
      </p:sp>
      <p:sp>
        <p:nvSpPr>
          <p:cNvPr id="64580" name="Line 1092"/>
          <p:cNvSpPr>
            <a:spLocks noChangeAspect="1" noChangeShapeType="1"/>
          </p:cNvSpPr>
          <p:nvPr/>
        </p:nvSpPr>
        <p:spPr bwMode="auto">
          <a:xfrm>
            <a:off x="7747000" y="2673350"/>
            <a:ext cx="377825" cy="165100"/>
          </a:xfrm>
          <a:prstGeom prst="line">
            <a:avLst/>
          </a:prstGeom>
          <a:noFill/>
          <a:ln w="76200">
            <a:pattFill prst="lgGrid">
              <a:fgClr>
                <a:srgbClr val="33CC33"/>
              </a:fgClr>
              <a:bgClr>
                <a:srgbClr val="FFFFFF"/>
              </a:bgClr>
            </a:pattFill>
            <a:round/>
            <a:headEnd type="none" w="sm" len="sm"/>
            <a:tailEnd type="none" w="sm" len="sm"/>
          </a:ln>
          <a:effectLst/>
        </p:spPr>
        <p:txBody>
          <a:bodyPr wrap="none" anchor="ctr"/>
          <a:lstStyle/>
          <a:p>
            <a:endParaRPr lang="zh-CN" altLang="en-US"/>
          </a:p>
        </p:txBody>
      </p:sp>
      <p:sp>
        <p:nvSpPr>
          <p:cNvPr id="64581" name="Line 1093"/>
          <p:cNvSpPr>
            <a:spLocks noChangeAspect="1" noChangeShapeType="1"/>
          </p:cNvSpPr>
          <p:nvPr/>
        </p:nvSpPr>
        <p:spPr bwMode="auto">
          <a:xfrm>
            <a:off x="7519988" y="2836863"/>
            <a:ext cx="387350" cy="168275"/>
          </a:xfrm>
          <a:prstGeom prst="line">
            <a:avLst/>
          </a:prstGeom>
          <a:noFill/>
          <a:ln w="76200">
            <a:solidFill>
              <a:srgbClr val="0066FF"/>
            </a:solidFill>
            <a:round/>
            <a:headEnd type="none" w="sm" len="sm"/>
            <a:tailEnd type="none" w="sm" len="sm"/>
          </a:ln>
          <a:effectLst/>
        </p:spPr>
        <p:txBody>
          <a:bodyPr wrap="none" anchor="ctr"/>
          <a:lstStyle/>
          <a:p>
            <a:endParaRPr lang="zh-CN" altLang="en-US"/>
          </a:p>
        </p:txBody>
      </p:sp>
      <p:sp>
        <p:nvSpPr>
          <p:cNvPr id="64582" name="Line 1094"/>
          <p:cNvSpPr>
            <a:spLocks noChangeAspect="1" noChangeShapeType="1"/>
          </p:cNvSpPr>
          <p:nvPr/>
        </p:nvSpPr>
        <p:spPr bwMode="auto">
          <a:xfrm>
            <a:off x="7620000" y="2743200"/>
            <a:ext cx="387350" cy="168275"/>
          </a:xfrm>
          <a:prstGeom prst="line">
            <a:avLst/>
          </a:prstGeom>
          <a:noFill/>
          <a:ln w="76200">
            <a:pattFill prst="lgGrid">
              <a:fgClr>
                <a:srgbClr val="0066FF"/>
              </a:fgClr>
              <a:bgClr>
                <a:srgbClr val="FFFFFF"/>
              </a:bgClr>
            </a:pattFill>
            <a:round/>
            <a:headEnd type="none" w="sm" len="sm"/>
            <a:tailEnd type="none" w="sm" len="sm"/>
          </a:ln>
          <a:effectLst/>
        </p:spPr>
        <p:txBody>
          <a:bodyPr wrap="none" anchor="ctr"/>
          <a:lstStyle/>
          <a:p>
            <a:endParaRPr lang="zh-CN" altLang="en-US"/>
          </a:p>
        </p:txBody>
      </p:sp>
      <p:sp>
        <p:nvSpPr>
          <p:cNvPr id="64583" name="Line 1095"/>
          <p:cNvSpPr>
            <a:spLocks noChangeAspect="1" noChangeShapeType="1"/>
          </p:cNvSpPr>
          <p:nvPr/>
        </p:nvSpPr>
        <p:spPr bwMode="auto">
          <a:xfrm>
            <a:off x="7672388" y="2714625"/>
            <a:ext cx="387350" cy="168275"/>
          </a:xfrm>
          <a:prstGeom prst="line">
            <a:avLst/>
          </a:prstGeom>
          <a:noFill/>
          <a:ln w="76200">
            <a:solidFill>
              <a:schemeClr val="accent2"/>
            </a:solidFill>
            <a:round/>
            <a:headEnd type="none" w="sm" len="sm"/>
            <a:tailEnd type="none" w="sm" len="sm"/>
          </a:ln>
          <a:effectLst/>
        </p:spPr>
        <p:txBody>
          <a:bodyPr wrap="none" anchor="ctr"/>
          <a:lstStyle/>
          <a:p>
            <a:endParaRPr lang="zh-CN" altLang="en-US"/>
          </a:p>
        </p:txBody>
      </p:sp>
      <p:sp>
        <p:nvSpPr>
          <p:cNvPr id="64584" name="Line 1096"/>
          <p:cNvSpPr>
            <a:spLocks noChangeAspect="1" noChangeShapeType="1"/>
          </p:cNvSpPr>
          <p:nvPr/>
        </p:nvSpPr>
        <p:spPr bwMode="auto">
          <a:xfrm>
            <a:off x="7434263" y="2935288"/>
            <a:ext cx="385762" cy="168275"/>
          </a:xfrm>
          <a:prstGeom prst="line">
            <a:avLst/>
          </a:prstGeom>
          <a:noFill/>
          <a:ln w="76200">
            <a:pattFill prst="lgGrid">
              <a:fgClr>
                <a:srgbClr val="996633"/>
              </a:fgClr>
              <a:bgClr>
                <a:srgbClr val="FFFFFF"/>
              </a:bgClr>
            </a:pattFill>
            <a:round/>
            <a:headEnd type="none" w="sm" len="sm"/>
            <a:tailEnd type="none" w="sm" len="sm"/>
          </a:ln>
          <a:effectLst/>
        </p:spPr>
        <p:txBody>
          <a:bodyPr wrap="none" anchor="ctr"/>
          <a:lstStyle/>
          <a:p>
            <a:endParaRPr lang="zh-CN" altLang="en-US"/>
          </a:p>
        </p:txBody>
      </p:sp>
      <p:sp>
        <p:nvSpPr>
          <p:cNvPr id="64585" name="Line 1097"/>
          <p:cNvSpPr>
            <a:spLocks noChangeAspect="1" noChangeShapeType="1"/>
          </p:cNvSpPr>
          <p:nvPr/>
        </p:nvSpPr>
        <p:spPr bwMode="auto">
          <a:xfrm>
            <a:off x="7386638" y="2971800"/>
            <a:ext cx="387350" cy="168275"/>
          </a:xfrm>
          <a:prstGeom prst="line">
            <a:avLst/>
          </a:prstGeom>
          <a:noFill/>
          <a:ln w="76200">
            <a:solidFill>
              <a:srgbClr val="996633"/>
            </a:solidFill>
            <a:round/>
            <a:headEnd type="none" w="sm" len="sm"/>
            <a:tailEnd type="none" w="sm" len="sm"/>
          </a:ln>
          <a:effectLst/>
        </p:spPr>
        <p:txBody>
          <a:bodyPr wrap="none" anchor="ctr"/>
          <a:lstStyle/>
          <a:p>
            <a:endParaRPr lang="zh-CN" altLang="en-US"/>
          </a:p>
        </p:txBody>
      </p:sp>
      <p:sp>
        <p:nvSpPr>
          <p:cNvPr id="64586" name="Line 1098"/>
          <p:cNvSpPr>
            <a:spLocks noChangeAspect="1" noChangeShapeType="1"/>
          </p:cNvSpPr>
          <p:nvPr/>
        </p:nvSpPr>
        <p:spPr bwMode="auto">
          <a:xfrm rot="21500440" flipV="1">
            <a:off x="7769225" y="2847975"/>
            <a:ext cx="333375" cy="263525"/>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64587" name="Freeform 1099"/>
          <p:cNvSpPr>
            <a:spLocks noChangeAspect="1"/>
          </p:cNvSpPr>
          <p:nvPr/>
        </p:nvSpPr>
        <p:spPr bwMode="auto">
          <a:xfrm>
            <a:off x="6026150" y="3005138"/>
            <a:ext cx="211138" cy="133350"/>
          </a:xfrm>
          <a:custGeom>
            <a:avLst/>
            <a:gdLst/>
            <a:ahLst/>
            <a:cxnLst>
              <a:cxn ang="0">
                <a:pos x="311" y="0"/>
              </a:cxn>
              <a:cxn ang="0">
                <a:pos x="311" y="78"/>
              </a:cxn>
              <a:cxn ang="0">
                <a:pos x="0" y="231"/>
              </a:cxn>
              <a:cxn ang="0">
                <a:pos x="0" y="78"/>
              </a:cxn>
              <a:cxn ang="0">
                <a:pos x="311" y="0"/>
              </a:cxn>
            </a:cxnLst>
            <a:rect l="0" t="0" r="r" b="b"/>
            <a:pathLst>
              <a:path w="312" h="232">
                <a:moveTo>
                  <a:pt x="311" y="0"/>
                </a:moveTo>
                <a:lnTo>
                  <a:pt x="311" y="78"/>
                </a:lnTo>
                <a:lnTo>
                  <a:pt x="0" y="231"/>
                </a:lnTo>
                <a:lnTo>
                  <a:pt x="0" y="78"/>
                </a:lnTo>
                <a:lnTo>
                  <a:pt x="311" y="0"/>
                </a:lnTo>
              </a:path>
            </a:pathLst>
          </a:custGeom>
          <a:solidFill>
            <a:srgbClr val="FFFFFF"/>
          </a:solidFill>
          <a:ln w="9525" cap="rnd">
            <a:noFill/>
            <a:round/>
            <a:headEnd/>
            <a:tailEnd/>
          </a:ln>
          <a:effectLst/>
        </p:spPr>
        <p:txBody>
          <a:bodyPr/>
          <a:lstStyle/>
          <a:p>
            <a:endParaRPr lang="zh-CN" altLang="en-US"/>
          </a:p>
        </p:txBody>
      </p:sp>
      <p:sp>
        <p:nvSpPr>
          <p:cNvPr id="64588" name="Freeform 1100"/>
          <p:cNvSpPr>
            <a:spLocks noChangeAspect="1"/>
          </p:cNvSpPr>
          <p:nvPr/>
        </p:nvSpPr>
        <p:spPr bwMode="auto">
          <a:xfrm>
            <a:off x="6030913" y="3009900"/>
            <a:ext cx="215900" cy="136525"/>
          </a:xfrm>
          <a:custGeom>
            <a:avLst/>
            <a:gdLst/>
            <a:ahLst/>
            <a:cxnLst>
              <a:cxn ang="0">
                <a:pos x="318" y="0"/>
              </a:cxn>
              <a:cxn ang="0">
                <a:pos x="318" y="80"/>
              </a:cxn>
              <a:cxn ang="0">
                <a:pos x="0" y="237"/>
              </a:cxn>
              <a:cxn ang="0">
                <a:pos x="0" y="80"/>
              </a:cxn>
              <a:cxn ang="0">
                <a:pos x="318" y="0"/>
              </a:cxn>
              <a:cxn ang="0">
                <a:pos x="318" y="80"/>
              </a:cxn>
              <a:cxn ang="0">
                <a:pos x="0" y="237"/>
              </a:cxn>
              <a:cxn ang="0">
                <a:pos x="0" y="80"/>
              </a:cxn>
              <a:cxn ang="0">
                <a:pos x="318" y="0"/>
              </a:cxn>
            </a:cxnLst>
            <a:rect l="0" t="0" r="r" b="b"/>
            <a:pathLst>
              <a:path w="319" h="238">
                <a:moveTo>
                  <a:pt x="318" y="0"/>
                </a:moveTo>
                <a:lnTo>
                  <a:pt x="318" y="80"/>
                </a:lnTo>
                <a:lnTo>
                  <a:pt x="0" y="237"/>
                </a:lnTo>
                <a:lnTo>
                  <a:pt x="0" y="80"/>
                </a:lnTo>
                <a:lnTo>
                  <a:pt x="318" y="0"/>
                </a:lnTo>
                <a:lnTo>
                  <a:pt x="318" y="80"/>
                </a:lnTo>
                <a:lnTo>
                  <a:pt x="0" y="237"/>
                </a:lnTo>
                <a:lnTo>
                  <a:pt x="0" y="80"/>
                </a:lnTo>
                <a:lnTo>
                  <a:pt x="318" y="0"/>
                </a:lnTo>
              </a:path>
            </a:pathLst>
          </a:custGeom>
          <a:noFill/>
          <a:ln w="25400" cap="rnd" cmpd="sng">
            <a:solidFill>
              <a:srgbClr val="000000"/>
            </a:solidFill>
            <a:prstDash val="solid"/>
            <a:round/>
            <a:headEnd/>
            <a:tailEnd/>
          </a:ln>
          <a:effectLst/>
        </p:spPr>
        <p:txBody>
          <a:bodyPr/>
          <a:lstStyle/>
          <a:p>
            <a:endParaRPr lang="zh-CN" altLang="en-US"/>
          </a:p>
        </p:txBody>
      </p:sp>
      <p:sp>
        <p:nvSpPr>
          <p:cNvPr id="64589" name="Freeform 1101"/>
          <p:cNvSpPr>
            <a:spLocks noChangeAspect="1"/>
          </p:cNvSpPr>
          <p:nvPr/>
        </p:nvSpPr>
        <p:spPr bwMode="auto">
          <a:xfrm>
            <a:off x="5942013" y="2933700"/>
            <a:ext cx="295275" cy="114300"/>
          </a:xfrm>
          <a:custGeom>
            <a:avLst/>
            <a:gdLst/>
            <a:ahLst/>
            <a:cxnLst>
              <a:cxn ang="0">
                <a:pos x="436" y="121"/>
              </a:cxn>
              <a:cxn ang="0">
                <a:pos x="313" y="0"/>
              </a:cxn>
              <a:cxn ang="0">
                <a:pos x="0" y="77"/>
              </a:cxn>
              <a:cxn ang="0">
                <a:pos x="123" y="198"/>
              </a:cxn>
              <a:cxn ang="0">
                <a:pos x="436" y="121"/>
              </a:cxn>
            </a:cxnLst>
            <a:rect l="0" t="0" r="r" b="b"/>
            <a:pathLst>
              <a:path w="437" h="199">
                <a:moveTo>
                  <a:pt x="436" y="121"/>
                </a:moveTo>
                <a:lnTo>
                  <a:pt x="313" y="0"/>
                </a:lnTo>
                <a:lnTo>
                  <a:pt x="0" y="77"/>
                </a:lnTo>
                <a:lnTo>
                  <a:pt x="123" y="198"/>
                </a:lnTo>
                <a:lnTo>
                  <a:pt x="436" y="121"/>
                </a:lnTo>
              </a:path>
            </a:pathLst>
          </a:custGeom>
          <a:solidFill>
            <a:srgbClr val="FFFFFF"/>
          </a:solidFill>
          <a:ln w="9525" cap="rnd">
            <a:noFill/>
            <a:round/>
            <a:headEnd/>
            <a:tailEnd/>
          </a:ln>
          <a:effectLst/>
        </p:spPr>
        <p:txBody>
          <a:bodyPr/>
          <a:lstStyle/>
          <a:p>
            <a:endParaRPr lang="zh-CN" altLang="en-US"/>
          </a:p>
        </p:txBody>
      </p:sp>
      <p:sp>
        <p:nvSpPr>
          <p:cNvPr id="64590" name="Freeform 1102"/>
          <p:cNvSpPr>
            <a:spLocks noChangeAspect="1"/>
          </p:cNvSpPr>
          <p:nvPr/>
        </p:nvSpPr>
        <p:spPr bwMode="auto">
          <a:xfrm>
            <a:off x="5946775" y="2938463"/>
            <a:ext cx="300038" cy="117475"/>
          </a:xfrm>
          <a:custGeom>
            <a:avLst/>
            <a:gdLst/>
            <a:ahLst/>
            <a:cxnLst>
              <a:cxn ang="0">
                <a:pos x="443" y="124"/>
              </a:cxn>
              <a:cxn ang="0">
                <a:pos x="318" y="0"/>
              </a:cxn>
              <a:cxn ang="0">
                <a:pos x="0" y="80"/>
              </a:cxn>
              <a:cxn ang="0">
                <a:pos x="125" y="204"/>
              </a:cxn>
              <a:cxn ang="0">
                <a:pos x="443" y="124"/>
              </a:cxn>
              <a:cxn ang="0">
                <a:pos x="318" y="0"/>
              </a:cxn>
              <a:cxn ang="0">
                <a:pos x="0" y="80"/>
              </a:cxn>
              <a:cxn ang="0">
                <a:pos x="125" y="204"/>
              </a:cxn>
              <a:cxn ang="0">
                <a:pos x="443" y="124"/>
              </a:cxn>
            </a:cxnLst>
            <a:rect l="0" t="0" r="r" b="b"/>
            <a:pathLst>
              <a:path w="444" h="205">
                <a:moveTo>
                  <a:pt x="443" y="124"/>
                </a:moveTo>
                <a:lnTo>
                  <a:pt x="318" y="0"/>
                </a:lnTo>
                <a:lnTo>
                  <a:pt x="0" y="80"/>
                </a:lnTo>
                <a:lnTo>
                  <a:pt x="125" y="204"/>
                </a:lnTo>
                <a:lnTo>
                  <a:pt x="443" y="124"/>
                </a:lnTo>
                <a:lnTo>
                  <a:pt x="318" y="0"/>
                </a:lnTo>
                <a:lnTo>
                  <a:pt x="0" y="80"/>
                </a:lnTo>
                <a:lnTo>
                  <a:pt x="125" y="204"/>
                </a:lnTo>
                <a:lnTo>
                  <a:pt x="443" y="124"/>
                </a:lnTo>
              </a:path>
            </a:pathLst>
          </a:custGeom>
          <a:noFill/>
          <a:ln w="25400" cap="rnd" cmpd="sng">
            <a:solidFill>
              <a:srgbClr val="000000"/>
            </a:solidFill>
            <a:prstDash val="solid"/>
            <a:round/>
            <a:headEnd/>
            <a:tailEnd/>
          </a:ln>
          <a:effectLst/>
        </p:spPr>
        <p:txBody>
          <a:bodyPr/>
          <a:lstStyle/>
          <a:p>
            <a:endParaRPr lang="zh-CN" altLang="en-US"/>
          </a:p>
        </p:txBody>
      </p:sp>
      <p:sp>
        <p:nvSpPr>
          <p:cNvPr id="64591" name="Freeform 1103"/>
          <p:cNvSpPr>
            <a:spLocks noChangeAspect="1"/>
          </p:cNvSpPr>
          <p:nvPr/>
        </p:nvSpPr>
        <p:spPr bwMode="auto">
          <a:xfrm>
            <a:off x="5068888" y="2940050"/>
            <a:ext cx="255587" cy="120650"/>
          </a:xfrm>
          <a:custGeom>
            <a:avLst/>
            <a:gdLst/>
            <a:ahLst/>
            <a:cxnLst>
              <a:cxn ang="0">
                <a:pos x="33" y="208"/>
              </a:cxn>
              <a:cxn ang="0">
                <a:pos x="0" y="175"/>
              </a:cxn>
              <a:cxn ang="0">
                <a:pos x="346" y="0"/>
              </a:cxn>
              <a:cxn ang="0">
                <a:pos x="379" y="33"/>
              </a:cxn>
              <a:cxn ang="0">
                <a:pos x="33" y="208"/>
              </a:cxn>
            </a:cxnLst>
            <a:rect l="0" t="0" r="r" b="b"/>
            <a:pathLst>
              <a:path w="380" h="209">
                <a:moveTo>
                  <a:pt x="33" y="208"/>
                </a:moveTo>
                <a:lnTo>
                  <a:pt x="0" y="175"/>
                </a:lnTo>
                <a:lnTo>
                  <a:pt x="346" y="0"/>
                </a:lnTo>
                <a:lnTo>
                  <a:pt x="379" y="33"/>
                </a:lnTo>
                <a:lnTo>
                  <a:pt x="33" y="208"/>
                </a:lnTo>
              </a:path>
            </a:pathLst>
          </a:custGeom>
          <a:solidFill>
            <a:srgbClr val="FFFFFF"/>
          </a:solidFill>
          <a:ln w="9525" cap="rnd">
            <a:noFill/>
            <a:round/>
            <a:headEnd/>
            <a:tailEnd/>
          </a:ln>
          <a:effectLst/>
        </p:spPr>
        <p:txBody>
          <a:bodyPr/>
          <a:lstStyle/>
          <a:p>
            <a:endParaRPr lang="zh-CN" altLang="en-US"/>
          </a:p>
        </p:txBody>
      </p:sp>
      <p:sp>
        <p:nvSpPr>
          <p:cNvPr id="64592" name="Freeform 1104"/>
          <p:cNvSpPr>
            <a:spLocks noChangeAspect="1"/>
          </p:cNvSpPr>
          <p:nvPr/>
        </p:nvSpPr>
        <p:spPr bwMode="auto">
          <a:xfrm>
            <a:off x="5073650" y="2944813"/>
            <a:ext cx="260350" cy="123825"/>
          </a:xfrm>
          <a:custGeom>
            <a:avLst/>
            <a:gdLst/>
            <a:ahLst/>
            <a:cxnLst>
              <a:cxn ang="0">
                <a:pos x="34" y="215"/>
              </a:cxn>
              <a:cxn ang="0">
                <a:pos x="0" y="181"/>
              </a:cxn>
              <a:cxn ang="0">
                <a:pos x="352" y="0"/>
              </a:cxn>
              <a:cxn ang="0">
                <a:pos x="386" y="34"/>
              </a:cxn>
              <a:cxn ang="0">
                <a:pos x="34" y="215"/>
              </a:cxn>
              <a:cxn ang="0">
                <a:pos x="0" y="181"/>
              </a:cxn>
              <a:cxn ang="0">
                <a:pos x="352" y="0"/>
              </a:cxn>
              <a:cxn ang="0">
                <a:pos x="386" y="34"/>
              </a:cxn>
              <a:cxn ang="0">
                <a:pos x="34" y="215"/>
              </a:cxn>
            </a:cxnLst>
            <a:rect l="0" t="0" r="r" b="b"/>
            <a:pathLst>
              <a:path w="387" h="216">
                <a:moveTo>
                  <a:pt x="34" y="215"/>
                </a:moveTo>
                <a:lnTo>
                  <a:pt x="0" y="181"/>
                </a:lnTo>
                <a:lnTo>
                  <a:pt x="352" y="0"/>
                </a:lnTo>
                <a:lnTo>
                  <a:pt x="386" y="34"/>
                </a:lnTo>
                <a:lnTo>
                  <a:pt x="34" y="215"/>
                </a:lnTo>
                <a:lnTo>
                  <a:pt x="0" y="181"/>
                </a:lnTo>
                <a:lnTo>
                  <a:pt x="352" y="0"/>
                </a:lnTo>
                <a:lnTo>
                  <a:pt x="386" y="34"/>
                </a:lnTo>
                <a:lnTo>
                  <a:pt x="34" y="215"/>
                </a:lnTo>
              </a:path>
            </a:pathLst>
          </a:custGeom>
          <a:noFill/>
          <a:ln w="25400" cap="rnd" cmpd="sng">
            <a:solidFill>
              <a:srgbClr val="000000"/>
            </a:solidFill>
            <a:prstDash val="solid"/>
            <a:round/>
            <a:headEnd/>
            <a:tailEnd/>
          </a:ln>
          <a:effectLst/>
        </p:spPr>
        <p:txBody>
          <a:bodyPr/>
          <a:lstStyle/>
          <a:p>
            <a:endParaRPr lang="zh-CN" altLang="en-US"/>
          </a:p>
        </p:txBody>
      </p:sp>
      <p:sp>
        <p:nvSpPr>
          <p:cNvPr id="64593" name="Freeform 1105"/>
          <p:cNvSpPr>
            <a:spLocks noChangeAspect="1"/>
          </p:cNvSpPr>
          <p:nvPr/>
        </p:nvSpPr>
        <p:spPr bwMode="auto">
          <a:xfrm>
            <a:off x="5068888" y="2887663"/>
            <a:ext cx="233362" cy="153987"/>
          </a:xfrm>
          <a:custGeom>
            <a:avLst/>
            <a:gdLst/>
            <a:ahLst/>
            <a:cxnLst>
              <a:cxn ang="0">
                <a:pos x="0" y="166"/>
              </a:cxn>
              <a:cxn ang="0">
                <a:pos x="0" y="265"/>
              </a:cxn>
              <a:cxn ang="0">
                <a:pos x="345" y="89"/>
              </a:cxn>
              <a:cxn ang="0">
                <a:pos x="345" y="0"/>
              </a:cxn>
              <a:cxn ang="0">
                <a:pos x="0" y="166"/>
              </a:cxn>
            </a:cxnLst>
            <a:rect l="0" t="0" r="r" b="b"/>
            <a:pathLst>
              <a:path w="346" h="266">
                <a:moveTo>
                  <a:pt x="0" y="166"/>
                </a:moveTo>
                <a:lnTo>
                  <a:pt x="0" y="265"/>
                </a:lnTo>
                <a:lnTo>
                  <a:pt x="345" y="89"/>
                </a:lnTo>
                <a:lnTo>
                  <a:pt x="345" y="0"/>
                </a:lnTo>
                <a:lnTo>
                  <a:pt x="0" y="166"/>
                </a:lnTo>
              </a:path>
            </a:pathLst>
          </a:custGeom>
          <a:solidFill>
            <a:srgbClr val="FFFFFF"/>
          </a:solidFill>
          <a:ln w="9525" cap="rnd">
            <a:noFill/>
            <a:round/>
            <a:headEnd/>
            <a:tailEnd/>
          </a:ln>
          <a:effectLst/>
        </p:spPr>
        <p:txBody>
          <a:bodyPr/>
          <a:lstStyle/>
          <a:p>
            <a:endParaRPr lang="zh-CN" altLang="en-US"/>
          </a:p>
        </p:txBody>
      </p:sp>
      <p:sp>
        <p:nvSpPr>
          <p:cNvPr id="64594" name="Freeform 1106"/>
          <p:cNvSpPr>
            <a:spLocks noChangeAspect="1"/>
          </p:cNvSpPr>
          <p:nvPr/>
        </p:nvSpPr>
        <p:spPr bwMode="auto">
          <a:xfrm>
            <a:off x="5073650" y="2892425"/>
            <a:ext cx="238125" cy="157163"/>
          </a:xfrm>
          <a:custGeom>
            <a:avLst/>
            <a:gdLst/>
            <a:ahLst/>
            <a:cxnLst>
              <a:cxn ang="0">
                <a:pos x="0" y="169"/>
              </a:cxn>
              <a:cxn ang="0">
                <a:pos x="0" y="271"/>
              </a:cxn>
              <a:cxn ang="0">
                <a:pos x="352" y="91"/>
              </a:cxn>
              <a:cxn ang="0">
                <a:pos x="352" y="0"/>
              </a:cxn>
              <a:cxn ang="0">
                <a:pos x="0" y="169"/>
              </a:cxn>
              <a:cxn ang="0">
                <a:pos x="0" y="271"/>
              </a:cxn>
              <a:cxn ang="0">
                <a:pos x="352" y="91"/>
              </a:cxn>
              <a:cxn ang="0">
                <a:pos x="352" y="0"/>
              </a:cxn>
              <a:cxn ang="0">
                <a:pos x="0" y="169"/>
              </a:cxn>
            </a:cxnLst>
            <a:rect l="0" t="0" r="r" b="b"/>
            <a:pathLst>
              <a:path w="353" h="272">
                <a:moveTo>
                  <a:pt x="0" y="169"/>
                </a:moveTo>
                <a:lnTo>
                  <a:pt x="0" y="271"/>
                </a:lnTo>
                <a:lnTo>
                  <a:pt x="352" y="91"/>
                </a:lnTo>
                <a:lnTo>
                  <a:pt x="352" y="0"/>
                </a:lnTo>
                <a:lnTo>
                  <a:pt x="0" y="169"/>
                </a:lnTo>
                <a:lnTo>
                  <a:pt x="0" y="271"/>
                </a:lnTo>
                <a:lnTo>
                  <a:pt x="352" y="91"/>
                </a:lnTo>
                <a:lnTo>
                  <a:pt x="352" y="0"/>
                </a:lnTo>
                <a:lnTo>
                  <a:pt x="0" y="169"/>
                </a:lnTo>
              </a:path>
            </a:pathLst>
          </a:custGeom>
          <a:noFill/>
          <a:ln w="25400" cap="rnd" cmpd="sng">
            <a:solidFill>
              <a:srgbClr val="000000"/>
            </a:solidFill>
            <a:prstDash val="solid"/>
            <a:round/>
            <a:headEnd/>
            <a:tailEnd/>
          </a:ln>
          <a:effectLst/>
        </p:spPr>
        <p:txBody>
          <a:bodyPr/>
          <a:lstStyle/>
          <a:p>
            <a:endParaRPr lang="zh-CN" altLang="en-US"/>
          </a:p>
        </p:txBody>
      </p:sp>
      <p:sp>
        <p:nvSpPr>
          <p:cNvPr id="64595" name="Freeform 1107"/>
          <p:cNvSpPr>
            <a:spLocks noChangeAspect="1"/>
          </p:cNvSpPr>
          <p:nvPr/>
        </p:nvSpPr>
        <p:spPr bwMode="auto">
          <a:xfrm>
            <a:off x="5114925" y="2921000"/>
            <a:ext cx="233363" cy="158750"/>
          </a:xfrm>
          <a:custGeom>
            <a:avLst/>
            <a:gdLst/>
            <a:ahLst/>
            <a:cxnLst>
              <a:cxn ang="0">
                <a:pos x="0" y="177"/>
              </a:cxn>
              <a:cxn ang="0">
                <a:pos x="0" y="276"/>
              </a:cxn>
              <a:cxn ang="0">
                <a:pos x="346" y="99"/>
              </a:cxn>
              <a:cxn ang="0">
                <a:pos x="346" y="0"/>
              </a:cxn>
              <a:cxn ang="0">
                <a:pos x="0" y="177"/>
              </a:cxn>
            </a:cxnLst>
            <a:rect l="0" t="0" r="r" b="b"/>
            <a:pathLst>
              <a:path w="347" h="277">
                <a:moveTo>
                  <a:pt x="0" y="177"/>
                </a:moveTo>
                <a:lnTo>
                  <a:pt x="0" y="276"/>
                </a:lnTo>
                <a:lnTo>
                  <a:pt x="346" y="99"/>
                </a:lnTo>
                <a:lnTo>
                  <a:pt x="346" y="0"/>
                </a:lnTo>
                <a:lnTo>
                  <a:pt x="0" y="177"/>
                </a:lnTo>
              </a:path>
            </a:pathLst>
          </a:custGeom>
          <a:solidFill>
            <a:srgbClr val="FFFFFF"/>
          </a:solidFill>
          <a:ln w="9525" cap="rnd">
            <a:noFill/>
            <a:round/>
            <a:headEnd/>
            <a:tailEnd/>
          </a:ln>
          <a:effectLst/>
        </p:spPr>
        <p:txBody>
          <a:bodyPr/>
          <a:lstStyle/>
          <a:p>
            <a:endParaRPr lang="zh-CN" altLang="en-US"/>
          </a:p>
        </p:txBody>
      </p:sp>
      <p:sp>
        <p:nvSpPr>
          <p:cNvPr id="64596" name="Freeform 1108"/>
          <p:cNvSpPr>
            <a:spLocks noChangeAspect="1"/>
          </p:cNvSpPr>
          <p:nvPr/>
        </p:nvSpPr>
        <p:spPr bwMode="auto">
          <a:xfrm>
            <a:off x="5119688" y="2924175"/>
            <a:ext cx="238125" cy="163513"/>
          </a:xfrm>
          <a:custGeom>
            <a:avLst/>
            <a:gdLst/>
            <a:ahLst/>
            <a:cxnLst>
              <a:cxn ang="0">
                <a:pos x="0" y="181"/>
              </a:cxn>
              <a:cxn ang="0">
                <a:pos x="0" y="283"/>
              </a:cxn>
              <a:cxn ang="0">
                <a:pos x="352" y="102"/>
              </a:cxn>
              <a:cxn ang="0">
                <a:pos x="352" y="0"/>
              </a:cxn>
              <a:cxn ang="0">
                <a:pos x="0" y="181"/>
              </a:cxn>
              <a:cxn ang="0">
                <a:pos x="0" y="283"/>
              </a:cxn>
              <a:cxn ang="0">
                <a:pos x="352" y="102"/>
              </a:cxn>
              <a:cxn ang="0">
                <a:pos x="352" y="0"/>
              </a:cxn>
              <a:cxn ang="0">
                <a:pos x="0" y="181"/>
              </a:cxn>
            </a:cxnLst>
            <a:rect l="0" t="0" r="r" b="b"/>
            <a:pathLst>
              <a:path w="353" h="284">
                <a:moveTo>
                  <a:pt x="0" y="181"/>
                </a:moveTo>
                <a:lnTo>
                  <a:pt x="0" y="283"/>
                </a:lnTo>
                <a:lnTo>
                  <a:pt x="352" y="102"/>
                </a:lnTo>
                <a:lnTo>
                  <a:pt x="352" y="0"/>
                </a:lnTo>
                <a:lnTo>
                  <a:pt x="0" y="181"/>
                </a:lnTo>
                <a:lnTo>
                  <a:pt x="0" y="283"/>
                </a:lnTo>
                <a:lnTo>
                  <a:pt x="352" y="102"/>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97" name="Freeform 1109"/>
          <p:cNvSpPr>
            <a:spLocks noChangeAspect="1"/>
          </p:cNvSpPr>
          <p:nvPr/>
        </p:nvSpPr>
        <p:spPr bwMode="auto">
          <a:xfrm>
            <a:off x="5160963" y="2960688"/>
            <a:ext cx="233362" cy="152400"/>
          </a:xfrm>
          <a:custGeom>
            <a:avLst/>
            <a:gdLst/>
            <a:ahLst/>
            <a:cxnLst>
              <a:cxn ang="0">
                <a:pos x="0" y="176"/>
              </a:cxn>
              <a:cxn ang="0">
                <a:pos x="0" y="265"/>
              </a:cxn>
              <a:cxn ang="0">
                <a:pos x="346" y="99"/>
              </a:cxn>
              <a:cxn ang="0">
                <a:pos x="346" y="0"/>
              </a:cxn>
              <a:cxn ang="0">
                <a:pos x="0" y="176"/>
              </a:cxn>
            </a:cxnLst>
            <a:rect l="0" t="0" r="r" b="b"/>
            <a:pathLst>
              <a:path w="347" h="266">
                <a:moveTo>
                  <a:pt x="0" y="176"/>
                </a:moveTo>
                <a:lnTo>
                  <a:pt x="0" y="265"/>
                </a:lnTo>
                <a:lnTo>
                  <a:pt x="346" y="99"/>
                </a:lnTo>
                <a:lnTo>
                  <a:pt x="346" y="0"/>
                </a:lnTo>
                <a:lnTo>
                  <a:pt x="0" y="176"/>
                </a:lnTo>
              </a:path>
            </a:pathLst>
          </a:custGeom>
          <a:solidFill>
            <a:srgbClr val="FFFFFF"/>
          </a:solidFill>
          <a:ln w="9525" cap="rnd">
            <a:noFill/>
            <a:round/>
            <a:headEnd/>
            <a:tailEnd/>
          </a:ln>
          <a:effectLst/>
        </p:spPr>
        <p:txBody>
          <a:bodyPr/>
          <a:lstStyle/>
          <a:p>
            <a:endParaRPr lang="zh-CN" altLang="en-US"/>
          </a:p>
        </p:txBody>
      </p:sp>
      <p:sp>
        <p:nvSpPr>
          <p:cNvPr id="64598" name="Freeform 1110"/>
          <p:cNvSpPr>
            <a:spLocks noChangeAspect="1"/>
          </p:cNvSpPr>
          <p:nvPr/>
        </p:nvSpPr>
        <p:spPr bwMode="auto">
          <a:xfrm>
            <a:off x="5165725" y="2963863"/>
            <a:ext cx="238125" cy="157162"/>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599" name="Freeform 1111"/>
          <p:cNvSpPr>
            <a:spLocks noChangeAspect="1"/>
          </p:cNvSpPr>
          <p:nvPr/>
        </p:nvSpPr>
        <p:spPr bwMode="auto">
          <a:xfrm>
            <a:off x="5199063" y="2998788"/>
            <a:ext cx="241300" cy="153987"/>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a:lstStyle/>
          <a:p>
            <a:endParaRPr lang="zh-CN" altLang="en-US"/>
          </a:p>
        </p:txBody>
      </p:sp>
      <p:sp>
        <p:nvSpPr>
          <p:cNvPr id="64600" name="Freeform 1112"/>
          <p:cNvSpPr>
            <a:spLocks noChangeAspect="1"/>
          </p:cNvSpPr>
          <p:nvPr/>
        </p:nvSpPr>
        <p:spPr bwMode="auto">
          <a:xfrm>
            <a:off x="5203825" y="3003550"/>
            <a:ext cx="244475" cy="157163"/>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a:lstStyle/>
          <a:p>
            <a:endParaRPr lang="zh-CN" altLang="en-US"/>
          </a:p>
        </p:txBody>
      </p:sp>
      <p:sp>
        <p:nvSpPr>
          <p:cNvPr id="64601" name="Freeform 1113"/>
          <p:cNvSpPr>
            <a:spLocks noChangeAspect="1"/>
          </p:cNvSpPr>
          <p:nvPr/>
        </p:nvSpPr>
        <p:spPr bwMode="auto">
          <a:xfrm>
            <a:off x="5245100" y="3032125"/>
            <a:ext cx="233363" cy="158750"/>
          </a:xfrm>
          <a:custGeom>
            <a:avLst/>
            <a:gdLst/>
            <a:ahLst/>
            <a:cxnLst>
              <a:cxn ang="0">
                <a:pos x="0" y="177"/>
              </a:cxn>
              <a:cxn ang="0">
                <a:pos x="0" y="277"/>
              </a:cxn>
              <a:cxn ang="0">
                <a:pos x="346" y="100"/>
              </a:cxn>
              <a:cxn ang="0">
                <a:pos x="346" y="0"/>
              </a:cxn>
              <a:cxn ang="0">
                <a:pos x="0" y="177"/>
              </a:cxn>
            </a:cxnLst>
            <a:rect l="0" t="0" r="r" b="b"/>
            <a:pathLst>
              <a:path w="347" h="278">
                <a:moveTo>
                  <a:pt x="0" y="177"/>
                </a:moveTo>
                <a:lnTo>
                  <a:pt x="0" y="277"/>
                </a:lnTo>
                <a:lnTo>
                  <a:pt x="346" y="100"/>
                </a:lnTo>
                <a:lnTo>
                  <a:pt x="346" y="0"/>
                </a:lnTo>
                <a:lnTo>
                  <a:pt x="0" y="177"/>
                </a:lnTo>
              </a:path>
            </a:pathLst>
          </a:custGeom>
          <a:solidFill>
            <a:srgbClr val="FFFFFF"/>
          </a:solidFill>
          <a:ln w="9525" cap="rnd">
            <a:noFill/>
            <a:round/>
            <a:headEnd/>
            <a:tailEnd/>
          </a:ln>
          <a:effectLst/>
        </p:spPr>
        <p:txBody>
          <a:bodyPr/>
          <a:lstStyle/>
          <a:p>
            <a:endParaRPr lang="zh-CN" altLang="en-US"/>
          </a:p>
        </p:txBody>
      </p:sp>
      <p:sp>
        <p:nvSpPr>
          <p:cNvPr id="64602" name="Freeform 1114"/>
          <p:cNvSpPr>
            <a:spLocks noChangeAspect="1"/>
          </p:cNvSpPr>
          <p:nvPr/>
        </p:nvSpPr>
        <p:spPr bwMode="auto">
          <a:xfrm>
            <a:off x="5249863" y="3035300"/>
            <a:ext cx="238125" cy="163513"/>
          </a:xfrm>
          <a:custGeom>
            <a:avLst/>
            <a:gdLst/>
            <a:ahLst/>
            <a:cxnLst>
              <a:cxn ang="0">
                <a:pos x="0" y="181"/>
              </a:cxn>
              <a:cxn ang="0">
                <a:pos x="0" y="283"/>
              </a:cxn>
              <a:cxn ang="0">
                <a:pos x="352" y="103"/>
              </a:cxn>
              <a:cxn ang="0">
                <a:pos x="352" y="0"/>
              </a:cxn>
              <a:cxn ang="0">
                <a:pos x="0" y="181"/>
              </a:cxn>
              <a:cxn ang="0">
                <a:pos x="0" y="283"/>
              </a:cxn>
              <a:cxn ang="0">
                <a:pos x="352" y="103"/>
              </a:cxn>
              <a:cxn ang="0">
                <a:pos x="352" y="0"/>
              </a:cxn>
              <a:cxn ang="0">
                <a:pos x="0" y="181"/>
              </a:cxn>
            </a:cxnLst>
            <a:rect l="0" t="0" r="r" b="b"/>
            <a:pathLst>
              <a:path w="353" h="284">
                <a:moveTo>
                  <a:pt x="0" y="181"/>
                </a:moveTo>
                <a:lnTo>
                  <a:pt x="0" y="283"/>
                </a:lnTo>
                <a:lnTo>
                  <a:pt x="352" y="103"/>
                </a:lnTo>
                <a:lnTo>
                  <a:pt x="352" y="0"/>
                </a:lnTo>
                <a:lnTo>
                  <a:pt x="0" y="181"/>
                </a:lnTo>
                <a:lnTo>
                  <a:pt x="0" y="283"/>
                </a:lnTo>
                <a:lnTo>
                  <a:pt x="352" y="103"/>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603" name="Freeform 1115"/>
          <p:cNvSpPr>
            <a:spLocks noChangeAspect="1"/>
          </p:cNvSpPr>
          <p:nvPr/>
        </p:nvSpPr>
        <p:spPr bwMode="auto">
          <a:xfrm>
            <a:off x="5329238" y="3109913"/>
            <a:ext cx="241300" cy="153987"/>
          </a:xfrm>
          <a:custGeom>
            <a:avLst/>
            <a:gdLst/>
            <a:ahLst/>
            <a:cxnLst>
              <a:cxn ang="0">
                <a:pos x="0" y="166"/>
              </a:cxn>
              <a:cxn ang="0">
                <a:pos x="0" y="265"/>
              </a:cxn>
              <a:cxn ang="0">
                <a:pos x="357" y="89"/>
              </a:cxn>
              <a:cxn ang="0">
                <a:pos x="357" y="0"/>
              </a:cxn>
              <a:cxn ang="0">
                <a:pos x="0" y="166"/>
              </a:cxn>
            </a:cxnLst>
            <a:rect l="0" t="0" r="r" b="b"/>
            <a:pathLst>
              <a:path w="358" h="266">
                <a:moveTo>
                  <a:pt x="0" y="166"/>
                </a:moveTo>
                <a:lnTo>
                  <a:pt x="0" y="265"/>
                </a:lnTo>
                <a:lnTo>
                  <a:pt x="357" y="89"/>
                </a:lnTo>
                <a:lnTo>
                  <a:pt x="357" y="0"/>
                </a:lnTo>
                <a:lnTo>
                  <a:pt x="0" y="166"/>
                </a:lnTo>
              </a:path>
            </a:pathLst>
          </a:custGeom>
          <a:solidFill>
            <a:srgbClr val="FFFFFF"/>
          </a:solidFill>
          <a:ln w="9525" cap="rnd">
            <a:noFill/>
            <a:round/>
            <a:headEnd/>
            <a:tailEnd/>
          </a:ln>
          <a:effectLst/>
        </p:spPr>
        <p:txBody>
          <a:bodyPr/>
          <a:lstStyle/>
          <a:p>
            <a:endParaRPr lang="zh-CN" altLang="en-US"/>
          </a:p>
        </p:txBody>
      </p:sp>
      <p:sp>
        <p:nvSpPr>
          <p:cNvPr id="64604" name="Freeform 1116"/>
          <p:cNvSpPr>
            <a:spLocks noChangeAspect="1"/>
          </p:cNvSpPr>
          <p:nvPr/>
        </p:nvSpPr>
        <p:spPr bwMode="auto">
          <a:xfrm>
            <a:off x="5334000" y="3114675"/>
            <a:ext cx="244475" cy="155575"/>
          </a:xfrm>
          <a:custGeom>
            <a:avLst/>
            <a:gdLst/>
            <a:ahLst/>
            <a:cxnLst>
              <a:cxn ang="0">
                <a:pos x="0" y="170"/>
              </a:cxn>
              <a:cxn ang="0">
                <a:pos x="0" y="272"/>
              </a:cxn>
              <a:cxn ang="0">
                <a:pos x="363" y="91"/>
              </a:cxn>
              <a:cxn ang="0">
                <a:pos x="363" y="0"/>
              </a:cxn>
              <a:cxn ang="0">
                <a:pos x="0" y="170"/>
              </a:cxn>
              <a:cxn ang="0">
                <a:pos x="0" y="272"/>
              </a:cxn>
              <a:cxn ang="0">
                <a:pos x="363" y="91"/>
              </a:cxn>
              <a:cxn ang="0">
                <a:pos x="363" y="0"/>
              </a:cxn>
              <a:cxn ang="0">
                <a:pos x="0" y="170"/>
              </a:cxn>
            </a:cxnLst>
            <a:rect l="0" t="0" r="r" b="b"/>
            <a:pathLst>
              <a:path w="364" h="273">
                <a:moveTo>
                  <a:pt x="0" y="170"/>
                </a:moveTo>
                <a:lnTo>
                  <a:pt x="0" y="272"/>
                </a:lnTo>
                <a:lnTo>
                  <a:pt x="363" y="91"/>
                </a:lnTo>
                <a:lnTo>
                  <a:pt x="363" y="0"/>
                </a:lnTo>
                <a:lnTo>
                  <a:pt x="0" y="170"/>
                </a:lnTo>
                <a:lnTo>
                  <a:pt x="0" y="272"/>
                </a:lnTo>
                <a:lnTo>
                  <a:pt x="363" y="91"/>
                </a:lnTo>
                <a:lnTo>
                  <a:pt x="363" y="0"/>
                </a:lnTo>
                <a:lnTo>
                  <a:pt x="0" y="170"/>
                </a:lnTo>
              </a:path>
            </a:pathLst>
          </a:custGeom>
          <a:noFill/>
          <a:ln w="25400" cap="rnd" cmpd="sng">
            <a:solidFill>
              <a:srgbClr val="000000"/>
            </a:solidFill>
            <a:prstDash val="solid"/>
            <a:round/>
            <a:headEnd/>
            <a:tailEnd/>
          </a:ln>
          <a:effectLst/>
        </p:spPr>
        <p:txBody>
          <a:bodyPr/>
          <a:lstStyle/>
          <a:p>
            <a:endParaRPr lang="zh-CN" altLang="en-US"/>
          </a:p>
        </p:txBody>
      </p:sp>
      <p:sp>
        <p:nvSpPr>
          <p:cNvPr id="64605" name="Freeform 1117"/>
          <p:cNvSpPr>
            <a:spLocks noChangeAspect="1"/>
          </p:cNvSpPr>
          <p:nvPr/>
        </p:nvSpPr>
        <p:spPr bwMode="auto">
          <a:xfrm>
            <a:off x="5291138" y="3071813"/>
            <a:ext cx="233362" cy="152400"/>
          </a:xfrm>
          <a:custGeom>
            <a:avLst/>
            <a:gdLst/>
            <a:ahLst/>
            <a:cxnLst>
              <a:cxn ang="0">
                <a:pos x="0" y="176"/>
              </a:cxn>
              <a:cxn ang="0">
                <a:pos x="0" y="265"/>
              </a:cxn>
              <a:cxn ang="0">
                <a:pos x="345" y="99"/>
              </a:cxn>
              <a:cxn ang="0">
                <a:pos x="345" y="0"/>
              </a:cxn>
              <a:cxn ang="0">
                <a:pos x="0" y="176"/>
              </a:cxn>
            </a:cxnLst>
            <a:rect l="0" t="0" r="r" b="b"/>
            <a:pathLst>
              <a:path w="346" h="266">
                <a:moveTo>
                  <a:pt x="0" y="176"/>
                </a:moveTo>
                <a:lnTo>
                  <a:pt x="0" y="265"/>
                </a:lnTo>
                <a:lnTo>
                  <a:pt x="345" y="99"/>
                </a:lnTo>
                <a:lnTo>
                  <a:pt x="345" y="0"/>
                </a:lnTo>
                <a:lnTo>
                  <a:pt x="0" y="176"/>
                </a:lnTo>
              </a:path>
            </a:pathLst>
          </a:custGeom>
          <a:solidFill>
            <a:srgbClr val="FFFFFF"/>
          </a:solidFill>
          <a:ln w="9525" cap="rnd">
            <a:noFill/>
            <a:round/>
            <a:headEnd/>
            <a:tailEnd/>
          </a:ln>
          <a:effectLst/>
        </p:spPr>
        <p:txBody>
          <a:bodyPr/>
          <a:lstStyle/>
          <a:p>
            <a:endParaRPr lang="zh-CN" altLang="en-US"/>
          </a:p>
        </p:txBody>
      </p:sp>
      <p:sp>
        <p:nvSpPr>
          <p:cNvPr id="64606" name="Freeform 1118"/>
          <p:cNvSpPr>
            <a:spLocks noChangeAspect="1"/>
          </p:cNvSpPr>
          <p:nvPr/>
        </p:nvSpPr>
        <p:spPr bwMode="auto">
          <a:xfrm>
            <a:off x="5295900" y="3074988"/>
            <a:ext cx="238125" cy="157162"/>
          </a:xfrm>
          <a:custGeom>
            <a:avLst/>
            <a:gdLst/>
            <a:ahLst/>
            <a:cxnLst>
              <a:cxn ang="0">
                <a:pos x="0" y="181"/>
              </a:cxn>
              <a:cxn ang="0">
                <a:pos x="0" y="272"/>
              </a:cxn>
              <a:cxn ang="0">
                <a:pos x="352" y="102"/>
              </a:cxn>
              <a:cxn ang="0">
                <a:pos x="352" y="0"/>
              </a:cxn>
              <a:cxn ang="0">
                <a:pos x="0" y="181"/>
              </a:cxn>
              <a:cxn ang="0">
                <a:pos x="0" y="272"/>
              </a:cxn>
              <a:cxn ang="0">
                <a:pos x="352" y="102"/>
              </a:cxn>
              <a:cxn ang="0">
                <a:pos x="352" y="0"/>
              </a:cxn>
              <a:cxn ang="0">
                <a:pos x="0" y="181"/>
              </a:cxn>
            </a:cxnLst>
            <a:rect l="0" t="0" r="r" b="b"/>
            <a:pathLst>
              <a:path w="353" h="273">
                <a:moveTo>
                  <a:pt x="0" y="181"/>
                </a:moveTo>
                <a:lnTo>
                  <a:pt x="0" y="272"/>
                </a:lnTo>
                <a:lnTo>
                  <a:pt x="352" y="102"/>
                </a:lnTo>
                <a:lnTo>
                  <a:pt x="352" y="0"/>
                </a:lnTo>
                <a:lnTo>
                  <a:pt x="0" y="181"/>
                </a:lnTo>
                <a:lnTo>
                  <a:pt x="0" y="272"/>
                </a:lnTo>
                <a:lnTo>
                  <a:pt x="352" y="102"/>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607" name="Freeform 1119"/>
          <p:cNvSpPr>
            <a:spLocks noChangeAspect="1"/>
          </p:cNvSpPr>
          <p:nvPr/>
        </p:nvSpPr>
        <p:spPr bwMode="auto">
          <a:xfrm>
            <a:off x="4976813" y="2908300"/>
            <a:ext cx="425450" cy="550863"/>
          </a:xfrm>
          <a:custGeom>
            <a:avLst/>
            <a:gdLst/>
            <a:ahLst/>
            <a:cxnLst>
              <a:cxn ang="0">
                <a:pos x="0" y="316"/>
              </a:cxn>
              <a:cxn ang="0">
                <a:pos x="0" y="0"/>
              </a:cxn>
              <a:cxn ang="0">
                <a:pos x="79" y="78"/>
              </a:cxn>
              <a:cxn ang="0">
                <a:pos x="79" y="169"/>
              </a:cxn>
              <a:cxn ang="0">
                <a:pos x="102" y="203"/>
              </a:cxn>
              <a:cxn ang="0">
                <a:pos x="102" y="112"/>
              </a:cxn>
              <a:cxn ang="0">
                <a:pos x="135" y="135"/>
              </a:cxn>
              <a:cxn ang="0">
                <a:pos x="135" y="236"/>
              </a:cxn>
              <a:cxn ang="0">
                <a:pos x="169" y="270"/>
              </a:cxn>
              <a:cxn ang="0">
                <a:pos x="169" y="169"/>
              </a:cxn>
              <a:cxn ang="0">
                <a:pos x="203" y="203"/>
              </a:cxn>
              <a:cxn ang="0">
                <a:pos x="203" y="304"/>
              </a:cxn>
              <a:cxn ang="0">
                <a:pos x="236" y="327"/>
              </a:cxn>
              <a:cxn ang="0">
                <a:pos x="236" y="236"/>
              </a:cxn>
              <a:cxn ang="0">
                <a:pos x="270" y="270"/>
              </a:cxn>
              <a:cxn ang="0">
                <a:pos x="270" y="360"/>
              </a:cxn>
              <a:cxn ang="0">
                <a:pos x="293" y="394"/>
              </a:cxn>
              <a:cxn ang="0">
                <a:pos x="293" y="304"/>
              </a:cxn>
              <a:cxn ang="0">
                <a:pos x="326" y="327"/>
              </a:cxn>
              <a:cxn ang="0">
                <a:pos x="326" y="428"/>
              </a:cxn>
              <a:cxn ang="0">
                <a:pos x="360" y="462"/>
              </a:cxn>
              <a:cxn ang="0">
                <a:pos x="360" y="360"/>
              </a:cxn>
              <a:cxn ang="0">
                <a:pos x="394" y="394"/>
              </a:cxn>
              <a:cxn ang="0">
                <a:pos x="394" y="495"/>
              </a:cxn>
              <a:cxn ang="0">
                <a:pos x="427" y="518"/>
              </a:cxn>
              <a:cxn ang="0">
                <a:pos x="427" y="428"/>
              </a:cxn>
              <a:cxn ang="0">
                <a:pos x="462" y="462"/>
              </a:cxn>
              <a:cxn ang="0">
                <a:pos x="462" y="552"/>
              </a:cxn>
              <a:cxn ang="0">
                <a:pos x="484" y="586"/>
              </a:cxn>
              <a:cxn ang="0">
                <a:pos x="484" y="495"/>
              </a:cxn>
              <a:cxn ang="0">
                <a:pos x="517" y="518"/>
              </a:cxn>
              <a:cxn ang="0">
                <a:pos x="517" y="620"/>
              </a:cxn>
              <a:cxn ang="0">
                <a:pos x="552" y="653"/>
              </a:cxn>
              <a:cxn ang="0">
                <a:pos x="552" y="552"/>
              </a:cxn>
              <a:cxn ang="0">
                <a:pos x="630" y="631"/>
              </a:cxn>
              <a:cxn ang="0">
                <a:pos x="630" y="958"/>
              </a:cxn>
              <a:cxn ang="0">
                <a:pos x="0" y="316"/>
              </a:cxn>
            </a:cxnLst>
            <a:rect l="0" t="0" r="r" b="b"/>
            <a:pathLst>
              <a:path w="631" h="959">
                <a:moveTo>
                  <a:pt x="0" y="316"/>
                </a:moveTo>
                <a:lnTo>
                  <a:pt x="0" y="0"/>
                </a:lnTo>
                <a:lnTo>
                  <a:pt x="79" y="78"/>
                </a:lnTo>
                <a:lnTo>
                  <a:pt x="79" y="169"/>
                </a:lnTo>
                <a:lnTo>
                  <a:pt x="102" y="203"/>
                </a:lnTo>
                <a:lnTo>
                  <a:pt x="102" y="112"/>
                </a:lnTo>
                <a:lnTo>
                  <a:pt x="135" y="135"/>
                </a:lnTo>
                <a:lnTo>
                  <a:pt x="135" y="236"/>
                </a:lnTo>
                <a:lnTo>
                  <a:pt x="169" y="270"/>
                </a:lnTo>
                <a:lnTo>
                  <a:pt x="169" y="169"/>
                </a:lnTo>
                <a:lnTo>
                  <a:pt x="203" y="203"/>
                </a:lnTo>
                <a:lnTo>
                  <a:pt x="203" y="304"/>
                </a:lnTo>
                <a:lnTo>
                  <a:pt x="236" y="327"/>
                </a:lnTo>
                <a:lnTo>
                  <a:pt x="236" y="236"/>
                </a:lnTo>
                <a:lnTo>
                  <a:pt x="270" y="270"/>
                </a:lnTo>
                <a:lnTo>
                  <a:pt x="270" y="360"/>
                </a:lnTo>
                <a:lnTo>
                  <a:pt x="293" y="394"/>
                </a:lnTo>
                <a:lnTo>
                  <a:pt x="293" y="304"/>
                </a:lnTo>
                <a:lnTo>
                  <a:pt x="326" y="327"/>
                </a:lnTo>
                <a:lnTo>
                  <a:pt x="326" y="428"/>
                </a:lnTo>
                <a:lnTo>
                  <a:pt x="360" y="462"/>
                </a:lnTo>
                <a:lnTo>
                  <a:pt x="360" y="360"/>
                </a:lnTo>
                <a:lnTo>
                  <a:pt x="394" y="394"/>
                </a:lnTo>
                <a:lnTo>
                  <a:pt x="394" y="495"/>
                </a:lnTo>
                <a:lnTo>
                  <a:pt x="427" y="518"/>
                </a:lnTo>
                <a:lnTo>
                  <a:pt x="427" y="428"/>
                </a:lnTo>
                <a:lnTo>
                  <a:pt x="462" y="462"/>
                </a:lnTo>
                <a:lnTo>
                  <a:pt x="462" y="552"/>
                </a:lnTo>
                <a:lnTo>
                  <a:pt x="484" y="586"/>
                </a:lnTo>
                <a:lnTo>
                  <a:pt x="484" y="495"/>
                </a:lnTo>
                <a:lnTo>
                  <a:pt x="517" y="518"/>
                </a:lnTo>
                <a:lnTo>
                  <a:pt x="517" y="620"/>
                </a:lnTo>
                <a:lnTo>
                  <a:pt x="552" y="653"/>
                </a:lnTo>
                <a:lnTo>
                  <a:pt x="552" y="552"/>
                </a:lnTo>
                <a:lnTo>
                  <a:pt x="630" y="631"/>
                </a:lnTo>
                <a:lnTo>
                  <a:pt x="630" y="958"/>
                </a:lnTo>
                <a:lnTo>
                  <a:pt x="0" y="316"/>
                </a:lnTo>
              </a:path>
            </a:pathLst>
          </a:custGeom>
          <a:solidFill>
            <a:srgbClr val="FFFFFF"/>
          </a:solidFill>
          <a:ln w="9525" cap="rnd">
            <a:noFill/>
            <a:round/>
            <a:headEnd/>
            <a:tailEnd/>
          </a:ln>
          <a:effectLst/>
        </p:spPr>
        <p:txBody>
          <a:bodyPr/>
          <a:lstStyle/>
          <a:p>
            <a:endParaRPr lang="zh-CN" altLang="en-US"/>
          </a:p>
        </p:txBody>
      </p:sp>
      <p:sp>
        <p:nvSpPr>
          <p:cNvPr id="64608" name="Freeform 1120"/>
          <p:cNvSpPr>
            <a:spLocks noChangeAspect="1"/>
          </p:cNvSpPr>
          <p:nvPr/>
        </p:nvSpPr>
        <p:spPr bwMode="auto">
          <a:xfrm>
            <a:off x="4981575" y="2911475"/>
            <a:ext cx="428625" cy="555625"/>
          </a:xfrm>
          <a:custGeom>
            <a:avLst/>
            <a:gdLst/>
            <a:ahLst/>
            <a:cxnLst>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 ang="0">
                <a:pos x="0" y="0"/>
              </a:cxn>
              <a:cxn ang="0">
                <a:pos x="80" y="170"/>
              </a:cxn>
              <a:cxn ang="0">
                <a:pos x="103" y="113"/>
              </a:cxn>
              <a:cxn ang="0">
                <a:pos x="137" y="238"/>
              </a:cxn>
              <a:cxn ang="0">
                <a:pos x="171" y="170"/>
              </a:cxn>
              <a:cxn ang="0">
                <a:pos x="205" y="306"/>
              </a:cxn>
              <a:cxn ang="0">
                <a:pos x="239" y="238"/>
              </a:cxn>
              <a:cxn ang="0">
                <a:pos x="273" y="363"/>
              </a:cxn>
              <a:cxn ang="0">
                <a:pos x="295" y="306"/>
              </a:cxn>
              <a:cxn ang="0">
                <a:pos x="329" y="431"/>
              </a:cxn>
              <a:cxn ang="0">
                <a:pos x="363" y="363"/>
              </a:cxn>
              <a:cxn ang="0">
                <a:pos x="397" y="499"/>
              </a:cxn>
              <a:cxn ang="0">
                <a:pos x="431" y="431"/>
              </a:cxn>
              <a:cxn ang="0">
                <a:pos x="466" y="555"/>
              </a:cxn>
              <a:cxn ang="0">
                <a:pos x="488" y="499"/>
              </a:cxn>
              <a:cxn ang="0">
                <a:pos x="522" y="623"/>
              </a:cxn>
              <a:cxn ang="0">
                <a:pos x="557" y="555"/>
              </a:cxn>
              <a:cxn ang="0">
                <a:pos x="636" y="964"/>
              </a:cxn>
            </a:cxnLst>
            <a:rect l="0" t="0" r="r" b="b"/>
            <a:pathLst>
              <a:path w="637" h="965">
                <a:moveTo>
                  <a:pt x="0" y="318"/>
                </a:move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lnTo>
                  <a:pt x="0" y="0"/>
                </a:lnTo>
                <a:lnTo>
                  <a:pt x="80" y="79"/>
                </a:lnTo>
                <a:lnTo>
                  <a:pt x="80" y="170"/>
                </a:lnTo>
                <a:lnTo>
                  <a:pt x="103" y="204"/>
                </a:lnTo>
                <a:lnTo>
                  <a:pt x="103" y="113"/>
                </a:lnTo>
                <a:lnTo>
                  <a:pt x="137" y="136"/>
                </a:lnTo>
                <a:lnTo>
                  <a:pt x="137" y="238"/>
                </a:lnTo>
                <a:lnTo>
                  <a:pt x="171" y="272"/>
                </a:lnTo>
                <a:lnTo>
                  <a:pt x="171" y="170"/>
                </a:lnTo>
                <a:lnTo>
                  <a:pt x="205" y="204"/>
                </a:lnTo>
                <a:lnTo>
                  <a:pt x="205" y="306"/>
                </a:lnTo>
                <a:lnTo>
                  <a:pt x="239" y="329"/>
                </a:lnTo>
                <a:lnTo>
                  <a:pt x="239" y="238"/>
                </a:lnTo>
                <a:lnTo>
                  <a:pt x="273" y="272"/>
                </a:lnTo>
                <a:lnTo>
                  <a:pt x="273" y="363"/>
                </a:lnTo>
                <a:lnTo>
                  <a:pt x="295" y="397"/>
                </a:lnTo>
                <a:lnTo>
                  <a:pt x="295" y="306"/>
                </a:lnTo>
                <a:lnTo>
                  <a:pt x="329" y="329"/>
                </a:lnTo>
                <a:lnTo>
                  <a:pt x="329" y="431"/>
                </a:lnTo>
                <a:lnTo>
                  <a:pt x="363" y="465"/>
                </a:lnTo>
                <a:lnTo>
                  <a:pt x="363" y="363"/>
                </a:lnTo>
                <a:lnTo>
                  <a:pt x="397" y="397"/>
                </a:lnTo>
                <a:lnTo>
                  <a:pt x="397" y="499"/>
                </a:lnTo>
                <a:lnTo>
                  <a:pt x="431" y="521"/>
                </a:lnTo>
                <a:lnTo>
                  <a:pt x="431" y="431"/>
                </a:lnTo>
                <a:lnTo>
                  <a:pt x="466" y="465"/>
                </a:lnTo>
                <a:lnTo>
                  <a:pt x="466" y="555"/>
                </a:lnTo>
                <a:lnTo>
                  <a:pt x="488" y="589"/>
                </a:lnTo>
                <a:lnTo>
                  <a:pt x="488" y="499"/>
                </a:lnTo>
                <a:lnTo>
                  <a:pt x="522" y="521"/>
                </a:lnTo>
                <a:lnTo>
                  <a:pt x="522" y="623"/>
                </a:lnTo>
                <a:lnTo>
                  <a:pt x="557" y="657"/>
                </a:lnTo>
                <a:lnTo>
                  <a:pt x="557" y="555"/>
                </a:lnTo>
                <a:lnTo>
                  <a:pt x="636" y="634"/>
                </a:lnTo>
                <a:lnTo>
                  <a:pt x="636" y="964"/>
                </a:lnTo>
                <a:lnTo>
                  <a:pt x="0" y="318"/>
                </a:lnTo>
              </a:path>
            </a:pathLst>
          </a:custGeom>
          <a:noFill/>
          <a:ln w="25400" cap="rnd" cmpd="sng">
            <a:solidFill>
              <a:srgbClr val="000000"/>
            </a:solidFill>
            <a:prstDash val="solid"/>
            <a:round/>
            <a:headEnd/>
            <a:tailEnd/>
          </a:ln>
          <a:effectLst/>
        </p:spPr>
        <p:txBody>
          <a:bodyPr/>
          <a:lstStyle/>
          <a:p>
            <a:endParaRPr lang="zh-CN" altLang="en-US"/>
          </a:p>
        </p:txBody>
      </p:sp>
      <p:sp>
        <p:nvSpPr>
          <p:cNvPr id="64609" name="Freeform 1121"/>
          <p:cNvSpPr>
            <a:spLocks noChangeAspect="1"/>
          </p:cNvSpPr>
          <p:nvPr/>
        </p:nvSpPr>
        <p:spPr bwMode="auto">
          <a:xfrm>
            <a:off x="5046663" y="2868613"/>
            <a:ext cx="255587" cy="114300"/>
          </a:xfrm>
          <a:custGeom>
            <a:avLst/>
            <a:gdLst/>
            <a:ahLst/>
            <a:cxnLst>
              <a:cxn ang="0">
                <a:pos x="0" y="175"/>
              </a:cxn>
              <a:cxn ang="0">
                <a:pos x="33" y="197"/>
              </a:cxn>
              <a:cxn ang="0">
                <a:pos x="379" y="33"/>
              </a:cxn>
              <a:cxn ang="0">
                <a:pos x="357" y="0"/>
              </a:cxn>
              <a:cxn ang="0">
                <a:pos x="0" y="175"/>
              </a:cxn>
            </a:cxnLst>
            <a:rect l="0" t="0" r="r" b="b"/>
            <a:pathLst>
              <a:path w="380" h="198">
                <a:moveTo>
                  <a:pt x="0" y="175"/>
                </a:moveTo>
                <a:lnTo>
                  <a:pt x="33" y="197"/>
                </a:lnTo>
                <a:lnTo>
                  <a:pt x="379" y="33"/>
                </a:lnTo>
                <a:lnTo>
                  <a:pt x="357" y="0"/>
                </a:lnTo>
                <a:lnTo>
                  <a:pt x="0" y="175"/>
                </a:lnTo>
              </a:path>
            </a:pathLst>
          </a:custGeom>
          <a:solidFill>
            <a:srgbClr val="FFFFFF"/>
          </a:solidFill>
          <a:ln w="9525" cap="rnd">
            <a:noFill/>
            <a:round/>
            <a:headEnd/>
            <a:tailEnd/>
          </a:ln>
          <a:effectLst/>
        </p:spPr>
        <p:txBody>
          <a:bodyPr/>
          <a:lstStyle/>
          <a:p>
            <a:endParaRPr lang="zh-CN" altLang="en-US"/>
          </a:p>
        </p:txBody>
      </p:sp>
      <p:sp>
        <p:nvSpPr>
          <p:cNvPr id="64610" name="Freeform 1122"/>
          <p:cNvSpPr>
            <a:spLocks noChangeAspect="1"/>
          </p:cNvSpPr>
          <p:nvPr/>
        </p:nvSpPr>
        <p:spPr bwMode="auto">
          <a:xfrm>
            <a:off x="5049838" y="2873375"/>
            <a:ext cx="261937" cy="117475"/>
          </a:xfrm>
          <a:custGeom>
            <a:avLst/>
            <a:gdLst/>
            <a:ahLst/>
            <a:cxnLst>
              <a:cxn ang="0">
                <a:pos x="0" y="181"/>
              </a:cxn>
              <a:cxn ang="0">
                <a:pos x="34" y="204"/>
              </a:cxn>
              <a:cxn ang="0">
                <a:pos x="386" y="34"/>
              </a:cxn>
              <a:cxn ang="0">
                <a:pos x="364" y="0"/>
              </a:cxn>
              <a:cxn ang="0">
                <a:pos x="0" y="181"/>
              </a:cxn>
              <a:cxn ang="0">
                <a:pos x="34" y="204"/>
              </a:cxn>
              <a:cxn ang="0">
                <a:pos x="386" y="34"/>
              </a:cxn>
              <a:cxn ang="0">
                <a:pos x="364" y="0"/>
              </a:cxn>
              <a:cxn ang="0">
                <a:pos x="0" y="181"/>
              </a:cxn>
            </a:cxnLst>
            <a:rect l="0" t="0" r="r" b="b"/>
            <a:pathLst>
              <a:path w="387" h="205">
                <a:moveTo>
                  <a:pt x="0" y="181"/>
                </a:moveTo>
                <a:lnTo>
                  <a:pt x="34" y="204"/>
                </a:lnTo>
                <a:lnTo>
                  <a:pt x="386" y="34"/>
                </a:lnTo>
                <a:lnTo>
                  <a:pt x="364" y="0"/>
                </a:lnTo>
                <a:lnTo>
                  <a:pt x="0" y="181"/>
                </a:lnTo>
                <a:lnTo>
                  <a:pt x="34" y="204"/>
                </a:lnTo>
                <a:lnTo>
                  <a:pt x="386" y="34"/>
                </a:lnTo>
                <a:lnTo>
                  <a:pt x="364"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611" name="Freeform 1123"/>
          <p:cNvSpPr>
            <a:spLocks noChangeAspect="1"/>
          </p:cNvSpPr>
          <p:nvPr/>
        </p:nvSpPr>
        <p:spPr bwMode="auto">
          <a:xfrm>
            <a:off x="5091113" y="2908300"/>
            <a:ext cx="257175" cy="114300"/>
          </a:xfrm>
          <a:custGeom>
            <a:avLst/>
            <a:gdLst/>
            <a:ahLst/>
            <a:cxnLst>
              <a:cxn ang="0">
                <a:pos x="0" y="164"/>
              </a:cxn>
              <a:cxn ang="0">
                <a:pos x="33" y="197"/>
              </a:cxn>
              <a:cxn ang="0">
                <a:pos x="380" y="22"/>
              </a:cxn>
              <a:cxn ang="0">
                <a:pos x="346" y="0"/>
              </a:cxn>
              <a:cxn ang="0">
                <a:pos x="0" y="164"/>
              </a:cxn>
            </a:cxnLst>
            <a:rect l="0" t="0" r="r" b="b"/>
            <a:pathLst>
              <a:path w="381" h="198">
                <a:moveTo>
                  <a:pt x="0" y="164"/>
                </a:moveTo>
                <a:lnTo>
                  <a:pt x="33" y="197"/>
                </a:lnTo>
                <a:lnTo>
                  <a:pt x="380" y="22"/>
                </a:lnTo>
                <a:lnTo>
                  <a:pt x="346" y="0"/>
                </a:lnTo>
                <a:lnTo>
                  <a:pt x="0" y="164"/>
                </a:lnTo>
              </a:path>
            </a:pathLst>
          </a:custGeom>
          <a:solidFill>
            <a:srgbClr val="FFFFFF"/>
          </a:solidFill>
          <a:ln w="9525" cap="rnd">
            <a:noFill/>
            <a:round/>
            <a:headEnd/>
            <a:tailEnd/>
          </a:ln>
          <a:effectLst/>
        </p:spPr>
        <p:txBody>
          <a:bodyPr/>
          <a:lstStyle/>
          <a:p>
            <a:endParaRPr lang="zh-CN" altLang="en-US"/>
          </a:p>
        </p:txBody>
      </p:sp>
      <p:sp>
        <p:nvSpPr>
          <p:cNvPr id="64612" name="Freeform 1124"/>
          <p:cNvSpPr>
            <a:spLocks noChangeAspect="1"/>
          </p:cNvSpPr>
          <p:nvPr/>
        </p:nvSpPr>
        <p:spPr bwMode="auto">
          <a:xfrm>
            <a:off x="5095875" y="2911475"/>
            <a:ext cx="261938" cy="117475"/>
          </a:xfrm>
          <a:custGeom>
            <a:avLst/>
            <a:gdLst/>
            <a:ahLst/>
            <a:cxnLst>
              <a:cxn ang="0">
                <a:pos x="0" y="169"/>
              </a:cxn>
              <a:cxn ang="0">
                <a:pos x="34" y="203"/>
              </a:cxn>
              <a:cxn ang="0">
                <a:pos x="386" y="23"/>
              </a:cxn>
              <a:cxn ang="0">
                <a:pos x="351" y="0"/>
              </a:cxn>
              <a:cxn ang="0">
                <a:pos x="0" y="169"/>
              </a:cxn>
              <a:cxn ang="0">
                <a:pos x="34" y="203"/>
              </a:cxn>
              <a:cxn ang="0">
                <a:pos x="386" y="23"/>
              </a:cxn>
              <a:cxn ang="0">
                <a:pos x="351" y="0"/>
              </a:cxn>
              <a:cxn ang="0">
                <a:pos x="0" y="169"/>
              </a:cxn>
            </a:cxnLst>
            <a:rect l="0" t="0" r="r" b="b"/>
            <a:pathLst>
              <a:path w="387" h="204">
                <a:moveTo>
                  <a:pt x="0" y="169"/>
                </a:moveTo>
                <a:lnTo>
                  <a:pt x="34" y="203"/>
                </a:lnTo>
                <a:lnTo>
                  <a:pt x="386" y="23"/>
                </a:lnTo>
                <a:lnTo>
                  <a:pt x="351" y="0"/>
                </a:lnTo>
                <a:lnTo>
                  <a:pt x="0" y="169"/>
                </a:lnTo>
                <a:lnTo>
                  <a:pt x="34" y="203"/>
                </a:lnTo>
                <a:lnTo>
                  <a:pt x="386" y="23"/>
                </a:lnTo>
                <a:lnTo>
                  <a:pt x="351" y="0"/>
                </a:lnTo>
                <a:lnTo>
                  <a:pt x="0" y="169"/>
                </a:lnTo>
              </a:path>
            </a:pathLst>
          </a:custGeom>
          <a:noFill/>
          <a:ln w="25400" cap="rnd" cmpd="sng">
            <a:solidFill>
              <a:srgbClr val="000000"/>
            </a:solidFill>
            <a:prstDash val="solid"/>
            <a:round/>
            <a:headEnd/>
            <a:tailEnd/>
          </a:ln>
          <a:effectLst/>
        </p:spPr>
        <p:txBody>
          <a:bodyPr/>
          <a:lstStyle/>
          <a:p>
            <a:endParaRPr lang="zh-CN" altLang="en-US"/>
          </a:p>
        </p:txBody>
      </p:sp>
      <p:sp>
        <p:nvSpPr>
          <p:cNvPr id="64613" name="Freeform 1125"/>
          <p:cNvSpPr>
            <a:spLocks noChangeAspect="1"/>
          </p:cNvSpPr>
          <p:nvPr/>
        </p:nvSpPr>
        <p:spPr bwMode="auto">
          <a:xfrm>
            <a:off x="5137150" y="2940050"/>
            <a:ext cx="257175" cy="120650"/>
          </a:xfrm>
          <a:custGeom>
            <a:avLst/>
            <a:gdLst/>
            <a:ahLst/>
            <a:cxnLst>
              <a:cxn ang="0">
                <a:pos x="0" y="175"/>
              </a:cxn>
              <a:cxn ang="0">
                <a:pos x="33" y="208"/>
              </a:cxn>
              <a:cxn ang="0">
                <a:pos x="380" y="33"/>
              </a:cxn>
              <a:cxn ang="0">
                <a:pos x="347" y="0"/>
              </a:cxn>
              <a:cxn ang="0">
                <a:pos x="0" y="175"/>
              </a:cxn>
            </a:cxnLst>
            <a:rect l="0" t="0" r="r" b="b"/>
            <a:pathLst>
              <a:path w="381" h="209">
                <a:moveTo>
                  <a:pt x="0" y="175"/>
                </a:moveTo>
                <a:lnTo>
                  <a:pt x="33" y="208"/>
                </a:lnTo>
                <a:lnTo>
                  <a:pt x="380" y="33"/>
                </a:lnTo>
                <a:lnTo>
                  <a:pt x="347" y="0"/>
                </a:lnTo>
                <a:lnTo>
                  <a:pt x="0" y="175"/>
                </a:lnTo>
              </a:path>
            </a:pathLst>
          </a:custGeom>
          <a:solidFill>
            <a:srgbClr val="FFFFFF"/>
          </a:solidFill>
          <a:ln w="9525" cap="rnd">
            <a:noFill/>
            <a:round/>
            <a:headEnd/>
            <a:tailEnd/>
          </a:ln>
          <a:effectLst/>
        </p:spPr>
        <p:txBody>
          <a:bodyPr/>
          <a:lstStyle/>
          <a:p>
            <a:endParaRPr lang="zh-CN" altLang="en-US"/>
          </a:p>
        </p:txBody>
      </p:sp>
      <p:sp>
        <p:nvSpPr>
          <p:cNvPr id="64614" name="Freeform 1126"/>
          <p:cNvSpPr>
            <a:spLocks noChangeAspect="1"/>
          </p:cNvSpPr>
          <p:nvPr/>
        </p:nvSpPr>
        <p:spPr bwMode="auto">
          <a:xfrm>
            <a:off x="5141913" y="2944813"/>
            <a:ext cx="261937" cy="123825"/>
          </a:xfrm>
          <a:custGeom>
            <a:avLst/>
            <a:gdLst/>
            <a:ahLst/>
            <a:cxnLst>
              <a:cxn ang="0">
                <a:pos x="0" y="181"/>
              </a:cxn>
              <a:cxn ang="0">
                <a:pos x="34" y="215"/>
              </a:cxn>
              <a:cxn ang="0">
                <a:pos x="386" y="34"/>
              </a:cxn>
              <a:cxn ang="0">
                <a:pos x="352" y="0"/>
              </a:cxn>
              <a:cxn ang="0">
                <a:pos x="0" y="181"/>
              </a:cxn>
              <a:cxn ang="0">
                <a:pos x="34" y="215"/>
              </a:cxn>
              <a:cxn ang="0">
                <a:pos x="386" y="34"/>
              </a:cxn>
              <a:cxn ang="0">
                <a:pos x="352" y="0"/>
              </a:cxn>
              <a:cxn ang="0">
                <a:pos x="0" y="181"/>
              </a:cxn>
            </a:cxnLst>
            <a:rect l="0" t="0" r="r" b="b"/>
            <a:pathLst>
              <a:path w="387" h="216">
                <a:moveTo>
                  <a:pt x="0" y="181"/>
                </a:moveTo>
                <a:lnTo>
                  <a:pt x="34" y="215"/>
                </a:lnTo>
                <a:lnTo>
                  <a:pt x="386" y="34"/>
                </a:lnTo>
                <a:lnTo>
                  <a:pt x="352" y="0"/>
                </a:lnTo>
                <a:lnTo>
                  <a:pt x="0" y="181"/>
                </a:lnTo>
                <a:lnTo>
                  <a:pt x="34" y="215"/>
                </a:lnTo>
                <a:lnTo>
                  <a:pt x="386" y="34"/>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615" name="Freeform 1127"/>
          <p:cNvSpPr>
            <a:spLocks noChangeAspect="1"/>
          </p:cNvSpPr>
          <p:nvPr/>
        </p:nvSpPr>
        <p:spPr bwMode="auto">
          <a:xfrm>
            <a:off x="5175250" y="2979738"/>
            <a:ext cx="265113" cy="11430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a:lstStyle/>
          <a:p>
            <a:endParaRPr lang="zh-CN" altLang="en-US"/>
          </a:p>
        </p:txBody>
      </p:sp>
      <p:sp>
        <p:nvSpPr>
          <p:cNvPr id="64616" name="Freeform 1128"/>
          <p:cNvSpPr>
            <a:spLocks noChangeAspect="1"/>
          </p:cNvSpPr>
          <p:nvPr/>
        </p:nvSpPr>
        <p:spPr bwMode="auto">
          <a:xfrm>
            <a:off x="5180013" y="2982913"/>
            <a:ext cx="268287" cy="119062"/>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617" name="Freeform 1129"/>
          <p:cNvSpPr>
            <a:spLocks noChangeAspect="1"/>
          </p:cNvSpPr>
          <p:nvPr/>
        </p:nvSpPr>
        <p:spPr bwMode="auto">
          <a:xfrm>
            <a:off x="5221288" y="3019425"/>
            <a:ext cx="257175" cy="112713"/>
          </a:xfrm>
          <a:custGeom>
            <a:avLst/>
            <a:gdLst/>
            <a:ahLst/>
            <a:cxnLst>
              <a:cxn ang="0">
                <a:pos x="0" y="164"/>
              </a:cxn>
              <a:cxn ang="0">
                <a:pos x="33" y="197"/>
              </a:cxn>
              <a:cxn ang="0">
                <a:pos x="380" y="21"/>
              </a:cxn>
              <a:cxn ang="0">
                <a:pos x="347" y="0"/>
              </a:cxn>
              <a:cxn ang="0">
                <a:pos x="0" y="164"/>
              </a:cxn>
            </a:cxnLst>
            <a:rect l="0" t="0" r="r" b="b"/>
            <a:pathLst>
              <a:path w="381" h="198">
                <a:moveTo>
                  <a:pt x="0" y="164"/>
                </a:moveTo>
                <a:lnTo>
                  <a:pt x="33" y="197"/>
                </a:lnTo>
                <a:lnTo>
                  <a:pt x="380" y="21"/>
                </a:lnTo>
                <a:lnTo>
                  <a:pt x="347" y="0"/>
                </a:lnTo>
                <a:lnTo>
                  <a:pt x="0" y="164"/>
                </a:lnTo>
              </a:path>
            </a:pathLst>
          </a:custGeom>
          <a:solidFill>
            <a:srgbClr val="FFFFFF"/>
          </a:solidFill>
          <a:ln w="9525" cap="rnd">
            <a:noFill/>
            <a:round/>
            <a:headEnd/>
            <a:tailEnd/>
          </a:ln>
          <a:effectLst/>
        </p:spPr>
        <p:txBody>
          <a:bodyPr/>
          <a:lstStyle/>
          <a:p>
            <a:endParaRPr lang="zh-CN" altLang="en-US"/>
          </a:p>
        </p:txBody>
      </p:sp>
      <p:sp>
        <p:nvSpPr>
          <p:cNvPr id="64618" name="Freeform 1130"/>
          <p:cNvSpPr>
            <a:spLocks noChangeAspect="1"/>
          </p:cNvSpPr>
          <p:nvPr/>
        </p:nvSpPr>
        <p:spPr bwMode="auto">
          <a:xfrm>
            <a:off x="5226050" y="3022600"/>
            <a:ext cx="261938" cy="117475"/>
          </a:xfrm>
          <a:custGeom>
            <a:avLst/>
            <a:gdLst/>
            <a:ahLst/>
            <a:cxnLst>
              <a:cxn ang="0">
                <a:pos x="0" y="170"/>
              </a:cxn>
              <a:cxn ang="0">
                <a:pos x="34" y="204"/>
              </a:cxn>
              <a:cxn ang="0">
                <a:pos x="386" y="22"/>
              </a:cxn>
              <a:cxn ang="0">
                <a:pos x="352" y="0"/>
              </a:cxn>
              <a:cxn ang="0">
                <a:pos x="0" y="170"/>
              </a:cxn>
              <a:cxn ang="0">
                <a:pos x="34" y="204"/>
              </a:cxn>
              <a:cxn ang="0">
                <a:pos x="386" y="22"/>
              </a:cxn>
              <a:cxn ang="0">
                <a:pos x="352" y="0"/>
              </a:cxn>
              <a:cxn ang="0">
                <a:pos x="0" y="170"/>
              </a:cxn>
            </a:cxnLst>
            <a:rect l="0" t="0" r="r" b="b"/>
            <a:pathLst>
              <a:path w="387" h="205">
                <a:moveTo>
                  <a:pt x="0" y="170"/>
                </a:moveTo>
                <a:lnTo>
                  <a:pt x="34" y="204"/>
                </a:lnTo>
                <a:lnTo>
                  <a:pt x="386" y="22"/>
                </a:lnTo>
                <a:lnTo>
                  <a:pt x="352" y="0"/>
                </a:lnTo>
                <a:lnTo>
                  <a:pt x="0" y="170"/>
                </a:lnTo>
                <a:lnTo>
                  <a:pt x="34" y="204"/>
                </a:lnTo>
                <a:lnTo>
                  <a:pt x="386" y="22"/>
                </a:lnTo>
                <a:lnTo>
                  <a:pt x="352" y="0"/>
                </a:lnTo>
                <a:lnTo>
                  <a:pt x="0" y="170"/>
                </a:lnTo>
              </a:path>
            </a:pathLst>
          </a:custGeom>
          <a:noFill/>
          <a:ln w="25400" cap="rnd" cmpd="sng">
            <a:solidFill>
              <a:srgbClr val="000000"/>
            </a:solidFill>
            <a:prstDash val="solid"/>
            <a:round/>
            <a:headEnd/>
            <a:tailEnd/>
          </a:ln>
          <a:effectLst/>
        </p:spPr>
        <p:txBody>
          <a:bodyPr/>
          <a:lstStyle/>
          <a:p>
            <a:endParaRPr lang="zh-CN" altLang="en-US"/>
          </a:p>
        </p:txBody>
      </p:sp>
      <p:sp>
        <p:nvSpPr>
          <p:cNvPr id="64619" name="Freeform 1131"/>
          <p:cNvSpPr>
            <a:spLocks noChangeAspect="1"/>
          </p:cNvSpPr>
          <p:nvPr/>
        </p:nvSpPr>
        <p:spPr bwMode="auto">
          <a:xfrm>
            <a:off x="5267325" y="3051175"/>
            <a:ext cx="257175" cy="120650"/>
          </a:xfrm>
          <a:custGeom>
            <a:avLst/>
            <a:gdLst/>
            <a:ahLst/>
            <a:cxnLst>
              <a:cxn ang="0">
                <a:pos x="0" y="175"/>
              </a:cxn>
              <a:cxn ang="0">
                <a:pos x="34" y="208"/>
              </a:cxn>
              <a:cxn ang="0">
                <a:pos x="380" y="33"/>
              </a:cxn>
              <a:cxn ang="0">
                <a:pos x="347" y="0"/>
              </a:cxn>
              <a:cxn ang="0">
                <a:pos x="0" y="175"/>
              </a:cxn>
            </a:cxnLst>
            <a:rect l="0" t="0" r="r" b="b"/>
            <a:pathLst>
              <a:path w="381" h="209">
                <a:moveTo>
                  <a:pt x="0" y="175"/>
                </a:moveTo>
                <a:lnTo>
                  <a:pt x="34" y="208"/>
                </a:lnTo>
                <a:lnTo>
                  <a:pt x="380" y="33"/>
                </a:lnTo>
                <a:lnTo>
                  <a:pt x="347" y="0"/>
                </a:lnTo>
                <a:lnTo>
                  <a:pt x="0" y="175"/>
                </a:lnTo>
              </a:path>
            </a:pathLst>
          </a:custGeom>
          <a:solidFill>
            <a:srgbClr val="FFFFFF"/>
          </a:solidFill>
          <a:ln w="9525" cap="rnd">
            <a:noFill/>
            <a:round/>
            <a:headEnd/>
            <a:tailEnd/>
          </a:ln>
          <a:effectLst/>
        </p:spPr>
        <p:txBody>
          <a:bodyPr/>
          <a:lstStyle/>
          <a:p>
            <a:endParaRPr lang="zh-CN" altLang="en-US"/>
          </a:p>
        </p:txBody>
      </p:sp>
      <p:sp>
        <p:nvSpPr>
          <p:cNvPr id="64620" name="Freeform 1132"/>
          <p:cNvSpPr>
            <a:spLocks noChangeAspect="1"/>
          </p:cNvSpPr>
          <p:nvPr/>
        </p:nvSpPr>
        <p:spPr bwMode="auto">
          <a:xfrm>
            <a:off x="5272088" y="3055938"/>
            <a:ext cx="261937" cy="123825"/>
          </a:xfrm>
          <a:custGeom>
            <a:avLst/>
            <a:gdLst/>
            <a:ahLst/>
            <a:cxnLst>
              <a:cxn ang="0">
                <a:pos x="0" y="181"/>
              </a:cxn>
              <a:cxn ang="0">
                <a:pos x="35" y="215"/>
              </a:cxn>
              <a:cxn ang="0">
                <a:pos x="386" y="34"/>
              </a:cxn>
              <a:cxn ang="0">
                <a:pos x="352" y="0"/>
              </a:cxn>
              <a:cxn ang="0">
                <a:pos x="0" y="181"/>
              </a:cxn>
              <a:cxn ang="0">
                <a:pos x="35" y="215"/>
              </a:cxn>
              <a:cxn ang="0">
                <a:pos x="386" y="34"/>
              </a:cxn>
              <a:cxn ang="0">
                <a:pos x="352" y="0"/>
              </a:cxn>
              <a:cxn ang="0">
                <a:pos x="0" y="181"/>
              </a:cxn>
            </a:cxnLst>
            <a:rect l="0" t="0" r="r" b="b"/>
            <a:pathLst>
              <a:path w="387" h="216">
                <a:moveTo>
                  <a:pt x="0" y="181"/>
                </a:moveTo>
                <a:lnTo>
                  <a:pt x="35" y="215"/>
                </a:lnTo>
                <a:lnTo>
                  <a:pt x="386" y="34"/>
                </a:lnTo>
                <a:lnTo>
                  <a:pt x="352" y="0"/>
                </a:lnTo>
                <a:lnTo>
                  <a:pt x="0" y="181"/>
                </a:lnTo>
                <a:lnTo>
                  <a:pt x="35" y="215"/>
                </a:lnTo>
                <a:lnTo>
                  <a:pt x="386" y="34"/>
                </a:lnTo>
                <a:lnTo>
                  <a:pt x="352"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621" name="Freeform 1133"/>
          <p:cNvSpPr>
            <a:spLocks noChangeAspect="1"/>
          </p:cNvSpPr>
          <p:nvPr/>
        </p:nvSpPr>
        <p:spPr bwMode="auto">
          <a:xfrm>
            <a:off x="5305425" y="3090863"/>
            <a:ext cx="265113" cy="114300"/>
          </a:xfrm>
          <a:custGeom>
            <a:avLst/>
            <a:gdLst/>
            <a:ahLst/>
            <a:cxnLst>
              <a:cxn ang="0">
                <a:pos x="0" y="175"/>
              </a:cxn>
              <a:cxn ang="0">
                <a:pos x="33" y="197"/>
              </a:cxn>
              <a:cxn ang="0">
                <a:pos x="391" y="33"/>
              </a:cxn>
              <a:cxn ang="0">
                <a:pos x="358" y="0"/>
              </a:cxn>
              <a:cxn ang="0">
                <a:pos x="0" y="175"/>
              </a:cxn>
            </a:cxnLst>
            <a:rect l="0" t="0" r="r" b="b"/>
            <a:pathLst>
              <a:path w="392" h="198">
                <a:moveTo>
                  <a:pt x="0" y="175"/>
                </a:moveTo>
                <a:lnTo>
                  <a:pt x="33" y="197"/>
                </a:lnTo>
                <a:lnTo>
                  <a:pt x="391" y="33"/>
                </a:lnTo>
                <a:lnTo>
                  <a:pt x="358" y="0"/>
                </a:lnTo>
                <a:lnTo>
                  <a:pt x="0" y="175"/>
                </a:lnTo>
              </a:path>
            </a:pathLst>
          </a:custGeom>
          <a:solidFill>
            <a:srgbClr val="FFFFFF"/>
          </a:solidFill>
          <a:ln w="9525" cap="rnd">
            <a:noFill/>
            <a:round/>
            <a:headEnd/>
            <a:tailEnd/>
          </a:ln>
          <a:effectLst/>
        </p:spPr>
        <p:txBody>
          <a:bodyPr/>
          <a:lstStyle/>
          <a:p>
            <a:endParaRPr lang="zh-CN" altLang="en-US"/>
          </a:p>
        </p:txBody>
      </p:sp>
      <p:sp>
        <p:nvSpPr>
          <p:cNvPr id="64622" name="Freeform 1134"/>
          <p:cNvSpPr>
            <a:spLocks noChangeAspect="1"/>
          </p:cNvSpPr>
          <p:nvPr/>
        </p:nvSpPr>
        <p:spPr bwMode="auto">
          <a:xfrm>
            <a:off x="5310188" y="3094038"/>
            <a:ext cx="268287" cy="117475"/>
          </a:xfrm>
          <a:custGeom>
            <a:avLst/>
            <a:gdLst/>
            <a:ahLst/>
            <a:cxnLst>
              <a:cxn ang="0">
                <a:pos x="0" y="181"/>
              </a:cxn>
              <a:cxn ang="0">
                <a:pos x="34" y="204"/>
              </a:cxn>
              <a:cxn ang="0">
                <a:pos x="397" y="34"/>
              </a:cxn>
              <a:cxn ang="0">
                <a:pos x="363" y="0"/>
              </a:cxn>
              <a:cxn ang="0">
                <a:pos x="0" y="181"/>
              </a:cxn>
              <a:cxn ang="0">
                <a:pos x="34" y="204"/>
              </a:cxn>
              <a:cxn ang="0">
                <a:pos x="397" y="34"/>
              </a:cxn>
              <a:cxn ang="0">
                <a:pos x="363" y="0"/>
              </a:cxn>
              <a:cxn ang="0">
                <a:pos x="0" y="181"/>
              </a:cxn>
            </a:cxnLst>
            <a:rect l="0" t="0" r="r" b="b"/>
            <a:pathLst>
              <a:path w="398" h="205">
                <a:moveTo>
                  <a:pt x="0" y="181"/>
                </a:moveTo>
                <a:lnTo>
                  <a:pt x="34" y="204"/>
                </a:lnTo>
                <a:lnTo>
                  <a:pt x="397" y="34"/>
                </a:lnTo>
                <a:lnTo>
                  <a:pt x="363" y="0"/>
                </a:lnTo>
                <a:lnTo>
                  <a:pt x="0" y="181"/>
                </a:lnTo>
                <a:lnTo>
                  <a:pt x="34" y="204"/>
                </a:lnTo>
                <a:lnTo>
                  <a:pt x="397" y="34"/>
                </a:lnTo>
                <a:lnTo>
                  <a:pt x="363" y="0"/>
                </a:lnTo>
                <a:lnTo>
                  <a:pt x="0" y="181"/>
                </a:lnTo>
              </a:path>
            </a:pathLst>
          </a:custGeom>
          <a:noFill/>
          <a:ln w="25400" cap="rnd" cmpd="sng">
            <a:solidFill>
              <a:srgbClr val="000000"/>
            </a:solidFill>
            <a:prstDash val="solid"/>
            <a:round/>
            <a:headEnd/>
            <a:tailEnd/>
          </a:ln>
          <a:effectLst/>
        </p:spPr>
        <p:txBody>
          <a:bodyPr/>
          <a:lstStyle/>
          <a:p>
            <a:endParaRPr lang="zh-CN" altLang="en-US"/>
          </a:p>
        </p:txBody>
      </p:sp>
      <p:sp>
        <p:nvSpPr>
          <p:cNvPr id="64623" name="Freeform 1135"/>
          <p:cNvSpPr>
            <a:spLocks noChangeAspect="1"/>
          </p:cNvSpPr>
          <p:nvPr/>
        </p:nvSpPr>
        <p:spPr bwMode="auto">
          <a:xfrm>
            <a:off x="5405438" y="2998788"/>
            <a:ext cx="647700" cy="460375"/>
          </a:xfrm>
          <a:custGeom>
            <a:avLst/>
            <a:gdLst/>
            <a:ahLst/>
            <a:cxnLst>
              <a:cxn ang="0">
                <a:pos x="0" y="799"/>
              </a:cxn>
              <a:cxn ang="0">
                <a:pos x="0" y="472"/>
              </a:cxn>
              <a:cxn ang="0">
                <a:pos x="959" y="0"/>
              </a:cxn>
              <a:cxn ang="0">
                <a:pos x="959" y="315"/>
              </a:cxn>
              <a:cxn ang="0">
                <a:pos x="0" y="799"/>
              </a:cxn>
            </a:cxnLst>
            <a:rect l="0" t="0" r="r" b="b"/>
            <a:pathLst>
              <a:path w="960" h="800">
                <a:moveTo>
                  <a:pt x="0" y="799"/>
                </a:moveTo>
                <a:lnTo>
                  <a:pt x="0" y="472"/>
                </a:lnTo>
                <a:lnTo>
                  <a:pt x="959" y="0"/>
                </a:lnTo>
                <a:lnTo>
                  <a:pt x="959" y="315"/>
                </a:lnTo>
                <a:lnTo>
                  <a:pt x="0" y="799"/>
                </a:lnTo>
              </a:path>
            </a:pathLst>
          </a:custGeom>
          <a:solidFill>
            <a:srgbClr val="FFFFFF"/>
          </a:solidFill>
          <a:ln w="9525" cap="rnd">
            <a:noFill/>
            <a:round/>
            <a:headEnd/>
            <a:tailEnd/>
          </a:ln>
          <a:effectLst/>
        </p:spPr>
        <p:txBody>
          <a:bodyPr/>
          <a:lstStyle/>
          <a:p>
            <a:endParaRPr lang="zh-CN" altLang="en-US"/>
          </a:p>
        </p:txBody>
      </p:sp>
      <p:sp>
        <p:nvSpPr>
          <p:cNvPr id="64624" name="Freeform 1136"/>
          <p:cNvSpPr>
            <a:spLocks noChangeAspect="1"/>
          </p:cNvSpPr>
          <p:nvPr/>
        </p:nvSpPr>
        <p:spPr bwMode="auto">
          <a:xfrm>
            <a:off x="5410200" y="3003550"/>
            <a:ext cx="652463" cy="463550"/>
          </a:xfrm>
          <a:custGeom>
            <a:avLst/>
            <a:gdLst/>
            <a:ahLst/>
            <a:cxnLst>
              <a:cxn ang="0">
                <a:pos x="0" y="806"/>
              </a:cxn>
              <a:cxn ang="0">
                <a:pos x="0" y="476"/>
              </a:cxn>
              <a:cxn ang="0">
                <a:pos x="967" y="0"/>
              </a:cxn>
              <a:cxn ang="0">
                <a:pos x="967" y="318"/>
              </a:cxn>
              <a:cxn ang="0">
                <a:pos x="0" y="806"/>
              </a:cxn>
              <a:cxn ang="0">
                <a:pos x="0" y="476"/>
              </a:cxn>
              <a:cxn ang="0">
                <a:pos x="967" y="0"/>
              </a:cxn>
              <a:cxn ang="0">
                <a:pos x="967" y="318"/>
              </a:cxn>
              <a:cxn ang="0">
                <a:pos x="0" y="806"/>
              </a:cxn>
            </a:cxnLst>
            <a:rect l="0" t="0" r="r" b="b"/>
            <a:pathLst>
              <a:path w="968" h="807">
                <a:moveTo>
                  <a:pt x="0" y="806"/>
                </a:moveTo>
                <a:lnTo>
                  <a:pt x="0" y="476"/>
                </a:lnTo>
                <a:lnTo>
                  <a:pt x="967" y="0"/>
                </a:lnTo>
                <a:lnTo>
                  <a:pt x="967" y="318"/>
                </a:lnTo>
                <a:lnTo>
                  <a:pt x="0" y="806"/>
                </a:lnTo>
                <a:lnTo>
                  <a:pt x="0" y="476"/>
                </a:lnTo>
                <a:lnTo>
                  <a:pt x="967" y="0"/>
                </a:lnTo>
                <a:lnTo>
                  <a:pt x="967" y="318"/>
                </a:lnTo>
                <a:lnTo>
                  <a:pt x="0" y="806"/>
                </a:lnTo>
              </a:path>
            </a:pathLst>
          </a:custGeom>
          <a:noFill/>
          <a:ln w="25400" cap="rnd" cmpd="sng">
            <a:solidFill>
              <a:srgbClr val="000000"/>
            </a:solidFill>
            <a:prstDash val="solid"/>
            <a:round/>
            <a:headEnd/>
            <a:tailEnd/>
          </a:ln>
          <a:effectLst/>
        </p:spPr>
        <p:txBody>
          <a:bodyPr/>
          <a:lstStyle/>
          <a:p>
            <a:endParaRPr lang="zh-CN" altLang="en-US"/>
          </a:p>
        </p:txBody>
      </p:sp>
      <p:sp>
        <p:nvSpPr>
          <p:cNvPr id="64625" name="Freeform 1137"/>
          <p:cNvSpPr>
            <a:spLocks noChangeAspect="1"/>
          </p:cNvSpPr>
          <p:nvPr/>
        </p:nvSpPr>
        <p:spPr bwMode="auto">
          <a:xfrm>
            <a:off x="4976813" y="2627313"/>
            <a:ext cx="1076325" cy="642937"/>
          </a:xfrm>
          <a:custGeom>
            <a:avLst/>
            <a:gdLst/>
            <a:ahLst/>
            <a:cxnLst>
              <a:cxn ang="0">
                <a:pos x="634" y="1116"/>
              </a:cxn>
              <a:cxn ang="0">
                <a:pos x="1596" y="643"/>
              </a:cxn>
              <a:cxn ang="0">
                <a:pos x="962" y="0"/>
              </a:cxn>
              <a:cxn ang="0">
                <a:pos x="0" y="485"/>
              </a:cxn>
              <a:cxn ang="0">
                <a:pos x="80" y="563"/>
              </a:cxn>
              <a:cxn ang="0">
                <a:pos x="465" y="372"/>
              </a:cxn>
              <a:cxn ang="0">
                <a:pos x="939" y="846"/>
              </a:cxn>
              <a:cxn ang="0">
                <a:pos x="555" y="1037"/>
              </a:cxn>
              <a:cxn ang="0">
                <a:pos x="634" y="1116"/>
              </a:cxn>
            </a:cxnLst>
            <a:rect l="0" t="0" r="r" b="b"/>
            <a:pathLst>
              <a:path w="1597" h="1117">
                <a:moveTo>
                  <a:pt x="634" y="1116"/>
                </a:moveTo>
                <a:lnTo>
                  <a:pt x="1596" y="643"/>
                </a:lnTo>
                <a:lnTo>
                  <a:pt x="962" y="0"/>
                </a:lnTo>
                <a:lnTo>
                  <a:pt x="0" y="485"/>
                </a:lnTo>
                <a:lnTo>
                  <a:pt x="80" y="563"/>
                </a:lnTo>
                <a:lnTo>
                  <a:pt x="465" y="372"/>
                </a:lnTo>
                <a:lnTo>
                  <a:pt x="939" y="846"/>
                </a:lnTo>
                <a:lnTo>
                  <a:pt x="555" y="1037"/>
                </a:lnTo>
                <a:lnTo>
                  <a:pt x="634" y="1116"/>
                </a:lnTo>
              </a:path>
            </a:pathLst>
          </a:custGeom>
          <a:solidFill>
            <a:srgbClr val="FFFFFF"/>
          </a:solidFill>
          <a:ln w="9525" cap="rnd">
            <a:noFill/>
            <a:round/>
            <a:headEnd/>
            <a:tailEnd/>
          </a:ln>
          <a:effectLst/>
        </p:spPr>
        <p:txBody>
          <a:bodyPr/>
          <a:lstStyle/>
          <a:p>
            <a:endParaRPr lang="zh-CN" altLang="en-US"/>
          </a:p>
        </p:txBody>
      </p:sp>
      <p:sp>
        <p:nvSpPr>
          <p:cNvPr id="64626" name="Freeform 1138"/>
          <p:cNvSpPr>
            <a:spLocks noChangeAspect="1"/>
          </p:cNvSpPr>
          <p:nvPr/>
        </p:nvSpPr>
        <p:spPr bwMode="auto">
          <a:xfrm>
            <a:off x="4981575" y="2630488"/>
            <a:ext cx="1081088" cy="646112"/>
          </a:xfrm>
          <a:custGeom>
            <a:avLst/>
            <a:gdLst/>
            <a:ahLst/>
            <a:cxnLst>
              <a:cxn ang="0">
                <a:pos x="637" y="1122"/>
              </a:cxn>
              <a:cxn ang="0">
                <a:pos x="1603" y="646"/>
              </a:cxn>
              <a:cxn ang="0">
                <a:pos x="966" y="0"/>
              </a:cxn>
              <a:cxn ang="0">
                <a:pos x="0" y="488"/>
              </a:cxn>
              <a:cxn ang="0">
                <a:pos x="80" y="567"/>
              </a:cxn>
              <a:cxn ang="0">
                <a:pos x="467" y="374"/>
              </a:cxn>
              <a:cxn ang="0">
                <a:pos x="943" y="850"/>
              </a:cxn>
              <a:cxn ang="0">
                <a:pos x="558" y="1043"/>
              </a:cxn>
              <a:cxn ang="0">
                <a:pos x="637" y="1122"/>
              </a:cxn>
              <a:cxn ang="0">
                <a:pos x="1603" y="646"/>
              </a:cxn>
              <a:cxn ang="0">
                <a:pos x="966" y="0"/>
              </a:cxn>
              <a:cxn ang="0">
                <a:pos x="0" y="488"/>
              </a:cxn>
              <a:cxn ang="0">
                <a:pos x="80" y="567"/>
              </a:cxn>
              <a:cxn ang="0">
                <a:pos x="467" y="374"/>
              </a:cxn>
              <a:cxn ang="0">
                <a:pos x="943" y="850"/>
              </a:cxn>
              <a:cxn ang="0">
                <a:pos x="558" y="1043"/>
              </a:cxn>
              <a:cxn ang="0">
                <a:pos x="637" y="1122"/>
              </a:cxn>
            </a:cxnLst>
            <a:rect l="0" t="0" r="r" b="b"/>
            <a:pathLst>
              <a:path w="1604" h="1123">
                <a:moveTo>
                  <a:pt x="637" y="1122"/>
                </a:moveTo>
                <a:lnTo>
                  <a:pt x="1603" y="646"/>
                </a:lnTo>
                <a:lnTo>
                  <a:pt x="966" y="0"/>
                </a:lnTo>
                <a:lnTo>
                  <a:pt x="0" y="488"/>
                </a:lnTo>
                <a:lnTo>
                  <a:pt x="80" y="567"/>
                </a:lnTo>
                <a:lnTo>
                  <a:pt x="467" y="374"/>
                </a:lnTo>
                <a:lnTo>
                  <a:pt x="943" y="850"/>
                </a:lnTo>
                <a:lnTo>
                  <a:pt x="558" y="1043"/>
                </a:lnTo>
                <a:lnTo>
                  <a:pt x="637" y="1122"/>
                </a:lnTo>
                <a:lnTo>
                  <a:pt x="1603" y="646"/>
                </a:lnTo>
                <a:lnTo>
                  <a:pt x="966" y="0"/>
                </a:lnTo>
                <a:lnTo>
                  <a:pt x="0" y="488"/>
                </a:lnTo>
                <a:lnTo>
                  <a:pt x="80" y="567"/>
                </a:lnTo>
                <a:lnTo>
                  <a:pt x="467" y="374"/>
                </a:lnTo>
                <a:lnTo>
                  <a:pt x="943" y="850"/>
                </a:lnTo>
                <a:lnTo>
                  <a:pt x="558" y="1043"/>
                </a:lnTo>
                <a:lnTo>
                  <a:pt x="637" y="1122"/>
                </a:lnTo>
              </a:path>
            </a:pathLst>
          </a:custGeom>
          <a:noFill/>
          <a:ln w="25400" cap="rnd" cmpd="sng">
            <a:solidFill>
              <a:srgbClr val="000000"/>
            </a:solidFill>
            <a:prstDash val="solid"/>
            <a:round/>
            <a:headEnd/>
            <a:tailEnd/>
          </a:ln>
          <a:effectLst/>
        </p:spPr>
        <p:txBody>
          <a:bodyPr/>
          <a:lstStyle/>
          <a:p>
            <a:endParaRPr lang="zh-CN" altLang="en-US"/>
          </a:p>
        </p:txBody>
      </p:sp>
      <p:sp>
        <p:nvSpPr>
          <p:cNvPr id="64627" name="Line 1139"/>
          <p:cNvSpPr>
            <a:spLocks noChangeAspect="1" noChangeShapeType="1"/>
          </p:cNvSpPr>
          <p:nvPr/>
        </p:nvSpPr>
        <p:spPr bwMode="auto">
          <a:xfrm flipV="1">
            <a:off x="5030788" y="2998788"/>
            <a:ext cx="22225" cy="12700"/>
          </a:xfrm>
          <a:prstGeom prst="line">
            <a:avLst/>
          </a:prstGeom>
          <a:noFill/>
          <a:ln w="25400">
            <a:solidFill>
              <a:srgbClr val="000000"/>
            </a:solidFill>
            <a:round/>
            <a:headEnd type="none" w="sm" len="sm"/>
            <a:tailEnd type="none" w="sm" len="sm"/>
          </a:ln>
          <a:effectLst/>
        </p:spPr>
        <p:txBody>
          <a:bodyPr wrap="none" anchor="ctr"/>
          <a:lstStyle/>
          <a:p>
            <a:endParaRPr lang="zh-CN" altLang="en-US"/>
          </a:p>
        </p:txBody>
      </p:sp>
      <p:sp>
        <p:nvSpPr>
          <p:cNvPr id="64628" name="Freeform 1140"/>
          <p:cNvSpPr>
            <a:spLocks noChangeAspect="1"/>
          </p:cNvSpPr>
          <p:nvPr/>
        </p:nvSpPr>
        <p:spPr bwMode="auto">
          <a:xfrm>
            <a:off x="4960938" y="3109913"/>
            <a:ext cx="327025" cy="349250"/>
          </a:xfrm>
          <a:custGeom>
            <a:avLst/>
            <a:gdLst/>
            <a:ahLst/>
            <a:cxnLst>
              <a:cxn ang="0">
                <a:pos x="0" y="0"/>
              </a:cxn>
              <a:cxn ang="0">
                <a:pos x="483" y="471"/>
              </a:cxn>
              <a:cxn ang="0">
                <a:pos x="483" y="606"/>
              </a:cxn>
              <a:cxn ang="0">
                <a:pos x="0" y="124"/>
              </a:cxn>
              <a:cxn ang="0">
                <a:pos x="0" y="0"/>
              </a:cxn>
            </a:cxnLst>
            <a:rect l="0" t="0" r="r" b="b"/>
            <a:pathLst>
              <a:path w="484" h="607">
                <a:moveTo>
                  <a:pt x="0" y="0"/>
                </a:moveTo>
                <a:lnTo>
                  <a:pt x="483" y="471"/>
                </a:lnTo>
                <a:lnTo>
                  <a:pt x="483" y="606"/>
                </a:lnTo>
                <a:lnTo>
                  <a:pt x="0" y="124"/>
                </a:lnTo>
                <a:lnTo>
                  <a:pt x="0" y="0"/>
                </a:lnTo>
              </a:path>
            </a:pathLst>
          </a:custGeom>
          <a:solidFill>
            <a:srgbClr val="FFFFFF"/>
          </a:solidFill>
          <a:ln w="9525" cap="rnd">
            <a:noFill/>
            <a:round/>
            <a:headEnd/>
            <a:tailEnd/>
          </a:ln>
          <a:effectLst/>
        </p:spPr>
        <p:txBody>
          <a:bodyPr/>
          <a:lstStyle/>
          <a:p>
            <a:endParaRPr lang="zh-CN" altLang="en-US"/>
          </a:p>
        </p:txBody>
      </p:sp>
      <p:sp>
        <p:nvSpPr>
          <p:cNvPr id="64629" name="Freeform 1141"/>
          <p:cNvSpPr>
            <a:spLocks noChangeAspect="1"/>
          </p:cNvSpPr>
          <p:nvPr/>
        </p:nvSpPr>
        <p:spPr bwMode="auto">
          <a:xfrm>
            <a:off x="4965700" y="3114675"/>
            <a:ext cx="330200" cy="352425"/>
          </a:xfrm>
          <a:custGeom>
            <a:avLst/>
            <a:gdLst/>
            <a:ahLst/>
            <a:cxnLst>
              <a:cxn ang="0">
                <a:pos x="0" y="0"/>
              </a:cxn>
              <a:cxn ang="0">
                <a:pos x="489" y="476"/>
              </a:cxn>
              <a:cxn ang="0">
                <a:pos x="489" y="613"/>
              </a:cxn>
              <a:cxn ang="0">
                <a:pos x="0" y="125"/>
              </a:cxn>
              <a:cxn ang="0">
                <a:pos x="0" y="0"/>
              </a:cxn>
              <a:cxn ang="0">
                <a:pos x="489" y="476"/>
              </a:cxn>
              <a:cxn ang="0">
                <a:pos x="489" y="613"/>
              </a:cxn>
              <a:cxn ang="0">
                <a:pos x="0" y="125"/>
              </a:cxn>
              <a:cxn ang="0">
                <a:pos x="0" y="0"/>
              </a:cxn>
            </a:cxnLst>
            <a:rect l="0" t="0" r="r" b="b"/>
            <a:pathLst>
              <a:path w="490" h="614">
                <a:moveTo>
                  <a:pt x="0" y="0"/>
                </a:moveTo>
                <a:lnTo>
                  <a:pt x="489" y="476"/>
                </a:lnTo>
                <a:lnTo>
                  <a:pt x="489" y="613"/>
                </a:lnTo>
                <a:lnTo>
                  <a:pt x="0" y="125"/>
                </a:lnTo>
                <a:lnTo>
                  <a:pt x="0" y="0"/>
                </a:lnTo>
                <a:lnTo>
                  <a:pt x="489" y="476"/>
                </a:lnTo>
                <a:lnTo>
                  <a:pt x="489" y="613"/>
                </a:lnTo>
                <a:lnTo>
                  <a:pt x="0" y="125"/>
                </a:lnTo>
                <a:lnTo>
                  <a:pt x="0" y="0"/>
                </a:lnTo>
              </a:path>
            </a:pathLst>
          </a:custGeom>
          <a:noFill/>
          <a:ln w="25400" cap="rnd" cmpd="sng">
            <a:solidFill>
              <a:srgbClr val="000000"/>
            </a:solidFill>
            <a:prstDash val="solid"/>
            <a:round/>
            <a:headEnd/>
            <a:tailEnd/>
          </a:ln>
          <a:effectLst/>
        </p:spPr>
        <p:txBody>
          <a:bodyPr/>
          <a:lstStyle/>
          <a:p>
            <a:endParaRPr lang="zh-CN" altLang="en-US"/>
          </a:p>
        </p:txBody>
      </p:sp>
      <p:sp>
        <p:nvSpPr>
          <p:cNvPr id="64630" name="Freeform 1142"/>
          <p:cNvSpPr>
            <a:spLocks noChangeAspect="1"/>
          </p:cNvSpPr>
          <p:nvPr/>
        </p:nvSpPr>
        <p:spPr bwMode="auto">
          <a:xfrm>
            <a:off x="4960938" y="3090863"/>
            <a:ext cx="363537" cy="290512"/>
          </a:xfrm>
          <a:custGeom>
            <a:avLst/>
            <a:gdLst/>
            <a:ahLst/>
            <a:cxnLst>
              <a:cxn ang="0">
                <a:pos x="0" y="34"/>
              </a:cxn>
              <a:cxn ang="0">
                <a:pos x="68" y="0"/>
              </a:cxn>
              <a:cxn ang="0">
                <a:pos x="539" y="469"/>
              </a:cxn>
              <a:cxn ang="0">
                <a:pos x="484" y="503"/>
              </a:cxn>
              <a:cxn ang="0">
                <a:pos x="0" y="34"/>
              </a:cxn>
            </a:cxnLst>
            <a:rect l="0" t="0" r="r" b="b"/>
            <a:pathLst>
              <a:path w="540" h="504">
                <a:moveTo>
                  <a:pt x="0" y="34"/>
                </a:moveTo>
                <a:lnTo>
                  <a:pt x="68" y="0"/>
                </a:lnTo>
                <a:lnTo>
                  <a:pt x="539" y="469"/>
                </a:lnTo>
                <a:lnTo>
                  <a:pt x="484" y="503"/>
                </a:lnTo>
                <a:lnTo>
                  <a:pt x="0" y="34"/>
                </a:lnTo>
              </a:path>
            </a:pathLst>
          </a:custGeom>
          <a:solidFill>
            <a:srgbClr val="FFFFFF"/>
          </a:solidFill>
          <a:ln w="9525" cap="rnd">
            <a:noFill/>
            <a:round/>
            <a:headEnd/>
            <a:tailEnd/>
          </a:ln>
          <a:effectLst/>
        </p:spPr>
        <p:txBody>
          <a:bodyPr/>
          <a:lstStyle/>
          <a:p>
            <a:endParaRPr lang="zh-CN" altLang="en-US"/>
          </a:p>
        </p:txBody>
      </p:sp>
      <p:sp>
        <p:nvSpPr>
          <p:cNvPr id="64631" name="Freeform 1143"/>
          <p:cNvSpPr>
            <a:spLocks noChangeAspect="1"/>
          </p:cNvSpPr>
          <p:nvPr/>
        </p:nvSpPr>
        <p:spPr bwMode="auto">
          <a:xfrm>
            <a:off x="4965700" y="3094038"/>
            <a:ext cx="368300" cy="293687"/>
          </a:xfrm>
          <a:custGeom>
            <a:avLst/>
            <a:gdLst/>
            <a:ahLst/>
            <a:cxnLst>
              <a:cxn ang="0">
                <a:pos x="0" y="34"/>
              </a:cxn>
              <a:cxn ang="0">
                <a:pos x="69" y="0"/>
              </a:cxn>
              <a:cxn ang="0">
                <a:pos x="546" y="476"/>
              </a:cxn>
              <a:cxn ang="0">
                <a:pos x="490" y="510"/>
              </a:cxn>
              <a:cxn ang="0">
                <a:pos x="0" y="34"/>
              </a:cxn>
              <a:cxn ang="0">
                <a:pos x="69" y="0"/>
              </a:cxn>
              <a:cxn ang="0">
                <a:pos x="546" y="476"/>
              </a:cxn>
              <a:cxn ang="0">
                <a:pos x="490" y="510"/>
              </a:cxn>
              <a:cxn ang="0">
                <a:pos x="0" y="34"/>
              </a:cxn>
            </a:cxnLst>
            <a:rect l="0" t="0" r="r" b="b"/>
            <a:pathLst>
              <a:path w="547" h="511">
                <a:moveTo>
                  <a:pt x="0" y="34"/>
                </a:moveTo>
                <a:lnTo>
                  <a:pt x="69" y="0"/>
                </a:lnTo>
                <a:lnTo>
                  <a:pt x="546" y="476"/>
                </a:lnTo>
                <a:lnTo>
                  <a:pt x="490" y="510"/>
                </a:lnTo>
                <a:lnTo>
                  <a:pt x="0" y="34"/>
                </a:lnTo>
                <a:lnTo>
                  <a:pt x="69" y="0"/>
                </a:lnTo>
                <a:lnTo>
                  <a:pt x="546" y="476"/>
                </a:lnTo>
                <a:lnTo>
                  <a:pt x="490" y="510"/>
                </a:lnTo>
                <a:lnTo>
                  <a:pt x="0" y="34"/>
                </a:lnTo>
              </a:path>
            </a:pathLst>
          </a:custGeom>
          <a:noFill/>
          <a:ln w="25400" cap="rnd" cmpd="sng">
            <a:solidFill>
              <a:srgbClr val="000000"/>
            </a:solidFill>
            <a:prstDash val="solid"/>
            <a:round/>
            <a:headEnd/>
            <a:tailEnd/>
          </a:ln>
          <a:effectLst/>
        </p:spPr>
        <p:txBody>
          <a:bodyPr/>
          <a:lstStyle/>
          <a:p>
            <a:endParaRPr lang="zh-CN" altLang="en-US"/>
          </a:p>
        </p:txBody>
      </p:sp>
      <p:sp>
        <p:nvSpPr>
          <p:cNvPr id="64632" name="Freeform 1144"/>
          <p:cNvSpPr>
            <a:spLocks noChangeAspect="1"/>
          </p:cNvSpPr>
          <p:nvPr/>
        </p:nvSpPr>
        <p:spPr bwMode="auto">
          <a:xfrm>
            <a:off x="5291138" y="3365500"/>
            <a:ext cx="73025" cy="93663"/>
          </a:xfrm>
          <a:custGeom>
            <a:avLst/>
            <a:gdLst/>
            <a:ahLst/>
            <a:cxnLst>
              <a:cxn ang="0">
                <a:pos x="0" y="33"/>
              </a:cxn>
              <a:cxn ang="0">
                <a:pos x="53" y="0"/>
              </a:cxn>
              <a:cxn ang="0">
                <a:pos x="53" y="55"/>
              </a:cxn>
              <a:cxn ang="0">
                <a:pos x="106" y="99"/>
              </a:cxn>
              <a:cxn ang="0">
                <a:pos x="0" y="164"/>
              </a:cxn>
              <a:cxn ang="0">
                <a:pos x="0" y="33"/>
              </a:cxn>
            </a:cxnLst>
            <a:rect l="0" t="0" r="r" b="b"/>
            <a:pathLst>
              <a:path w="107" h="165">
                <a:moveTo>
                  <a:pt x="0" y="33"/>
                </a:moveTo>
                <a:lnTo>
                  <a:pt x="53" y="0"/>
                </a:lnTo>
                <a:lnTo>
                  <a:pt x="53" y="55"/>
                </a:lnTo>
                <a:lnTo>
                  <a:pt x="106" y="99"/>
                </a:lnTo>
                <a:lnTo>
                  <a:pt x="0" y="164"/>
                </a:lnTo>
                <a:lnTo>
                  <a:pt x="0" y="33"/>
                </a:lnTo>
              </a:path>
            </a:pathLst>
          </a:custGeom>
          <a:solidFill>
            <a:srgbClr val="FFFFFF"/>
          </a:solidFill>
          <a:ln w="9525" cap="rnd">
            <a:noFill/>
            <a:round/>
            <a:headEnd/>
            <a:tailEnd/>
          </a:ln>
          <a:effectLst/>
        </p:spPr>
        <p:txBody>
          <a:bodyPr/>
          <a:lstStyle/>
          <a:p>
            <a:endParaRPr lang="zh-CN" altLang="en-US"/>
          </a:p>
        </p:txBody>
      </p:sp>
      <p:sp>
        <p:nvSpPr>
          <p:cNvPr id="64633" name="Freeform 1145"/>
          <p:cNvSpPr>
            <a:spLocks noChangeAspect="1"/>
          </p:cNvSpPr>
          <p:nvPr/>
        </p:nvSpPr>
        <p:spPr bwMode="auto">
          <a:xfrm>
            <a:off x="5295900" y="3368675"/>
            <a:ext cx="76200" cy="98425"/>
          </a:xfrm>
          <a:custGeom>
            <a:avLst/>
            <a:gdLst/>
            <a:ahLst/>
            <a:cxnLst>
              <a:cxn ang="0">
                <a:pos x="0" y="34"/>
              </a:cxn>
              <a:cxn ang="0">
                <a:pos x="56" y="0"/>
              </a:cxn>
              <a:cxn ang="0">
                <a:pos x="56" y="57"/>
              </a:cxn>
              <a:cxn ang="0">
                <a:pos x="113" y="103"/>
              </a:cxn>
              <a:cxn ang="0">
                <a:pos x="0" y="171"/>
              </a:cxn>
              <a:cxn ang="0">
                <a:pos x="0" y="34"/>
              </a:cxn>
              <a:cxn ang="0">
                <a:pos x="56" y="0"/>
              </a:cxn>
              <a:cxn ang="0">
                <a:pos x="56" y="57"/>
              </a:cxn>
              <a:cxn ang="0">
                <a:pos x="113" y="103"/>
              </a:cxn>
              <a:cxn ang="0">
                <a:pos x="0" y="171"/>
              </a:cxn>
              <a:cxn ang="0">
                <a:pos x="0" y="34"/>
              </a:cxn>
            </a:cxnLst>
            <a:rect l="0" t="0" r="r" b="b"/>
            <a:pathLst>
              <a:path w="114" h="172">
                <a:moveTo>
                  <a:pt x="0" y="34"/>
                </a:moveTo>
                <a:lnTo>
                  <a:pt x="56" y="0"/>
                </a:lnTo>
                <a:lnTo>
                  <a:pt x="56" y="57"/>
                </a:lnTo>
                <a:lnTo>
                  <a:pt x="113" y="103"/>
                </a:lnTo>
                <a:lnTo>
                  <a:pt x="0" y="171"/>
                </a:lnTo>
                <a:lnTo>
                  <a:pt x="0" y="34"/>
                </a:lnTo>
                <a:lnTo>
                  <a:pt x="56" y="0"/>
                </a:lnTo>
                <a:lnTo>
                  <a:pt x="56" y="57"/>
                </a:lnTo>
                <a:lnTo>
                  <a:pt x="113" y="103"/>
                </a:lnTo>
                <a:lnTo>
                  <a:pt x="0" y="171"/>
                </a:lnTo>
                <a:lnTo>
                  <a:pt x="0" y="34"/>
                </a:lnTo>
              </a:path>
            </a:pathLst>
          </a:custGeom>
          <a:noFill/>
          <a:ln w="25400" cap="rnd" cmpd="sng">
            <a:solidFill>
              <a:srgbClr val="000000"/>
            </a:solidFill>
            <a:prstDash val="solid"/>
            <a:round/>
            <a:headEnd/>
            <a:tailEnd/>
          </a:ln>
          <a:effectLst/>
        </p:spPr>
        <p:txBody>
          <a:bodyPr/>
          <a:lstStyle/>
          <a:p>
            <a:endParaRPr lang="zh-CN" altLang="en-US"/>
          </a:p>
        </p:txBody>
      </p:sp>
      <p:sp>
        <p:nvSpPr>
          <p:cNvPr id="64634" name="Arc 1146"/>
          <p:cNvSpPr>
            <a:spLocks noChangeAspect="1"/>
          </p:cNvSpPr>
          <p:nvPr/>
        </p:nvSpPr>
        <p:spPr bwMode="auto">
          <a:xfrm>
            <a:off x="5751513" y="2608263"/>
            <a:ext cx="709612" cy="125412"/>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635" name="Arc 1147"/>
          <p:cNvSpPr>
            <a:spLocks noChangeAspect="1"/>
          </p:cNvSpPr>
          <p:nvPr/>
        </p:nvSpPr>
        <p:spPr bwMode="auto">
          <a:xfrm>
            <a:off x="5773738" y="2627313"/>
            <a:ext cx="711200" cy="125412"/>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636" name="Arc 1148"/>
          <p:cNvSpPr>
            <a:spLocks noChangeAspect="1"/>
          </p:cNvSpPr>
          <p:nvPr/>
        </p:nvSpPr>
        <p:spPr bwMode="auto">
          <a:xfrm>
            <a:off x="5919788" y="2744788"/>
            <a:ext cx="709612" cy="125412"/>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637" name="Arc 1149"/>
          <p:cNvSpPr>
            <a:spLocks noChangeAspect="1"/>
          </p:cNvSpPr>
          <p:nvPr/>
        </p:nvSpPr>
        <p:spPr bwMode="auto">
          <a:xfrm>
            <a:off x="5935663" y="2765425"/>
            <a:ext cx="709612" cy="125413"/>
          </a:xfrm>
          <a:custGeom>
            <a:avLst/>
            <a:gdLst>
              <a:gd name="G0" fmla="+- 21600 0 0"/>
              <a:gd name="G1" fmla="+- 21600 0 0"/>
              <a:gd name="G2" fmla="+- 21600 0 0"/>
              <a:gd name="T0" fmla="*/ 0 w 21600"/>
              <a:gd name="T1" fmla="*/ 21600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638" name="Arc 1150"/>
          <p:cNvSpPr>
            <a:spLocks noChangeAspect="1"/>
          </p:cNvSpPr>
          <p:nvPr/>
        </p:nvSpPr>
        <p:spPr bwMode="auto">
          <a:xfrm>
            <a:off x="5949950" y="2778125"/>
            <a:ext cx="711200" cy="125413"/>
          </a:xfrm>
          <a:custGeom>
            <a:avLst/>
            <a:gdLst>
              <a:gd name="G0" fmla="+- 21600 0 0"/>
              <a:gd name="G1" fmla="+- 21600 0 0"/>
              <a:gd name="G2" fmla="+- 21600 0 0"/>
              <a:gd name="T0" fmla="*/ 0 w 21600"/>
              <a:gd name="T1" fmla="*/ 21501 h 21600"/>
              <a:gd name="T2" fmla="*/ 2158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01"/>
                </a:moveTo>
                <a:cubicBezTo>
                  <a:pt x="54" y="9618"/>
                  <a:pt x="9697" y="11"/>
                  <a:pt x="21580" y="0"/>
                </a:cubicBezTo>
              </a:path>
              <a:path w="21600" h="21600" stroke="0" extrusionOk="0">
                <a:moveTo>
                  <a:pt x="0" y="21501"/>
                </a:moveTo>
                <a:cubicBezTo>
                  <a:pt x="54" y="9618"/>
                  <a:pt x="9697" y="11"/>
                  <a:pt x="21580" y="0"/>
                </a:cubicBezTo>
                <a:lnTo>
                  <a:pt x="21600" y="21600"/>
                </a:lnTo>
                <a:close/>
              </a:path>
            </a:pathLst>
          </a:custGeom>
          <a:noFill/>
          <a:ln w="25400" cap="rnd">
            <a:solidFill>
              <a:schemeClr val="tx1"/>
            </a:solidFill>
            <a:round/>
            <a:headEnd type="none" w="sm" len="sm"/>
            <a:tailEnd type="none" w="sm" len="sm"/>
          </a:ln>
          <a:effectLst/>
        </p:spPr>
        <p:txBody>
          <a:bodyPr wrap="none" anchor="ctr"/>
          <a:lstStyle/>
          <a:p>
            <a:endParaRPr lang="zh-CN" altLang="en-US"/>
          </a:p>
        </p:txBody>
      </p:sp>
      <p:sp>
        <p:nvSpPr>
          <p:cNvPr id="64639" name="Line 1151"/>
          <p:cNvSpPr>
            <a:spLocks noChangeAspect="1" noChangeShapeType="1"/>
          </p:cNvSpPr>
          <p:nvPr/>
        </p:nvSpPr>
        <p:spPr bwMode="auto">
          <a:xfrm flipH="1">
            <a:off x="5616575" y="2946400"/>
            <a:ext cx="387350" cy="168275"/>
          </a:xfrm>
          <a:prstGeom prst="line">
            <a:avLst/>
          </a:prstGeom>
          <a:noFill/>
          <a:ln w="76200">
            <a:pattFill prst="lgGrid">
              <a:fgClr>
                <a:srgbClr val="FF9900"/>
              </a:fgClr>
              <a:bgClr>
                <a:srgbClr val="FFFFFF"/>
              </a:bgClr>
            </a:pattFill>
            <a:round/>
            <a:headEnd type="none" w="sm" len="sm"/>
            <a:tailEnd type="none" w="sm" len="sm"/>
          </a:ln>
          <a:effectLst/>
        </p:spPr>
        <p:txBody>
          <a:bodyPr wrap="none" anchor="ctr"/>
          <a:lstStyle/>
          <a:p>
            <a:endParaRPr lang="zh-CN" altLang="en-US"/>
          </a:p>
        </p:txBody>
      </p:sp>
      <p:sp>
        <p:nvSpPr>
          <p:cNvPr id="64640" name="Line 1152"/>
          <p:cNvSpPr>
            <a:spLocks noChangeAspect="1" noChangeShapeType="1"/>
          </p:cNvSpPr>
          <p:nvPr/>
        </p:nvSpPr>
        <p:spPr bwMode="auto">
          <a:xfrm flipH="1">
            <a:off x="5562600" y="2913063"/>
            <a:ext cx="387350" cy="168275"/>
          </a:xfrm>
          <a:prstGeom prst="line">
            <a:avLst/>
          </a:prstGeom>
          <a:noFill/>
          <a:ln w="76200">
            <a:solidFill>
              <a:schemeClr val="accent1"/>
            </a:solidFill>
            <a:round/>
            <a:headEnd type="none" w="sm" len="sm"/>
            <a:tailEnd type="none" w="sm" len="sm"/>
          </a:ln>
          <a:effectLst/>
        </p:spPr>
        <p:txBody>
          <a:bodyPr wrap="none" anchor="ctr"/>
          <a:lstStyle/>
          <a:p>
            <a:endParaRPr lang="zh-CN" altLang="en-US"/>
          </a:p>
        </p:txBody>
      </p:sp>
      <p:sp>
        <p:nvSpPr>
          <p:cNvPr id="64641" name="Line 1153"/>
          <p:cNvSpPr>
            <a:spLocks noChangeAspect="1" noChangeShapeType="1"/>
          </p:cNvSpPr>
          <p:nvPr/>
        </p:nvSpPr>
        <p:spPr bwMode="auto">
          <a:xfrm flipH="1">
            <a:off x="5524500" y="2873375"/>
            <a:ext cx="387350" cy="168275"/>
          </a:xfrm>
          <a:prstGeom prst="line">
            <a:avLst/>
          </a:prstGeom>
          <a:noFill/>
          <a:ln w="76200">
            <a:pattFill prst="lgGrid">
              <a:fgClr>
                <a:srgbClr val="33CC33"/>
              </a:fgClr>
              <a:bgClr>
                <a:srgbClr val="FFFFFF"/>
              </a:bgClr>
            </a:pattFill>
            <a:round/>
            <a:headEnd type="none" w="sm" len="sm"/>
            <a:tailEnd type="none" w="sm" len="sm"/>
          </a:ln>
          <a:effectLst/>
        </p:spPr>
        <p:txBody>
          <a:bodyPr wrap="none" anchor="ctr"/>
          <a:lstStyle/>
          <a:p>
            <a:endParaRPr lang="zh-CN" altLang="en-US"/>
          </a:p>
        </p:txBody>
      </p:sp>
      <p:sp>
        <p:nvSpPr>
          <p:cNvPr id="64642" name="Line 1154"/>
          <p:cNvSpPr>
            <a:spLocks noChangeAspect="1" noChangeShapeType="1"/>
          </p:cNvSpPr>
          <p:nvPr/>
        </p:nvSpPr>
        <p:spPr bwMode="auto">
          <a:xfrm flipH="1">
            <a:off x="5486400" y="2832100"/>
            <a:ext cx="387350" cy="168275"/>
          </a:xfrm>
          <a:prstGeom prst="line">
            <a:avLst/>
          </a:prstGeom>
          <a:noFill/>
          <a:ln w="76200">
            <a:solidFill>
              <a:srgbClr val="0066FF"/>
            </a:solidFill>
            <a:round/>
            <a:headEnd type="none" w="sm" len="sm"/>
            <a:tailEnd type="none" w="sm" len="sm"/>
          </a:ln>
          <a:effectLst/>
        </p:spPr>
        <p:txBody>
          <a:bodyPr wrap="none" anchor="ctr"/>
          <a:lstStyle/>
          <a:p>
            <a:endParaRPr lang="zh-CN" altLang="en-US"/>
          </a:p>
        </p:txBody>
      </p:sp>
      <p:sp>
        <p:nvSpPr>
          <p:cNvPr id="64643" name="Line 1155"/>
          <p:cNvSpPr>
            <a:spLocks noChangeAspect="1" noChangeShapeType="1"/>
          </p:cNvSpPr>
          <p:nvPr/>
        </p:nvSpPr>
        <p:spPr bwMode="auto">
          <a:xfrm flipH="1">
            <a:off x="5440363" y="2792413"/>
            <a:ext cx="387350" cy="168275"/>
          </a:xfrm>
          <a:prstGeom prst="line">
            <a:avLst/>
          </a:prstGeom>
          <a:noFill/>
          <a:ln w="76200">
            <a:pattFill prst="lgGrid">
              <a:fgClr>
                <a:srgbClr val="0066FF"/>
              </a:fgClr>
              <a:bgClr>
                <a:srgbClr val="FFFFFF"/>
              </a:bgClr>
            </a:pattFill>
            <a:round/>
            <a:headEnd type="none" w="sm" len="sm"/>
            <a:tailEnd type="none" w="sm" len="sm"/>
          </a:ln>
          <a:effectLst/>
        </p:spPr>
        <p:txBody>
          <a:bodyPr wrap="none" anchor="ctr"/>
          <a:lstStyle/>
          <a:p>
            <a:endParaRPr lang="zh-CN" altLang="en-US"/>
          </a:p>
        </p:txBody>
      </p:sp>
      <p:sp>
        <p:nvSpPr>
          <p:cNvPr id="64644" name="Line 1156"/>
          <p:cNvSpPr>
            <a:spLocks noChangeAspect="1" noChangeShapeType="1"/>
          </p:cNvSpPr>
          <p:nvPr/>
        </p:nvSpPr>
        <p:spPr bwMode="auto">
          <a:xfrm flipH="1">
            <a:off x="5387975" y="2754313"/>
            <a:ext cx="385763" cy="168275"/>
          </a:xfrm>
          <a:prstGeom prst="line">
            <a:avLst/>
          </a:prstGeom>
          <a:noFill/>
          <a:ln w="76200">
            <a:solidFill>
              <a:schemeClr val="accent2"/>
            </a:solidFill>
            <a:round/>
            <a:headEnd type="none" w="sm" len="sm"/>
            <a:tailEnd type="none" w="sm" len="sm"/>
          </a:ln>
          <a:effectLst/>
        </p:spPr>
        <p:txBody>
          <a:bodyPr wrap="none" anchor="ctr"/>
          <a:lstStyle/>
          <a:p>
            <a:endParaRPr lang="zh-CN" altLang="en-US"/>
          </a:p>
        </p:txBody>
      </p:sp>
      <p:sp>
        <p:nvSpPr>
          <p:cNvPr id="64645" name="Line 1157"/>
          <p:cNvSpPr>
            <a:spLocks noChangeAspect="1" noChangeShapeType="1"/>
          </p:cNvSpPr>
          <p:nvPr/>
        </p:nvSpPr>
        <p:spPr bwMode="auto">
          <a:xfrm flipH="1">
            <a:off x="5334000" y="2722563"/>
            <a:ext cx="388938" cy="168275"/>
          </a:xfrm>
          <a:prstGeom prst="line">
            <a:avLst/>
          </a:prstGeom>
          <a:noFill/>
          <a:ln w="76200">
            <a:pattFill prst="lgGrid">
              <a:fgClr>
                <a:srgbClr val="996633"/>
              </a:fgClr>
              <a:bgClr>
                <a:srgbClr val="FFFFFF"/>
              </a:bgClr>
            </a:pattFill>
            <a:round/>
            <a:headEnd type="none" w="sm" len="sm"/>
            <a:tailEnd type="none" w="sm" len="sm"/>
          </a:ln>
          <a:effectLst/>
        </p:spPr>
        <p:txBody>
          <a:bodyPr wrap="none" anchor="ctr"/>
          <a:lstStyle/>
          <a:p>
            <a:endParaRPr lang="zh-CN" altLang="en-US"/>
          </a:p>
        </p:txBody>
      </p:sp>
      <p:sp>
        <p:nvSpPr>
          <p:cNvPr id="64646" name="Line 1158"/>
          <p:cNvSpPr>
            <a:spLocks noChangeAspect="1" noChangeShapeType="1"/>
          </p:cNvSpPr>
          <p:nvPr/>
        </p:nvSpPr>
        <p:spPr bwMode="auto">
          <a:xfrm flipH="1">
            <a:off x="5302250" y="2681288"/>
            <a:ext cx="387350" cy="168275"/>
          </a:xfrm>
          <a:prstGeom prst="line">
            <a:avLst/>
          </a:prstGeom>
          <a:noFill/>
          <a:ln w="76200">
            <a:solidFill>
              <a:srgbClr val="996633"/>
            </a:solidFill>
            <a:round/>
            <a:headEnd type="none" w="sm" len="sm"/>
            <a:tailEnd type="none" w="sm" len="sm"/>
          </a:ln>
          <a:effectLst/>
        </p:spPr>
        <p:txBody>
          <a:bodyPr wrap="none" anchor="ctr"/>
          <a:lstStyle/>
          <a:p>
            <a:endParaRPr lang="zh-CN" altLang="en-US"/>
          </a:p>
        </p:txBody>
      </p:sp>
      <p:sp>
        <p:nvSpPr>
          <p:cNvPr id="64647" name="Line 1159"/>
          <p:cNvSpPr>
            <a:spLocks noChangeAspect="1" noChangeShapeType="1"/>
          </p:cNvSpPr>
          <p:nvPr/>
        </p:nvSpPr>
        <p:spPr bwMode="auto">
          <a:xfrm rot="99560" flipH="1" flipV="1">
            <a:off x="5291138" y="2852738"/>
            <a:ext cx="333375" cy="263525"/>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64648" name="Line 1160"/>
          <p:cNvSpPr>
            <a:spLocks noChangeAspect="1" noChangeShapeType="1"/>
          </p:cNvSpPr>
          <p:nvPr/>
        </p:nvSpPr>
        <p:spPr bwMode="auto">
          <a:xfrm rot="99560" flipH="1" flipV="1">
            <a:off x="5680075" y="2681288"/>
            <a:ext cx="333375" cy="263525"/>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64649" name="Line 1161"/>
          <p:cNvSpPr>
            <a:spLocks noChangeShapeType="1"/>
          </p:cNvSpPr>
          <p:nvPr/>
        </p:nvSpPr>
        <p:spPr bwMode="auto">
          <a:xfrm flipV="1">
            <a:off x="6461125" y="2608263"/>
            <a:ext cx="474663" cy="0"/>
          </a:xfrm>
          <a:prstGeom prst="line">
            <a:avLst/>
          </a:prstGeom>
          <a:noFill/>
          <a:ln w="19050">
            <a:solidFill>
              <a:schemeClr val="tx1"/>
            </a:solidFill>
            <a:prstDash val="sysDot"/>
            <a:round/>
            <a:headEnd type="none" w="sm" len="sm"/>
            <a:tailEnd type="none" w="sm" len="sm"/>
          </a:ln>
          <a:effectLst/>
        </p:spPr>
        <p:txBody>
          <a:bodyPr wrap="none" anchor="ctr"/>
          <a:lstStyle/>
          <a:p>
            <a:endParaRPr lang="zh-CN" altLang="en-US"/>
          </a:p>
        </p:txBody>
      </p:sp>
      <p:sp>
        <p:nvSpPr>
          <p:cNvPr id="64650" name="Line 1162"/>
          <p:cNvSpPr>
            <a:spLocks noChangeShapeType="1"/>
          </p:cNvSpPr>
          <p:nvPr/>
        </p:nvSpPr>
        <p:spPr bwMode="auto">
          <a:xfrm flipV="1">
            <a:off x="6457950" y="2632075"/>
            <a:ext cx="474663" cy="0"/>
          </a:xfrm>
          <a:prstGeom prst="line">
            <a:avLst/>
          </a:prstGeom>
          <a:noFill/>
          <a:ln w="19050">
            <a:solidFill>
              <a:schemeClr val="tx1"/>
            </a:solidFill>
            <a:prstDash val="sysDot"/>
            <a:round/>
            <a:headEnd type="none" w="sm" len="sm"/>
            <a:tailEnd type="none" w="sm" len="sm"/>
          </a:ln>
          <a:effectLst/>
        </p:spPr>
        <p:txBody>
          <a:bodyPr wrap="none" anchor="ctr"/>
          <a:lstStyle/>
          <a:p>
            <a:endParaRPr lang="zh-CN" altLang="en-US"/>
          </a:p>
        </p:txBody>
      </p:sp>
      <p:sp>
        <p:nvSpPr>
          <p:cNvPr id="64651" name="Line 1163"/>
          <p:cNvSpPr>
            <a:spLocks noChangeShapeType="1"/>
          </p:cNvSpPr>
          <p:nvPr/>
        </p:nvSpPr>
        <p:spPr bwMode="auto">
          <a:xfrm flipV="1">
            <a:off x="6629400" y="2744788"/>
            <a:ext cx="134938" cy="0"/>
          </a:xfrm>
          <a:prstGeom prst="line">
            <a:avLst/>
          </a:prstGeom>
          <a:noFill/>
          <a:ln w="19050">
            <a:solidFill>
              <a:schemeClr val="tx1"/>
            </a:solidFill>
            <a:prstDash val="sysDot"/>
            <a:round/>
            <a:headEnd type="none" w="sm" len="sm"/>
            <a:tailEnd type="none" w="sm" len="sm"/>
          </a:ln>
          <a:effectLst/>
        </p:spPr>
        <p:txBody>
          <a:bodyPr wrap="none" anchor="ctr"/>
          <a:lstStyle/>
          <a:p>
            <a:endParaRPr lang="zh-CN" altLang="en-US"/>
          </a:p>
        </p:txBody>
      </p:sp>
      <p:sp>
        <p:nvSpPr>
          <p:cNvPr id="64652" name="Line 1164"/>
          <p:cNvSpPr>
            <a:spLocks noChangeShapeType="1"/>
          </p:cNvSpPr>
          <p:nvPr/>
        </p:nvSpPr>
        <p:spPr bwMode="auto">
          <a:xfrm flipV="1">
            <a:off x="6629400" y="2765425"/>
            <a:ext cx="134938" cy="0"/>
          </a:xfrm>
          <a:prstGeom prst="line">
            <a:avLst/>
          </a:prstGeom>
          <a:noFill/>
          <a:ln w="19050">
            <a:solidFill>
              <a:schemeClr val="tx1"/>
            </a:solidFill>
            <a:prstDash val="sysDot"/>
            <a:round/>
            <a:headEnd type="none" w="sm" len="sm"/>
            <a:tailEnd type="none" w="sm" len="sm"/>
          </a:ln>
          <a:effectLst/>
        </p:spPr>
        <p:txBody>
          <a:bodyPr wrap="none" anchor="ctr"/>
          <a:lstStyle/>
          <a:p>
            <a:endParaRPr lang="zh-CN" altLang="en-US"/>
          </a:p>
        </p:txBody>
      </p:sp>
      <p:sp>
        <p:nvSpPr>
          <p:cNvPr id="64653" name="Line 1165"/>
          <p:cNvSpPr>
            <a:spLocks noChangeShapeType="1"/>
          </p:cNvSpPr>
          <p:nvPr/>
        </p:nvSpPr>
        <p:spPr bwMode="auto">
          <a:xfrm flipV="1">
            <a:off x="6629400" y="2778125"/>
            <a:ext cx="134938" cy="0"/>
          </a:xfrm>
          <a:prstGeom prst="line">
            <a:avLst/>
          </a:prstGeom>
          <a:noFill/>
          <a:ln w="19050">
            <a:solidFill>
              <a:schemeClr val="tx1"/>
            </a:solidFill>
            <a:prstDash val="sysDot"/>
            <a:round/>
            <a:headEnd type="none" w="sm" len="sm"/>
            <a:tailEnd type="none" w="sm" len="sm"/>
          </a:ln>
          <a:effectLst/>
        </p:spPr>
        <p:txBody>
          <a:bodyPr wrap="none" anchor="ctr"/>
          <a:lstStyle/>
          <a:p>
            <a:endParaRPr lang="zh-CN" altLang="en-US"/>
          </a:p>
        </p:txBody>
      </p:sp>
      <p:sp>
        <p:nvSpPr>
          <p:cNvPr id="64654" name="Rectangle 1166"/>
          <p:cNvSpPr>
            <a:spLocks noChangeAspect="1" noChangeArrowheads="1"/>
          </p:cNvSpPr>
          <p:nvPr/>
        </p:nvSpPr>
        <p:spPr bwMode="auto">
          <a:xfrm flipH="1">
            <a:off x="5160963" y="3438525"/>
            <a:ext cx="312737" cy="333375"/>
          </a:xfrm>
          <a:prstGeom prst="rect">
            <a:avLst/>
          </a:prstGeom>
          <a:noFill/>
          <a:ln w="9525">
            <a:noFill/>
            <a:miter lim="800000"/>
            <a:headEnd/>
            <a:tailEnd/>
          </a:ln>
          <a:effectLst/>
        </p:spPr>
        <p:txBody>
          <a:bodyPr wrap="none" lIns="103483" tIns="51742" rIns="103483" bIns="51742">
            <a:spAutoFit/>
          </a:bodyPr>
          <a:lstStyle/>
          <a:p>
            <a:pPr defTabSz="1027113" eaLnBrk="0" hangingPunct="0"/>
            <a:r>
              <a:rPr kumimoji="0" lang="en-US" altLang="zh-CN" sz="1500" b="1">
                <a:latin typeface="Helvetica" pitchFamily="34" charset="0"/>
              </a:rPr>
              <a:t>1</a:t>
            </a:r>
          </a:p>
        </p:txBody>
      </p:sp>
      <p:sp>
        <p:nvSpPr>
          <p:cNvPr id="64655" name="Rectangle 1167"/>
          <p:cNvSpPr>
            <a:spLocks noChangeAspect="1" noChangeArrowheads="1"/>
          </p:cNvSpPr>
          <p:nvPr/>
        </p:nvSpPr>
        <p:spPr bwMode="auto">
          <a:xfrm flipH="1">
            <a:off x="4830763" y="3167063"/>
            <a:ext cx="312737" cy="333375"/>
          </a:xfrm>
          <a:prstGeom prst="rect">
            <a:avLst/>
          </a:prstGeom>
          <a:noFill/>
          <a:ln w="9525">
            <a:noFill/>
            <a:miter lim="800000"/>
            <a:headEnd/>
            <a:tailEnd/>
          </a:ln>
          <a:effectLst/>
        </p:spPr>
        <p:txBody>
          <a:bodyPr wrap="none" lIns="103483" tIns="51742" rIns="103483" bIns="51742">
            <a:spAutoFit/>
          </a:bodyPr>
          <a:lstStyle/>
          <a:p>
            <a:pPr defTabSz="1027113" eaLnBrk="0" hangingPunct="0"/>
            <a:r>
              <a:rPr kumimoji="0" lang="en-US" altLang="zh-CN" sz="1500" b="1">
                <a:latin typeface="Helvetica" pitchFamily="34" charset="0"/>
              </a:rPr>
              <a:t>8</a:t>
            </a:r>
          </a:p>
        </p:txBody>
      </p:sp>
      <p:sp>
        <p:nvSpPr>
          <p:cNvPr id="64656" name="Rectangle 1168"/>
          <p:cNvSpPr>
            <a:spLocks noChangeAspect="1" noChangeArrowheads="1"/>
          </p:cNvSpPr>
          <p:nvPr/>
        </p:nvSpPr>
        <p:spPr bwMode="auto">
          <a:xfrm>
            <a:off x="8326438" y="3179763"/>
            <a:ext cx="312737" cy="333375"/>
          </a:xfrm>
          <a:prstGeom prst="rect">
            <a:avLst/>
          </a:prstGeom>
          <a:noFill/>
          <a:ln w="9525">
            <a:noFill/>
            <a:miter lim="800000"/>
            <a:headEnd/>
            <a:tailEnd/>
          </a:ln>
          <a:effectLst/>
        </p:spPr>
        <p:txBody>
          <a:bodyPr wrap="none" lIns="103483" tIns="51742" rIns="103483" bIns="51742">
            <a:spAutoFit/>
          </a:bodyPr>
          <a:lstStyle/>
          <a:p>
            <a:pPr defTabSz="1027113" eaLnBrk="0" hangingPunct="0"/>
            <a:r>
              <a:rPr kumimoji="0" lang="en-US" altLang="zh-CN" sz="1500" b="1">
                <a:latin typeface="Helvetica" pitchFamily="34" charset="0"/>
              </a:rPr>
              <a:t>1</a:t>
            </a:r>
          </a:p>
        </p:txBody>
      </p:sp>
      <p:sp>
        <p:nvSpPr>
          <p:cNvPr id="64657" name="Rectangle 1169"/>
          <p:cNvSpPr>
            <a:spLocks noChangeAspect="1" noChangeArrowheads="1"/>
          </p:cNvSpPr>
          <p:nvPr/>
        </p:nvSpPr>
        <p:spPr bwMode="auto">
          <a:xfrm>
            <a:off x="8007350" y="3451225"/>
            <a:ext cx="312738" cy="333375"/>
          </a:xfrm>
          <a:prstGeom prst="rect">
            <a:avLst/>
          </a:prstGeom>
          <a:noFill/>
          <a:ln w="9525">
            <a:noFill/>
            <a:miter lim="800000"/>
            <a:headEnd/>
            <a:tailEnd/>
          </a:ln>
          <a:effectLst/>
        </p:spPr>
        <p:txBody>
          <a:bodyPr wrap="none" lIns="103483" tIns="51742" rIns="103483" bIns="51742">
            <a:spAutoFit/>
          </a:bodyPr>
          <a:lstStyle/>
          <a:p>
            <a:pPr defTabSz="1027113" eaLnBrk="0" hangingPunct="0"/>
            <a:r>
              <a:rPr kumimoji="0" lang="en-US" altLang="zh-CN" sz="1500" b="1">
                <a:latin typeface="Helvetica" pitchFamily="34" charset="0"/>
              </a:rPr>
              <a:t>8</a:t>
            </a:r>
          </a:p>
        </p:txBody>
      </p:sp>
      <p:sp>
        <p:nvSpPr>
          <p:cNvPr id="64658" name="Line 1170"/>
          <p:cNvSpPr>
            <a:spLocks noChangeAspect="1" noChangeShapeType="1"/>
          </p:cNvSpPr>
          <p:nvPr/>
        </p:nvSpPr>
        <p:spPr bwMode="auto">
          <a:xfrm>
            <a:off x="7620000" y="2743200"/>
            <a:ext cx="387350" cy="166688"/>
          </a:xfrm>
          <a:prstGeom prst="line">
            <a:avLst/>
          </a:prstGeom>
          <a:noFill/>
          <a:ln w="79375">
            <a:pattFill prst="lgGrid">
              <a:fgClr>
                <a:srgbClr val="FF9900"/>
              </a:fgClr>
              <a:bgClr>
                <a:srgbClr val="FFFFFF"/>
              </a:bgClr>
            </a:pattFill>
            <a:round/>
            <a:headEnd type="none" w="sm" len="sm"/>
            <a:tailEnd type="none" w="sm" len="sm"/>
          </a:ln>
          <a:effectLst/>
        </p:spPr>
        <p:txBody>
          <a:bodyPr wrap="none" anchor="ctr"/>
          <a:lstStyle/>
          <a:p>
            <a:endParaRPr lang="zh-CN" altLang="en-US"/>
          </a:p>
        </p:txBody>
      </p:sp>
      <p:sp>
        <p:nvSpPr>
          <p:cNvPr id="64659" name="Line 1171"/>
          <p:cNvSpPr>
            <a:spLocks noChangeShapeType="1"/>
          </p:cNvSpPr>
          <p:nvPr/>
        </p:nvSpPr>
        <p:spPr bwMode="auto">
          <a:xfrm flipH="1">
            <a:off x="8534400" y="4114800"/>
            <a:ext cx="0" cy="938213"/>
          </a:xfrm>
          <a:prstGeom prst="line">
            <a:avLst/>
          </a:prstGeom>
          <a:noFill/>
          <a:ln w="76200">
            <a:solidFill>
              <a:srgbClr val="996600"/>
            </a:solidFill>
            <a:round/>
            <a:headEnd type="none" w="sm" len="sm"/>
            <a:tailEnd type="none" w="sm" len="sm"/>
          </a:ln>
          <a:effectLst/>
        </p:spPr>
        <p:txBody>
          <a:bodyPr wrap="none" anchor="ctr">
            <a:spAutoFit/>
          </a:bodyPr>
          <a:lstStyle/>
          <a:p>
            <a:endParaRPr lang="zh-CN" altLang="en-US"/>
          </a:p>
        </p:txBody>
      </p:sp>
      <p:sp>
        <p:nvSpPr>
          <p:cNvPr id="64660" name="Line 1172"/>
          <p:cNvSpPr>
            <a:spLocks noChangeShapeType="1"/>
          </p:cNvSpPr>
          <p:nvPr/>
        </p:nvSpPr>
        <p:spPr bwMode="auto">
          <a:xfrm flipH="1">
            <a:off x="8077200" y="4114800"/>
            <a:ext cx="0" cy="938213"/>
          </a:xfrm>
          <a:prstGeom prst="line">
            <a:avLst/>
          </a:prstGeom>
          <a:noFill/>
          <a:ln w="76200">
            <a:solidFill>
              <a:schemeClr val="accent1"/>
            </a:solidFill>
            <a:round/>
            <a:headEnd type="none" w="sm" len="sm"/>
            <a:tailEnd type="none" w="sm" len="sm"/>
          </a:ln>
          <a:effectLst/>
        </p:spPr>
        <p:txBody>
          <a:bodyPr wrap="none" anchor="ctr">
            <a:spAutoFit/>
          </a:bodyPr>
          <a:lstStyle/>
          <a:p>
            <a:endParaRPr lang="zh-CN" altLang="en-US"/>
          </a:p>
        </p:txBody>
      </p:sp>
      <p:sp>
        <p:nvSpPr>
          <p:cNvPr id="64661" name="Line 1173"/>
          <p:cNvSpPr>
            <a:spLocks noChangeShapeType="1"/>
          </p:cNvSpPr>
          <p:nvPr/>
        </p:nvSpPr>
        <p:spPr bwMode="auto">
          <a:xfrm flipH="1">
            <a:off x="7391400" y="4114800"/>
            <a:ext cx="0" cy="938213"/>
          </a:xfrm>
          <a:prstGeom prst="line">
            <a:avLst/>
          </a:prstGeom>
          <a:noFill/>
          <a:ln w="76200">
            <a:solidFill>
              <a:schemeClr val="accent1"/>
            </a:solidFill>
            <a:prstDash val="sysDot"/>
            <a:round/>
            <a:headEnd type="none" w="sm" len="sm"/>
            <a:tailEnd type="none" w="sm" len="sm"/>
          </a:ln>
          <a:effectLst/>
        </p:spPr>
        <p:txBody>
          <a:bodyPr wrap="none" anchor="ctr">
            <a:spAutoFit/>
          </a:bodyPr>
          <a:lstStyle/>
          <a:p>
            <a:endParaRPr lang="zh-CN" altLang="en-US"/>
          </a:p>
        </p:txBody>
      </p:sp>
      <p:sp>
        <p:nvSpPr>
          <p:cNvPr id="64662" name="Line 1174"/>
          <p:cNvSpPr>
            <a:spLocks noChangeShapeType="1"/>
          </p:cNvSpPr>
          <p:nvPr/>
        </p:nvSpPr>
        <p:spPr bwMode="auto">
          <a:xfrm flipH="1">
            <a:off x="7620000" y="4114800"/>
            <a:ext cx="0" cy="938213"/>
          </a:xfrm>
          <a:prstGeom prst="line">
            <a:avLst/>
          </a:prstGeom>
          <a:noFill/>
          <a:ln w="76200">
            <a:solidFill>
              <a:schemeClr val="folHlink"/>
            </a:solidFill>
            <a:round/>
            <a:headEnd type="none" w="sm" len="sm"/>
            <a:tailEnd type="none" w="sm" len="sm"/>
          </a:ln>
          <a:effectLst/>
        </p:spPr>
        <p:txBody>
          <a:bodyPr wrap="none" anchor="ctr">
            <a:spAutoFit/>
          </a:bodyPr>
          <a:lstStyle/>
          <a:p>
            <a:endParaRPr lang="zh-CN" altLang="en-US"/>
          </a:p>
        </p:txBody>
      </p:sp>
      <p:sp>
        <p:nvSpPr>
          <p:cNvPr id="64663" name="Line 1175"/>
          <p:cNvSpPr>
            <a:spLocks noChangeShapeType="1"/>
          </p:cNvSpPr>
          <p:nvPr/>
        </p:nvSpPr>
        <p:spPr bwMode="auto">
          <a:xfrm flipH="1">
            <a:off x="7848600" y="4114800"/>
            <a:ext cx="0" cy="938213"/>
          </a:xfrm>
          <a:prstGeom prst="line">
            <a:avLst/>
          </a:prstGeom>
          <a:noFill/>
          <a:ln w="76200">
            <a:solidFill>
              <a:schemeClr val="folHlink"/>
            </a:solidFill>
            <a:prstDash val="sysDot"/>
            <a:round/>
            <a:headEnd type="none" w="sm" len="sm"/>
            <a:tailEnd type="none" w="sm" len="sm"/>
          </a:ln>
          <a:effectLst/>
        </p:spPr>
        <p:txBody>
          <a:bodyPr wrap="none" anchor="ctr">
            <a:spAutoFit/>
          </a:bodyPr>
          <a:lstStyle/>
          <a:p>
            <a:endParaRPr lang="zh-CN" altLang="en-US"/>
          </a:p>
        </p:txBody>
      </p:sp>
      <p:sp>
        <p:nvSpPr>
          <p:cNvPr id="64664" name="Line 1176"/>
          <p:cNvSpPr>
            <a:spLocks noChangeShapeType="1"/>
          </p:cNvSpPr>
          <p:nvPr/>
        </p:nvSpPr>
        <p:spPr bwMode="auto">
          <a:xfrm flipH="1">
            <a:off x="7162800" y="4114800"/>
            <a:ext cx="0" cy="938213"/>
          </a:xfrm>
          <a:prstGeom prst="line">
            <a:avLst/>
          </a:prstGeom>
          <a:noFill/>
          <a:ln w="76200">
            <a:solidFill>
              <a:schemeClr val="accent2"/>
            </a:solidFill>
            <a:round/>
            <a:headEnd type="none" w="sm" len="sm"/>
            <a:tailEnd type="none" w="sm" len="sm"/>
          </a:ln>
          <a:effectLst/>
        </p:spPr>
        <p:txBody>
          <a:bodyPr wrap="none" anchor="ctr">
            <a:spAutoFit/>
          </a:bodyPr>
          <a:lstStyle/>
          <a:p>
            <a:endParaRPr lang="zh-CN" altLang="en-US"/>
          </a:p>
        </p:txBody>
      </p:sp>
      <p:sp>
        <p:nvSpPr>
          <p:cNvPr id="64665" name="Line 1177"/>
          <p:cNvSpPr>
            <a:spLocks noChangeShapeType="1"/>
          </p:cNvSpPr>
          <p:nvPr/>
        </p:nvSpPr>
        <p:spPr bwMode="auto">
          <a:xfrm flipH="1">
            <a:off x="6934200" y="4114800"/>
            <a:ext cx="0" cy="938213"/>
          </a:xfrm>
          <a:prstGeom prst="line">
            <a:avLst/>
          </a:prstGeom>
          <a:noFill/>
          <a:ln w="76200">
            <a:solidFill>
              <a:schemeClr val="accent2"/>
            </a:solidFill>
            <a:prstDash val="sysDot"/>
            <a:round/>
            <a:headEnd type="none" w="sm" len="sm"/>
            <a:tailEnd type="none" w="sm" len="sm"/>
          </a:ln>
          <a:effectLst/>
        </p:spPr>
        <p:txBody>
          <a:bodyPr wrap="none" anchor="ctr">
            <a:spAutoFit/>
          </a:bodyPr>
          <a:lstStyle/>
          <a:p>
            <a:endParaRPr lang="zh-CN" altLang="en-US"/>
          </a:p>
        </p:txBody>
      </p:sp>
      <p:sp>
        <p:nvSpPr>
          <p:cNvPr id="64666" name="Rectangle 1178"/>
          <p:cNvSpPr>
            <a:spLocks noChangeArrowheads="1"/>
          </p:cNvSpPr>
          <p:nvPr/>
        </p:nvSpPr>
        <p:spPr bwMode="auto">
          <a:xfrm flipH="1">
            <a:off x="8382000" y="37338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8</a:t>
            </a:r>
          </a:p>
        </p:txBody>
      </p:sp>
      <p:sp>
        <p:nvSpPr>
          <p:cNvPr id="64667" name="Rectangle 1179"/>
          <p:cNvSpPr>
            <a:spLocks noChangeArrowheads="1"/>
          </p:cNvSpPr>
          <p:nvPr/>
        </p:nvSpPr>
        <p:spPr bwMode="auto">
          <a:xfrm flipH="1">
            <a:off x="6781800" y="37338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1</a:t>
            </a:r>
          </a:p>
        </p:txBody>
      </p:sp>
      <p:sp>
        <p:nvSpPr>
          <p:cNvPr id="64668" name="Line 1180"/>
          <p:cNvSpPr>
            <a:spLocks noChangeAspect="1" noChangeShapeType="1"/>
          </p:cNvSpPr>
          <p:nvPr/>
        </p:nvSpPr>
        <p:spPr bwMode="auto">
          <a:xfrm rot="21500440" flipV="1">
            <a:off x="7381875" y="2681288"/>
            <a:ext cx="333375" cy="263525"/>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pic>
        <p:nvPicPr>
          <p:cNvPr id="64669" name="Picture 1181"/>
          <p:cNvPicPr>
            <a:picLocks noChangeAspect="1" noChangeArrowheads="1"/>
          </p:cNvPicPr>
          <p:nvPr/>
        </p:nvPicPr>
        <p:blipFill>
          <a:blip r:embed="rId3" cstate="print"/>
          <a:srcRect/>
          <a:stretch>
            <a:fillRect/>
          </a:stretch>
        </p:blipFill>
        <p:spPr bwMode="auto">
          <a:xfrm>
            <a:off x="749300" y="2598738"/>
            <a:ext cx="1304925" cy="579437"/>
          </a:xfrm>
          <a:prstGeom prst="rect">
            <a:avLst/>
          </a:prstGeom>
          <a:noFill/>
          <a:ln w="9525">
            <a:noFill/>
            <a:miter lim="800000"/>
            <a:headEnd/>
            <a:tailEnd/>
          </a:ln>
          <a:effectLst/>
        </p:spPr>
      </p:pic>
      <p:sp>
        <p:nvSpPr>
          <p:cNvPr id="64670" name="Rectangle 1182"/>
          <p:cNvSpPr>
            <a:spLocks noChangeArrowheads="1"/>
          </p:cNvSpPr>
          <p:nvPr/>
        </p:nvSpPr>
        <p:spPr bwMode="auto">
          <a:xfrm>
            <a:off x="539750" y="3121025"/>
            <a:ext cx="1428750" cy="366713"/>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800" b="1">
                <a:solidFill>
                  <a:schemeClr val="tx2"/>
                </a:solidFill>
                <a:latin typeface="Helvetica" pitchFamily="34" charset="0"/>
              </a:rPr>
              <a:t>Hub/Switch</a:t>
            </a:r>
            <a:endParaRPr kumimoji="0" lang="en-US" altLang="zh-CN" sz="1600" b="1">
              <a:solidFill>
                <a:srgbClr val="000000"/>
              </a:solidFill>
              <a:latin typeface="Helvetica" pitchFamily="34" charset="0"/>
            </a:endParaRPr>
          </a:p>
        </p:txBody>
      </p:sp>
      <p:pic>
        <p:nvPicPr>
          <p:cNvPr id="64671" name="Picture 1183"/>
          <p:cNvPicPr>
            <a:picLocks noChangeAspect="1" noChangeArrowheads="1"/>
          </p:cNvPicPr>
          <p:nvPr/>
        </p:nvPicPr>
        <p:blipFill>
          <a:blip r:embed="rId3" cstate="print"/>
          <a:srcRect/>
          <a:stretch>
            <a:fillRect/>
          </a:stretch>
        </p:blipFill>
        <p:spPr bwMode="auto">
          <a:xfrm>
            <a:off x="2892425" y="2586038"/>
            <a:ext cx="1304925" cy="579437"/>
          </a:xfrm>
          <a:prstGeom prst="rect">
            <a:avLst/>
          </a:prstGeom>
          <a:noFill/>
          <a:ln w="9525">
            <a:noFill/>
            <a:miter lim="800000"/>
            <a:headEnd/>
            <a:tailEnd/>
          </a:ln>
          <a:effectLst/>
        </p:spPr>
      </p:pic>
      <p:sp>
        <p:nvSpPr>
          <p:cNvPr id="64672" name="Rectangle 1184"/>
          <p:cNvSpPr>
            <a:spLocks noChangeArrowheads="1"/>
          </p:cNvSpPr>
          <p:nvPr/>
        </p:nvSpPr>
        <p:spPr bwMode="auto">
          <a:xfrm>
            <a:off x="2682875" y="3108325"/>
            <a:ext cx="1428750" cy="366713"/>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800" b="1">
                <a:solidFill>
                  <a:schemeClr val="tx2"/>
                </a:solidFill>
                <a:latin typeface="Helvetica" pitchFamily="34" charset="0"/>
              </a:rPr>
              <a:t>Hub/Switch</a:t>
            </a:r>
            <a:endParaRPr kumimoji="0" lang="en-US" altLang="zh-CN" sz="1600" b="1">
              <a:solidFill>
                <a:srgbClr val="000000"/>
              </a:solidFill>
              <a:latin typeface="Helvetica" pitchFamily="34" charset="0"/>
            </a:endParaRPr>
          </a:p>
        </p:txBody>
      </p:sp>
      <p:sp>
        <p:nvSpPr>
          <p:cNvPr id="64673" name="Line 1185"/>
          <p:cNvSpPr>
            <a:spLocks noChangeShapeType="1"/>
          </p:cNvSpPr>
          <p:nvPr/>
        </p:nvSpPr>
        <p:spPr bwMode="auto">
          <a:xfrm flipH="1">
            <a:off x="8305800" y="4114800"/>
            <a:ext cx="0" cy="938213"/>
          </a:xfrm>
          <a:prstGeom prst="line">
            <a:avLst/>
          </a:prstGeom>
          <a:noFill/>
          <a:ln w="76200">
            <a:solidFill>
              <a:srgbClr val="996600"/>
            </a:solidFill>
            <a:prstDash val="sysDot"/>
            <a:round/>
            <a:headEnd type="none" w="sm" len="sm"/>
            <a:tailEnd type="none" w="sm" len="sm"/>
          </a:ln>
          <a:effectLst/>
        </p:spPr>
        <p:txBody>
          <a:bodyPr wrap="none" anchor="ctr">
            <a:spAutoFit/>
          </a:bodyPr>
          <a:lstStyle/>
          <a:p>
            <a:endParaRPr lang="zh-CN" altLang="en-US"/>
          </a:p>
        </p:txBody>
      </p:sp>
      <p:sp>
        <p:nvSpPr>
          <p:cNvPr id="64674" name="Line 1186"/>
          <p:cNvSpPr>
            <a:spLocks noChangeShapeType="1"/>
          </p:cNvSpPr>
          <p:nvPr/>
        </p:nvSpPr>
        <p:spPr bwMode="auto">
          <a:xfrm flipH="1">
            <a:off x="4800600" y="4114800"/>
            <a:ext cx="0" cy="938213"/>
          </a:xfrm>
          <a:prstGeom prst="line">
            <a:avLst/>
          </a:prstGeom>
          <a:noFill/>
          <a:ln w="76200">
            <a:solidFill>
              <a:schemeClr val="accent1"/>
            </a:solidFill>
            <a:prstDash val="sysDot"/>
            <a:round/>
            <a:headEnd type="none" w="sm" len="sm"/>
            <a:tailEnd type="none" w="sm" len="sm"/>
          </a:ln>
          <a:effectLst/>
        </p:spPr>
        <p:txBody>
          <a:bodyPr wrap="none" anchor="ctr">
            <a:spAutoFit/>
          </a:bodyPr>
          <a:lstStyle/>
          <a:p>
            <a:endParaRPr lang="zh-CN" altLang="en-US"/>
          </a:p>
        </p:txBody>
      </p:sp>
      <p:sp>
        <p:nvSpPr>
          <p:cNvPr id="64675" name="Line 1187"/>
          <p:cNvSpPr>
            <a:spLocks noChangeShapeType="1"/>
          </p:cNvSpPr>
          <p:nvPr/>
        </p:nvSpPr>
        <p:spPr bwMode="auto">
          <a:xfrm flipH="1">
            <a:off x="5029200" y="4114800"/>
            <a:ext cx="0" cy="938213"/>
          </a:xfrm>
          <a:prstGeom prst="line">
            <a:avLst/>
          </a:prstGeom>
          <a:noFill/>
          <a:ln w="76200">
            <a:solidFill>
              <a:schemeClr val="accent1"/>
            </a:solidFill>
            <a:round/>
            <a:headEnd type="none" w="sm" len="sm"/>
            <a:tailEnd type="none" w="sm" len="sm"/>
          </a:ln>
          <a:effectLst/>
        </p:spPr>
        <p:txBody>
          <a:bodyPr wrap="none" anchor="ctr">
            <a:spAutoFit/>
          </a:bodyPr>
          <a:lstStyle/>
          <a:p>
            <a:endParaRPr lang="zh-CN" altLang="en-US"/>
          </a:p>
        </p:txBody>
      </p:sp>
      <p:sp>
        <p:nvSpPr>
          <p:cNvPr id="64676" name="Line 1188"/>
          <p:cNvSpPr>
            <a:spLocks noChangeShapeType="1"/>
          </p:cNvSpPr>
          <p:nvPr/>
        </p:nvSpPr>
        <p:spPr bwMode="auto">
          <a:xfrm flipH="1">
            <a:off x="5257800" y="4114800"/>
            <a:ext cx="0" cy="938213"/>
          </a:xfrm>
          <a:prstGeom prst="line">
            <a:avLst/>
          </a:prstGeom>
          <a:noFill/>
          <a:ln w="76200">
            <a:solidFill>
              <a:schemeClr val="accent2"/>
            </a:solidFill>
            <a:prstDash val="sysDot"/>
            <a:round/>
            <a:headEnd type="none" w="sm" len="sm"/>
            <a:tailEnd type="none" w="sm" len="sm"/>
          </a:ln>
          <a:effectLst/>
        </p:spPr>
        <p:txBody>
          <a:bodyPr wrap="none" anchor="ctr">
            <a:spAutoFit/>
          </a:bodyPr>
          <a:lstStyle/>
          <a:p>
            <a:endParaRPr lang="zh-CN" altLang="en-US"/>
          </a:p>
        </p:txBody>
      </p:sp>
      <p:sp>
        <p:nvSpPr>
          <p:cNvPr id="64677" name="Line 1189"/>
          <p:cNvSpPr>
            <a:spLocks noChangeShapeType="1"/>
          </p:cNvSpPr>
          <p:nvPr/>
        </p:nvSpPr>
        <p:spPr bwMode="auto">
          <a:xfrm flipH="1">
            <a:off x="5486400" y="4114800"/>
            <a:ext cx="0" cy="938213"/>
          </a:xfrm>
          <a:prstGeom prst="line">
            <a:avLst/>
          </a:prstGeom>
          <a:noFill/>
          <a:ln w="76200">
            <a:solidFill>
              <a:schemeClr val="folHlink"/>
            </a:solidFill>
            <a:round/>
            <a:headEnd type="none" w="sm" len="sm"/>
            <a:tailEnd type="none" w="sm" len="sm"/>
          </a:ln>
          <a:effectLst/>
        </p:spPr>
        <p:txBody>
          <a:bodyPr wrap="none" anchor="ctr">
            <a:spAutoFit/>
          </a:bodyPr>
          <a:lstStyle/>
          <a:p>
            <a:endParaRPr lang="zh-CN" altLang="en-US"/>
          </a:p>
        </p:txBody>
      </p:sp>
      <p:sp>
        <p:nvSpPr>
          <p:cNvPr id="64678" name="Line 1190"/>
          <p:cNvSpPr>
            <a:spLocks noChangeShapeType="1"/>
          </p:cNvSpPr>
          <p:nvPr/>
        </p:nvSpPr>
        <p:spPr bwMode="auto">
          <a:xfrm flipH="1">
            <a:off x="5715000" y="4114800"/>
            <a:ext cx="0" cy="938213"/>
          </a:xfrm>
          <a:prstGeom prst="line">
            <a:avLst/>
          </a:prstGeom>
          <a:noFill/>
          <a:ln w="76200">
            <a:solidFill>
              <a:schemeClr val="folHlink"/>
            </a:solidFill>
            <a:prstDash val="sysDot"/>
            <a:round/>
            <a:headEnd type="none" w="sm" len="sm"/>
            <a:tailEnd type="none" w="sm" len="sm"/>
          </a:ln>
          <a:effectLst/>
        </p:spPr>
        <p:txBody>
          <a:bodyPr wrap="none" anchor="ctr">
            <a:spAutoFit/>
          </a:bodyPr>
          <a:lstStyle/>
          <a:p>
            <a:endParaRPr lang="zh-CN" altLang="en-US"/>
          </a:p>
        </p:txBody>
      </p:sp>
      <p:sp>
        <p:nvSpPr>
          <p:cNvPr id="64679" name="Line 1191"/>
          <p:cNvSpPr>
            <a:spLocks noChangeShapeType="1"/>
          </p:cNvSpPr>
          <p:nvPr/>
        </p:nvSpPr>
        <p:spPr bwMode="auto">
          <a:xfrm flipH="1">
            <a:off x="5943600" y="4114800"/>
            <a:ext cx="0" cy="938213"/>
          </a:xfrm>
          <a:prstGeom prst="line">
            <a:avLst/>
          </a:prstGeom>
          <a:noFill/>
          <a:ln w="76200">
            <a:solidFill>
              <a:schemeClr val="accent2"/>
            </a:solidFill>
            <a:round/>
            <a:headEnd type="none" w="sm" len="sm"/>
            <a:tailEnd type="none" w="sm" len="sm"/>
          </a:ln>
          <a:effectLst/>
        </p:spPr>
        <p:txBody>
          <a:bodyPr wrap="none" anchor="ctr">
            <a:spAutoFit/>
          </a:bodyPr>
          <a:lstStyle/>
          <a:p>
            <a:endParaRPr lang="zh-CN" altLang="en-US"/>
          </a:p>
        </p:txBody>
      </p:sp>
      <p:sp>
        <p:nvSpPr>
          <p:cNvPr id="64680" name="Line 1192"/>
          <p:cNvSpPr>
            <a:spLocks noChangeShapeType="1"/>
          </p:cNvSpPr>
          <p:nvPr/>
        </p:nvSpPr>
        <p:spPr bwMode="auto">
          <a:xfrm flipH="1">
            <a:off x="6172200" y="4114800"/>
            <a:ext cx="0" cy="938213"/>
          </a:xfrm>
          <a:prstGeom prst="line">
            <a:avLst/>
          </a:prstGeom>
          <a:noFill/>
          <a:ln w="76200">
            <a:solidFill>
              <a:srgbClr val="996600"/>
            </a:solidFill>
            <a:prstDash val="sysDot"/>
            <a:round/>
            <a:headEnd type="none" w="sm" len="sm"/>
            <a:tailEnd type="none" w="sm" len="sm"/>
          </a:ln>
          <a:effectLst/>
        </p:spPr>
        <p:txBody>
          <a:bodyPr wrap="none" anchor="ctr">
            <a:spAutoFit/>
          </a:bodyPr>
          <a:lstStyle/>
          <a:p>
            <a:endParaRPr lang="zh-CN" altLang="en-US"/>
          </a:p>
        </p:txBody>
      </p:sp>
      <p:sp>
        <p:nvSpPr>
          <p:cNvPr id="64681" name="Line 1193"/>
          <p:cNvSpPr>
            <a:spLocks noChangeShapeType="1"/>
          </p:cNvSpPr>
          <p:nvPr/>
        </p:nvSpPr>
        <p:spPr bwMode="auto">
          <a:xfrm flipH="1">
            <a:off x="6477000" y="4114800"/>
            <a:ext cx="0" cy="938213"/>
          </a:xfrm>
          <a:prstGeom prst="line">
            <a:avLst/>
          </a:prstGeom>
          <a:noFill/>
          <a:ln w="76200">
            <a:solidFill>
              <a:srgbClr val="996600"/>
            </a:solidFill>
            <a:round/>
            <a:headEnd type="none" w="sm" len="sm"/>
            <a:tailEnd type="none" w="sm" len="sm"/>
          </a:ln>
          <a:effectLst/>
        </p:spPr>
        <p:txBody>
          <a:bodyPr wrap="none" anchor="ctr">
            <a:spAutoFit/>
          </a:bodyPr>
          <a:lstStyle/>
          <a:p>
            <a:endParaRPr lang="zh-CN" altLang="en-US"/>
          </a:p>
        </p:txBody>
      </p:sp>
      <p:sp>
        <p:nvSpPr>
          <p:cNvPr id="64682" name="Rectangle 1194"/>
          <p:cNvSpPr>
            <a:spLocks noChangeArrowheads="1"/>
          </p:cNvSpPr>
          <p:nvPr/>
        </p:nvSpPr>
        <p:spPr bwMode="auto">
          <a:xfrm flipH="1">
            <a:off x="4648200" y="36576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1</a:t>
            </a:r>
          </a:p>
        </p:txBody>
      </p:sp>
      <p:sp>
        <p:nvSpPr>
          <p:cNvPr id="64683" name="Rectangle 1195"/>
          <p:cNvSpPr>
            <a:spLocks noChangeArrowheads="1"/>
          </p:cNvSpPr>
          <p:nvPr/>
        </p:nvSpPr>
        <p:spPr bwMode="auto">
          <a:xfrm flipH="1">
            <a:off x="6324600" y="3733800"/>
            <a:ext cx="296863" cy="336550"/>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1600" b="1">
                <a:solidFill>
                  <a:srgbClr val="000000"/>
                </a:solidFill>
                <a:latin typeface="Helvetica" pitchFamily="34" charset="0"/>
              </a:rPr>
              <a:t>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zh-CN" altLang="en-US" sz="3600" b="1" dirty="0" smtClean="0"/>
              <a:t>导向</a:t>
            </a:r>
            <a:r>
              <a:rPr lang="zh-CN" altLang="en-US" sz="3600" b="1" dirty="0"/>
              <a:t>传输媒体</a:t>
            </a:r>
            <a:r>
              <a:rPr lang="en-US" altLang="zh-CN" sz="3600" b="1" dirty="0">
                <a:latin typeface="Arial"/>
              </a:rPr>
              <a:t>——</a:t>
            </a:r>
            <a:r>
              <a:rPr lang="zh-CN" altLang="en-US" sz="3600" b="1" dirty="0"/>
              <a:t>同轴电缆</a:t>
            </a:r>
            <a:r>
              <a:rPr lang="en-US" altLang="zh-CN" sz="3600" b="1" dirty="0"/>
              <a:t>(1)</a:t>
            </a:r>
          </a:p>
        </p:txBody>
      </p:sp>
      <p:graphicFrame>
        <p:nvGraphicFramePr>
          <p:cNvPr id="143367" name="Object 7"/>
          <p:cNvGraphicFramePr>
            <a:graphicFrameLocks noGrp="1" noChangeAspect="1"/>
          </p:cNvGraphicFramePr>
          <p:nvPr>
            <p:ph type="body" idx="1"/>
          </p:nvPr>
        </p:nvGraphicFramePr>
        <p:xfrm>
          <a:off x="323528" y="2204864"/>
          <a:ext cx="8559552" cy="3175992"/>
        </p:xfrm>
        <a:graphic>
          <a:graphicData uri="http://schemas.openxmlformats.org/presentationml/2006/ole">
            <p:oleObj spid="_x0000_s118786" name="位图图像" r:id="rId3" imgW="7361905" imgH="1924319" progId="Paint.Picture">
              <p:embed/>
            </p:oleObj>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1259632" y="1772816"/>
            <a:ext cx="6589713" cy="1258888"/>
          </a:xfrm>
        </p:spPr>
        <p:txBody>
          <a:bodyPr/>
          <a:lstStyle/>
          <a:p>
            <a:r>
              <a:rPr lang="en-US" altLang="zh-CN" dirty="0"/>
              <a:t>Baseband coaxial cable</a:t>
            </a:r>
            <a:r>
              <a:rPr lang="en-US" altLang="zh-CN" dirty="0">
                <a:latin typeface="Times New Roman"/>
              </a:rPr>
              <a:t>——</a:t>
            </a:r>
            <a:r>
              <a:rPr lang="en-US" altLang="zh-CN" dirty="0"/>
              <a:t>thin</a:t>
            </a:r>
          </a:p>
          <a:p>
            <a:r>
              <a:rPr lang="en-US" altLang="zh-CN" dirty="0"/>
              <a:t>broadband coaxial cable</a:t>
            </a:r>
            <a:r>
              <a:rPr lang="en-US" altLang="zh-CN" dirty="0">
                <a:latin typeface="Times New Roman"/>
              </a:rPr>
              <a:t>——</a:t>
            </a:r>
            <a:r>
              <a:rPr lang="en-US" altLang="zh-CN" dirty="0"/>
              <a:t>thick</a:t>
            </a:r>
          </a:p>
        </p:txBody>
      </p:sp>
      <p:graphicFrame>
        <p:nvGraphicFramePr>
          <p:cNvPr id="48189" name="Group 61"/>
          <p:cNvGraphicFramePr>
            <a:graphicFrameLocks noGrp="1"/>
          </p:cNvGraphicFramePr>
          <p:nvPr/>
        </p:nvGraphicFramePr>
        <p:xfrm>
          <a:off x="609600" y="3276600"/>
          <a:ext cx="7848600" cy="1828800"/>
        </p:xfrm>
        <a:graphic>
          <a:graphicData uri="http://schemas.openxmlformats.org/drawingml/2006/table">
            <a:tbl>
              <a:tblPr/>
              <a:tblGrid>
                <a:gridCol w="1309688"/>
                <a:gridCol w="1306512"/>
                <a:gridCol w="1309688"/>
                <a:gridCol w="1027112"/>
                <a:gridCol w="1447800"/>
                <a:gridCol w="1447800"/>
              </a:tblGrid>
              <a:tr h="6096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0" i="0" u="none" strike="noStrike" cap="none" normalizeH="0" baseline="0" smtClean="0">
                          <a:ln>
                            <a:noFill/>
                          </a:ln>
                          <a:solidFill>
                            <a:schemeClr val="tx1"/>
                          </a:solidFill>
                          <a:effectLst/>
                          <a:latin typeface="Tahoma" pitchFamily="34" charset="0"/>
                          <a:ea typeface="宋体" pitchFamily="2" charset="-122"/>
                        </a:rPr>
                        <a:t>Type</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0" i="0" u="none" strike="noStrike" cap="none" normalizeH="0" baseline="0" smtClean="0">
                          <a:ln>
                            <a:noFill/>
                          </a:ln>
                          <a:solidFill>
                            <a:schemeClr val="tx1"/>
                          </a:solidFill>
                          <a:effectLst/>
                          <a:latin typeface="Tahoma" pitchFamily="34" charset="0"/>
                          <a:ea typeface="宋体" pitchFamily="2" charset="-122"/>
                        </a:rPr>
                        <a:t>diameter</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0" i="0" u="none" strike="noStrike" cap="none" normalizeH="0" baseline="0" smtClean="0">
                          <a:ln>
                            <a:noFill/>
                          </a:ln>
                          <a:solidFill>
                            <a:schemeClr val="tx1"/>
                          </a:solidFill>
                          <a:effectLst/>
                          <a:latin typeface="Tahoma" pitchFamily="34" charset="0"/>
                          <a:ea typeface="宋体" pitchFamily="2" charset="-122"/>
                        </a:rPr>
                        <a:t>connector</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0" i="0" u="none" strike="noStrike" cap="none" normalizeH="0" baseline="0" smtClean="0">
                          <a:ln>
                            <a:noFill/>
                          </a:ln>
                          <a:solidFill>
                            <a:schemeClr val="tx1"/>
                          </a:solidFill>
                          <a:effectLst/>
                          <a:latin typeface="Tahoma" pitchFamily="34" charset="0"/>
                          <a:ea typeface="宋体" pitchFamily="2" charset="-122"/>
                        </a:rPr>
                        <a:t>speed</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0" i="0" u="none" strike="noStrike" cap="none" normalizeH="0" baseline="0" smtClean="0">
                          <a:ln>
                            <a:noFill/>
                          </a:ln>
                          <a:solidFill>
                            <a:schemeClr val="tx1"/>
                          </a:solidFill>
                          <a:effectLst/>
                          <a:latin typeface="Tahoma" pitchFamily="34" charset="0"/>
                          <a:ea typeface="宋体" pitchFamily="2" charset="-122"/>
                        </a:rPr>
                        <a:t>Length per segment</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0" i="0" u="none" strike="noStrike" cap="none" normalizeH="0" baseline="0" smtClean="0">
                          <a:ln>
                            <a:noFill/>
                          </a:ln>
                          <a:solidFill>
                            <a:schemeClr val="tx1"/>
                          </a:solidFill>
                          <a:effectLst/>
                          <a:latin typeface="Tahoma" pitchFamily="34" charset="0"/>
                          <a:ea typeface="宋体" pitchFamily="2" charset="-122"/>
                        </a:rPr>
                        <a:t>Nodes per segment</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096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Thin</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0.2 inch</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BNC</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10M</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185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30</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096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Thick</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0.4 inch</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smtClean="0">
                          <a:ln>
                            <a:noFill/>
                          </a:ln>
                          <a:solidFill>
                            <a:schemeClr val="tx1"/>
                          </a:solidFill>
                          <a:effectLst/>
                          <a:latin typeface="Tahoma" pitchFamily="34" charset="0"/>
                          <a:ea typeface="宋体" pitchFamily="2" charset="-122"/>
                        </a:rPr>
                        <a:t>connector</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10M</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500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smtClean="0">
                          <a:ln>
                            <a:noFill/>
                          </a:ln>
                          <a:solidFill>
                            <a:schemeClr val="tx1"/>
                          </a:solidFill>
                          <a:effectLst/>
                          <a:latin typeface="Tahoma" pitchFamily="34" charset="0"/>
                          <a:ea typeface="宋体" pitchFamily="2" charset="-122"/>
                        </a:rPr>
                        <a:t>100</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5" name="标题 4"/>
          <p:cNvSpPr>
            <a:spLocks noGrp="1"/>
          </p:cNvSpPr>
          <p:nvPr>
            <p:ph type="title"/>
          </p:nvPr>
        </p:nvSpPr>
        <p:spPr/>
        <p:txBody>
          <a:bodyPr/>
          <a:lstStyle/>
          <a:p>
            <a:r>
              <a:rPr lang="zh-CN" altLang="en-US" dirty="0" smtClean="0"/>
              <a:t>导向传输媒体</a:t>
            </a:r>
            <a:r>
              <a:rPr lang="en-US" altLang="zh-CN" dirty="0" smtClean="0"/>
              <a:t>——</a:t>
            </a:r>
            <a:r>
              <a:rPr lang="zh-CN" altLang="en-US" dirty="0" smtClean="0"/>
              <a:t>同轴电缆</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ctr" eaLnBrk="1" hangingPunct="1"/>
            <a:r>
              <a:rPr lang="zh-CN" altLang="en-US" dirty="0" smtClean="0"/>
              <a:t>导向传输媒体</a:t>
            </a:r>
            <a:r>
              <a:rPr lang="en-US" altLang="zh-CN" dirty="0" smtClean="0"/>
              <a:t>——</a:t>
            </a:r>
            <a:r>
              <a:rPr lang="zh-CN" altLang="en-US" dirty="0" smtClean="0"/>
              <a:t>光纤</a:t>
            </a:r>
            <a:endParaRPr lang="zh-CN" altLang="en-US" dirty="0" smtClean="0"/>
          </a:p>
        </p:txBody>
      </p:sp>
      <p:sp>
        <p:nvSpPr>
          <p:cNvPr id="30723" name="Arc 84"/>
          <p:cNvSpPr>
            <a:spLocks/>
          </p:cNvSpPr>
          <p:nvPr/>
        </p:nvSpPr>
        <p:spPr bwMode="auto">
          <a:xfrm rot="9720000">
            <a:off x="2987675" y="4030663"/>
            <a:ext cx="96838" cy="79375"/>
          </a:xfrm>
          <a:custGeom>
            <a:avLst/>
            <a:gdLst>
              <a:gd name="T0" fmla="*/ 0 w 21600"/>
              <a:gd name="T1" fmla="*/ 0 h 21600"/>
              <a:gd name="T2" fmla="*/ 8726134 w 21600"/>
              <a:gd name="T3" fmla="*/ 3938893 h 21600"/>
              <a:gd name="T4" fmla="*/ 0 w 21600"/>
              <a:gd name="T5" fmla="*/ 393889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chemeClr val="tx1"/>
            </a:solidFill>
            <a:round/>
            <a:headEnd/>
            <a:tailEnd/>
          </a:ln>
        </p:spPr>
        <p:txBody>
          <a:bodyPr wrap="none" anchor="ctr"/>
          <a:lstStyle/>
          <a:p>
            <a:endParaRPr lang="zh-CN" altLang="en-US"/>
          </a:p>
        </p:txBody>
      </p:sp>
      <p:grpSp>
        <p:nvGrpSpPr>
          <p:cNvPr id="30724" name="Group 85"/>
          <p:cNvGrpSpPr>
            <a:grpSpLocks/>
          </p:cNvGrpSpPr>
          <p:nvPr/>
        </p:nvGrpSpPr>
        <p:grpSpPr bwMode="auto">
          <a:xfrm>
            <a:off x="2511425" y="3211513"/>
            <a:ext cx="2944813" cy="488950"/>
            <a:chOff x="292" y="1032"/>
            <a:chExt cx="1732" cy="216"/>
          </a:xfrm>
        </p:grpSpPr>
        <p:grpSp>
          <p:nvGrpSpPr>
            <p:cNvPr id="30761" name="Group 86"/>
            <p:cNvGrpSpPr>
              <a:grpSpLocks/>
            </p:cNvGrpSpPr>
            <p:nvPr/>
          </p:nvGrpSpPr>
          <p:grpSpPr bwMode="auto">
            <a:xfrm>
              <a:off x="292" y="1032"/>
              <a:ext cx="1732" cy="216"/>
              <a:chOff x="292" y="1032"/>
              <a:chExt cx="1732" cy="216"/>
            </a:xfrm>
          </p:grpSpPr>
          <p:sp>
            <p:nvSpPr>
              <p:cNvPr id="30763" name="Line 87"/>
              <p:cNvSpPr>
                <a:spLocks noChangeShapeType="1"/>
              </p:cNvSpPr>
              <p:nvPr/>
            </p:nvSpPr>
            <p:spPr bwMode="auto">
              <a:xfrm>
                <a:off x="292" y="1032"/>
                <a:ext cx="1732" cy="0"/>
              </a:xfrm>
              <a:prstGeom prst="line">
                <a:avLst/>
              </a:prstGeom>
              <a:noFill/>
              <a:ln w="12700">
                <a:solidFill>
                  <a:schemeClr val="tx1"/>
                </a:solidFill>
                <a:round/>
                <a:headEnd/>
                <a:tailEnd/>
              </a:ln>
            </p:spPr>
            <p:txBody>
              <a:bodyPr wrap="none" anchor="ctr"/>
              <a:lstStyle/>
              <a:p>
                <a:endParaRPr lang="zh-CN" altLang="en-US"/>
              </a:p>
            </p:txBody>
          </p:sp>
          <p:sp>
            <p:nvSpPr>
              <p:cNvPr id="30764" name="Line 88"/>
              <p:cNvSpPr>
                <a:spLocks noChangeShapeType="1"/>
              </p:cNvSpPr>
              <p:nvPr/>
            </p:nvSpPr>
            <p:spPr bwMode="auto">
              <a:xfrm>
                <a:off x="292" y="1248"/>
                <a:ext cx="1732" cy="0"/>
              </a:xfrm>
              <a:prstGeom prst="line">
                <a:avLst/>
              </a:prstGeom>
              <a:noFill/>
              <a:ln w="12700">
                <a:solidFill>
                  <a:schemeClr val="tx1"/>
                </a:solidFill>
                <a:round/>
                <a:headEnd/>
                <a:tailEnd/>
              </a:ln>
            </p:spPr>
            <p:txBody>
              <a:bodyPr wrap="none" anchor="ctr"/>
              <a:lstStyle/>
              <a:p>
                <a:endParaRPr lang="zh-CN" altLang="en-US"/>
              </a:p>
            </p:txBody>
          </p:sp>
        </p:grpSp>
        <p:sp>
          <p:nvSpPr>
            <p:cNvPr id="30762" name="Rectangle 89"/>
            <p:cNvSpPr>
              <a:spLocks noChangeArrowheads="1"/>
            </p:cNvSpPr>
            <p:nvPr/>
          </p:nvSpPr>
          <p:spPr bwMode="auto">
            <a:xfrm>
              <a:off x="296" y="1041"/>
              <a:ext cx="1716" cy="198"/>
            </a:xfrm>
            <a:prstGeom prst="rect">
              <a:avLst/>
            </a:prstGeom>
            <a:solidFill>
              <a:srgbClr val="66FFFF"/>
            </a:solidFill>
            <a:ln w="12700">
              <a:noFill/>
              <a:miter lim="800000"/>
              <a:headEnd/>
              <a:tailEnd/>
            </a:ln>
          </p:spPr>
          <p:txBody>
            <a:bodyPr wrap="none" anchor="ctr"/>
            <a:lstStyle/>
            <a:p>
              <a:endParaRPr lang="zh-CN" altLang="en-US"/>
            </a:p>
          </p:txBody>
        </p:sp>
      </p:grpSp>
      <p:grpSp>
        <p:nvGrpSpPr>
          <p:cNvPr id="30725" name="Group 90"/>
          <p:cNvGrpSpPr>
            <a:grpSpLocks/>
          </p:cNvGrpSpPr>
          <p:nvPr/>
        </p:nvGrpSpPr>
        <p:grpSpPr bwMode="auto">
          <a:xfrm>
            <a:off x="2498725" y="4633913"/>
            <a:ext cx="2924175" cy="436562"/>
            <a:chOff x="284" y="1656"/>
            <a:chExt cx="1720" cy="192"/>
          </a:xfrm>
        </p:grpSpPr>
        <p:grpSp>
          <p:nvGrpSpPr>
            <p:cNvPr id="30757" name="Group 91"/>
            <p:cNvGrpSpPr>
              <a:grpSpLocks/>
            </p:cNvGrpSpPr>
            <p:nvPr/>
          </p:nvGrpSpPr>
          <p:grpSpPr bwMode="auto">
            <a:xfrm>
              <a:off x="284" y="1656"/>
              <a:ext cx="1720" cy="192"/>
              <a:chOff x="284" y="1656"/>
              <a:chExt cx="1720" cy="192"/>
            </a:xfrm>
          </p:grpSpPr>
          <p:sp>
            <p:nvSpPr>
              <p:cNvPr id="30759" name="Line 92"/>
              <p:cNvSpPr>
                <a:spLocks noChangeShapeType="1"/>
              </p:cNvSpPr>
              <p:nvPr/>
            </p:nvSpPr>
            <p:spPr bwMode="auto">
              <a:xfrm>
                <a:off x="284" y="1656"/>
                <a:ext cx="1720" cy="0"/>
              </a:xfrm>
              <a:prstGeom prst="line">
                <a:avLst/>
              </a:prstGeom>
              <a:noFill/>
              <a:ln w="12700">
                <a:solidFill>
                  <a:schemeClr val="tx1"/>
                </a:solidFill>
                <a:round/>
                <a:headEnd/>
                <a:tailEnd/>
              </a:ln>
            </p:spPr>
            <p:txBody>
              <a:bodyPr wrap="none" anchor="ctr"/>
              <a:lstStyle/>
              <a:p>
                <a:endParaRPr lang="zh-CN" altLang="en-US"/>
              </a:p>
            </p:txBody>
          </p:sp>
          <p:sp>
            <p:nvSpPr>
              <p:cNvPr id="30760" name="Line 93"/>
              <p:cNvSpPr>
                <a:spLocks noChangeShapeType="1"/>
              </p:cNvSpPr>
              <p:nvPr/>
            </p:nvSpPr>
            <p:spPr bwMode="auto">
              <a:xfrm>
                <a:off x="284" y="1848"/>
                <a:ext cx="1720" cy="0"/>
              </a:xfrm>
              <a:prstGeom prst="line">
                <a:avLst/>
              </a:prstGeom>
              <a:noFill/>
              <a:ln w="12700">
                <a:solidFill>
                  <a:schemeClr val="tx1"/>
                </a:solidFill>
                <a:round/>
                <a:headEnd/>
                <a:tailEnd/>
              </a:ln>
            </p:spPr>
            <p:txBody>
              <a:bodyPr wrap="none" anchor="ctr"/>
              <a:lstStyle/>
              <a:p>
                <a:endParaRPr lang="zh-CN" altLang="en-US"/>
              </a:p>
            </p:txBody>
          </p:sp>
        </p:grpSp>
        <p:sp>
          <p:nvSpPr>
            <p:cNvPr id="30758" name="Rectangle 94"/>
            <p:cNvSpPr>
              <a:spLocks noChangeArrowheads="1"/>
            </p:cNvSpPr>
            <p:nvPr/>
          </p:nvSpPr>
          <p:spPr bwMode="auto">
            <a:xfrm>
              <a:off x="288" y="1664"/>
              <a:ext cx="1704" cy="176"/>
            </a:xfrm>
            <a:prstGeom prst="rect">
              <a:avLst/>
            </a:prstGeom>
            <a:solidFill>
              <a:srgbClr val="66FFFF"/>
            </a:solidFill>
            <a:ln w="12700">
              <a:noFill/>
              <a:miter lim="800000"/>
              <a:headEnd/>
              <a:tailEnd/>
            </a:ln>
          </p:spPr>
          <p:txBody>
            <a:bodyPr wrap="none" anchor="ctr"/>
            <a:lstStyle/>
            <a:p>
              <a:endParaRPr lang="zh-CN" altLang="en-US"/>
            </a:p>
          </p:txBody>
        </p:sp>
      </p:grpSp>
      <p:sp>
        <p:nvSpPr>
          <p:cNvPr id="30726" name="Line 95"/>
          <p:cNvSpPr>
            <a:spLocks noChangeShapeType="1"/>
          </p:cNvSpPr>
          <p:nvPr/>
        </p:nvSpPr>
        <p:spPr bwMode="auto">
          <a:xfrm>
            <a:off x="3103563" y="2682875"/>
            <a:ext cx="0" cy="1931988"/>
          </a:xfrm>
          <a:prstGeom prst="line">
            <a:avLst/>
          </a:prstGeom>
          <a:noFill/>
          <a:ln w="12700">
            <a:solidFill>
              <a:srgbClr val="333399"/>
            </a:solidFill>
            <a:prstDash val="dash"/>
            <a:round/>
            <a:headEnd/>
            <a:tailEnd/>
          </a:ln>
        </p:spPr>
        <p:txBody>
          <a:bodyPr wrap="none" anchor="ctr"/>
          <a:lstStyle/>
          <a:p>
            <a:endParaRPr lang="zh-CN" altLang="en-US"/>
          </a:p>
        </p:txBody>
      </p:sp>
      <p:sp>
        <p:nvSpPr>
          <p:cNvPr id="30727" name="Line 96"/>
          <p:cNvSpPr>
            <a:spLocks noChangeShapeType="1"/>
          </p:cNvSpPr>
          <p:nvPr/>
        </p:nvSpPr>
        <p:spPr bwMode="auto">
          <a:xfrm flipV="1">
            <a:off x="3109913" y="3348038"/>
            <a:ext cx="395287" cy="365125"/>
          </a:xfrm>
          <a:prstGeom prst="line">
            <a:avLst/>
          </a:prstGeom>
          <a:noFill/>
          <a:ln w="57150">
            <a:solidFill>
              <a:srgbClr val="333399"/>
            </a:solidFill>
            <a:round/>
            <a:headEnd/>
            <a:tailEnd type="triangle" w="sm" len="lg"/>
          </a:ln>
        </p:spPr>
        <p:txBody>
          <a:bodyPr wrap="none" anchor="ctr"/>
          <a:lstStyle/>
          <a:p>
            <a:endParaRPr lang="zh-CN" altLang="en-US"/>
          </a:p>
        </p:txBody>
      </p:sp>
      <p:sp>
        <p:nvSpPr>
          <p:cNvPr id="30728" name="Line 97"/>
          <p:cNvSpPr>
            <a:spLocks noChangeShapeType="1"/>
          </p:cNvSpPr>
          <p:nvPr/>
        </p:nvSpPr>
        <p:spPr bwMode="auto">
          <a:xfrm flipV="1">
            <a:off x="2811463" y="3703638"/>
            <a:ext cx="292100" cy="749300"/>
          </a:xfrm>
          <a:prstGeom prst="line">
            <a:avLst/>
          </a:prstGeom>
          <a:noFill/>
          <a:ln w="57150">
            <a:solidFill>
              <a:srgbClr val="333399"/>
            </a:solidFill>
            <a:round/>
            <a:headEnd/>
            <a:tailEnd type="triangle" w="sm" len="lg"/>
          </a:ln>
        </p:spPr>
        <p:txBody>
          <a:bodyPr wrap="none" anchor="ctr"/>
          <a:lstStyle/>
          <a:p>
            <a:endParaRPr lang="zh-CN" altLang="en-US"/>
          </a:p>
        </p:txBody>
      </p:sp>
      <p:sp>
        <p:nvSpPr>
          <p:cNvPr id="30729" name="Arc 98"/>
          <p:cNvSpPr>
            <a:spLocks/>
          </p:cNvSpPr>
          <p:nvPr/>
        </p:nvSpPr>
        <p:spPr bwMode="auto">
          <a:xfrm>
            <a:off x="3106738" y="3452813"/>
            <a:ext cx="142875" cy="123825"/>
          </a:xfrm>
          <a:custGeom>
            <a:avLst/>
            <a:gdLst>
              <a:gd name="T0" fmla="*/ 0 w 21600"/>
              <a:gd name="T1" fmla="*/ 0 h 21600"/>
              <a:gd name="T2" fmla="*/ 41348870 w 21600"/>
              <a:gd name="T3" fmla="*/ 23327699 h 21600"/>
              <a:gd name="T4" fmla="*/ 0 w 21600"/>
              <a:gd name="T5" fmla="*/ 2332769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chemeClr val="tx1"/>
            </a:solidFill>
            <a:round/>
            <a:headEnd/>
            <a:tailEnd/>
          </a:ln>
        </p:spPr>
        <p:txBody>
          <a:bodyPr wrap="none" anchor="ctr"/>
          <a:lstStyle/>
          <a:p>
            <a:endParaRPr lang="zh-CN" altLang="en-US"/>
          </a:p>
        </p:txBody>
      </p:sp>
      <p:sp>
        <p:nvSpPr>
          <p:cNvPr id="30730" name="Line 99"/>
          <p:cNvSpPr>
            <a:spLocks noChangeShapeType="1"/>
          </p:cNvSpPr>
          <p:nvPr/>
        </p:nvSpPr>
        <p:spPr bwMode="auto">
          <a:xfrm>
            <a:off x="4422775" y="2701925"/>
            <a:ext cx="0" cy="1931988"/>
          </a:xfrm>
          <a:prstGeom prst="line">
            <a:avLst/>
          </a:prstGeom>
          <a:noFill/>
          <a:ln w="12700">
            <a:solidFill>
              <a:srgbClr val="333399"/>
            </a:solidFill>
            <a:prstDash val="dash"/>
            <a:round/>
            <a:headEnd/>
            <a:tailEnd/>
          </a:ln>
        </p:spPr>
        <p:txBody>
          <a:bodyPr wrap="none" anchor="ctr"/>
          <a:lstStyle/>
          <a:p>
            <a:endParaRPr lang="zh-CN" altLang="en-US"/>
          </a:p>
        </p:txBody>
      </p:sp>
      <p:sp>
        <p:nvSpPr>
          <p:cNvPr id="30731" name="Line 100"/>
          <p:cNvSpPr>
            <a:spLocks noChangeShapeType="1"/>
          </p:cNvSpPr>
          <p:nvPr/>
        </p:nvSpPr>
        <p:spPr bwMode="auto">
          <a:xfrm flipV="1">
            <a:off x="3654425" y="3703638"/>
            <a:ext cx="779463" cy="346075"/>
          </a:xfrm>
          <a:prstGeom prst="line">
            <a:avLst/>
          </a:prstGeom>
          <a:noFill/>
          <a:ln w="57150">
            <a:solidFill>
              <a:srgbClr val="333399"/>
            </a:solidFill>
            <a:round/>
            <a:headEnd/>
            <a:tailEnd type="triangle" w="sm" len="lg"/>
          </a:ln>
        </p:spPr>
        <p:txBody>
          <a:bodyPr wrap="none" anchor="ctr"/>
          <a:lstStyle/>
          <a:p>
            <a:endParaRPr lang="zh-CN" altLang="en-US"/>
          </a:p>
        </p:txBody>
      </p:sp>
      <p:sp>
        <p:nvSpPr>
          <p:cNvPr id="30732" name="Line 101"/>
          <p:cNvSpPr>
            <a:spLocks noChangeShapeType="1"/>
          </p:cNvSpPr>
          <p:nvPr/>
        </p:nvSpPr>
        <p:spPr bwMode="auto">
          <a:xfrm>
            <a:off x="4429125" y="3703638"/>
            <a:ext cx="892175" cy="355600"/>
          </a:xfrm>
          <a:prstGeom prst="line">
            <a:avLst/>
          </a:prstGeom>
          <a:noFill/>
          <a:ln w="57150">
            <a:solidFill>
              <a:srgbClr val="333399"/>
            </a:solidFill>
            <a:round/>
            <a:headEnd/>
            <a:tailEnd type="triangle" w="sm" len="lg"/>
          </a:ln>
        </p:spPr>
        <p:txBody>
          <a:bodyPr wrap="none" anchor="ctr"/>
          <a:lstStyle/>
          <a:p>
            <a:endParaRPr lang="zh-CN" altLang="en-US"/>
          </a:p>
        </p:txBody>
      </p:sp>
      <p:sp>
        <p:nvSpPr>
          <p:cNvPr id="30733" name="Arc 102"/>
          <p:cNvSpPr>
            <a:spLocks/>
          </p:cNvSpPr>
          <p:nvPr/>
        </p:nvSpPr>
        <p:spPr bwMode="auto">
          <a:xfrm rot="9840000">
            <a:off x="4144963" y="3806825"/>
            <a:ext cx="236537" cy="328613"/>
          </a:xfrm>
          <a:custGeom>
            <a:avLst/>
            <a:gdLst>
              <a:gd name="T0" fmla="*/ 0 w 21600"/>
              <a:gd name="T1" fmla="*/ 0 h 21600"/>
              <a:gd name="T2" fmla="*/ 310623868 w 21600"/>
              <a:gd name="T3" fmla="*/ 1157117032 h 21600"/>
              <a:gd name="T4" fmla="*/ 0 w 21600"/>
              <a:gd name="T5" fmla="*/ 115711703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headEnd/>
            <a:tailEnd/>
          </a:ln>
        </p:spPr>
        <p:txBody>
          <a:bodyPr wrap="none" anchor="ctr"/>
          <a:lstStyle/>
          <a:p>
            <a:endParaRPr lang="zh-CN" altLang="en-US"/>
          </a:p>
        </p:txBody>
      </p:sp>
      <p:sp>
        <p:nvSpPr>
          <p:cNvPr id="30734" name="Freeform 103"/>
          <p:cNvSpPr>
            <a:spLocks/>
          </p:cNvSpPr>
          <p:nvPr/>
        </p:nvSpPr>
        <p:spPr bwMode="auto">
          <a:xfrm>
            <a:off x="2382838" y="3252788"/>
            <a:ext cx="153987" cy="1820862"/>
          </a:xfrm>
          <a:custGeom>
            <a:avLst/>
            <a:gdLst>
              <a:gd name="T0" fmla="*/ 2147483647 w 91"/>
              <a:gd name="T1" fmla="*/ 0 h 799"/>
              <a:gd name="T2" fmla="*/ 2147483647 w 91"/>
              <a:gd name="T3" fmla="*/ 2147483647 h 799"/>
              <a:gd name="T4" fmla="*/ 2147483647 w 91"/>
              <a:gd name="T5" fmla="*/ 2147483647 h 799"/>
              <a:gd name="T6" fmla="*/ 2147483647 w 91"/>
              <a:gd name="T7" fmla="*/ 2147483647 h 799"/>
              <a:gd name="T8" fmla="*/ 2147483647 w 91"/>
              <a:gd name="T9" fmla="*/ 2147483647 h 799"/>
              <a:gd name="T10" fmla="*/ 2147483647 w 91"/>
              <a:gd name="T11" fmla="*/ 2147483647 h 799"/>
              <a:gd name="T12" fmla="*/ 2147483647 w 91"/>
              <a:gd name="T13" fmla="*/ 2147483647 h 799"/>
              <a:gd name="T14" fmla="*/ 2147483647 w 91"/>
              <a:gd name="T15" fmla="*/ 2147483647 h 799"/>
              <a:gd name="T16" fmla="*/ 2147483647 w 91"/>
              <a:gd name="T17" fmla="*/ 2147483647 h 799"/>
              <a:gd name="T18" fmla="*/ 2147483647 w 91"/>
              <a:gd name="T19" fmla="*/ 2147483647 h 799"/>
              <a:gd name="T20" fmla="*/ 2147483647 w 91"/>
              <a:gd name="T21" fmla="*/ 2147483647 h 799"/>
              <a:gd name="T22" fmla="*/ 2147483647 w 91"/>
              <a:gd name="T23" fmla="*/ 2147483647 h 799"/>
              <a:gd name="T24" fmla="*/ 2147483647 w 91"/>
              <a:gd name="T25" fmla="*/ 2147483647 h 799"/>
              <a:gd name="T26" fmla="*/ 2147483647 w 91"/>
              <a:gd name="T27" fmla="*/ 2147483647 h 799"/>
              <a:gd name="T28" fmla="*/ 2147483647 w 91"/>
              <a:gd name="T29" fmla="*/ 2147483647 h 799"/>
              <a:gd name="T30" fmla="*/ 2147483647 w 91"/>
              <a:gd name="T31" fmla="*/ 2147483647 h 799"/>
              <a:gd name="T32" fmla="*/ 2147483647 w 91"/>
              <a:gd name="T33" fmla="*/ 2147483647 h 799"/>
              <a:gd name="T34" fmla="*/ 2147483647 w 91"/>
              <a:gd name="T35" fmla="*/ 2147483647 h 799"/>
              <a:gd name="T36" fmla="*/ 2147483647 w 91"/>
              <a:gd name="T37" fmla="*/ 2147483647 h 799"/>
              <a:gd name="T38" fmla="*/ 2147483647 w 91"/>
              <a:gd name="T39" fmla="*/ 2147483647 h 799"/>
              <a:gd name="T40" fmla="*/ 2147483647 w 91"/>
              <a:gd name="T41" fmla="*/ 2147483647 h 799"/>
              <a:gd name="T42" fmla="*/ 0 w 91"/>
              <a:gd name="T43" fmla="*/ 2147483647 h 799"/>
              <a:gd name="T44" fmla="*/ 0 w 91"/>
              <a:gd name="T45" fmla="*/ 2147483647 h 799"/>
              <a:gd name="T46" fmla="*/ 0 w 91"/>
              <a:gd name="T47" fmla="*/ 2147483647 h 799"/>
              <a:gd name="T48" fmla="*/ 0 w 91"/>
              <a:gd name="T49" fmla="*/ 2147483647 h 799"/>
              <a:gd name="T50" fmla="*/ 0 w 91"/>
              <a:gd name="T51" fmla="*/ 2147483647 h 799"/>
              <a:gd name="T52" fmla="*/ 0 w 91"/>
              <a:gd name="T53" fmla="*/ 2147483647 h 799"/>
              <a:gd name="T54" fmla="*/ 2147483647 w 91"/>
              <a:gd name="T55" fmla="*/ 2147483647 h 799"/>
              <a:gd name="T56" fmla="*/ 2147483647 w 91"/>
              <a:gd name="T57" fmla="*/ 2147483647 h 799"/>
              <a:gd name="T58" fmla="*/ 2147483647 w 91"/>
              <a:gd name="T59" fmla="*/ 2147483647 h 799"/>
              <a:gd name="T60" fmla="*/ 2147483647 w 91"/>
              <a:gd name="T61" fmla="*/ 2147483647 h 799"/>
              <a:gd name="T62" fmla="*/ 2147483647 w 91"/>
              <a:gd name="T63" fmla="*/ 2147483647 h 799"/>
              <a:gd name="T64" fmla="*/ 2147483647 w 91"/>
              <a:gd name="T65" fmla="*/ 2147483647 h 799"/>
              <a:gd name="T66" fmla="*/ 2147483647 w 91"/>
              <a:gd name="T67" fmla="*/ 2147483647 h 799"/>
              <a:gd name="T68" fmla="*/ 2147483647 w 91"/>
              <a:gd name="T69" fmla="*/ 2147483647 h 799"/>
              <a:gd name="T70" fmla="*/ 2147483647 w 91"/>
              <a:gd name="T71" fmla="*/ 2147483647 h 799"/>
              <a:gd name="T72" fmla="*/ 2147483647 w 91"/>
              <a:gd name="T73" fmla="*/ 2147483647 h 799"/>
              <a:gd name="T74" fmla="*/ 2147483647 w 91"/>
              <a:gd name="T75" fmla="*/ 2147483647 h 799"/>
              <a:gd name="T76" fmla="*/ 2147483647 w 91"/>
              <a:gd name="T77" fmla="*/ 2147483647 h 799"/>
              <a:gd name="T78" fmla="*/ 2147483647 w 91"/>
              <a:gd name="T79" fmla="*/ 2147483647 h 799"/>
              <a:gd name="T80" fmla="*/ 2147483647 w 91"/>
              <a:gd name="T81" fmla="*/ 2147483647 h 799"/>
              <a:gd name="T82" fmla="*/ 2147483647 w 91"/>
              <a:gd name="T83" fmla="*/ 2147483647 h 799"/>
              <a:gd name="T84" fmla="*/ 2147483647 w 91"/>
              <a:gd name="T85" fmla="*/ 2147483647 h 799"/>
              <a:gd name="T86" fmla="*/ 2147483647 w 91"/>
              <a:gd name="T87" fmla="*/ 2147483647 h 799"/>
              <a:gd name="T88" fmla="*/ 2147483647 w 91"/>
              <a:gd name="T89" fmla="*/ 2147483647 h 799"/>
              <a:gd name="T90" fmla="*/ 2147483647 w 91"/>
              <a:gd name="T91" fmla="*/ 2147483647 h 799"/>
              <a:gd name="T92" fmla="*/ 2147483647 w 91"/>
              <a:gd name="T93" fmla="*/ 2147483647 h 799"/>
              <a:gd name="T94" fmla="*/ 2147483647 w 91"/>
              <a:gd name="T95" fmla="*/ 2147483647 h 799"/>
              <a:gd name="T96" fmla="*/ 2147483647 w 91"/>
              <a:gd name="T97" fmla="*/ 2147483647 h 799"/>
              <a:gd name="T98" fmla="*/ 2147483647 w 91"/>
              <a:gd name="T99" fmla="*/ 2147483647 h 799"/>
              <a:gd name="T100" fmla="*/ 2147483647 w 91"/>
              <a:gd name="T101" fmla="*/ 2147483647 h 7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1"/>
              <a:gd name="T154" fmla="*/ 0 h 799"/>
              <a:gd name="T155" fmla="*/ 91 w 91"/>
              <a:gd name="T156" fmla="*/ 799 h 79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a:solidFill>
              <a:schemeClr val="tx1"/>
            </a:solidFill>
            <a:round/>
            <a:headEnd/>
            <a:tailEnd/>
          </a:ln>
        </p:spPr>
        <p:txBody>
          <a:bodyPr/>
          <a:lstStyle/>
          <a:p>
            <a:endParaRPr lang="zh-CN" altLang="en-US"/>
          </a:p>
        </p:txBody>
      </p:sp>
      <p:sp>
        <p:nvSpPr>
          <p:cNvPr id="30735" name="Rectangle 104"/>
          <p:cNvSpPr>
            <a:spLocks noChangeArrowheads="1"/>
          </p:cNvSpPr>
          <p:nvPr/>
        </p:nvSpPr>
        <p:spPr bwMode="auto">
          <a:xfrm>
            <a:off x="4051300" y="2236788"/>
            <a:ext cx="1095375" cy="454025"/>
          </a:xfrm>
          <a:prstGeom prst="rect">
            <a:avLst/>
          </a:prstGeom>
          <a:noFill/>
          <a:ln w="12700">
            <a:noFill/>
            <a:miter lim="800000"/>
            <a:headEnd/>
            <a:tailEnd/>
          </a:ln>
        </p:spPr>
        <p:txBody>
          <a:bodyPr wrap="none" lIns="90488" tIns="44450" rIns="90488" bIns="44450">
            <a:spAutoFit/>
          </a:bodyPr>
          <a:lstStyle/>
          <a:p>
            <a:pPr algn="l" defTabSz="762000" eaLnBrk="0" hangingPunct="0"/>
            <a:r>
              <a:rPr kumimoji="1" lang="zh-CN" altLang="en-US">
                <a:solidFill>
                  <a:srgbClr val="333399"/>
                </a:solidFill>
                <a:latin typeface="Arial" pitchFamily="34" charset="0"/>
                <a:ea typeface="黑体" pitchFamily="49" charset="-122"/>
              </a:rPr>
              <a:t>折射角</a:t>
            </a:r>
          </a:p>
        </p:txBody>
      </p:sp>
      <p:sp>
        <p:nvSpPr>
          <p:cNvPr id="30736" name="Rectangle 105"/>
          <p:cNvSpPr>
            <a:spLocks noChangeArrowheads="1"/>
          </p:cNvSpPr>
          <p:nvPr/>
        </p:nvSpPr>
        <p:spPr bwMode="auto">
          <a:xfrm>
            <a:off x="3184525" y="4116388"/>
            <a:ext cx="1096963" cy="454025"/>
          </a:xfrm>
          <a:prstGeom prst="rect">
            <a:avLst/>
          </a:prstGeom>
          <a:noFill/>
          <a:ln w="12700">
            <a:noFill/>
            <a:miter lim="800000"/>
            <a:headEnd/>
            <a:tailEnd/>
          </a:ln>
        </p:spPr>
        <p:txBody>
          <a:bodyPr lIns="90488" tIns="44450" rIns="90488" bIns="44450">
            <a:spAutoFit/>
          </a:bodyPr>
          <a:lstStyle/>
          <a:p>
            <a:pPr algn="l" defTabSz="762000" eaLnBrk="0" hangingPunct="0"/>
            <a:r>
              <a:rPr kumimoji="1" lang="zh-CN" altLang="en-US">
                <a:solidFill>
                  <a:srgbClr val="333399"/>
                </a:solidFill>
                <a:latin typeface="Arial" pitchFamily="34" charset="0"/>
                <a:ea typeface="黑体" pitchFamily="49" charset="-122"/>
              </a:rPr>
              <a:t>入射角</a:t>
            </a:r>
          </a:p>
        </p:txBody>
      </p:sp>
      <p:sp>
        <p:nvSpPr>
          <p:cNvPr id="30737" name="Line 106"/>
          <p:cNvSpPr>
            <a:spLocks noChangeShapeType="1"/>
          </p:cNvSpPr>
          <p:nvPr/>
        </p:nvSpPr>
        <p:spPr bwMode="auto">
          <a:xfrm>
            <a:off x="4511675" y="2755900"/>
            <a:ext cx="119063" cy="720725"/>
          </a:xfrm>
          <a:prstGeom prst="line">
            <a:avLst/>
          </a:prstGeom>
          <a:noFill/>
          <a:ln w="12700">
            <a:solidFill>
              <a:srgbClr val="333399"/>
            </a:solidFill>
            <a:round/>
            <a:headEnd/>
            <a:tailEnd/>
          </a:ln>
        </p:spPr>
        <p:txBody>
          <a:bodyPr wrap="none" anchor="ctr"/>
          <a:lstStyle/>
          <a:p>
            <a:endParaRPr lang="zh-CN" altLang="en-US"/>
          </a:p>
        </p:txBody>
      </p:sp>
      <p:sp>
        <p:nvSpPr>
          <p:cNvPr id="30738" name="Line 107"/>
          <p:cNvSpPr>
            <a:spLocks noChangeShapeType="1"/>
          </p:cNvSpPr>
          <p:nvPr/>
        </p:nvSpPr>
        <p:spPr bwMode="auto">
          <a:xfrm flipV="1">
            <a:off x="3184525" y="2711450"/>
            <a:ext cx="1047750" cy="768350"/>
          </a:xfrm>
          <a:prstGeom prst="line">
            <a:avLst/>
          </a:prstGeom>
          <a:noFill/>
          <a:ln w="12700">
            <a:solidFill>
              <a:srgbClr val="333399"/>
            </a:solidFill>
            <a:round/>
            <a:headEnd/>
            <a:tailEnd/>
          </a:ln>
        </p:spPr>
        <p:txBody>
          <a:bodyPr wrap="none" anchor="ctr"/>
          <a:lstStyle/>
          <a:p>
            <a:endParaRPr lang="zh-CN" altLang="en-US"/>
          </a:p>
        </p:txBody>
      </p:sp>
      <p:sp>
        <p:nvSpPr>
          <p:cNvPr id="30739" name="Line 108"/>
          <p:cNvSpPr>
            <a:spLocks noChangeShapeType="1"/>
          </p:cNvSpPr>
          <p:nvPr/>
        </p:nvSpPr>
        <p:spPr bwMode="auto">
          <a:xfrm>
            <a:off x="3022600" y="4105275"/>
            <a:ext cx="298450" cy="255588"/>
          </a:xfrm>
          <a:prstGeom prst="line">
            <a:avLst/>
          </a:prstGeom>
          <a:noFill/>
          <a:ln w="12700">
            <a:solidFill>
              <a:srgbClr val="333399"/>
            </a:solidFill>
            <a:round/>
            <a:headEnd/>
            <a:tailEnd/>
          </a:ln>
        </p:spPr>
        <p:txBody>
          <a:bodyPr wrap="none" anchor="ctr"/>
          <a:lstStyle/>
          <a:p>
            <a:endParaRPr lang="zh-CN" altLang="en-US"/>
          </a:p>
        </p:txBody>
      </p:sp>
      <p:sp>
        <p:nvSpPr>
          <p:cNvPr id="30740" name="Line 109"/>
          <p:cNvSpPr>
            <a:spLocks noChangeShapeType="1"/>
          </p:cNvSpPr>
          <p:nvPr/>
        </p:nvSpPr>
        <p:spPr bwMode="auto">
          <a:xfrm flipV="1">
            <a:off x="3994150" y="4049713"/>
            <a:ext cx="249238" cy="319087"/>
          </a:xfrm>
          <a:prstGeom prst="line">
            <a:avLst/>
          </a:prstGeom>
          <a:noFill/>
          <a:ln w="12700">
            <a:solidFill>
              <a:srgbClr val="333399"/>
            </a:solidFill>
            <a:round/>
            <a:headEnd/>
            <a:tailEnd/>
          </a:ln>
        </p:spPr>
        <p:txBody>
          <a:bodyPr wrap="none" anchor="ctr"/>
          <a:lstStyle/>
          <a:p>
            <a:endParaRPr lang="zh-CN" altLang="en-US"/>
          </a:p>
        </p:txBody>
      </p:sp>
      <p:sp>
        <p:nvSpPr>
          <p:cNvPr id="30741" name="Line 110"/>
          <p:cNvSpPr>
            <a:spLocks noChangeShapeType="1"/>
          </p:cNvSpPr>
          <p:nvPr/>
        </p:nvSpPr>
        <p:spPr bwMode="auto">
          <a:xfrm flipV="1">
            <a:off x="5365750" y="3813175"/>
            <a:ext cx="608013" cy="328613"/>
          </a:xfrm>
          <a:prstGeom prst="line">
            <a:avLst/>
          </a:prstGeom>
          <a:noFill/>
          <a:ln w="12700">
            <a:solidFill>
              <a:srgbClr val="333399"/>
            </a:solidFill>
            <a:round/>
            <a:headEnd/>
            <a:tailEnd/>
          </a:ln>
        </p:spPr>
        <p:txBody>
          <a:bodyPr wrap="none" anchor="ctr"/>
          <a:lstStyle/>
          <a:p>
            <a:endParaRPr lang="zh-CN" altLang="en-US"/>
          </a:p>
        </p:txBody>
      </p:sp>
      <p:sp>
        <p:nvSpPr>
          <p:cNvPr id="30742" name="Line 111"/>
          <p:cNvSpPr>
            <a:spLocks noChangeShapeType="1"/>
          </p:cNvSpPr>
          <p:nvPr/>
        </p:nvSpPr>
        <p:spPr bwMode="auto">
          <a:xfrm flipH="1">
            <a:off x="5222875" y="2781300"/>
            <a:ext cx="501650" cy="708025"/>
          </a:xfrm>
          <a:prstGeom prst="line">
            <a:avLst/>
          </a:prstGeom>
          <a:noFill/>
          <a:ln w="12700">
            <a:solidFill>
              <a:srgbClr val="333399"/>
            </a:solidFill>
            <a:round/>
            <a:headEnd/>
            <a:tailEnd/>
          </a:ln>
        </p:spPr>
        <p:txBody>
          <a:bodyPr wrap="none" anchor="ctr"/>
          <a:lstStyle/>
          <a:p>
            <a:endParaRPr lang="zh-CN" altLang="en-US"/>
          </a:p>
        </p:txBody>
      </p:sp>
      <p:sp>
        <p:nvSpPr>
          <p:cNvPr id="30743" name="Freeform 112"/>
          <p:cNvSpPr>
            <a:spLocks/>
          </p:cNvSpPr>
          <p:nvPr/>
        </p:nvSpPr>
        <p:spPr bwMode="auto">
          <a:xfrm>
            <a:off x="5443538" y="3225800"/>
            <a:ext cx="22225" cy="493713"/>
          </a:xfrm>
          <a:custGeom>
            <a:avLst/>
            <a:gdLst>
              <a:gd name="T0" fmla="*/ 0 w 13"/>
              <a:gd name="T1" fmla="*/ 0 h 217"/>
              <a:gd name="T2" fmla="*/ 2147483647 w 13"/>
              <a:gd name="T3" fmla="*/ 2147483647 h 217"/>
              <a:gd name="T4" fmla="*/ 2147483647 w 13"/>
              <a:gd name="T5" fmla="*/ 2147483647 h 217"/>
              <a:gd name="T6" fmla="*/ 2147483647 w 13"/>
              <a:gd name="T7" fmla="*/ 2147483647 h 217"/>
              <a:gd name="T8" fmla="*/ 2147483647 w 13"/>
              <a:gd name="T9" fmla="*/ 2147483647 h 217"/>
              <a:gd name="T10" fmla="*/ 2147483647 w 13"/>
              <a:gd name="T11" fmla="*/ 2147483647 h 217"/>
              <a:gd name="T12" fmla="*/ 0 w 13"/>
              <a:gd name="T13" fmla="*/ 2147483647 h 217"/>
              <a:gd name="T14" fmla="*/ 0 w 13"/>
              <a:gd name="T15" fmla="*/ 2147483647 h 217"/>
              <a:gd name="T16" fmla="*/ 0 w 13"/>
              <a:gd name="T17" fmla="*/ 2147483647 h 217"/>
              <a:gd name="T18" fmla="*/ 0 w 13"/>
              <a:gd name="T19" fmla="*/ 2147483647 h 217"/>
              <a:gd name="T20" fmla="*/ 0 w 13"/>
              <a:gd name="T21" fmla="*/ 2147483647 h 217"/>
              <a:gd name="T22" fmla="*/ 2147483647 w 13"/>
              <a:gd name="T23" fmla="*/ 2147483647 h 217"/>
              <a:gd name="T24" fmla="*/ 2147483647 w 13"/>
              <a:gd name="T25" fmla="*/ 2147483647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217"/>
              <a:gd name="T41" fmla="*/ 13 w 13"/>
              <a:gd name="T42" fmla="*/ 217 h 2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a:solidFill>
              <a:schemeClr val="tx1"/>
            </a:solidFill>
            <a:round/>
            <a:headEnd/>
            <a:tailEnd/>
          </a:ln>
        </p:spPr>
        <p:txBody>
          <a:bodyPr/>
          <a:lstStyle/>
          <a:p>
            <a:endParaRPr lang="zh-CN" altLang="en-US"/>
          </a:p>
        </p:txBody>
      </p:sp>
      <p:sp>
        <p:nvSpPr>
          <p:cNvPr id="30744" name="Freeform 113"/>
          <p:cNvSpPr>
            <a:spLocks/>
          </p:cNvSpPr>
          <p:nvPr/>
        </p:nvSpPr>
        <p:spPr bwMode="auto">
          <a:xfrm>
            <a:off x="5413375" y="3703638"/>
            <a:ext cx="82550" cy="919162"/>
          </a:xfrm>
          <a:custGeom>
            <a:avLst/>
            <a:gdLst>
              <a:gd name="T0" fmla="*/ 2147483647 w 49"/>
              <a:gd name="T1" fmla="*/ 0 h 403"/>
              <a:gd name="T2" fmla="*/ 2147483647 w 49"/>
              <a:gd name="T3" fmla="*/ 2147483647 h 403"/>
              <a:gd name="T4" fmla="*/ 2147483647 w 49"/>
              <a:gd name="T5" fmla="*/ 2147483647 h 403"/>
              <a:gd name="T6" fmla="*/ 2147483647 w 49"/>
              <a:gd name="T7" fmla="*/ 2147483647 h 403"/>
              <a:gd name="T8" fmla="*/ 2147483647 w 49"/>
              <a:gd name="T9" fmla="*/ 2147483647 h 403"/>
              <a:gd name="T10" fmla="*/ 2147483647 w 49"/>
              <a:gd name="T11" fmla="*/ 2147483647 h 403"/>
              <a:gd name="T12" fmla="*/ 2147483647 w 49"/>
              <a:gd name="T13" fmla="*/ 2147483647 h 403"/>
              <a:gd name="T14" fmla="*/ 2147483647 w 49"/>
              <a:gd name="T15" fmla="*/ 2147483647 h 403"/>
              <a:gd name="T16" fmla="*/ 2147483647 w 49"/>
              <a:gd name="T17" fmla="*/ 2147483647 h 403"/>
              <a:gd name="T18" fmla="*/ 2147483647 w 49"/>
              <a:gd name="T19" fmla="*/ 2147483647 h 403"/>
              <a:gd name="T20" fmla="*/ 2147483647 w 49"/>
              <a:gd name="T21" fmla="*/ 2147483647 h 403"/>
              <a:gd name="T22" fmla="*/ 2147483647 w 49"/>
              <a:gd name="T23" fmla="*/ 2147483647 h 403"/>
              <a:gd name="T24" fmla="*/ 2147483647 w 49"/>
              <a:gd name="T25" fmla="*/ 2147483647 h 403"/>
              <a:gd name="T26" fmla="*/ 2147483647 w 49"/>
              <a:gd name="T27" fmla="*/ 2147483647 h 403"/>
              <a:gd name="T28" fmla="*/ 2147483647 w 49"/>
              <a:gd name="T29" fmla="*/ 2147483647 h 403"/>
              <a:gd name="T30" fmla="*/ 2147483647 w 49"/>
              <a:gd name="T31" fmla="*/ 2147483647 h 403"/>
              <a:gd name="T32" fmla="*/ 2147483647 w 49"/>
              <a:gd name="T33" fmla="*/ 2147483647 h 403"/>
              <a:gd name="T34" fmla="*/ 2147483647 w 49"/>
              <a:gd name="T35" fmla="*/ 2147483647 h 403"/>
              <a:gd name="T36" fmla="*/ 2147483647 w 49"/>
              <a:gd name="T37" fmla="*/ 2147483647 h 403"/>
              <a:gd name="T38" fmla="*/ 2147483647 w 49"/>
              <a:gd name="T39" fmla="*/ 2147483647 h 403"/>
              <a:gd name="T40" fmla="*/ 2147483647 w 49"/>
              <a:gd name="T41" fmla="*/ 2147483647 h 403"/>
              <a:gd name="T42" fmla="*/ 2147483647 w 49"/>
              <a:gd name="T43" fmla="*/ 2147483647 h 403"/>
              <a:gd name="T44" fmla="*/ 0 w 49"/>
              <a:gd name="T45" fmla="*/ 2147483647 h 403"/>
              <a:gd name="T46" fmla="*/ 0 w 49"/>
              <a:gd name="T47" fmla="*/ 2147483647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
              <a:gd name="T73" fmla="*/ 0 h 403"/>
              <a:gd name="T74" fmla="*/ 49 w 49"/>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path>
            </a:pathLst>
          </a:custGeom>
          <a:noFill/>
          <a:ln w="12700" cap="rnd">
            <a:solidFill>
              <a:schemeClr val="tx1"/>
            </a:solidFill>
            <a:round/>
            <a:headEnd/>
            <a:tailEnd/>
          </a:ln>
        </p:spPr>
        <p:txBody>
          <a:bodyPr/>
          <a:lstStyle/>
          <a:p>
            <a:endParaRPr lang="zh-CN" altLang="en-US"/>
          </a:p>
        </p:txBody>
      </p:sp>
      <p:sp>
        <p:nvSpPr>
          <p:cNvPr id="30745" name="Freeform 114"/>
          <p:cNvSpPr>
            <a:spLocks/>
          </p:cNvSpPr>
          <p:nvPr/>
        </p:nvSpPr>
        <p:spPr bwMode="auto">
          <a:xfrm>
            <a:off x="5392738" y="4619625"/>
            <a:ext cx="22225" cy="454025"/>
          </a:xfrm>
          <a:custGeom>
            <a:avLst/>
            <a:gdLst>
              <a:gd name="T0" fmla="*/ 2147483647 w 13"/>
              <a:gd name="T1" fmla="*/ 0 h 199"/>
              <a:gd name="T2" fmla="*/ 2147483647 w 13"/>
              <a:gd name="T3" fmla="*/ 2147483647 h 199"/>
              <a:gd name="T4" fmla="*/ 2147483647 w 13"/>
              <a:gd name="T5" fmla="*/ 2147483647 h 199"/>
              <a:gd name="T6" fmla="*/ 2147483647 w 13"/>
              <a:gd name="T7" fmla="*/ 2147483647 h 199"/>
              <a:gd name="T8" fmla="*/ 2147483647 w 13"/>
              <a:gd name="T9" fmla="*/ 2147483647 h 199"/>
              <a:gd name="T10" fmla="*/ 2147483647 w 13"/>
              <a:gd name="T11" fmla="*/ 2147483647 h 199"/>
              <a:gd name="T12" fmla="*/ 2147483647 w 13"/>
              <a:gd name="T13" fmla="*/ 2147483647 h 199"/>
              <a:gd name="T14" fmla="*/ 2147483647 w 13"/>
              <a:gd name="T15" fmla="*/ 2147483647 h 199"/>
              <a:gd name="T16" fmla="*/ 2147483647 w 13"/>
              <a:gd name="T17" fmla="*/ 2147483647 h 199"/>
              <a:gd name="T18" fmla="*/ 2147483647 w 13"/>
              <a:gd name="T19" fmla="*/ 2147483647 h 199"/>
              <a:gd name="T20" fmla="*/ 2147483647 w 13"/>
              <a:gd name="T21" fmla="*/ 2147483647 h 199"/>
              <a:gd name="T22" fmla="*/ 0 w 13"/>
              <a:gd name="T23" fmla="*/ 2147483647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
              <a:gd name="T37" fmla="*/ 0 h 199"/>
              <a:gd name="T38" fmla="*/ 13 w 13"/>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a:solidFill>
              <a:schemeClr val="tx1"/>
            </a:solidFill>
            <a:round/>
            <a:headEnd/>
            <a:tailEnd/>
          </a:ln>
        </p:spPr>
        <p:txBody>
          <a:bodyPr/>
          <a:lstStyle/>
          <a:p>
            <a:endParaRPr lang="zh-CN" altLang="en-US"/>
          </a:p>
        </p:txBody>
      </p:sp>
      <p:sp>
        <p:nvSpPr>
          <p:cNvPr id="30746" name="Arc 115"/>
          <p:cNvSpPr>
            <a:spLocks/>
          </p:cNvSpPr>
          <p:nvPr/>
        </p:nvSpPr>
        <p:spPr bwMode="auto">
          <a:xfrm rot="540000">
            <a:off x="4416425" y="3441700"/>
            <a:ext cx="354013" cy="346075"/>
          </a:xfrm>
          <a:custGeom>
            <a:avLst/>
            <a:gdLst>
              <a:gd name="T0" fmla="*/ 0 w 21600"/>
              <a:gd name="T1" fmla="*/ 0 h 21600"/>
              <a:gd name="T2" fmla="*/ 1558530917 w 21600"/>
              <a:gd name="T3" fmla="*/ 1423375198 h 21600"/>
              <a:gd name="T4" fmla="*/ 0 w 21600"/>
              <a:gd name="T5" fmla="*/ 142337519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headEnd/>
            <a:tailEnd/>
          </a:ln>
        </p:spPr>
        <p:txBody>
          <a:bodyPr wrap="none" anchor="ctr"/>
          <a:lstStyle/>
          <a:p>
            <a:endParaRPr lang="zh-CN" altLang="en-US"/>
          </a:p>
        </p:txBody>
      </p:sp>
      <p:sp>
        <p:nvSpPr>
          <p:cNvPr id="30747" name="Text Box 116"/>
          <p:cNvSpPr txBox="1">
            <a:spLocks noChangeArrowheads="1"/>
          </p:cNvSpPr>
          <p:nvPr/>
        </p:nvSpPr>
        <p:spPr bwMode="auto">
          <a:xfrm>
            <a:off x="5435600" y="2344738"/>
            <a:ext cx="2927350" cy="822325"/>
          </a:xfrm>
          <a:prstGeom prst="rect">
            <a:avLst/>
          </a:prstGeom>
          <a:noFill/>
          <a:ln w="9525">
            <a:noFill/>
            <a:miter lim="800000"/>
            <a:headEnd/>
            <a:tailEnd/>
          </a:ln>
        </p:spPr>
        <p:txBody>
          <a:bodyPr wrap="none">
            <a:spAutoFit/>
          </a:bodyPr>
          <a:lstStyle/>
          <a:p>
            <a:pPr algn="l"/>
            <a:r>
              <a:rPr kumimoji="1" lang="en-US" altLang="zh-CN">
                <a:solidFill>
                  <a:srgbClr val="333399"/>
                </a:solidFill>
                <a:latin typeface="Arial" pitchFamily="34" charset="0"/>
                <a:ea typeface="黑体" pitchFamily="49" charset="-122"/>
              </a:rPr>
              <a:t>  </a:t>
            </a:r>
            <a:r>
              <a:rPr kumimoji="1" lang="zh-CN" altLang="en-US">
                <a:solidFill>
                  <a:srgbClr val="333399"/>
                </a:solidFill>
                <a:latin typeface="Arial" pitchFamily="34" charset="0"/>
                <a:ea typeface="黑体" pitchFamily="49" charset="-122"/>
              </a:rPr>
              <a:t>包层</a:t>
            </a:r>
          </a:p>
          <a:p>
            <a:pPr algn="l"/>
            <a:r>
              <a:rPr kumimoji="1" lang="zh-CN" altLang="en-US">
                <a:solidFill>
                  <a:srgbClr val="333399"/>
                </a:solidFill>
                <a:latin typeface="Arial" pitchFamily="34" charset="0"/>
                <a:ea typeface="黑体" pitchFamily="49" charset="-122"/>
              </a:rPr>
              <a:t>（低折射率的媒体）</a:t>
            </a:r>
          </a:p>
        </p:txBody>
      </p:sp>
      <p:sp>
        <p:nvSpPr>
          <p:cNvPr id="30748" name="Line 117"/>
          <p:cNvSpPr>
            <a:spLocks noChangeShapeType="1"/>
          </p:cNvSpPr>
          <p:nvPr/>
        </p:nvSpPr>
        <p:spPr bwMode="auto">
          <a:xfrm flipH="1">
            <a:off x="5202238" y="4797425"/>
            <a:ext cx="652462" cy="109538"/>
          </a:xfrm>
          <a:prstGeom prst="line">
            <a:avLst/>
          </a:prstGeom>
          <a:noFill/>
          <a:ln w="12700">
            <a:solidFill>
              <a:srgbClr val="333399"/>
            </a:solidFill>
            <a:round/>
            <a:headEnd/>
            <a:tailEnd/>
          </a:ln>
        </p:spPr>
        <p:txBody>
          <a:bodyPr wrap="none" anchor="ctr"/>
          <a:lstStyle/>
          <a:p>
            <a:endParaRPr lang="zh-CN" altLang="en-US"/>
          </a:p>
        </p:txBody>
      </p:sp>
      <p:sp>
        <p:nvSpPr>
          <p:cNvPr id="30749" name="Text Box 118"/>
          <p:cNvSpPr txBox="1">
            <a:spLocks noChangeArrowheads="1"/>
          </p:cNvSpPr>
          <p:nvPr/>
        </p:nvSpPr>
        <p:spPr bwMode="auto">
          <a:xfrm>
            <a:off x="5724525" y="4503738"/>
            <a:ext cx="2927350" cy="822325"/>
          </a:xfrm>
          <a:prstGeom prst="rect">
            <a:avLst/>
          </a:prstGeom>
          <a:noFill/>
          <a:ln w="9525">
            <a:noFill/>
            <a:miter lim="800000"/>
            <a:headEnd/>
            <a:tailEnd/>
          </a:ln>
        </p:spPr>
        <p:txBody>
          <a:bodyPr wrap="none">
            <a:spAutoFit/>
          </a:bodyPr>
          <a:lstStyle/>
          <a:p>
            <a:pPr algn="l"/>
            <a:r>
              <a:rPr kumimoji="1" lang="en-US" altLang="zh-CN">
                <a:solidFill>
                  <a:srgbClr val="333399"/>
                </a:solidFill>
                <a:latin typeface="Arial" pitchFamily="34" charset="0"/>
                <a:ea typeface="黑体" pitchFamily="49" charset="-122"/>
              </a:rPr>
              <a:t>  </a:t>
            </a:r>
            <a:r>
              <a:rPr kumimoji="1" lang="zh-CN" altLang="en-US">
                <a:solidFill>
                  <a:srgbClr val="333399"/>
                </a:solidFill>
                <a:latin typeface="Arial" pitchFamily="34" charset="0"/>
                <a:ea typeface="黑体" pitchFamily="49" charset="-122"/>
              </a:rPr>
              <a:t>包层</a:t>
            </a:r>
          </a:p>
          <a:p>
            <a:pPr algn="l"/>
            <a:r>
              <a:rPr kumimoji="1" lang="zh-CN" altLang="en-US">
                <a:solidFill>
                  <a:srgbClr val="333399"/>
                </a:solidFill>
                <a:latin typeface="Arial" pitchFamily="34" charset="0"/>
                <a:ea typeface="黑体" pitchFamily="49" charset="-122"/>
              </a:rPr>
              <a:t>（低折射率的媒体）</a:t>
            </a:r>
          </a:p>
        </p:txBody>
      </p:sp>
      <p:sp>
        <p:nvSpPr>
          <p:cNvPr id="30750" name="Text Box 119"/>
          <p:cNvSpPr txBox="1">
            <a:spLocks noChangeArrowheads="1"/>
          </p:cNvSpPr>
          <p:nvPr/>
        </p:nvSpPr>
        <p:spPr bwMode="auto">
          <a:xfrm>
            <a:off x="5795963" y="3429000"/>
            <a:ext cx="3179762" cy="822325"/>
          </a:xfrm>
          <a:prstGeom prst="rect">
            <a:avLst/>
          </a:prstGeom>
          <a:noFill/>
          <a:ln w="9525">
            <a:noFill/>
            <a:miter lim="800000"/>
            <a:headEnd/>
            <a:tailEnd/>
          </a:ln>
        </p:spPr>
        <p:txBody>
          <a:bodyPr>
            <a:spAutoFit/>
          </a:bodyPr>
          <a:lstStyle/>
          <a:p>
            <a:pPr algn="l"/>
            <a:r>
              <a:rPr kumimoji="1" lang="en-US" altLang="zh-CN">
                <a:solidFill>
                  <a:srgbClr val="333399"/>
                </a:solidFill>
                <a:latin typeface="Arial" pitchFamily="34" charset="0"/>
                <a:ea typeface="黑体" pitchFamily="49" charset="-122"/>
              </a:rPr>
              <a:t>   </a:t>
            </a:r>
            <a:r>
              <a:rPr kumimoji="1" lang="zh-CN" altLang="en-US">
                <a:solidFill>
                  <a:srgbClr val="333399"/>
                </a:solidFill>
                <a:latin typeface="Arial" pitchFamily="34" charset="0"/>
                <a:ea typeface="黑体" pitchFamily="49" charset="-122"/>
              </a:rPr>
              <a:t>纤芯</a:t>
            </a:r>
          </a:p>
          <a:p>
            <a:pPr algn="l"/>
            <a:r>
              <a:rPr kumimoji="1" lang="zh-CN" altLang="en-US">
                <a:solidFill>
                  <a:srgbClr val="333399"/>
                </a:solidFill>
                <a:latin typeface="Arial" pitchFamily="34" charset="0"/>
                <a:ea typeface="黑体" pitchFamily="49" charset="-122"/>
              </a:rPr>
              <a:t>（高折射率的媒体）            </a:t>
            </a:r>
          </a:p>
        </p:txBody>
      </p:sp>
      <p:sp>
        <p:nvSpPr>
          <p:cNvPr id="30751" name="AutoShape 120"/>
          <p:cNvSpPr>
            <a:spLocks noChangeArrowheads="1"/>
          </p:cNvSpPr>
          <p:nvPr/>
        </p:nvSpPr>
        <p:spPr bwMode="auto">
          <a:xfrm rot="5400000">
            <a:off x="15082" y="3488531"/>
            <a:ext cx="1885950" cy="1306513"/>
          </a:xfrm>
          <a:prstGeom prst="can">
            <a:avLst>
              <a:gd name="adj" fmla="val 29815"/>
            </a:avLst>
          </a:prstGeom>
          <a:gradFill rotWithShape="1">
            <a:gsLst>
              <a:gs pos="0">
                <a:srgbClr val="2F7676"/>
              </a:gs>
              <a:gs pos="50000">
                <a:srgbClr val="66FFFF"/>
              </a:gs>
              <a:gs pos="100000">
                <a:srgbClr val="2F7676"/>
              </a:gs>
            </a:gsLst>
            <a:lin ang="0" scaled="1"/>
          </a:gradFill>
          <a:ln w="9525">
            <a:solidFill>
              <a:srgbClr val="333399"/>
            </a:solidFill>
            <a:round/>
            <a:headEnd/>
            <a:tailEnd/>
          </a:ln>
        </p:spPr>
        <p:txBody>
          <a:bodyPr wrap="none" anchor="ctr"/>
          <a:lstStyle/>
          <a:p>
            <a:endParaRPr lang="zh-CN" altLang="en-US"/>
          </a:p>
        </p:txBody>
      </p:sp>
      <p:sp>
        <p:nvSpPr>
          <p:cNvPr id="30752" name="AutoShape 121"/>
          <p:cNvSpPr>
            <a:spLocks noChangeArrowheads="1"/>
          </p:cNvSpPr>
          <p:nvPr/>
        </p:nvSpPr>
        <p:spPr bwMode="auto">
          <a:xfrm rot="5400000">
            <a:off x="1241425" y="3841750"/>
            <a:ext cx="901700" cy="654050"/>
          </a:xfrm>
          <a:prstGeom prst="can">
            <a:avLst>
              <a:gd name="adj" fmla="val 27343"/>
            </a:avLst>
          </a:prstGeom>
          <a:solidFill>
            <a:srgbClr val="FFFFFF"/>
          </a:solidFill>
          <a:ln w="9525">
            <a:solidFill>
              <a:srgbClr val="333399"/>
            </a:solidFill>
            <a:round/>
            <a:headEnd/>
            <a:tailEnd/>
          </a:ln>
        </p:spPr>
        <p:txBody>
          <a:bodyPr wrap="none" anchor="ctr"/>
          <a:lstStyle/>
          <a:p>
            <a:endParaRPr lang="zh-CN" altLang="en-US"/>
          </a:p>
        </p:txBody>
      </p:sp>
      <p:sp>
        <p:nvSpPr>
          <p:cNvPr id="30753" name="Text Box 122"/>
          <p:cNvSpPr txBox="1">
            <a:spLocks noChangeArrowheads="1"/>
          </p:cNvSpPr>
          <p:nvPr/>
        </p:nvSpPr>
        <p:spPr bwMode="auto">
          <a:xfrm>
            <a:off x="712788" y="2241550"/>
            <a:ext cx="793750" cy="457200"/>
          </a:xfrm>
          <a:prstGeom prst="rect">
            <a:avLst/>
          </a:prstGeom>
          <a:noFill/>
          <a:ln w="9525">
            <a:noFill/>
            <a:miter lim="800000"/>
            <a:headEnd/>
            <a:tailEnd/>
          </a:ln>
        </p:spPr>
        <p:txBody>
          <a:bodyPr wrap="none">
            <a:spAutoFit/>
          </a:bodyPr>
          <a:lstStyle/>
          <a:p>
            <a:pPr algn="l"/>
            <a:r>
              <a:rPr kumimoji="1" lang="zh-CN" altLang="en-US" dirty="0">
                <a:solidFill>
                  <a:srgbClr val="333399"/>
                </a:solidFill>
                <a:latin typeface="Arial" pitchFamily="34" charset="0"/>
                <a:ea typeface="黑体" pitchFamily="49" charset="-122"/>
              </a:rPr>
              <a:t>包层</a:t>
            </a:r>
          </a:p>
        </p:txBody>
      </p:sp>
      <p:sp>
        <p:nvSpPr>
          <p:cNvPr id="30754" name="Line 123"/>
          <p:cNvSpPr>
            <a:spLocks noChangeShapeType="1"/>
          </p:cNvSpPr>
          <p:nvPr/>
        </p:nvSpPr>
        <p:spPr bwMode="auto">
          <a:xfrm flipH="1">
            <a:off x="1039813" y="2828925"/>
            <a:ext cx="3175" cy="655638"/>
          </a:xfrm>
          <a:prstGeom prst="line">
            <a:avLst/>
          </a:prstGeom>
          <a:noFill/>
          <a:ln w="12700">
            <a:solidFill>
              <a:srgbClr val="333399"/>
            </a:solidFill>
            <a:round/>
            <a:headEnd/>
            <a:tailEnd/>
          </a:ln>
        </p:spPr>
        <p:txBody>
          <a:bodyPr wrap="none" anchor="ctr"/>
          <a:lstStyle/>
          <a:p>
            <a:endParaRPr lang="zh-CN" altLang="en-US"/>
          </a:p>
        </p:txBody>
      </p:sp>
      <p:sp>
        <p:nvSpPr>
          <p:cNvPr id="30755" name="Text Box 124"/>
          <p:cNvSpPr txBox="1">
            <a:spLocks noChangeArrowheads="1"/>
          </p:cNvSpPr>
          <p:nvPr/>
        </p:nvSpPr>
        <p:spPr bwMode="auto">
          <a:xfrm>
            <a:off x="1611313" y="2609850"/>
            <a:ext cx="696912" cy="822325"/>
          </a:xfrm>
          <a:prstGeom prst="rect">
            <a:avLst/>
          </a:prstGeom>
          <a:noFill/>
          <a:ln w="9525">
            <a:noFill/>
            <a:miter lim="800000"/>
            <a:headEnd/>
            <a:tailEnd/>
          </a:ln>
        </p:spPr>
        <p:txBody>
          <a:bodyPr>
            <a:spAutoFit/>
          </a:bodyPr>
          <a:lstStyle/>
          <a:p>
            <a:pPr algn="l"/>
            <a:r>
              <a:rPr kumimoji="1" lang="zh-CN" altLang="en-US">
                <a:solidFill>
                  <a:srgbClr val="333399"/>
                </a:solidFill>
                <a:latin typeface="Arial" pitchFamily="34" charset="0"/>
                <a:ea typeface="黑体" pitchFamily="49" charset="-122"/>
              </a:rPr>
              <a:t>纤芯</a:t>
            </a:r>
          </a:p>
        </p:txBody>
      </p:sp>
      <p:sp>
        <p:nvSpPr>
          <p:cNvPr id="30756" name="Line 125"/>
          <p:cNvSpPr>
            <a:spLocks noChangeShapeType="1"/>
          </p:cNvSpPr>
          <p:nvPr/>
        </p:nvSpPr>
        <p:spPr bwMode="auto">
          <a:xfrm flipH="1">
            <a:off x="1606550" y="3048000"/>
            <a:ext cx="249238" cy="874713"/>
          </a:xfrm>
          <a:prstGeom prst="line">
            <a:avLst/>
          </a:prstGeom>
          <a:noFill/>
          <a:ln w="12700">
            <a:solidFill>
              <a:srgbClr val="333399"/>
            </a:solidFill>
            <a:round/>
            <a:headEnd/>
            <a:tailEnd/>
          </a:ln>
        </p:spPr>
        <p:txBody>
          <a:bodyPr wrap="none" anchor="ctr"/>
          <a:lstStyle/>
          <a:p>
            <a:endParaRPr lang="zh-CN" altLang="en-US"/>
          </a:p>
        </p:txBody>
      </p:sp>
      <p:sp>
        <p:nvSpPr>
          <p:cNvPr id="45" name="TextBox 44"/>
          <p:cNvSpPr txBox="1"/>
          <p:nvPr/>
        </p:nvSpPr>
        <p:spPr>
          <a:xfrm>
            <a:off x="1835696" y="5589240"/>
            <a:ext cx="4680520" cy="461665"/>
          </a:xfrm>
          <a:prstGeom prst="rect">
            <a:avLst/>
          </a:prstGeom>
          <a:noFill/>
        </p:spPr>
        <p:txBody>
          <a:bodyPr wrap="square" rtlCol="0">
            <a:spAutoFit/>
          </a:bodyPr>
          <a:lstStyle/>
          <a:p>
            <a:r>
              <a:rPr lang="zh-CN" altLang="en-US" dirty="0" smtClean="0"/>
              <a:t>光线在光纤中的折射</a:t>
            </a: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eaLnBrk="1" hangingPunct="1"/>
            <a:r>
              <a:rPr lang="zh-CN" altLang="en-US" dirty="0" smtClean="0"/>
              <a:t>光纤的工作原理</a:t>
            </a:r>
          </a:p>
        </p:txBody>
      </p:sp>
      <p:sp>
        <p:nvSpPr>
          <p:cNvPr id="31747" name="Rectangle 3"/>
          <p:cNvSpPr>
            <a:spLocks noChangeArrowheads="1"/>
          </p:cNvSpPr>
          <p:nvPr/>
        </p:nvSpPr>
        <p:spPr bwMode="auto">
          <a:xfrm>
            <a:off x="2662238" y="3170238"/>
            <a:ext cx="4891087" cy="244475"/>
          </a:xfrm>
          <a:prstGeom prst="rect">
            <a:avLst/>
          </a:prstGeom>
          <a:solidFill>
            <a:srgbClr val="DDDDDD"/>
          </a:solidFill>
          <a:ln w="12700">
            <a:noFill/>
            <a:miter lim="800000"/>
            <a:headEnd/>
            <a:tailEnd/>
          </a:ln>
        </p:spPr>
        <p:txBody>
          <a:bodyPr wrap="none" anchor="ctr"/>
          <a:lstStyle/>
          <a:p>
            <a:endParaRPr lang="zh-CN" altLang="en-US"/>
          </a:p>
        </p:txBody>
      </p:sp>
      <p:sp>
        <p:nvSpPr>
          <p:cNvPr id="31748" name="Rectangle 4"/>
          <p:cNvSpPr>
            <a:spLocks noChangeArrowheads="1"/>
          </p:cNvSpPr>
          <p:nvPr/>
        </p:nvSpPr>
        <p:spPr bwMode="auto">
          <a:xfrm>
            <a:off x="2662238" y="3414713"/>
            <a:ext cx="4891087" cy="344487"/>
          </a:xfrm>
          <a:prstGeom prst="rect">
            <a:avLst/>
          </a:prstGeom>
          <a:solidFill>
            <a:srgbClr val="FFFFFF"/>
          </a:solidFill>
          <a:ln w="12700">
            <a:noFill/>
            <a:miter lim="800000"/>
            <a:headEnd/>
            <a:tailEnd/>
          </a:ln>
        </p:spPr>
        <p:txBody>
          <a:bodyPr wrap="none" anchor="ctr"/>
          <a:lstStyle/>
          <a:p>
            <a:endParaRPr lang="zh-CN" altLang="en-US"/>
          </a:p>
        </p:txBody>
      </p:sp>
      <p:sp>
        <p:nvSpPr>
          <p:cNvPr id="31749" name="Rectangle 5"/>
          <p:cNvSpPr>
            <a:spLocks noChangeArrowheads="1"/>
          </p:cNvSpPr>
          <p:nvPr/>
        </p:nvSpPr>
        <p:spPr bwMode="auto">
          <a:xfrm>
            <a:off x="2662238" y="3759200"/>
            <a:ext cx="4891087" cy="246063"/>
          </a:xfrm>
          <a:prstGeom prst="rect">
            <a:avLst/>
          </a:prstGeom>
          <a:solidFill>
            <a:srgbClr val="DDDDDD"/>
          </a:solidFill>
          <a:ln w="12700">
            <a:noFill/>
            <a:miter lim="800000"/>
            <a:headEnd/>
            <a:tailEnd/>
          </a:ln>
        </p:spPr>
        <p:txBody>
          <a:bodyPr wrap="none" anchor="ctr"/>
          <a:lstStyle/>
          <a:p>
            <a:endParaRPr lang="zh-CN" altLang="en-US"/>
          </a:p>
        </p:txBody>
      </p:sp>
      <p:sp>
        <p:nvSpPr>
          <p:cNvPr id="31750" name="AutoShape 6"/>
          <p:cNvSpPr>
            <a:spLocks noChangeArrowheads="1"/>
          </p:cNvSpPr>
          <p:nvPr/>
        </p:nvSpPr>
        <p:spPr bwMode="auto">
          <a:xfrm rot="5400000">
            <a:off x="1374775" y="3152776"/>
            <a:ext cx="835025" cy="869950"/>
          </a:xfrm>
          <a:prstGeom prst="can">
            <a:avLst>
              <a:gd name="adj" fmla="val 26046"/>
            </a:avLst>
          </a:prstGeom>
          <a:gradFill rotWithShape="1">
            <a:gsLst>
              <a:gs pos="0">
                <a:srgbClr val="666666"/>
              </a:gs>
              <a:gs pos="50000">
                <a:srgbClr val="DDDDDD"/>
              </a:gs>
              <a:gs pos="100000">
                <a:srgbClr val="666666"/>
              </a:gs>
            </a:gsLst>
            <a:lin ang="0" scaled="1"/>
          </a:gradFill>
          <a:ln w="9525">
            <a:solidFill>
              <a:schemeClr val="tx1"/>
            </a:solidFill>
            <a:round/>
            <a:headEnd/>
            <a:tailEnd/>
          </a:ln>
        </p:spPr>
        <p:txBody>
          <a:bodyPr wrap="none" anchor="ctr"/>
          <a:lstStyle/>
          <a:p>
            <a:endParaRPr lang="zh-CN" altLang="en-US"/>
          </a:p>
        </p:txBody>
      </p:sp>
      <p:sp>
        <p:nvSpPr>
          <p:cNvPr id="31751" name="AutoShape 7"/>
          <p:cNvSpPr>
            <a:spLocks noChangeArrowheads="1"/>
          </p:cNvSpPr>
          <p:nvPr/>
        </p:nvSpPr>
        <p:spPr bwMode="auto">
          <a:xfrm rot="5400000">
            <a:off x="2108994" y="3369469"/>
            <a:ext cx="344487" cy="434975"/>
          </a:xfrm>
          <a:prstGeom prst="can">
            <a:avLst>
              <a:gd name="adj" fmla="val 20711"/>
            </a:avLst>
          </a:prstGeom>
          <a:solidFill>
            <a:schemeClr val="bg1"/>
          </a:solidFill>
          <a:ln w="9525">
            <a:solidFill>
              <a:schemeClr val="tx1"/>
            </a:solidFill>
            <a:round/>
            <a:headEnd/>
            <a:tailEnd/>
          </a:ln>
        </p:spPr>
        <p:txBody>
          <a:bodyPr wrap="none" anchor="ctr"/>
          <a:lstStyle/>
          <a:p>
            <a:endParaRPr lang="zh-CN" altLang="en-US"/>
          </a:p>
        </p:txBody>
      </p:sp>
      <p:grpSp>
        <p:nvGrpSpPr>
          <p:cNvPr id="31752" name="Group 8"/>
          <p:cNvGrpSpPr>
            <a:grpSpLocks/>
          </p:cNvGrpSpPr>
          <p:nvPr/>
        </p:nvGrpSpPr>
        <p:grpSpPr bwMode="auto">
          <a:xfrm>
            <a:off x="2662238" y="3170238"/>
            <a:ext cx="4891087" cy="835025"/>
            <a:chOff x="912" y="912"/>
            <a:chExt cx="4608" cy="816"/>
          </a:xfrm>
        </p:grpSpPr>
        <p:sp>
          <p:nvSpPr>
            <p:cNvPr id="31760" name="Line 9"/>
            <p:cNvSpPr>
              <a:spLocks noChangeShapeType="1"/>
            </p:cNvSpPr>
            <p:nvPr/>
          </p:nvSpPr>
          <p:spPr bwMode="auto">
            <a:xfrm>
              <a:off x="912" y="912"/>
              <a:ext cx="4608" cy="0"/>
            </a:xfrm>
            <a:prstGeom prst="line">
              <a:avLst/>
            </a:prstGeom>
            <a:noFill/>
            <a:ln w="9525">
              <a:solidFill>
                <a:schemeClr val="tx1"/>
              </a:solidFill>
              <a:round/>
              <a:headEnd/>
              <a:tailEnd/>
            </a:ln>
          </p:spPr>
          <p:txBody>
            <a:bodyPr wrap="none"/>
            <a:lstStyle/>
            <a:p>
              <a:endParaRPr lang="zh-CN" altLang="en-US"/>
            </a:p>
          </p:txBody>
        </p:sp>
        <p:sp>
          <p:nvSpPr>
            <p:cNvPr id="31761" name="Line 10"/>
            <p:cNvSpPr>
              <a:spLocks noChangeShapeType="1"/>
            </p:cNvSpPr>
            <p:nvPr/>
          </p:nvSpPr>
          <p:spPr bwMode="auto">
            <a:xfrm>
              <a:off x="912" y="1152"/>
              <a:ext cx="4608" cy="0"/>
            </a:xfrm>
            <a:prstGeom prst="line">
              <a:avLst/>
            </a:prstGeom>
            <a:noFill/>
            <a:ln w="9525">
              <a:solidFill>
                <a:schemeClr val="tx1"/>
              </a:solidFill>
              <a:round/>
              <a:headEnd/>
              <a:tailEnd/>
            </a:ln>
          </p:spPr>
          <p:txBody>
            <a:bodyPr wrap="none"/>
            <a:lstStyle/>
            <a:p>
              <a:endParaRPr lang="zh-CN" altLang="en-US"/>
            </a:p>
          </p:txBody>
        </p:sp>
        <p:sp>
          <p:nvSpPr>
            <p:cNvPr id="31762" name="Line 11"/>
            <p:cNvSpPr>
              <a:spLocks noChangeShapeType="1"/>
            </p:cNvSpPr>
            <p:nvPr/>
          </p:nvSpPr>
          <p:spPr bwMode="auto">
            <a:xfrm>
              <a:off x="912" y="1488"/>
              <a:ext cx="4608" cy="0"/>
            </a:xfrm>
            <a:prstGeom prst="line">
              <a:avLst/>
            </a:prstGeom>
            <a:noFill/>
            <a:ln w="9525">
              <a:solidFill>
                <a:schemeClr val="tx1"/>
              </a:solidFill>
              <a:round/>
              <a:headEnd/>
              <a:tailEnd/>
            </a:ln>
          </p:spPr>
          <p:txBody>
            <a:bodyPr wrap="none"/>
            <a:lstStyle/>
            <a:p>
              <a:endParaRPr lang="zh-CN" altLang="en-US"/>
            </a:p>
          </p:txBody>
        </p:sp>
        <p:sp>
          <p:nvSpPr>
            <p:cNvPr id="31763" name="Line 12"/>
            <p:cNvSpPr>
              <a:spLocks noChangeShapeType="1"/>
            </p:cNvSpPr>
            <p:nvPr/>
          </p:nvSpPr>
          <p:spPr bwMode="auto">
            <a:xfrm>
              <a:off x="912" y="1728"/>
              <a:ext cx="4608" cy="0"/>
            </a:xfrm>
            <a:prstGeom prst="line">
              <a:avLst/>
            </a:prstGeom>
            <a:noFill/>
            <a:ln w="9525">
              <a:solidFill>
                <a:schemeClr val="tx1"/>
              </a:solidFill>
              <a:round/>
              <a:headEnd/>
              <a:tailEnd/>
            </a:ln>
          </p:spPr>
          <p:txBody>
            <a:bodyPr wrap="none"/>
            <a:lstStyle/>
            <a:p>
              <a:endParaRPr lang="zh-CN" altLang="en-US"/>
            </a:p>
          </p:txBody>
        </p:sp>
      </p:grpSp>
      <p:sp>
        <p:nvSpPr>
          <p:cNvPr id="31753" name="Line 13"/>
          <p:cNvSpPr>
            <a:spLocks noChangeShapeType="1"/>
          </p:cNvSpPr>
          <p:nvPr/>
        </p:nvSpPr>
        <p:spPr bwMode="auto">
          <a:xfrm>
            <a:off x="2563813" y="3584575"/>
            <a:ext cx="5176837" cy="3175"/>
          </a:xfrm>
          <a:prstGeom prst="line">
            <a:avLst/>
          </a:prstGeom>
          <a:noFill/>
          <a:ln w="19050">
            <a:solidFill>
              <a:srgbClr val="333399"/>
            </a:solidFill>
            <a:prstDash val="lgDashDot"/>
            <a:round/>
            <a:headEnd/>
            <a:tailEnd/>
          </a:ln>
        </p:spPr>
        <p:txBody>
          <a:bodyPr wrap="none"/>
          <a:lstStyle/>
          <a:p>
            <a:endParaRPr lang="zh-CN" altLang="en-US"/>
          </a:p>
        </p:txBody>
      </p:sp>
      <p:sp>
        <p:nvSpPr>
          <p:cNvPr id="31754" name="Text Box 14"/>
          <p:cNvSpPr txBox="1">
            <a:spLocks noChangeArrowheads="1"/>
          </p:cNvSpPr>
          <p:nvPr/>
        </p:nvSpPr>
        <p:spPr bwMode="auto">
          <a:xfrm>
            <a:off x="1979613" y="1989138"/>
            <a:ext cx="1200150" cy="7016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高折射率</a:t>
            </a:r>
          </a:p>
          <a:p>
            <a:r>
              <a:rPr kumimoji="1" lang="en-US" altLang="zh-CN" sz="2000">
                <a:solidFill>
                  <a:srgbClr val="333399"/>
                </a:solidFill>
                <a:latin typeface="黑体" pitchFamily="49" charset="-122"/>
                <a:ea typeface="黑体" pitchFamily="49" charset="-122"/>
              </a:rPr>
              <a:t>(</a:t>
            </a:r>
            <a:r>
              <a:rPr kumimoji="1" lang="zh-CN" altLang="en-US" sz="2000">
                <a:solidFill>
                  <a:srgbClr val="333399"/>
                </a:solidFill>
                <a:latin typeface="黑体" pitchFamily="49" charset="-122"/>
                <a:ea typeface="黑体" pitchFamily="49" charset="-122"/>
              </a:rPr>
              <a:t>纤芯</a:t>
            </a:r>
            <a:r>
              <a:rPr kumimoji="1" lang="en-US" altLang="zh-CN" sz="2000">
                <a:solidFill>
                  <a:srgbClr val="333399"/>
                </a:solidFill>
                <a:latin typeface="黑体" pitchFamily="49" charset="-122"/>
                <a:ea typeface="黑体" pitchFamily="49" charset="-122"/>
              </a:rPr>
              <a:t>)</a:t>
            </a:r>
          </a:p>
        </p:txBody>
      </p:sp>
      <p:sp>
        <p:nvSpPr>
          <p:cNvPr id="31755" name="Text Box 15"/>
          <p:cNvSpPr txBox="1">
            <a:spLocks noChangeArrowheads="1"/>
          </p:cNvSpPr>
          <p:nvPr/>
        </p:nvSpPr>
        <p:spPr bwMode="auto">
          <a:xfrm>
            <a:off x="684213" y="1989138"/>
            <a:ext cx="1200150" cy="7016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低折射率</a:t>
            </a:r>
          </a:p>
          <a:p>
            <a:r>
              <a:rPr kumimoji="1" lang="en-US" altLang="zh-CN" sz="2000">
                <a:solidFill>
                  <a:srgbClr val="333399"/>
                </a:solidFill>
                <a:latin typeface="黑体" pitchFamily="49" charset="-122"/>
                <a:ea typeface="黑体" pitchFamily="49" charset="-122"/>
              </a:rPr>
              <a:t>(</a:t>
            </a:r>
            <a:r>
              <a:rPr kumimoji="1" lang="zh-CN" altLang="en-US" sz="2000">
                <a:solidFill>
                  <a:srgbClr val="333399"/>
                </a:solidFill>
                <a:latin typeface="黑体" pitchFamily="49" charset="-122"/>
                <a:ea typeface="黑体" pitchFamily="49" charset="-122"/>
              </a:rPr>
              <a:t>包层</a:t>
            </a:r>
            <a:r>
              <a:rPr kumimoji="1" lang="en-US" altLang="zh-CN" sz="2000">
                <a:solidFill>
                  <a:srgbClr val="333399"/>
                </a:solidFill>
                <a:latin typeface="黑体" pitchFamily="49" charset="-122"/>
                <a:ea typeface="黑体" pitchFamily="49" charset="-122"/>
              </a:rPr>
              <a:t>)</a:t>
            </a:r>
          </a:p>
        </p:txBody>
      </p:sp>
      <p:sp>
        <p:nvSpPr>
          <p:cNvPr id="31756" name="Line 16"/>
          <p:cNvSpPr>
            <a:spLocks noChangeShapeType="1"/>
          </p:cNvSpPr>
          <p:nvPr/>
        </p:nvSpPr>
        <p:spPr bwMode="auto">
          <a:xfrm flipH="1">
            <a:off x="2335213" y="2708275"/>
            <a:ext cx="220662" cy="706438"/>
          </a:xfrm>
          <a:prstGeom prst="line">
            <a:avLst/>
          </a:prstGeom>
          <a:noFill/>
          <a:ln w="19050">
            <a:solidFill>
              <a:srgbClr val="333399"/>
            </a:solidFill>
            <a:round/>
            <a:headEnd/>
            <a:tailEnd/>
          </a:ln>
        </p:spPr>
        <p:txBody>
          <a:bodyPr wrap="none"/>
          <a:lstStyle/>
          <a:p>
            <a:endParaRPr lang="zh-CN" altLang="en-US"/>
          </a:p>
        </p:txBody>
      </p:sp>
      <p:sp>
        <p:nvSpPr>
          <p:cNvPr id="31757" name="Line 17"/>
          <p:cNvSpPr>
            <a:spLocks noChangeShapeType="1"/>
          </p:cNvSpPr>
          <p:nvPr/>
        </p:nvSpPr>
        <p:spPr bwMode="auto">
          <a:xfrm>
            <a:off x="1403350" y="2636838"/>
            <a:ext cx="388938" cy="533400"/>
          </a:xfrm>
          <a:prstGeom prst="line">
            <a:avLst/>
          </a:prstGeom>
          <a:noFill/>
          <a:ln w="19050">
            <a:solidFill>
              <a:srgbClr val="333399"/>
            </a:solidFill>
            <a:round/>
            <a:headEnd/>
            <a:tailEnd/>
          </a:ln>
        </p:spPr>
        <p:txBody>
          <a:bodyPr wrap="none"/>
          <a:lstStyle/>
          <a:p>
            <a:endParaRPr lang="zh-CN" altLang="en-US"/>
          </a:p>
        </p:txBody>
      </p:sp>
      <p:sp>
        <p:nvSpPr>
          <p:cNvPr id="31758" name="Text Box 18"/>
          <p:cNvSpPr txBox="1">
            <a:spLocks noChangeArrowheads="1"/>
          </p:cNvSpPr>
          <p:nvPr/>
        </p:nvSpPr>
        <p:spPr bwMode="auto">
          <a:xfrm>
            <a:off x="2771775" y="2733675"/>
            <a:ext cx="4756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黑体" pitchFamily="49" charset="-122"/>
                <a:ea typeface="黑体" pitchFamily="49" charset="-122"/>
              </a:rPr>
              <a:t>光线在纤芯中传输的方式是不断地全反射</a:t>
            </a:r>
          </a:p>
        </p:txBody>
      </p:sp>
      <p:sp>
        <p:nvSpPr>
          <p:cNvPr id="122899" name="Freeform 19"/>
          <p:cNvSpPr>
            <a:spLocks/>
          </p:cNvSpPr>
          <p:nvPr/>
        </p:nvSpPr>
        <p:spPr bwMode="auto">
          <a:xfrm>
            <a:off x="2689225" y="3414713"/>
            <a:ext cx="4870450" cy="344487"/>
          </a:xfrm>
          <a:custGeom>
            <a:avLst/>
            <a:gdLst>
              <a:gd name="T0" fmla="*/ 0 w 4302"/>
              <a:gd name="T1" fmla="*/ 2147483647 h 336"/>
              <a:gd name="T2" fmla="*/ 2147483647 w 4302"/>
              <a:gd name="T3" fmla="*/ 0 h 336"/>
              <a:gd name="T4" fmla="*/ 2147483647 w 4302"/>
              <a:gd name="T5" fmla="*/ 2147483647 h 336"/>
              <a:gd name="T6" fmla="*/ 2147483647 w 4302"/>
              <a:gd name="T7" fmla="*/ 0 h 336"/>
              <a:gd name="T8" fmla="*/ 2147483647 w 4302"/>
              <a:gd name="T9" fmla="*/ 2147483647 h 336"/>
              <a:gd name="T10" fmla="*/ 2147483647 w 4302"/>
              <a:gd name="T11" fmla="*/ 2147483647 h 336"/>
              <a:gd name="T12" fmla="*/ 0 60000 65536"/>
              <a:gd name="T13" fmla="*/ 0 60000 65536"/>
              <a:gd name="T14" fmla="*/ 0 60000 65536"/>
              <a:gd name="T15" fmla="*/ 0 60000 65536"/>
              <a:gd name="T16" fmla="*/ 0 60000 65536"/>
              <a:gd name="T17" fmla="*/ 0 60000 65536"/>
              <a:gd name="T18" fmla="*/ 0 w 4302"/>
              <a:gd name="T19" fmla="*/ 0 h 336"/>
              <a:gd name="T20" fmla="*/ 4302 w 4302"/>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4302" h="336">
                <a:moveTo>
                  <a:pt x="0" y="108"/>
                </a:moveTo>
                <a:lnTo>
                  <a:pt x="384" y="0"/>
                </a:lnTo>
                <a:lnTo>
                  <a:pt x="1560" y="336"/>
                </a:lnTo>
                <a:lnTo>
                  <a:pt x="2742" y="0"/>
                </a:lnTo>
                <a:lnTo>
                  <a:pt x="3918" y="330"/>
                </a:lnTo>
                <a:lnTo>
                  <a:pt x="4302" y="204"/>
                </a:lnTo>
              </a:path>
            </a:pathLst>
          </a:custGeom>
          <a:noFill/>
          <a:ln w="57150">
            <a:solidFill>
              <a:schemeClr val="hlink"/>
            </a:solidFill>
            <a:round/>
            <a:headEnd/>
            <a:tailEnd type="triangle" w="sm" len="med"/>
          </a:ln>
        </p:spPr>
        <p:txBody>
          <a:bodyPr/>
          <a:lstStyle/>
          <a:p>
            <a:endParaRPr lang="zh-CN" altLang="en-US"/>
          </a:p>
        </p:txBody>
      </p:sp>
      <p:sp>
        <p:nvSpPr>
          <p:cNvPr id="20" name="TextBox 19"/>
          <p:cNvSpPr txBox="1"/>
          <p:nvPr/>
        </p:nvSpPr>
        <p:spPr>
          <a:xfrm>
            <a:off x="1619672" y="4869160"/>
            <a:ext cx="6408712" cy="830997"/>
          </a:xfrm>
          <a:prstGeom prst="rect">
            <a:avLst/>
          </a:prstGeom>
          <a:noFill/>
        </p:spPr>
        <p:txBody>
          <a:bodyPr wrap="square" rtlCol="0">
            <a:spAutoFit/>
          </a:bodyPr>
          <a:lstStyle/>
          <a:p>
            <a:pPr algn="just"/>
            <a:r>
              <a:rPr lang="zh-CN" altLang="en-US" dirty="0" smtClean="0"/>
              <a:t>由于包层和纤芯对光不同折射率，使得光线折向芯内</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 y="4300538"/>
            <a:ext cx="9080500" cy="1550987"/>
            <a:chOff x="48" y="2709"/>
            <a:chExt cx="5720" cy="977"/>
          </a:xfrm>
        </p:grpSpPr>
        <p:grpSp>
          <p:nvGrpSpPr>
            <p:cNvPr id="32795" name="Group 3"/>
            <p:cNvGrpSpPr>
              <a:grpSpLocks/>
            </p:cNvGrpSpPr>
            <p:nvPr/>
          </p:nvGrpSpPr>
          <p:grpSpPr bwMode="auto">
            <a:xfrm>
              <a:off x="682" y="3158"/>
              <a:ext cx="4476" cy="528"/>
              <a:chOff x="682" y="3072"/>
              <a:chExt cx="4476" cy="528"/>
            </a:xfrm>
          </p:grpSpPr>
          <p:sp>
            <p:nvSpPr>
              <p:cNvPr id="32812" name="Rectangle 4"/>
              <p:cNvSpPr>
                <a:spLocks noChangeArrowheads="1"/>
              </p:cNvSpPr>
              <p:nvPr/>
            </p:nvSpPr>
            <p:spPr bwMode="auto">
              <a:xfrm>
                <a:off x="768" y="3168"/>
                <a:ext cx="4320" cy="336"/>
              </a:xfrm>
              <a:prstGeom prst="rect">
                <a:avLst/>
              </a:prstGeom>
              <a:solidFill>
                <a:srgbClr val="EAEAEA"/>
              </a:solidFill>
              <a:ln w="12700">
                <a:noFill/>
                <a:miter lim="800000"/>
                <a:headEnd/>
                <a:tailEnd/>
              </a:ln>
            </p:spPr>
            <p:txBody>
              <a:bodyPr wrap="none" anchor="ctr"/>
              <a:lstStyle/>
              <a:p>
                <a:endParaRPr lang="zh-CN" altLang="en-US"/>
              </a:p>
            </p:txBody>
          </p:sp>
          <p:grpSp>
            <p:nvGrpSpPr>
              <p:cNvPr id="32813" name="Group 5"/>
              <p:cNvGrpSpPr>
                <a:grpSpLocks/>
              </p:cNvGrpSpPr>
              <p:nvPr/>
            </p:nvGrpSpPr>
            <p:grpSpPr bwMode="auto">
              <a:xfrm>
                <a:off x="682" y="3072"/>
                <a:ext cx="4476" cy="528"/>
                <a:chOff x="682" y="3072"/>
                <a:chExt cx="4476" cy="528"/>
              </a:xfrm>
            </p:grpSpPr>
            <p:sp>
              <p:nvSpPr>
                <p:cNvPr id="32814" name="Rectangle 6"/>
                <p:cNvSpPr>
                  <a:spLocks noChangeArrowheads="1"/>
                </p:cNvSpPr>
                <p:nvPr/>
              </p:nvSpPr>
              <p:spPr bwMode="auto">
                <a:xfrm>
                  <a:off x="768" y="3072"/>
                  <a:ext cx="4320" cy="240"/>
                </a:xfrm>
                <a:prstGeom prst="rect">
                  <a:avLst/>
                </a:prstGeom>
                <a:solidFill>
                  <a:srgbClr val="EAEAEA"/>
                </a:solidFill>
                <a:ln w="12700">
                  <a:noFill/>
                  <a:miter lim="800000"/>
                  <a:headEnd/>
                  <a:tailEnd/>
                </a:ln>
              </p:spPr>
              <p:txBody>
                <a:bodyPr wrap="none" anchor="ctr"/>
                <a:lstStyle/>
                <a:p>
                  <a:endParaRPr lang="zh-CN" altLang="en-US"/>
                </a:p>
              </p:txBody>
            </p:sp>
            <p:sp>
              <p:nvSpPr>
                <p:cNvPr id="32815" name="Rectangle 7"/>
                <p:cNvSpPr>
                  <a:spLocks noChangeArrowheads="1"/>
                </p:cNvSpPr>
                <p:nvPr/>
              </p:nvSpPr>
              <p:spPr bwMode="auto">
                <a:xfrm>
                  <a:off x="768" y="3360"/>
                  <a:ext cx="4320" cy="240"/>
                </a:xfrm>
                <a:prstGeom prst="rect">
                  <a:avLst/>
                </a:prstGeom>
                <a:solidFill>
                  <a:srgbClr val="EAEAEA"/>
                </a:solidFill>
                <a:ln w="12700">
                  <a:noFill/>
                  <a:miter lim="800000"/>
                  <a:headEnd/>
                  <a:tailEnd/>
                </a:ln>
              </p:spPr>
              <p:txBody>
                <a:bodyPr wrap="none" anchor="ctr"/>
                <a:lstStyle/>
                <a:p>
                  <a:endParaRPr lang="zh-CN" altLang="en-US"/>
                </a:p>
              </p:txBody>
            </p:sp>
            <p:sp>
              <p:nvSpPr>
                <p:cNvPr id="32816" name="Line 8"/>
                <p:cNvSpPr>
                  <a:spLocks noChangeShapeType="1"/>
                </p:cNvSpPr>
                <p:nvPr/>
              </p:nvSpPr>
              <p:spPr bwMode="auto">
                <a:xfrm>
                  <a:off x="768" y="3072"/>
                  <a:ext cx="4320" cy="0"/>
                </a:xfrm>
                <a:prstGeom prst="line">
                  <a:avLst/>
                </a:prstGeom>
                <a:noFill/>
                <a:ln w="9525">
                  <a:solidFill>
                    <a:schemeClr val="tx1"/>
                  </a:solidFill>
                  <a:round/>
                  <a:headEnd/>
                  <a:tailEnd/>
                </a:ln>
              </p:spPr>
              <p:txBody>
                <a:bodyPr wrap="none"/>
                <a:lstStyle/>
                <a:p>
                  <a:endParaRPr lang="zh-CN" altLang="en-US"/>
                </a:p>
              </p:txBody>
            </p:sp>
            <p:sp>
              <p:nvSpPr>
                <p:cNvPr id="32817" name="Line 9"/>
                <p:cNvSpPr>
                  <a:spLocks noChangeShapeType="1"/>
                </p:cNvSpPr>
                <p:nvPr/>
              </p:nvSpPr>
              <p:spPr bwMode="auto">
                <a:xfrm>
                  <a:off x="768" y="3312"/>
                  <a:ext cx="4320" cy="0"/>
                </a:xfrm>
                <a:prstGeom prst="line">
                  <a:avLst/>
                </a:prstGeom>
                <a:noFill/>
                <a:ln w="9525">
                  <a:solidFill>
                    <a:schemeClr val="tx1"/>
                  </a:solidFill>
                  <a:round/>
                  <a:headEnd/>
                  <a:tailEnd/>
                </a:ln>
              </p:spPr>
              <p:txBody>
                <a:bodyPr wrap="none"/>
                <a:lstStyle/>
                <a:p>
                  <a:endParaRPr lang="zh-CN" altLang="en-US"/>
                </a:p>
              </p:txBody>
            </p:sp>
            <p:sp>
              <p:nvSpPr>
                <p:cNvPr id="32818" name="Line 10"/>
                <p:cNvSpPr>
                  <a:spLocks noChangeShapeType="1"/>
                </p:cNvSpPr>
                <p:nvPr/>
              </p:nvSpPr>
              <p:spPr bwMode="auto">
                <a:xfrm>
                  <a:off x="768" y="3360"/>
                  <a:ext cx="4320" cy="0"/>
                </a:xfrm>
                <a:prstGeom prst="line">
                  <a:avLst/>
                </a:prstGeom>
                <a:noFill/>
                <a:ln w="9525">
                  <a:solidFill>
                    <a:schemeClr val="tx1"/>
                  </a:solidFill>
                  <a:round/>
                  <a:headEnd/>
                  <a:tailEnd/>
                </a:ln>
              </p:spPr>
              <p:txBody>
                <a:bodyPr wrap="none"/>
                <a:lstStyle/>
                <a:p>
                  <a:endParaRPr lang="zh-CN" altLang="en-US"/>
                </a:p>
              </p:txBody>
            </p:sp>
            <p:sp>
              <p:nvSpPr>
                <p:cNvPr id="32819" name="Line 11"/>
                <p:cNvSpPr>
                  <a:spLocks noChangeShapeType="1"/>
                </p:cNvSpPr>
                <p:nvPr/>
              </p:nvSpPr>
              <p:spPr bwMode="auto">
                <a:xfrm>
                  <a:off x="768" y="3600"/>
                  <a:ext cx="4320" cy="0"/>
                </a:xfrm>
                <a:prstGeom prst="line">
                  <a:avLst/>
                </a:prstGeom>
                <a:noFill/>
                <a:ln w="9525">
                  <a:solidFill>
                    <a:schemeClr val="tx1"/>
                  </a:solidFill>
                  <a:round/>
                  <a:headEnd/>
                  <a:tailEnd/>
                </a:ln>
              </p:spPr>
              <p:txBody>
                <a:bodyPr wrap="none"/>
                <a:lstStyle/>
                <a:p>
                  <a:endParaRPr lang="zh-CN" altLang="en-US"/>
                </a:p>
              </p:txBody>
            </p:sp>
            <p:sp>
              <p:nvSpPr>
                <p:cNvPr id="32820" name="Line 12"/>
                <p:cNvSpPr>
                  <a:spLocks noChangeShapeType="1"/>
                </p:cNvSpPr>
                <p:nvPr/>
              </p:nvSpPr>
              <p:spPr bwMode="auto">
                <a:xfrm>
                  <a:off x="682" y="3333"/>
                  <a:ext cx="4476" cy="3"/>
                </a:xfrm>
                <a:prstGeom prst="line">
                  <a:avLst/>
                </a:prstGeom>
                <a:noFill/>
                <a:ln w="9525">
                  <a:solidFill>
                    <a:schemeClr val="tx1"/>
                  </a:solidFill>
                  <a:prstDash val="lgDashDot"/>
                  <a:round/>
                  <a:headEnd/>
                  <a:tailEnd/>
                </a:ln>
              </p:spPr>
              <p:txBody>
                <a:bodyPr wrap="none"/>
                <a:lstStyle/>
                <a:p>
                  <a:endParaRPr lang="zh-CN" altLang="en-US"/>
                </a:p>
              </p:txBody>
            </p:sp>
          </p:grpSp>
        </p:grpSp>
        <p:grpSp>
          <p:nvGrpSpPr>
            <p:cNvPr id="32796" name="Group 13"/>
            <p:cNvGrpSpPr>
              <a:grpSpLocks/>
            </p:cNvGrpSpPr>
            <p:nvPr/>
          </p:nvGrpSpPr>
          <p:grpSpPr bwMode="auto">
            <a:xfrm>
              <a:off x="48" y="2840"/>
              <a:ext cx="5720" cy="818"/>
              <a:chOff x="48" y="2930"/>
              <a:chExt cx="5720" cy="818"/>
            </a:xfrm>
          </p:grpSpPr>
          <p:grpSp>
            <p:nvGrpSpPr>
              <p:cNvPr id="32798" name="Group 14"/>
              <p:cNvGrpSpPr>
                <a:grpSpLocks/>
              </p:cNvGrpSpPr>
              <p:nvPr/>
            </p:nvGrpSpPr>
            <p:grpSpPr bwMode="auto">
              <a:xfrm>
                <a:off x="48" y="2930"/>
                <a:ext cx="756" cy="818"/>
                <a:chOff x="48" y="2930"/>
                <a:chExt cx="756" cy="818"/>
              </a:xfrm>
            </p:grpSpPr>
            <p:grpSp>
              <p:nvGrpSpPr>
                <p:cNvPr id="32806" name="Group 15"/>
                <p:cNvGrpSpPr>
                  <a:grpSpLocks/>
                </p:cNvGrpSpPr>
                <p:nvPr/>
              </p:nvGrpSpPr>
              <p:grpSpPr bwMode="auto">
                <a:xfrm>
                  <a:off x="158" y="3220"/>
                  <a:ext cx="480" cy="528"/>
                  <a:chOff x="240" y="2448"/>
                  <a:chExt cx="480" cy="528"/>
                </a:xfrm>
              </p:grpSpPr>
              <p:grpSp>
                <p:nvGrpSpPr>
                  <p:cNvPr id="32808" name="Group 16"/>
                  <p:cNvGrpSpPr>
                    <a:grpSpLocks/>
                  </p:cNvGrpSpPr>
                  <p:nvPr/>
                </p:nvGrpSpPr>
                <p:grpSpPr bwMode="auto">
                  <a:xfrm>
                    <a:off x="240" y="2448"/>
                    <a:ext cx="480" cy="528"/>
                    <a:chOff x="240" y="2448"/>
                    <a:chExt cx="672" cy="672"/>
                  </a:xfrm>
                </p:grpSpPr>
                <p:sp>
                  <p:nvSpPr>
                    <p:cNvPr id="32810" name="Rectangle 17"/>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p:spPr>
                  <p:txBody>
                    <a:bodyPr wrap="none" anchor="ctr"/>
                    <a:lstStyle/>
                    <a:p>
                      <a:endParaRPr lang="zh-CN" altLang="en-US"/>
                    </a:p>
                  </p:txBody>
                </p:sp>
                <p:sp>
                  <p:nvSpPr>
                    <p:cNvPr id="32811" name="Line 18"/>
                    <p:cNvSpPr>
                      <a:spLocks noChangeShapeType="1"/>
                    </p:cNvSpPr>
                    <p:nvPr/>
                  </p:nvSpPr>
                  <p:spPr bwMode="auto">
                    <a:xfrm>
                      <a:off x="576" y="2448"/>
                      <a:ext cx="0" cy="672"/>
                    </a:xfrm>
                    <a:prstGeom prst="line">
                      <a:avLst/>
                    </a:prstGeom>
                    <a:noFill/>
                    <a:ln w="6350">
                      <a:solidFill>
                        <a:srgbClr val="333399"/>
                      </a:solidFill>
                      <a:round/>
                      <a:headEnd/>
                      <a:tailEnd/>
                    </a:ln>
                  </p:spPr>
                  <p:txBody>
                    <a:bodyPr wrap="none"/>
                    <a:lstStyle/>
                    <a:p>
                      <a:endParaRPr lang="zh-CN" altLang="en-US"/>
                    </a:p>
                  </p:txBody>
                </p:sp>
              </p:grpSp>
              <p:sp>
                <p:nvSpPr>
                  <p:cNvPr id="32809" name="Freeform 19"/>
                  <p:cNvSpPr>
                    <a:spLocks/>
                  </p:cNvSpPr>
                  <p:nvPr/>
                </p:nvSpPr>
                <p:spPr bwMode="auto">
                  <a:xfrm>
                    <a:off x="240" y="2450"/>
                    <a:ext cx="480" cy="526"/>
                  </a:xfrm>
                  <a:custGeom>
                    <a:avLst/>
                    <a:gdLst>
                      <a:gd name="T0" fmla="*/ 0 w 672"/>
                      <a:gd name="T1" fmla="*/ 324 h 670"/>
                      <a:gd name="T2" fmla="*/ 46 w 672"/>
                      <a:gd name="T3" fmla="*/ 309 h 670"/>
                      <a:gd name="T4" fmla="*/ 70 w 672"/>
                      <a:gd name="T5" fmla="*/ 254 h 670"/>
                      <a:gd name="T6" fmla="*/ 87 w 672"/>
                      <a:gd name="T7" fmla="*/ 162 h 670"/>
                      <a:gd name="T8" fmla="*/ 101 w 672"/>
                      <a:gd name="T9" fmla="*/ 68 h 670"/>
                      <a:gd name="T10" fmla="*/ 110 w 672"/>
                      <a:gd name="T11" fmla="*/ 19 h 670"/>
                      <a:gd name="T12" fmla="*/ 124 w 672"/>
                      <a:gd name="T13" fmla="*/ 1 h 670"/>
                      <a:gd name="T14" fmla="*/ 135 w 672"/>
                      <a:gd name="T15" fmla="*/ 16 h 670"/>
                      <a:gd name="T16" fmla="*/ 144 w 672"/>
                      <a:gd name="T17" fmla="*/ 66 h 670"/>
                      <a:gd name="T18" fmla="*/ 158 w 672"/>
                      <a:gd name="T19" fmla="*/ 163 h 670"/>
                      <a:gd name="T20" fmla="*/ 166 w 672"/>
                      <a:gd name="T21" fmla="*/ 221 h 670"/>
                      <a:gd name="T22" fmla="*/ 184 w 672"/>
                      <a:gd name="T23" fmla="*/ 288 h 670"/>
                      <a:gd name="T24" fmla="*/ 209 w 672"/>
                      <a:gd name="T25" fmla="*/ 311 h 670"/>
                      <a:gd name="T26" fmla="*/ 223 w 672"/>
                      <a:gd name="T27" fmla="*/ 317 h 670"/>
                      <a:gd name="T28" fmla="*/ 245 w 672"/>
                      <a:gd name="T29" fmla="*/ 324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2"/>
                      <a:gd name="T46" fmla="*/ 0 h 670"/>
                      <a:gd name="T47" fmla="*/ 672 w 672"/>
                      <a:gd name="T48" fmla="*/ 670 h 67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p:spPr>
                <p:txBody>
                  <a:bodyPr wrap="none"/>
                  <a:lstStyle/>
                  <a:p>
                    <a:endParaRPr lang="zh-CN" altLang="en-US"/>
                  </a:p>
                </p:txBody>
              </p:sp>
            </p:grpSp>
            <p:sp>
              <p:nvSpPr>
                <p:cNvPr id="32807" name="Text Box 20"/>
                <p:cNvSpPr txBox="1">
                  <a:spLocks noChangeArrowheads="1"/>
                </p:cNvSpPr>
                <p:nvPr/>
              </p:nvSpPr>
              <p:spPr bwMode="auto">
                <a:xfrm>
                  <a:off x="48" y="2930"/>
                  <a:ext cx="756" cy="250"/>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黑体" pitchFamily="49" charset="-122"/>
                      <a:ea typeface="黑体" pitchFamily="49" charset="-122"/>
                    </a:rPr>
                    <a:t>输入脉冲</a:t>
                  </a:r>
                </a:p>
              </p:txBody>
            </p:sp>
          </p:grpSp>
          <p:grpSp>
            <p:nvGrpSpPr>
              <p:cNvPr id="32799" name="Group 21"/>
              <p:cNvGrpSpPr>
                <a:grpSpLocks/>
              </p:cNvGrpSpPr>
              <p:nvPr/>
            </p:nvGrpSpPr>
            <p:grpSpPr bwMode="auto">
              <a:xfrm>
                <a:off x="5012" y="2947"/>
                <a:ext cx="756" cy="801"/>
                <a:chOff x="5012" y="2947"/>
                <a:chExt cx="756" cy="801"/>
              </a:xfrm>
            </p:grpSpPr>
            <p:sp>
              <p:nvSpPr>
                <p:cNvPr id="32800" name="Text Box 22"/>
                <p:cNvSpPr txBox="1">
                  <a:spLocks noChangeArrowheads="1"/>
                </p:cNvSpPr>
                <p:nvPr/>
              </p:nvSpPr>
              <p:spPr bwMode="auto">
                <a:xfrm>
                  <a:off x="5012" y="2947"/>
                  <a:ext cx="756" cy="250"/>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黑体" pitchFamily="49" charset="-122"/>
                      <a:ea typeface="黑体" pitchFamily="49" charset="-122"/>
                    </a:rPr>
                    <a:t>输出脉冲</a:t>
                  </a:r>
                </a:p>
              </p:txBody>
            </p:sp>
            <p:grpSp>
              <p:nvGrpSpPr>
                <p:cNvPr id="32801" name="Group 23"/>
                <p:cNvGrpSpPr>
                  <a:grpSpLocks/>
                </p:cNvGrpSpPr>
                <p:nvPr/>
              </p:nvGrpSpPr>
              <p:grpSpPr bwMode="auto">
                <a:xfrm>
                  <a:off x="5148" y="3220"/>
                  <a:ext cx="480" cy="528"/>
                  <a:chOff x="240" y="2448"/>
                  <a:chExt cx="480" cy="528"/>
                </a:xfrm>
              </p:grpSpPr>
              <p:grpSp>
                <p:nvGrpSpPr>
                  <p:cNvPr id="32802" name="Group 24"/>
                  <p:cNvGrpSpPr>
                    <a:grpSpLocks/>
                  </p:cNvGrpSpPr>
                  <p:nvPr/>
                </p:nvGrpSpPr>
                <p:grpSpPr bwMode="auto">
                  <a:xfrm>
                    <a:off x="240" y="2448"/>
                    <a:ext cx="480" cy="528"/>
                    <a:chOff x="240" y="2448"/>
                    <a:chExt cx="672" cy="672"/>
                  </a:xfrm>
                </p:grpSpPr>
                <p:sp>
                  <p:nvSpPr>
                    <p:cNvPr id="32804" name="Rectangle 25"/>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p:spPr>
                  <p:txBody>
                    <a:bodyPr wrap="none" anchor="ctr"/>
                    <a:lstStyle/>
                    <a:p>
                      <a:endParaRPr lang="zh-CN" altLang="en-US"/>
                    </a:p>
                  </p:txBody>
                </p:sp>
                <p:sp>
                  <p:nvSpPr>
                    <p:cNvPr id="32805" name="Line 26"/>
                    <p:cNvSpPr>
                      <a:spLocks noChangeShapeType="1"/>
                    </p:cNvSpPr>
                    <p:nvPr/>
                  </p:nvSpPr>
                  <p:spPr bwMode="auto">
                    <a:xfrm>
                      <a:off x="576" y="2448"/>
                      <a:ext cx="0" cy="672"/>
                    </a:xfrm>
                    <a:prstGeom prst="line">
                      <a:avLst/>
                    </a:prstGeom>
                    <a:noFill/>
                    <a:ln w="6350">
                      <a:solidFill>
                        <a:srgbClr val="333399"/>
                      </a:solidFill>
                      <a:round/>
                      <a:headEnd/>
                      <a:tailEnd/>
                    </a:ln>
                  </p:spPr>
                  <p:txBody>
                    <a:bodyPr wrap="none"/>
                    <a:lstStyle/>
                    <a:p>
                      <a:endParaRPr lang="zh-CN" altLang="en-US"/>
                    </a:p>
                  </p:txBody>
                </p:sp>
              </p:grpSp>
              <p:sp>
                <p:nvSpPr>
                  <p:cNvPr id="32803" name="Freeform 27"/>
                  <p:cNvSpPr>
                    <a:spLocks/>
                  </p:cNvSpPr>
                  <p:nvPr/>
                </p:nvSpPr>
                <p:spPr bwMode="auto">
                  <a:xfrm>
                    <a:off x="240" y="2450"/>
                    <a:ext cx="480" cy="526"/>
                  </a:xfrm>
                  <a:custGeom>
                    <a:avLst/>
                    <a:gdLst>
                      <a:gd name="T0" fmla="*/ 0 w 672"/>
                      <a:gd name="T1" fmla="*/ 324 h 670"/>
                      <a:gd name="T2" fmla="*/ 46 w 672"/>
                      <a:gd name="T3" fmla="*/ 309 h 670"/>
                      <a:gd name="T4" fmla="*/ 70 w 672"/>
                      <a:gd name="T5" fmla="*/ 254 h 670"/>
                      <a:gd name="T6" fmla="*/ 87 w 672"/>
                      <a:gd name="T7" fmla="*/ 162 h 670"/>
                      <a:gd name="T8" fmla="*/ 101 w 672"/>
                      <a:gd name="T9" fmla="*/ 68 h 670"/>
                      <a:gd name="T10" fmla="*/ 110 w 672"/>
                      <a:gd name="T11" fmla="*/ 19 h 670"/>
                      <a:gd name="T12" fmla="*/ 124 w 672"/>
                      <a:gd name="T13" fmla="*/ 1 h 670"/>
                      <a:gd name="T14" fmla="*/ 135 w 672"/>
                      <a:gd name="T15" fmla="*/ 16 h 670"/>
                      <a:gd name="T16" fmla="*/ 144 w 672"/>
                      <a:gd name="T17" fmla="*/ 66 h 670"/>
                      <a:gd name="T18" fmla="*/ 158 w 672"/>
                      <a:gd name="T19" fmla="*/ 163 h 670"/>
                      <a:gd name="T20" fmla="*/ 166 w 672"/>
                      <a:gd name="T21" fmla="*/ 221 h 670"/>
                      <a:gd name="T22" fmla="*/ 184 w 672"/>
                      <a:gd name="T23" fmla="*/ 288 h 670"/>
                      <a:gd name="T24" fmla="*/ 209 w 672"/>
                      <a:gd name="T25" fmla="*/ 311 h 670"/>
                      <a:gd name="T26" fmla="*/ 223 w 672"/>
                      <a:gd name="T27" fmla="*/ 317 h 670"/>
                      <a:gd name="T28" fmla="*/ 245 w 672"/>
                      <a:gd name="T29" fmla="*/ 324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2"/>
                      <a:gd name="T46" fmla="*/ 0 h 670"/>
                      <a:gd name="T47" fmla="*/ 672 w 672"/>
                      <a:gd name="T48" fmla="*/ 670 h 67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p:spPr>
                <p:txBody>
                  <a:bodyPr wrap="none"/>
                  <a:lstStyle/>
                  <a:p>
                    <a:endParaRPr lang="zh-CN" altLang="en-US"/>
                  </a:p>
                </p:txBody>
              </p:sp>
            </p:grpSp>
          </p:grpSp>
        </p:grpSp>
        <p:sp>
          <p:nvSpPr>
            <p:cNvPr id="32797" name="Text Box 28"/>
            <p:cNvSpPr txBox="1">
              <a:spLocks noChangeArrowheads="1"/>
            </p:cNvSpPr>
            <p:nvPr/>
          </p:nvSpPr>
          <p:spPr bwMode="auto">
            <a:xfrm>
              <a:off x="2381" y="2709"/>
              <a:ext cx="1268" cy="404"/>
            </a:xfrm>
            <a:prstGeom prst="rect">
              <a:avLst/>
            </a:prstGeom>
            <a:noFill/>
            <a:ln w="9525">
              <a:noFill/>
              <a:miter lim="800000"/>
              <a:headEnd/>
              <a:tailEnd/>
            </a:ln>
          </p:spPr>
          <p:txBody>
            <a:bodyPr wrap="none">
              <a:spAutoFit/>
            </a:bodyPr>
            <a:lstStyle/>
            <a:p>
              <a:pPr algn="l"/>
              <a:r>
                <a:rPr lang="zh-CN" altLang="en-US" sz="3600">
                  <a:solidFill>
                    <a:srgbClr val="333399"/>
                  </a:solidFill>
                  <a:ea typeface="黑体" pitchFamily="49" charset="-122"/>
                </a:rPr>
                <a:t>单模光纤</a:t>
              </a:r>
            </a:p>
          </p:txBody>
        </p:sp>
      </p:grpSp>
      <p:sp>
        <p:nvSpPr>
          <p:cNvPr id="32771" name="Rectangle 29"/>
          <p:cNvSpPr>
            <a:spLocks noGrp="1" noChangeArrowheads="1"/>
          </p:cNvSpPr>
          <p:nvPr>
            <p:ph type="title"/>
          </p:nvPr>
        </p:nvSpPr>
        <p:spPr/>
        <p:txBody>
          <a:bodyPr/>
          <a:lstStyle/>
          <a:p>
            <a:pPr algn="ctr" eaLnBrk="1" hangingPunct="1"/>
            <a:r>
              <a:rPr lang="zh-CN" altLang="en-US" b="1" dirty="0" smtClean="0"/>
              <a:t>多模光纤与单模光纤</a:t>
            </a:r>
          </a:p>
        </p:txBody>
      </p:sp>
      <p:sp>
        <p:nvSpPr>
          <p:cNvPr id="116766" name="Freeform 30"/>
          <p:cNvSpPr>
            <a:spLocks/>
          </p:cNvSpPr>
          <p:nvPr/>
        </p:nvSpPr>
        <p:spPr bwMode="auto">
          <a:xfrm>
            <a:off x="1295400" y="3025775"/>
            <a:ext cx="6762750" cy="533400"/>
          </a:xfrm>
          <a:custGeom>
            <a:avLst/>
            <a:gdLst>
              <a:gd name="T0" fmla="*/ 0 w 4260"/>
              <a:gd name="T1" fmla="*/ 2147483647 h 336"/>
              <a:gd name="T2" fmla="*/ 2147483647 w 4260"/>
              <a:gd name="T3" fmla="*/ 0 h 336"/>
              <a:gd name="T4" fmla="*/ 2147483647 w 4260"/>
              <a:gd name="T5" fmla="*/ 2147483647 h 336"/>
              <a:gd name="T6" fmla="*/ 2147483647 w 4260"/>
              <a:gd name="T7" fmla="*/ 0 h 336"/>
              <a:gd name="T8" fmla="*/ 2147483647 w 4260"/>
              <a:gd name="T9" fmla="*/ 2147483647 h 336"/>
              <a:gd name="T10" fmla="*/ 0 60000 65536"/>
              <a:gd name="T11" fmla="*/ 0 60000 65536"/>
              <a:gd name="T12" fmla="*/ 0 60000 65536"/>
              <a:gd name="T13" fmla="*/ 0 60000 65536"/>
              <a:gd name="T14" fmla="*/ 0 60000 65536"/>
              <a:gd name="T15" fmla="*/ 0 w 4260"/>
              <a:gd name="T16" fmla="*/ 0 h 336"/>
              <a:gd name="T17" fmla="*/ 4260 w 4260"/>
              <a:gd name="T18" fmla="*/ 336 h 336"/>
            </a:gdLst>
            <a:ahLst/>
            <a:cxnLst>
              <a:cxn ang="T10">
                <a:pos x="T0" y="T1"/>
              </a:cxn>
              <a:cxn ang="T11">
                <a:pos x="T2" y="T3"/>
              </a:cxn>
              <a:cxn ang="T12">
                <a:pos x="T4" y="T5"/>
              </a:cxn>
              <a:cxn ang="T13">
                <a:pos x="T6" y="T7"/>
              </a:cxn>
              <a:cxn ang="T14">
                <a:pos x="T8" y="T9"/>
              </a:cxn>
            </a:cxnLst>
            <a:rect l="T15" t="T16" r="T17" b="T18"/>
            <a:pathLst>
              <a:path w="4260" h="336">
                <a:moveTo>
                  <a:pt x="0" y="150"/>
                </a:moveTo>
                <a:lnTo>
                  <a:pt x="666" y="0"/>
                </a:lnTo>
                <a:lnTo>
                  <a:pt x="2310" y="336"/>
                </a:lnTo>
                <a:lnTo>
                  <a:pt x="3936" y="0"/>
                </a:lnTo>
                <a:lnTo>
                  <a:pt x="4260" y="72"/>
                </a:lnTo>
              </a:path>
            </a:pathLst>
          </a:custGeom>
          <a:noFill/>
          <a:ln w="38100">
            <a:solidFill>
              <a:srgbClr val="339933"/>
            </a:solidFill>
            <a:round/>
            <a:headEnd/>
            <a:tailEnd type="triangle" w="sm" len="med"/>
          </a:ln>
        </p:spPr>
        <p:txBody>
          <a:bodyPr/>
          <a:lstStyle/>
          <a:p>
            <a:endParaRPr lang="zh-CN" altLang="en-US"/>
          </a:p>
        </p:txBody>
      </p:sp>
      <p:sp>
        <p:nvSpPr>
          <p:cNvPr id="32773" name="Rectangle 31"/>
          <p:cNvSpPr>
            <a:spLocks noChangeArrowheads="1"/>
          </p:cNvSpPr>
          <p:nvPr/>
        </p:nvSpPr>
        <p:spPr bwMode="auto">
          <a:xfrm>
            <a:off x="1187450" y="2654300"/>
            <a:ext cx="6858000" cy="381000"/>
          </a:xfrm>
          <a:prstGeom prst="rect">
            <a:avLst/>
          </a:prstGeom>
          <a:solidFill>
            <a:srgbClr val="EAEAEA"/>
          </a:solidFill>
          <a:ln w="12700">
            <a:noFill/>
            <a:miter lim="800000"/>
            <a:headEnd/>
            <a:tailEnd/>
          </a:ln>
        </p:spPr>
        <p:txBody>
          <a:bodyPr wrap="none" anchor="ctr"/>
          <a:lstStyle/>
          <a:p>
            <a:endParaRPr lang="zh-CN" altLang="en-US"/>
          </a:p>
        </p:txBody>
      </p:sp>
      <p:sp>
        <p:nvSpPr>
          <p:cNvPr id="32774" name="Rectangle 32"/>
          <p:cNvSpPr>
            <a:spLocks noChangeArrowheads="1"/>
          </p:cNvSpPr>
          <p:nvPr/>
        </p:nvSpPr>
        <p:spPr bwMode="auto">
          <a:xfrm>
            <a:off x="1203325" y="3567113"/>
            <a:ext cx="6858000" cy="381000"/>
          </a:xfrm>
          <a:prstGeom prst="rect">
            <a:avLst/>
          </a:prstGeom>
          <a:solidFill>
            <a:srgbClr val="EAEAEA"/>
          </a:solidFill>
          <a:ln w="12700">
            <a:noFill/>
            <a:miter lim="800000"/>
            <a:headEnd/>
            <a:tailEnd/>
          </a:ln>
        </p:spPr>
        <p:txBody>
          <a:bodyPr wrap="none" anchor="ctr"/>
          <a:lstStyle/>
          <a:p>
            <a:endParaRPr lang="zh-CN" altLang="en-US"/>
          </a:p>
        </p:txBody>
      </p:sp>
      <p:grpSp>
        <p:nvGrpSpPr>
          <p:cNvPr id="32775" name="Group 33"/>
          <p:cNvGrpSpPr>
            <a:grpSpLocks/>
          </p:cNvGrpSpPr>
          <p:nvPr/>
        </p:nvGrpSpPr>
        <p:grpSpPr bwMode="auto">
          <a:xfrm>
            <a:off x="1203325" y="2652713"/>
            <a:ext cx="6858000" cy="1295400"/>
            <a:chOff x="912" y="912"/>
            <a:chExt cx="4608" cy="816"/>
          </a:xfrm>
        </p:grpSpPr>
        <p:sp>
          <p:nvSpPr>
            <p:cNvPr id="32791" name="Line 34"/>
            <p:cNvSpPr>
              <a:spLocks noChangeShapeType="1"/>
            </p:cNvSpPr>
            <p:nvPr/>
          </p:nvSpPr>
          <p:spPr bwMode="auto">
            <a:xfrm>
              <a:off x="912" y="912"/>
              <a:ext cx="4608" cy="0"/>
            </a:xfrm>
            <a:prstGeom prst="line">
              <a:avLst/>
            </a:prstGeom>
            <a:noFill/>
            <a:ln w="9525">
              <a:solidFill>
                <a:schemeClr val="tx1"/>
              </a:solidFill>
              <a:round/>
              <a:headEnd/>
              <a:tailEnd/>
            </a:ln>
          </p:spPr>
          <p:txBody>
            <a:bodyPr wrap="none"/>
            <a:lstStyle/>
            <a:p>
              <a:endParaRPr lang="zh-CN" altLang="en-US"/>
            </a:p>
          </p:txBody>
        </p:sp>
        <p:sp>
          <p:nvSpPr>
            <p:cNvPr id="32792" name="Line 35"/>
            <p:cNvSpPr>
              <a:spLocks noChangeShapeType="1"/>
            </p:cNvSpPr>
            <p:nvPr/>
          </p:nvSpPr>
          <p:spPr bwMode="auto">
            <a:xfrm>
              <a:off x="912" y="1152"/>
              <a:ext cx="4608" cy="0"/>
            </a:xfrm>
            <a:prstGeom prst="line">
              <a:avLst/>
            </a:prstGeom>
            <a:noFill/>
            <a:ln w="9525">
              <a:solidFill>
                <a:schemeClr val="tx1"/>
              </a:solidFill>
              <a:round/>
              <a:headEnd/>
              <a:tailEnd/>
            </a:ln>
          </p:spPr>
          <p:txBody>
            <a:bodyPr wrap="none"/>
            <a:lstStyle/>
            <a:p>
              <a:endParaRPr lang="zh-CN" altLang="en-US"/>
            </a:p>
          </p:txBody>
        </p:sp>
        <p:sp>
          <p:nvSpPr>
            <p:cNvPr id="32793" name="Line 36"/>
            <p:cNvSpPr>
              <a:spLocks noChangeShapeType="1"/>
            </p:cNvSpPr>
            <p:nvPr/>
          </p:nvSpPr>
          <p:spPr bwMode="auto">
            <a:xfrm>
              <a:off x="912" y="1488"/>
              <a:ext cx="4608" cy="0"/>
            </a:xfrm>
            <a:prstGeom prst="line">
              <a:avLst/>
            </a:prstGeom>
            <a:noFill/>
            <a:ln w="9525">
              <a:solidFill>
                <a:schemeClr val="tx1"/>
              </a:solidFill>
              <a:round/>
              <a:headEnd/>
              <a:tailEnd/>
            </a:ln>
          </p:spPr>
          <p:txBody>
            <a:bodyPr wrap="none"/>
            <a:lstStyle/>
            <a:p>
              <a:endParaRPr lang="zh-CN" altLang="en-US"/>
            </a:p>
          </p:txBody>
        </p:sp>
        <p:sp>
          <p:nvSpPr>
            <p:cNvPr id="32794" name="Line 37"/>
            <p:cNvSpPr>
              <a:spLocks noChangeShapeType="1"/>
            </p:cNvSpPr>
            <p:nvPr/>
          </p:nvSpPr>
          <p:spPr bwMode="auto">
            <a:xfrm>
              <a:off x="912" y="1728"/>
              <a:ext cx="4608" cy="0"/>
            </a:xfrm>
            <a:prstGeom prst="line">
              <a:avLst/>
            </a:prstGeom>
            <a:noFill/>
            <a:ln w="9525">
              <a:solidFill>
                <a:schemeClr val="tx1"/>
              </a:solidFill>
              <a:round/>
              <a:headEnd/>
              <a:tailEnd/>
            </a:ln>
          </p:spPr>
          <p:txBody>
            <a:bodyPr wrap="none"/>
            <a:lstStyle/>
            <a:p>
              <a:endParaRPr lang="zh-CN" altLang="en-US"/>
            </a:p>
          </p:txBody>
        </p:sp>
      </p:grpSp>
      <p:sp>
        <p:nvSpPr>
          <p:cNvPr id="32776" name="Line 38"/>
          <p:cNvSpPr>
            <a:spLocks noChangeShapeType="1"/>
          </p:cNvSpPr>
          <p:nvPr/>
        </p:nvSpPr>
        <p:spPr bwMode="auto">
          <a:xfrm>
            <a:off x="1066800" y="3295650"/>
            <a:ext cx="7105650" cy="4763"/>
          </a:xfrm>
          <a:prstGeom prst="line">
            <a:avLst/>
          </a:prstGeom>
          <a:noFill/>
          <a:ln w="9525">
            <a:solidFill>
              <a:schemeClr val="tx1"/>
            </a:solidFill>
            <a:prstDash val="lgDashDot"/>
            <a:round/>
            <a:headEnd/>
            <a:tailEnd/>
          </a:ln>
        </p:spPr>
        <p:txBody>
          <a:bodyPr wrap="none"/>
          <a:lstStyle/>
          <a:p>
            <a:endParaRPr lang="zh-CN" altLang="en-US"/>
          </a:p>
        </p:txBody>
      </p:sp>
      <p:grpSp>
        <p:nvGrpSpPr>
          <p:cNvPr id="13" name="Group 39"/>
          <p:cNvGrpSpPr>
            <a:grpSpLocks/>
          </p:cNvGrpSpPr>
          <p:nvPr/>
        </p:nvGrpSpPr>
        <p:grpSpPr bwMode="auto">
          <a:xfrm>
            <a:off x="60325" y="2420938"/>
            <a:ext cx="9096375" cy="1298575"/>
            <a:chOff x="38" y="1288"/>
            <a:chExt cx="5730" cy="818"/>
          </a:xfrm>
        </p:grpSpPr>
        <p:grpSp>
          <p:nvGrpSpPr>
            <p:cNvPr id="32781" name="Group 40"/>
            <p:cNvGrpSpPr>
              <a:grpSpLocks/>
            </p:cNvGrpSpPr>
            <p:nvPr/>
          </p:nvGrpSpPr>
          <p:grpSpPr bwMode="auto">
            <a:xfrm>
              <a:off x="38" y="1288"/>
              <a:ext cx="756" cy="818"/>
              <a:chOff x="38" y="1288"/>
              <a:chExt cx="756" cy="818"/>
            </a:xfrm>
          </p:grpSpPr>
          <p:sp>
            <p:nvSpPr>
              <p:cNvPr id="32787" name="Rectangle 41"/>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p:spPr>
            <p:txBody>
              <a:bodyPr wrap="none" anchor="ctr"/>
              <a:lstStyle/>
              <a:p>
                <a:endParaRPr lang="zh-CN" altLang="en-US"/>
              </a:p>
            </p:txBody>
          </p:sp>
          <p:sp>
            <p:nvSpPr>
              <p:cNvPr id="32788" name="Line 42"/>
              <p:cNvSpPr>
                <a:spLocks noChangeShapeType="1"/>
              </p:cNvSpPr>
              <p:nvPr/>
            </p:nvSpPr>
            <p:spPr bwMode="auto">
              <a:xfrm>
                <a:off x="417" y="1578"/>
                <a:ext cx="0" cy="528"/>
              </a:xfrm>
              <a:prstGeom prst="line">
                <a:avLst/>
              </a:prstGeom>
              <a:noFill/>
              <a:ln w="6350">
                <a:solidFill>
                  <a:srgbClr val="333399"/>
                </a:solidFill>
                <a:round/>
                <a:headEnd/>
                <a:tailEnd/>
              </a:ln>
            </p:spPr>
            <p:txBody>
              <a:bodyPr wrap="none"/>
              <a:lstStyle/>
              <a:p>
                <a:endParaRPr lang="zh-CN" altLang="en-US"/>
              </a:p>
            </p:txBody>
          </p:sp>
          <p:sp>
            <p:nvSpPr>
              <p:cNvPr id="32789" name="Freeform 43"/>
              <p:cNvSpPr>
                <a:spLocks/>
              </p:cNvSpPr>
              <p:nvPr/>
            </p:nvSpPr>
            <p:spPr bwMode="auto">
              <a:xfrm>
                <a:off x="177" y="1580"/>
                <a:ext cx="480" cy="526"/>
              </a:xfrm>
              <a:custGeom>
                <a:avLst/>
                <a:gdLst>
                  <a:gd name="T0" fmla="*/ 0 w 672"/>
                  <a:gd name="T1" fmla="*/ 324 h 670"/>
                  <a:gd name="T2" fmla="*/ 46 w 672"/>
                  <a:gd name="T3" fmla="*/ 309 h 670"/>
                  <a:gd name="T4" fmla="*/ 70 w 672"/>
                  <a:gd name="T5" fmla="*/ 254 h 670"/>
                  <a:gd name="T6" fmla="*/ 87 w 672"/>
                  <a:gd name="T7" fmla="*/ 162 h 670"/>
                  <a:gd name="T8" fmla="*/ 101 w 672"/>
                  <a:gd name="T9" fmla="*/ 68 h 670"/>
                  <a:gd name="T10" fmla="*/ 110 w 672"/>
                  <a:gd name="T11" fmla="*/ 19 h 670"/>
                  <a:gd name="T12" fmla="*/ 124 w 672"/>
                  <a:gd name="T13" fmla="*/ 1 h 670"/>
                  <a:gd name="T14" fmla="*/ 135 w 672"/>
                  <a:gd name="T15" fmla="*/ 16 h 670"/>
                  <a:gd name="T16" fmla="*/ 144 w 672"/>
                  <a:gd name="T17" fmla="*/ 66 h 670"/>
                  <a:gd name="T18" fmla="*/ 158 w 672"/>
                  <a:gd name="T19" fmla="*/ 163 h 670"/>
                  <a:gd name="T20" fmla="*/ 166 w 672"/>
                  <a:gd name="T21" fmla="*/ 221 h 670"/>
                  <a:gd name="T22" fmla="*/ 184 w 672"/>
                  <a:gd name="T23" fmla="*/ 288 h 670"/>
                  <a:gd name="T24" fmla="*/ 209 w 672"/>
                  <a:gd name="T25" fmla="*/ 311 h 670"/>
                  <a:gd name="T26" fmla="*/ 223 w 672"/>
                  <a:gd name="T27" fmla="*/ 317 h 670"/>
                  <a:gd name="T28" fmla="*/ 245 w 672"/>
                  <a:gd name="T29" fmla="*/ 324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2"/>
                  <a:gd name="T46" fmla="*/ 0 h 670"/>
                  <a:gd name="T47" fmla="*/ 672 w 672"/>
                  <a:gd name="T48" fmla="*/ 670 h 67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p:spPr>
            <p:txBody>
              <a:bodyPr wrap="none"/>
              <a:lstStyle/>
              <a:p>
                <a:endParaRPr lang="zh-CN" altLang="en-US"/>
              </a:p>
            </p:txBody>
          </p:sp>
          <p:sp>
            <p:nvSpPr>
              <p:cNvPr id="32790" name="Text Box 44"/>
              <p:cNvSpPr txBox="1">
                <a:spLocks noChangeArrowheads="1"/>
              </p:cNvSpPr>
              <p:nvPr/>
            </p:nvSpPr>
            <p:spPr bwMode="auto">
              <a:xfrm>
                <a:off x="38" y="1288"/>
                <a:ext cx="756" cy="250"/>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黑体" pitchFamily="49" charset="-122"/>
                    <a:ea typeface="黑体" pitchFamily="49" charset="-122"/>
                  </a:rPr>
                  <a:t>输入脉冲</a:t>
                </a:r>
              </a:p>
            </p:txBody>
          </p:sp>
        </p:grpSp>
        <p:grpSp>
          <p:nvGrpSpPr>
            <p:cNvPr id="32782" name="Group 45"/>
            <p:cNvGrpSpPr>
              <a:grpSpLocks/>
            </p:cNvGrpSpPr>
            <p:nvPr/>
          </p:nvGrpSpPr>
          <p:grpSpPr bwMode="auto">
            <a:xfrm>
              <a:off x="5012" y="1305"/>
              <a:ext cx="756" cy="801"/>
              <a:chOff x="5012" y="1305"/>
              <a:chExt cx="756" cy="801"/>
            </a:xfrm>
          </p:grpSpPr>
          <p:sp>
            <p:nvSpPr>
              <p:cNvPr id="32783" name="Rectangle 46"/>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p:spPr>
            <p:txBody>
              <a:bodyPr wrap="none" anchor="ctr"/>
              <a:lstStyle/>
              <a:p>
                <a:endParaRPr lang="zh-CN" altLang="en-US"/>
              </a:p>
            </p:txBody>
          </p:sp>
          <p:sp>
            <p:nvSpPr>
              <p:cNvPr id="32784" name="Line 47"/>
              <p:cNvSpPr>
                <a:spLocks noChangeShapeType="1"/>
              </p:cNvSpPr>
              <p:nvPr/>
            </p:nvSpPr>
            <p:spPr bwMode="auto">
              <a:xfrm>
                <a:off x="5348" y="1578"/>
                <a:ext cx="0" cy="528"/>
              </a:xfrm>
              <a:prstGeom prst="line">
                <a:avLst/>
              </a:prstGeom>
              <a:noFill/>
              <a:ln w="6350">
                <a:solidFill>
                  <a:srgbClr val="333399"/>
                </a:solidFill>
                <a:round/>
                <a:headEnd/>
                <a:tailEnd/>
              </a:ln>
            </p:spPr>
            <p:txBody>
              <a:bodyPr wrap="none"/>
              <a:lstStyle/>
              <a:p>
                <a:endParaRPr lang="zh-CN" altLang="en-US"/>
              </a:p>
            </p:txBody>
          </p:sp>
          <p:sp>
            <p:nvSpPr>
              <p:cNvPr id="32785" name="Freeform 48"/>
              <p:cNvSpPr>
                <a:spLocks/>
              </p:cNvSpPr>
              <p:nvPr/>
            </p:nvSpPr>
            <p:spPr bwMode="auto">
              <a:xfrm>
                <a:off x="5108" y="1726"/>
                <a:ext cx="480" cy="222"/>
              </a:xfrm>
              <a:custGeom>
                <a:avLst/>
                <a:gdLst>
                  <a:gd name="T0" fmla="*/ 0 w 678"/>
                  <a:gd name="T1" fmla="*/ 136 h 283"/>
                  <a:gd name="T2" fmla="*/ 31 w 678"/>
                  <a:gd name="T3" fmla="*/ 118 h 283"/>
                  <a:gd name="T4" fmla="*/ 53 w 678"/>
                  <a:gd name="T5" fmla="*/ 93 h 283"/>
                  <a:gd name="T6" fmla="*/ 72 w 678"/>
                  <a:gd name="T7" fmla="*/ 63 h 283"/>
                  <a:gd name="T8" fmla="*/ 92 w 678"/>
                  <a:gd name="T9" fmla="*/ 21 h 283"/>
                  <a:gd name="T10" fmla="*/ 120 w 678"/>
                  <a:gd name="T11" fmla="*/ 1 h 283"/>
                  <a:gd name="T12" fmla="*/ 152 w 678"/>
                  <a:gd name="T13" fmla="*/ 18 h 283"/>
                  <a:gd name="T14" fmla="*/ 174 w 678"/>
                  <a:gd name="T15" fmla="*/ 67 h 283"/>
                  <a:gd name="T16" fmla="*/ 188 w 678"/>
                  <a:gd name="T17" fmla="*/ 92 h 283"/>
                  <a:gd name="T18" fmla="*/ 210 w 678"/>
                  <a:gd name="T19" fmla="*/ 115 h 283"/>
                  <a:gd name="T20" fmla="*/ 241 w 678"/>
                  <a:gd name="T21" fmla="*/ 13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8"/>
                  <a:gd name="T34" fmla="*/ 0 h 283"/>
                  <a:gd name="T35" fmla="*/ 678 w 678"/>
                  <a:gd name="T36" fmla="*/ 283 h 2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a:solidFill>
                  <a:srgbClr val="333399"/>
                </a:solidFill>
                <a:round/>
                <a:headEnd/>
                <a:tailEnd/>
              </a:ln>
            </p:spPr>
            <p:txBody>
              <a:bodyPr wrap="none"/>
              <a:lstStyle/>
              <a:p>
                <a:endParaRPr lang="zh-CN" altLang="en-US"/>
              </a:p>
            </p:txBody>
          </p:sp>
          <p:sp>
            <p:nvSpPr>
              <p:cNvPr id="32786" name="Text Box 49"/>
              <p:cNvSpPr txBox="1">
                <a:spLocks noChangeArrowheads="1"/>
              </p:cNvSpPr>
              <p:nvPr/>
            </p:nvSpPr>
            <p:spPr bwMode="auto">
              <a:xfrm>
                <a:off x="5012" y="1305"/>
                <a:ext cx="756" cy="250"/>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黑体" pitchFamily="49" charset="-122"/>
                    <a:ea typeface="黑体" pitchFamily="49" charset="-122"/>
                  </a:rPr>
                  <a:t>输出脉冲</a:t>
                </a:r>
              </a:p>
            </p:txBody>
          </p:sp>
        </p:grpSp>
      </p:grpSp>
      <p:sp>
        <p:nvSpPr>
          <p:cNvPr id="116786" name="Line 50"/>
          <p:cNvSpPr>
            <a:spLocks noChangeShapeType="1"/>
          </p:cNvSpPr>
          <p:nvPr/>
        </p:nvSpPr>
        <p:spPr bwMode="auto">
          <a:xfrm flipV="1">
            <a:off x="1219200" y="5432425"/>
            <a:ext cx="6951663" cy="11113"/>
          </a:xfrm>
          <a:prstGeom prst="line">
            <a:avLst/>
          </a:prstGeom>
          <a:noFill/>
          <a:ln w="38100">
            <a:solidFill>
              <a:schemeClr val="hlink"/>
            </a:solidFill>
            <a:round/>
            <a:headEnd/>
            <a:tailEnd type="triangle" w="med" len="lg"/>
          </a:ln>
        </p:spPr>
        <p:txBody>
          <a:bodyPr wrap="none"/>
          <a:lstStyle/>
          <a:p>
            <a:endParaRPr lang="zh-CN" altLang="en-US"/>
          </a:p>
        </p:txBody>
      </p:sp>
      <p:sp>
        <p:nvSpPr>
          <p:cNvPr id="116787" name="Freeform 51"/>
          <p:cNvSpPr>
            <a:spLocks/>
          </p:cNvSpPr>
          <p:nvPr/>
        </p:nvSpPr>
        <p:spPr bwMode="auto">
          <a:xfrm>
            <a:off x="1187450" y="3025775"/>
            <a:ext cx="6851650" cy="523875"/>
          </a:xfrm>
          <a:custGeom>
            <a:avLst/>
            <a:gdLst>
              <a:gd name="T0" fmla="*/ 0 w 4316"/>
              <a:gd name="T1" fmla="*/ 2147483647 h 330"/>
              <a:gd name="T2" fmla="*/ 2147483647 w 4316"/>
              <a:gd name="T3" fmla="*/ 0 h 330"/>
              <a:gd name="T4" fmla="*/ 2147483647 w 4316"/>
              <a:gd name="T5" fmla="*/ 2147483647 h 330"/>
              <a:gd name="T6" fmla="*/ 2147483647 w 4316"/>
              <a:gd name="T7" fmla="*/ 0 h 330"/>
              <a:gd name="T8" fmla="*/ 2147483647 w 4316"/>
              <a:gd name="T9" fmla="*/ 2147483647 h 330"/>
              <a:gd name="T10" fmla="*/ 2147483647 w 4316"/>
              <a:gd name="T11" fmla="*/ 2147483647 h 330"/>
              <a:gd name="T12" fmla="*/ 0 60000 65536"/>
              <a:gd name="T13" fmla="*/ 0 60000 65536"/>
              <a:gd name="T14" fmla="*/ 0 60000 65536"/>
              <a:gd name="T15" fmla="*/ 0 60000 65536"/>
              <a:gd name="T16" fmla="*/ 0 60000 65536"/>
              <a:gd name="T17" fmla="*/ 0 60000 65536"/>
              <a:gd name="T18" fmla="*/ 0 w 4316"/>
              <a:gd name="T19" fmla="*/ 0 h 330"/>
              <a:gd name="T20" fmla="*/ 4316 w 4316"/>
              <a:gd name="T21" fmla="*/ 330 h 330"/>
            </a:gdLst>
            <a:ahLst/>
            <a:cxnLst>
              <a:cxn ang="T12">
                <a:pos x="T0" y="T1"/>
              </a:cxn>
              <a:cxn ang="T13">
                <a:pos x="T2" y="T3"/>
              </a:cxn>
              <a:cxn ang="T14">
                <a:pos x="T4" y="T5"/>
              </a:cxn>
              <a:cxn ang="T15">
                <a:pos x="T6" y="T7"/>
              </a:cxn>
              <a:cxn ang="T16">
                <a:pos x="T8" y="T9"/>
              </a:cxn>
              <a:cxn ang="T17">
                <a:pos x="T10" y="T11"/>
              </a:cxn>
            </a:cxnLst>
            <a:rect l="T18" t="T19" r="T20" b="T21"/>
            <a:pathLst>
              <a:path w="4316" h="330">
                <a:moveTo>
                  <a:pt x="0" y="128"/>
                </a:moveTo>
                <a:lnTo>
                  <a:pt x="434" y="0"/>
                </a:lnTo>
                <a:lnTo>
                  <a:pt x="1586" y="330"/>
                </a:lnTo>
                <a:lnTo>
                  <a:pt x="2738" y="0"/>
                </a:lnTo>
                <a:lnTo>
                  <a:pt x="3944" y="330"/>
                </a:lnTo>
                <a:lnTo>
                  <a:pt x="4316" y="204"/>
                </a:lnTo>
              </a:path>
            </a:pathLst>
          </a:custGeom>
          <a:noFill/>
          <a:ln w="38100">
            <a:solidFill>
              <a:srgbClr val="339933"/>
            </a:solidFill>
            <a:round/>
            <a:headEnd/>
            <a:tailEnd type="triangle" w="sm" len="med"/>
          </a:ln>
        </p:spPr>
        <p:txBody>
          <a:bodyPr/>
          <a:lstStyle/>
          <a:p>
            <a:endParaRPr lang="zh-CN" altLang="en-US"/>
          </a:p>
        </p:txBody>
      </p:sp>
      <p:sp>
        <p:nvSpPr>
          <p:cNvPr id="32780" name="Text Box 52"/>
          <p:cNvSpPr txBox="1">
            <a:spLocks noChangeArrowheads="1"/>
          </p:cNvSpPr>
          <p:nvPr/>
        </p:nvSpPr>
        <p:spPr bwMode="auto">
          <a:xfrm>
            <a:off x="3779838" y="1924050"/>
            <a:ext cx="2012950" cy="641350"/>
          </a:xfrm>
          <a:prstGeom prst="rect">
            <a:avLst/>
          </a:prstGeom>
          <a:noFill/>
          <a:ln w="9525">
            <a:noFill/>
            <a:miter lim="800000"/>
            <a:headEnd/>
            <a:tailEnd/>
          </a:ln>
        </p:spPr>
        <p:txBody>
          <a:bodyPr wrap="none">
            <a:spAutoFit/>
          </a:bodyPr>
          <a:lstStyle/>
          <a:p>
            <a:pPr algn="l"/>
            <a:r>
              <a:rPr lang="zh-CN" altLang="en-US" sz="3600">
                <a:solidFill>
                  <a:srgbClr val="333399"/>
                </a:solidFill>
                <a:ea typeface="黑体" pitchFamily="49" charset="-122"/>
              </a:rPr>
              <a:t>多模光纤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16787"/>
                                        </p:tgtEl>
                                        <p:attrNameLst>
                                          <p:attrName>style.visibility</p:attrName>
                                        </p:attrNameLst>
                                      </p:cBhvr>
                                      <p:to>
                                        <p:strVal val="visible"/>
                                      </p:to>
                                    </p:set>
                                    <p:animEffect transition="in" filter="wipe(left)">
                                      <p:cBhvr>
                                        <p:cTn id="10" dur="2000"/>
                                        <p:tgtEl>
                                          <p:spTgt spid="11678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6766"/>
                                        </p:tgtEl>
                                        <p:attrNameLst>
                                          <p:attrName>style.visibility</p:attrName>
                                        </p:attrNameLst>
                                      </p:cBhvr>
                                      <p:to>
                                        <p:strVal val="visible"/>
                                      </p:to>
                                    </p:set>
                                    <p:animEffect transition="in" filter="wipe(left)">
                                      <p:cBhvr>
                                        <p:cTn id="13" dur="2000"/>
                                        <p:tgtEl>
                                          <p:spTgt spid="11676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par>
                          <p:cTn id="18" fill="hold">
                            <p:stCondLst>
                              <p:cond delay="0"/>
                            </p:stCondLst>
                            <p:childTnLst>
                              <p:par>
                                <p:cTn id="19" presetID="22" presetClass="entr" presetSubtype="8" fill="hold" grpId="0" nodeType="afterEffect">
                                  <p:stCondLst>
                                    <p:cond delay="0"/>
                                  </p:stCondLst>
                                  <p:childTnLst>
                                    <p:set>
                                      <p:cBhvr>
                                        <p:cTn id="20" dur="1" fill="hold">
                                          <p:stCondLst>
                                            <p:cond delay="0"/>
                                          </p:stCondLst>
                                        </p:cTn>
                                        <p:tgtEl>
                                          <p:spTgt spid="116786"/>
                                        </p:tgtEl>
                                        <p:attrNameLst>
                                          <p:attrName>style.visibility</p:attrName>
                                        </p:attrNameLst>
                                      </p:cBhvr>
                                      <p:to>
                                        <p:strVal val="visible"/>
                                      </p:to>
                                    </p:set>
                                    <p:animEffect transition="in" filter="wipe(left)">
                                      <p:cBhvr>
                                        <p:cTn id="21" dur="2000"/>
                                        <p:tgtEl>
                                          <p:spTgt spid="11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6" grpId="0" animBg="1"/>
      <p:bldP spid="116786" grpId="0" animBg="1"/>
      <p:bldP spid="11678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55576" y="332656"/>
            <a:ext cx="7793037" cy="1462087"/>
          </a:xfrm>
        </p:spPr>
        <p:txBody>
          <a:bodyPr/>
          <a:lstStyle/>
          <a:p>
            <a:pPr algn="ctr" eaLnBrk="1" hangingPunct="1"/>
            <a:r>
              <a:rPr lang="en-US" altLang="zh-CN" dirty="0" smtClean="0"/>
              <a:t>(2) </a:t>
            </a:r>
            <a:r>
              <a:rPr lang="zh-CN" altLang="en-US" dirty="0" smtClean="0"/>
              <a:t>非导向传输媒体 </a:t>
            </a:r>
          </a:p>
        </p:txBody>
      </p:sp>
      <p:sp>
        <p:nvSpPr>
          <p:cNvPr id="46083" name="Rectangle 3"/>
          <p:cNvSpPr>
            <a:spLocks noGrp="1" noChangeArrowheads="1"/>
          </p:cNvSpPr>
          <p:nvPr>
            <p:ph type="body" idx="1"/>
          </p:nvPr>
        </p:nvSpPr>
        <p:spPr/>
        <p:txBody>
          <a:bodyPr/>
          <a:lstStyle/>
          <a:p>
            <a:pPr eaLnBrk="1" hangingPunct="1"/>
            <a:r>
              <a:rPr lang="zh-CN" altLang="en-US" dirty="0" smtClean="0"/>
              <a:t>无线传输所使用的频段很</a:t>
            </a:r>
            <a:r>
              <a:rPr lang="zh-CN" altLang="en-US" dirty="0" smtClean="0"/>
              <a:t>广</a:t>
            </a:r>
            <a:endParaRPr lang="en-US" altLang="zh-CN" dirty="0" smtClean="0"/>
          </a:p>
          <a:p>
            <a:pPr lvl="1" eaLnBrk="1" hangingPunct="1"/>
            <a:r>
              <a:rPr lang="zh-CN" altLang="en-US" dirty="0" smtClean="0"/>
              <a:t>地波</a:t>
            </a:r>
            <a:r>
              <a:rPr lang="en-US" altLang="zh-CN" dirty="0" smtClean="0"/>
              <a:t>&lt;2MHz</a:t>
            </a:r>
            <a:endParaRPr lang="zh-CN" altLang="en-US" dirty="0" smtClean="0"/>
          </a:p>
          <a:p>
            <a:pPr lvl="1" eaLnBrk="1" hangingPunct="1"/>
            <a:r>
              <a:rPr lang="zh-CN" altLang="en-US" dirty="0" smtClean="0"/>
              <a:t>天波</a:t>
            </a:r>
            <a:r>
              <a:rPr lang="en-US" altLang="zh-CN" dirty="0" smtClean="0"/>
              <a:t>2~30MHz</a:t>
            </a:r>
          </a:p>
          <a:p>
            <a:pPr lvl="2" eaLnBrk="1" hangingPunct="1"/>
            <a:r>
              <a:rPr lang="zh-CN" altLang="en-US" dirty="0" smtClean="0"/>
              <a:t>短波</a:t>
            </a:r>
            <a:r>
              <a:rPr lang="zh-CN" altLang="en-US" dirty="0" smtClean="0"/>
              <a:t>通信主要是靠电离层的反射，但短波信道的通信质量较差。</a:t>
            </a:r>
          </a:p>
          <a:p>
            <a:pPr lvl="1" eaLnBrk="1" hangingPunct="1"/>
            <a:r>
              <a:rPr lang="zh-CN" altLang="en-US" dirty="0" smtClean="0"/>
              <a:t>视距传播</a:t>
            </a:r>
            <a:r>
              <a:rPr lang="en-US" altLang="zh-CN" dirty="0" smtClean="0"/>
              <a:t>300M~300GHz</a:t>
            </a:r>
          </a:p>
          <a:p>
            <a:pPr lvl="2" eaLnBrk="1" hangingPunct="1"/>
            <a:r>
              <a:rPr lang="zh-CN" altLang="en-US" dirty="0" smtClean="0"/>
              <a:t>微波</a:t>
            </a:r>
            <a:r>
              <a:rPr lang="zh-CN" altLang="en-US" dirty="0" smtClean="0"/>
              <a:t>在空间主要是直线传播。 </a:t>
            </a:r>
          </a:p>
          <a:p>
            <a:pPr lvl="3" eaLnBrk="1" hangingPunct="1"/>
            <a:r>
              <a:rPr lang="zh-CN" altLang="en-US" dirty="0" smtClean="0">
                <a:solidFill>
                  <a:srgbClr val="333399"/>
                </a:solidFill>
                <a:ea typeface="黑体" pitchFamily="49" charset="-122"/>
              </a:rPr>
              <a:t>地面微波接力通信</a:t>
            </a:r>
          </a:p>
          <a:p>
            <a:pPr lvl="3" eaLnBrk="1" hangingPunct="1"/>
            <a:r>
              <a:rPr lang="zh-CN" altLang="en-US" dirty="0" smtClean="0">
                <a:solidFill>
                  <a:srgbClr val="333399"/>
                </a:solidFill>
                <a:ea typeface="黑体" pitchFamily="49" charset="-122"/>
              </a:rPr>
              <a:t>卫星通信</a:t>
            </a:r>
            <a:r>
              <a:rPr lang="zh-CN" altLang="en-US"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08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08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3568" y="620688"/>
            <a:ext cx="7793037" cy="1143000"/>
          </a:xfrm>
        </p:spPr>
        <p:txBody>
          <a:bodyPr/>
          <a:lstStyle/>
          <a:p>
            <a:pPr algn="ctr"/>
            <a:r>
              <a:rPr lang="zh-CN" altLang="en-US" b="1" dirty="0" smtClean="0"/>
              <a:t>非导向</a:t>
            </a:r>
            <a:r>
              <a:rPr lang="zh-CN" altLang="en-US" b="1" dirty="0" smtClean="0"/>
              <a:t>传输：</a:t>
            </a:r>
            <a:r>
              <a:rPr lang="zh-CN" altLang="en-US" b="1" dirty="0" smtClean="0"/>
              <a:t>无线电</a:t>
            </a:r>
            <a:r>
              <a:rPr lang="zh-CN" altLang="en-US" b="1" dirty="0" smtClean="0"/>
              <a:t>传输</a:t>
            </a:r>
          </a:p>
        </p:txBody>
      </p:sp>
      <p:sp>
        <p:nvSpPr>
          <p:cNvPr id="37891" name="Rectangle 3"/>
          <p:cNvSpPr>
            <a:spLocks noGrp="1" noChangeArrowheads="1"/>
          </p:cNvSpPr>
          <p:nvPr>
            <p:ph type="body" idx="1"/>
          </p:nvPr>
        </p:nvSpPr>
        <p:spPr>
          <a:xfrm>
            <a:off x="539750" y="2017713"/>
            <a:ext cx="8415338" cy="4114800"/>
          </a:xfrm>
        </p:spPr>
        <p:txBody>
          <a:bodyPr/>
          <a:lstStyle/>
          <a:p>
            <a:r>
              <a:rPr lang="zh-CN" altLang="en-US" dirty="0" smtClean="0">
                <a:latin typeface="+mn-ea"/>
              </a:rPr>
              <a:t>无线电波的特性与其频率有关</a:t>
            </a:r>
            <a:endParaRPr lang="en-US" altLang="zh-CN" dirty="0" smtClean="0">
              <a:latin typeface="+mn-ea"/>
            </a:endParaRPr>
          </a:p>
          <a:p>
            <a:r>
              <a:rPr lang="zh-CN" altLang="en-US" dirty="0" smtClean="0">
                <a:latin typeface="+mn-ea"/>
                <a:ea typeface="+mn-ea"/>
              </a:rPr>
              <a:t>在</a:t>
            </a:r>
            <a:r>
              <a:rPr lang="en-US" altLang="zh-CN" dirty="0" smtClean="0">
                <a:latin typeface="+mn-ea"/>
                <a:ea typeface="+mn-ea"/>
              </a:rPr>
              <a:t>VLF</a:t>
            </a:r>
            <a:r>
              <a:rPr lang="zh-CN" altLang="en-US" dirty="0" smtClean="0">
                <a:latin typeface="+mn-ea"/>
                <a:ea typeface="+mn-ea"/>
              </a:rPr>
              <a:t>、</a:t>
            </a:r>
            <a:r>
              <a:rPr lang="en-US" altLang="zh-CN" dirty="0" smtClean="0">
                <a:latin typeface="+mn-ea"/>
                <a:ea typeface="+mn-ea"/>
              </a:rPr>
              <a:t>LF</a:t>
            </a:r>
            <a:r>
              <a:rPr lang="zh-CN" altLang="en-US" dirty="0" smtClean="0">
                <a:latin typeface="+mn-ea"/>
                <a:ea typeface="+mn-ea"/>
              </a:rPr>
              <a:t>和</a:t>
            </a:r>
            <a:r>
              <a:rPr lang="en-US" altLang="zh-CN" dirty="0" smtClean="0">
                <a:latin typeface="+mn-ea"/>
                <a:ea typeface="+mn-ea"/>
              </a:rPr>
              <a:t>MF</a:t>
            </a:r>
            <a:r>
              <a:rPr lang="zh-CN" altLang="en-US" dirty="0" smtClean="0">
                <a:latin typeface="+mn-ea"/>
                <a:ea typeface="+mn-ea"/>
              </a:rPr>
              <a:t>频段上</a:t>
            </a:r>
            <a:endParaRPr lang="en-US" altLang="zh-CN" dirty="0" smtClean="0">
              <a:latin typeface="+mn-ea"/>
              <a:ea typeface="+mn-ea"/>
            </a:endParaRPr>
          </a:p>
          <a:p>
            <a:pPr lvl="1"/>
            <a:r>
              <a:rPr lang="zh-CN" altLang="en-US" dirty="0" smtClean="0">
                <a:latin typeface="+mn-ea"/>
                <a:ea typeface="+mn-ea"/>
              </a:rPr>
              <a:t>无线电波沿着地面传播</a:t>
            </a:r>
            <a:endParaRPr lang="en-US" altLang="zh-CN" dirty="0" smtClean="0">
              <a:latin typeface="+mn-ea"/>
              <a:ea typeface="+mn-ea"/>
            </a:endParaRPr>
          </a:p>
          <a:p>
            <a:pPr lvl="1"/>
            <a:r>
              <a:rPr lang="zh-CN" altLang="en-US" dirty="0" smtClean="0">
                <a:latin typeface="+mn-ea"/>
                <a:ea typeface="+mn-ea"/>
              </a:rPr>
              <a:t>工作频率较低</a:t>
            </a:r>
          </a:p>
          <a:p>
            <a:pPr lvl="1"/>
            <a:r>
              <a:rPr lang="zh-CN" altLang="en-US" dirty="0" smtClean="0">
                <a:latin typeface="+mn-ea"/>
                <a:ea typeface="+mn-ea"/>
              </a:rPr>
              <a:t>传播距离远，在较低频率时可以达到</a:t>
            </a:r>
            <a:r>
              <a:rPr lang="en-US" altLang="zh-CN" dirty="0" smtClean="0">
                <a:latin typeface="+mn-ea"/>
                <a:ea typeface="+mn-ea"/>
              </a:rPr>
              <a:t>1000km</a:t>
            </a:r>
          </a:p>
          <a:p>
            <a:pPr lvl="1"/>
            <a:r>
              <a:rPr lang="zh-CN" altLang="en-US" dirty="0" smtClean="0">
                <a:latin typeface="+mn-ea"/>
                <a:ea typeface="+mn-ea"/>
              </a:rPr>
              <a:t>通过障碍物的穿透能力较强</a:t>
            </a:r>
          </a:p>
          <a:p>
            <a:pPr lvl="1"/>
            <a:r>
              <a:rPr lang="zh-CN" altLang="en-US" dirty="0" smtClean="0">
                <a:latin typeface="+mn-ea"/>
                <a:ea typeface="+mn-ea"/>
              </a:rPr>
              <a:t>能量会随着距离的增大而急剧减小</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1"/>
          </p:nvPr>
        </p:nvSpPr>
        <p:spPr>
          <a:xfrm>
            <a:off x="467544" y="1844824"/>
            <a:ext cx="8229600" cy="4657229"/>
          </a:xfrm>
        </p:spPr>
        <p:txBody>
          <a:bodyPr/>
          <a:lstStyle/>
          <a:p>
            <a:r>
              <a:rPr lang="zh-CN" altLang="en-US" sz="2800" dirty="0" smtClean="0">
                <a:latin typeface="Times New Roman" pitchFamily="18" charset="0"/>
                <a:cs typeface="Times New Roman" pitchFamily="18" charset="0"/>
              </a:rPr>
              <a:t>在</a:t>
            </a:r>
            <a:r>
              <a:rPr lang="en-US" altLang="zh-CN" sz="2800" dirty="0" smtClean="0">
                <a:latin typeface="Times New Roman" pitchFamily="18" charset="0"/>
                <a:cs typeface="Times New Roman" pitchFamily="18" charset="0"/>
              </a:rPr>
              <a:t>HF</a:t>
            </a:r>
            <a:r>
              <a:rPr lang="zh-CN" altLang="en-US" sz="2800" dirty="0" smtClean="0">
                <a:latin typeface="Times New Roman" pitchFamily="18" charset="0"/>
                <a:cs typeface="Times New Roman" pitchFamily="18" charset="0"/>
              </a:rPr>
              <a:t>和</a:t>
            </a:r>
            <a:r>
              <a:rPr lang="en-US" altLang="zh-CN" sz="2800" dirty="0" smtClean="0">
                <a:latin typeface="Times New Roman" pitchFamily="18" charset="0"/>
                <a:cs typeface="Times New Roman" pitchFamily="18" charset="0"/>
              </a:rPr>
              <a:t>VHF</a:t>
            </a:r>
            <a:r>
              <a:rPr lang="zh-CN" altLang="en-US" sz="2800" dirty="0" smtClean="0">
                <a:latin typeface="Times New Roman" pitchFamily="18" charset="0"/>
                <a:cs typeface="Times New Roman" pitchFamily="18" charset="0"/>
              </a:rPr>
              <a:t>频段上</a:t>
            </a:r>
            <a:endParaRPr lang="en-US" altLang="zh-CN" sz="2800" dirty="0" smtClean="0">
              <a:latin typeface="Times New Roman" pitchFamily="18" charset="0"/>
              <a:cs typeface="Times New Roman" pitchFamily="18" charset="0"/>
            </a:endParaRPr>
          </a:p>
          <a:p>
            <a:pPr lvl="1"/>
            <a:r>
              <a:rPr lang="zh-CN" altLang="en-US" sz="2400" dirty="0" smtClean="0">
                <a:latin typeface="Times New Roman" pitchFamily="18" charset="0"/>
                <a:ea typeface="+mn-ea"/>
                <a:cs typeface="Times New Roman" pitchFamily="18" charset="0"/>
              </a:rPr>
              <a:t>无线电波会被地面吸收</a:t>
            </a:r>
            <a:endParaRPr lang="en-US" altLang="zh-CN" sz="2400" dirty="0" smtClean="0">
              <a:latin typeface="Times New Roman" pitchFamily="18" charset="0"/>
              <a:ea typeface="+mn-ea"/>
              <a:cs typeface="Times New Roman" pitchFamily="18" charset="0"/>
            </a:endParaRPr>
          </a:p>
          <a:p>
            <a:pPr lvl="1"/>
            <a:r>
              <a:rPr lang="zh-CN" altLang="en-US" sz="2400" dirty="0" smtClean="0">
                <a:latin typeface="Times New Roman" pitchFamily="18" charset="0"/>
                <a:ea typeface="+mn-ea"/>
                <a:cs typeface="Times New Roman" pitchFamily="18" charset="0"/>
              </a:rPr>
              <a:t>通过地面上空的电离层的反射来传播</a:t>
            </a:r>
            <a:endParaRPr lang="en-US" altLang="zh-CN" sz="2400" dirty="0" smtClean="0">
              <a:latin typeface="Times New Roman" pitchFamily="18" charset="0"/>
              <a:ea typeface="+mn-ea"/>
              <a:cs typeface="Times New Roman" pitchFamily="18" charset="0"/>
            </a:endParaRPr>
          </a:p>
          <a:p>
            <a:pPr lvl="2"/>
            <a:r>
              <a:rPr lang="zh-CN" altLang="en-US" sz="2000" dirty="0" smtClean="0">
                <a:latin typeface="Times New Roman" pitchFamily="18" charset="0"/>
                <a:ea typeface="+mn-ea"/>
                <a:cs typeface="Times New Roman" pitchFamily="18" charset="0"/>
              </a:rPr>
              <a:t>无线电信号通过地面上的发送站发送出去，当到达地面上空（约距地球</a:t>
            </a:r>
            <a:r>
              <a:rPr lang="en-US" altLang="zh-CN" sz="2000" dirty="0" smtClean="0">
                <a:latin typeface="Times New Roman" pitchFamily="18" charset="0"/>
                <a:ea typeface="+mn-ea"/>
                <a:cs typeface="Times New Roman" pitchFamily="18" charset="0"/>
              </a:rPr>
              <a:t>100~500km</a:t>
            </a:r>
            <a:r>
              <a:rPr lang="zh-CN" altLang="en-US" sz="2000" dirty="0" smtClean="0">
                <a:latin typeface="Times New Roman" pitchFamily="18" charset="0"/>
                <a:ea typeface="+mn-ea"/>
                <a:cs typeface="Times New Roman" pitchFamily="18" charset="0"/>
              </a:rPr>
              <a:t>）电离层时，无线电波被反射回地址，再被地面的接收站接收到</a:t>
            </a:r>
            <a:endParaRPr lang="en-US" altLang="zh-CN" sz="2000" dirty="0" smtClean="0">
              <a:latin typeface="Times New Roman" pitchFamily="18" charset="0"/>
              <a:ea typeface="+mn-ea"/>
              <a:cs typeface="Times New Roman" pitchFamily="18" charset="0"/>
            </a:endParaRPr>
          </a:p>
          <a:p>
            <a:pPr lvl="1"/>
            <a:r>
              <a:rPr lang="zh-CN" altLang="en-US" dirty="0" smtClean="0">
                <a:latin typeface="Times New Roman" pitchFamily="18" charset="0"/>
                <a:cs typeface="Times New Roman" pitchFamily="18" charset="0"/>
              </a:rPr>
              <a:t>具体的传输特点</a:t>
            </a:r>
          </a:p>
          <a:p>
            <a:pPr lvl="2"/>
            <a:r>
              <a:rPr lang="en-US" altLang="zh-CN" sz="2000" dirty="0" smtClean="0">
                <a:latin typeface="Times New Roman" pitchFamily="18" charset="0"/>
                <a:ea typeface="+mn-ea"/>
                <a:cs typeface="Times New Roman" pitchFamily="18" charset="0"/>
              </a:rPr>
              <a:t> </a:t>
            </a:r>
            <a:r>
              <a:rPr lang="zh-CN" altLang="en-US" sz="2000" dirty="0" smtClean="0">
                <a:latin typeface="Times New Roman" pitchFamily="18" charset="0"/>
                <a:ea typeface="+mn-ea"/>
                <a:cs typeface="Times New Roman" pitchFamily="18" charset="0"/>
              </a:rPr>
              <a:t>工作频率较高</a:t>
            </a:r>
          </a:p>
          <a:p>
            <a:pPr lvl="2"/>
            <a:r>
              <a:rPr lang="en-US" altLang="zh-CN" sz="2000" dirty="0" smtClean="0">
                <a:latin typeface="Times New Roman" pitchFamily="18" charset="0"/>
                <a:ea typeface="+mn-ea"/>
                <a:cs typeface="Times New Roman" pitchFamily="18" charset="0"/>
              </a:rPr>
              <a:t> </a:t>
            </a:r>
            <a:r>
              <a:rPr lang="zh-CN" altLang="en-US" sz="2000" dirty="0" smtClean="0">
                <a:latin typeface="Times New Roman" pitchFamily="18" charset="0"/>
                <a:ea typeface="+mn-ea"/>
                <a:cs typeface="Times New Roman" pitchFamily="18" charset="0"/>
              </a:rPr>
              <a:t>无线电波趋于直接传播</a:t>
            </a:r>
          </a:p>
          <a:p>
            <a:pPr lvl="2"/>
            <a:r>
              <a:rPr lang="en-US" altLang="zh-CN" sz="2000" dirty="0" smtClean="0">
                <a:latin typeface="Times New Roman" pitchFamily="18" charset="0"/>
                <a:ea typeface="+mn-ea"/>
                <a:cs typeface="Times New Roman" pitchFamily="18" charset="0"/>
              </a:rPr>
              <a:t> </a:t>
            </a:r>
            <a:r>
              <a:rPr lang="zh-CN" altLang="en-US" sz="2000" dirty="0" smtClean="0">
                <a:latin typeface="Times New Roman" pitchFamily="18" charset="0"/>
                <a:ea typeface="+mn-ea"/>
                <a:cs typeface="Times New Roman" pitchFamily="18" charset="0"/>
              </a:rPr>
              <a:t>但通过障碍物的穿透能力较弱</a:t>
            </a:r>
          </a:p>
          <a:p>
            <a:pPr lvl="2"/>
            <a:r>
              <a:rPr lang="en-US" altLang="zh-CN" sz="2000" dirty="0" smtClean="0">
                <a:latin typeface="Times New Roman" pitchFamily="18" charset="0"/>
                <a:ea typeface="+mn-ea"/>
                <a:cs typeface="Times New Roman" pitchFamily="18" charset="0"/>
              </a:rPr>
              <a:t> </a:t>
            </a:r>
            <a:r>
              <a:rPr lang="zh-CN" altLang="en-US" sz="2000" dirty="0" smtClean="0">
                <a:latin typeface="Times New Roman" pitchFamily="18" charset="0"/>
                <a:ea typeface="+mn-ea"/>
                <a:cs typeface="Times New Roman" pitchFamily="18" charset="0"/>
              </a:rPr>
              <a:t>会被空气中的水蒸气和自然界的雨水吸收</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9939" name="Text Box 3"/>
          <p:cNvSpPr txBox="1">
            <a:spLocks noChangeArrowheads="1"/>
          </p:cNvSpPr>
          <p:nvPr/>
        </p:nvSpPr>
        <p:spPr bwMode="auto">
          <a:xfrm>
            <a:off x="2057400" y="4953000"/>
            <a:ext cx="5181600" cy="457200"/>
          </a:xfrm>
          <a:prstGeom prst="rect">
            <a:avLst/>
          </a:prstGeom>
          <a:noFill/>
          <a:ln w="9525">
            <a:noFill/>
            <a:miter lim="800000"/>
            <a:headEnd/>
            <a:tailEnd/>
          </a:ln>
        </p:spPr>
        <p:txBody>
          <a:bodyPr>
            <a:spAutoFit/>
          </a:bodyPr>
          <a:lstStyle/>
          <a:p>
            <a:pPr>
              <a:spcBef>
                <a:spcPct val="50000"/>
              </a:spcBef>
            </a:pPr>
            <a:r>
              <a:rPr lang="zh-CN" altLang="en-US" b="1">
                <a:latin typeface="Verdana" pitchFamily="34" charset="0"/>
              </a:rPr>
              <a:t>无线电波传播方式</a:t>
            </a:r>
          </a:p>
        </p:txBody>
      </p:sp>
      <p:pic>
        <p:nvPicPr>
          <p:cNvPr id="39940" name="Picture 4"/>
          <p:cNvPicPr>
            <a:picLocks noChangeAspect="1" noChangeArrowheads="1"/>
          </p:cNvPicPr>
          <p:nvPr/>
        </p:nvPicPr>
        <p:blipFill>
          <a:blip r:embed="rId2" cstate="print"/>
          <a:srcRect/>
          <a:stretch>
            <a:fillRect/>
          </a:stretch>
        </p:blipFill>
        <p:spPr bwMode="auto">
          <a:xfrm>
            <a:off x="251520" y="1676400"/>
            <a:ext cx="8511480" cy="30861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3568" y="260648"/>
            <a:ext cx="7793037" cy="1462087"/>
          </a:xfrm>
        </p:spPr>
        <p:txBody>
          <a:bodyPr/>
          <a:lstStyle/>
          <a:p>
            <a:pPr algn="ctr"/>
            <a:r>
              <a:rPr lang="zh-CN" altLang="en-US" dirty="0" smtClean="0"/>
              <a:t>微波传输</a:t>
            </a:r>
          </a:p>
        </p:txBody>
      </p:sp>
      <p:sp>
        <p:nvSpPr>
          <p:cNvPr id="40963" name="Rectangle 3"/>
          <p:cNvSpPr>
            <a:spLocks noGrp="1" noChangeArrowheads="1"/>
          </p:cNvSpPr>
          <p:nvPr>
            <p:ph type="body" idx="1"/>
          </p:nvPr>
        </p:nvSpPr>
        <p:spPr>
          <a:xfrm>
            <a:off x="539750" y="1989138"/>
            <a:ext cx="8420100" cy="4114800"/>
          </a:xfrm>
        </p:spPr>
        <p:txBody>
          <a:bodyPr/>
          <a:lstStyle/>
          <a:p>
            <a:r>
              <a:rPr lang="zh-CN" altLang="en-US" dirty="0" smtClean="0"/>
              <a:t>微波的频段为</a:t>
            </a:r>
            <a:r>
              <a:rPr lang="en-US" altLang="zh-CN" dirty="0" smtClean="0"/>
              <a:t>300MHz~300GHz</a:t>
            </a:r>
            <a:r>
              <a:rPr lang="zh-CN" altLang="en-US" dirty="0" smtClean="0"/>
              <a:t>，但多使用</a:t>
            </a:r>
            <a:r>
              <a:rPr lang="en-US" altLang="zh-CN" dirty="0" smtClean="0"/>
              <a:t>2~40GHz</a:t>
            </a:r>
            <a:r>
              <a:rPr lang="zh-CN" altLang="en-US" dirty="0" smtClean="0"/>
              <a:t>的频段</a:t>
            </a:r>
            <a:endParaRPr lang="en-US" altLang="zh-CN" dirty="0" smtClean="0"/>
          </a:p>
          <a:p>
            <a:r>
              <a:rPr lang="zh-CN" altLang="en-US" dirty="0" smtClean="0"/>
              <a:t>微波在空气中主要以</a:t>
            </a:r>
            <a:r>
              <a:rPr lang="zh-CN" altLang="en-US" dirty="0" smtClean="0">
                <a:solidFill>
                  <a:srgbClr val="FF0000"/>
                </a:solidFill>
              </a:rPr>
              <a:t>直线方式</a:t>
            </a:r>
            <a:r>
              <a:rPr lang="zh-CN" altLang="en-US" dirty="0" smtClean="0"/>
              <a:t>传播，同时微波会</a:t>
            </a:r>
            <a:r>
              <a:rPr lang="zh-CN" altLang="en-US" dirty="0" smtClean="0">
                <a:solidFill>
                  <a:srgbClr val="FF0000"/>
                </a:solidFill>
              </a:rPr>
              <a:t>穿透</a:t>
            </a:r>
            <a:r>
              <a:rPr lang="zh-CN" altLang="en-US" dirty="0" smtClean="0"/>
              <a:t>地面上空的电离层</a:t>
            </a:r>
            <a:endParaRPr lang="en-US" altLang="zh-CN" dirty="0" smtClean="0"/>
          </a:p>
          <a:p>
            <a:pPr lvl="1"/>
            <a:r>
              <a:rPr lang="zh-CN" altLang="en-US" dirty="0" smtClean="0">
                <a:latin typeface="+mn-ea"/>
                <a:ea typeface="+mn-ea"/>
              </a:rPr>
              <a:t>不能像无线电波那样使用电离层的反射来传播，而必须通过站点来传播</a:t>
            </a:r>
            <a:endParaRPr lang="en-US" altLang="zh-CN" dirty="0" smtClean="0">
              <a:latin typeface="+mn-ea"/>
              <a:ea typeface="+mn-ea"/>
            </a:endParaRPr>
          </a:p>
          <a:p>
            <a:pPr lvl="1"/>
            <a:r>
              <a:rPr lang="zh-CN" altLang="en-US" dirty="0" smtClean="0">
                <a:latin typeface="+mn-ea"/>
                <a:ea typeface="+mn-ea"/>
              </a:rPr>
              <a:t>地面微波接力通信</a:t>
            </a:r>
            <a:endParaRPr lang="en-US" altLang="zh-CN" dirty="0" smtClean="0">
              <a:latin typeface="+mn-ea"/>
              <a:ea typeface="+mn-ea"/>
            </a:endParaRPr>
          </a:p>
          <a:p>
            <a:pPr lvl="1"/>
            <a:r>
              <a:rPr lang="zh-CN" altLang="en-US" dirty="0" smtClean="0">
                <a:latin typeface="+mn-ea"/>
                <a:ea typeface="+mn-ea"/>
              </a:rPr>
              <a:t>卫星通信</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899592" y="260648"/>
            <a:ext cx="7793037" cy="1462087"/>
          </a:xfrm>
        </p:spPr>
        <p:txBody>
          <a:bodyPr/>
          <a:lstStyle/>
          <a:p>
            <a:pPr algn="ctr"/>
            <a:r>
              <a:rPr lang="zh-CN" altLang="en-US" b="1" dirty="0" smtClean="0"/>
              <a:t>地面微波接力通信</a:t>
            </a:r>
          </a:p>
        </p:txBody>
      </p:sp>
      <p:sp>
        <p:nvSpPr>
          <p:cNvPr id="41987" name="Rectangle 3"/>
          <p:cNvSpPr>
            <a:spLocks noGrp="1" noChangeArrowheads="1"/>
          </p:cNvSpPr>
          <p:nvPr>
            <p:ph type="body" idx="1"/>
          </p:nvPr>
        </p:nvSpPr>
        <p:spPr>
          <a:xfrm>
            <a:off x="323850" y="2017713"/>
            <a:ext cx="8631238" cy="4114800"/>
          </a:xfrm>
        </p:spPr>
        <p:txBody>
          <a:bodyPr/>
          <a:lstStyle/>
          <a:p>
            <a:pPr>
              <a:lnSpc>
                <a:spcPct val="90000"/>
              </a:lnSpc>
            </a:pPr>
            <a:r>
              <a:rPr lang="zh-CN" altLang="en-US" dirty="0" smtClean="0"/>
              <a:t>由于微波是以直线方式在大气中传播</a:t>
            </a:r>
            <a:endParaRPr lang="en-US" altLang="zh-CN" dirty="0" smtClean="0"/>
          </a:p>
          <a:p>
            <a:pPr>
              <a:lnSpc>
                <a:spcPct val="90000"/>
              </a:lnSpc>
            </a:pPr>
            <a:r>
              <a:rPr lang="zh-CN" altLang="en-US" dirty="0" smtClean="0"/>
              <a:t>地面上的传播距离一般不会超过</a:t>
            </a:r>
            <a:r>
              <a:rPr lang="en-US" altLang="zh-CN" dirty="0" smtClean="0"/>
              <a:t>50km</a:t>
            </a:r>
          </a:p>
          <a:p>
            <a:pPr>
              <a:lnSpc>
                <a:spcPct val="90000"/>
              </a:lnSpc>
            </a:pPr>
            <a:r>
              <a:rPr lang="zh-CN" altLang="en-US" dirty="0" smtClean="0"/>
              <a:t>为了实现微波的远距离传播</a:t>
            </a:r>
            <a:endParaRPr lang="en-US" altLang="zh-CN" dirty="0" smtClean="0"/>
          </a:p>
          <a:p>
            <a:pPr lvl="1">
              <a:lnSpc>
                <a:spcPct val="90000"/>
              </a:lnSpc>
            </a:pPr>
            <a:r>
              <a:rPr lang="zh-CN" altLang="en-US" dirty="0" smtClean="0">
                <a:latin typeface="+mn-ea"/>
                <a:ea typeface="+mn-ea"/>
              </a:rPr>
              <a:t>在一条通信信道的两个端点之间架设多个微波中继站</a:t>
            </a:r>
            <a:endParaRPr lang="en-US" altLang="zh-CN" dirty="0" smtClean="0">
              <a:latin typeface="+mn-ea"/>
              <a:ea typeface="+mn-ea"/>
            </a:endParaRPr>
          </a:p>
          <a:p>
            <a:pPr lvl="1">
              <a:lnSpc>
                <a:spcPct val="90000"/>
              </a:lnSpc>
            </a:pPr>
            <a:r>
              <a:rPr lang="zh-CN" altLang="en-US" dirty="0" smtClean="0">
                <a:latin typeface="+mn-ea"/>
                <a:ea typeface="+mn-ea"/>
              </a:rPr>
              <a:t>中继站在接收到前一个中继站（或端点）的信号后，对其进行放大，然后再转发给下一个中继站（或站点），起到了信号的接力作用</a:t>
            </a:r>
            <a:endParaRPr lang="en-US" altLang="zh-CN" dirty="0" smtClean="0">
              <a:latin typeface="+mn-ea"/>
              <a:ea typeface="+mn-ea"/>
            </a:endParaRPr>
          </a:p>
          <a:p>
            <a:pPr lvl="1">
              <a:lnSpc>
                <a:spcPct val="90000"/>
              </a:lnSpc>
            </a:pPr>
            <a:r>
              <a:rPr lang="zh-CN" altLang="en-US" dirty="0" smtClean="0">
                <a:latin typeface="+mn-ea"/>
                <a:ea typeface="+mn-ea"/>
              </a:rPr>
              <a:t>这种通信方式称为地面微波接入通信。</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539552" y="332656"/>
            <a:ext cx="7793037" cy="1462087"/>
          </a:xfrm>
        </p:spPr>
        <p:txBody>
          <a:bodyPr/>
          <a:lstStyle/>
          <a:p>
            <a:pPr algn="ctr"/>
            <a:r>
              <a:rPr lang="zh-CN" altLang="en-US" dirty="0" smtClean="0"/>
              <a:t>卫星通信</a:t>
            </a:r>
          </a:p>
        </p:txBody>
      </p:sp>
      <p:sp>
        <p:nvSpPr>
          <p:cNvPr id="43011" name="Rectangle 3"/>
          <p:cNvSpPr>
            <a:spLocks noGrp="1" noChangeArrowheads="1"/>
          </p:cNvSpPr>
          <p:nvPr>
            <p:ph type="body" idx="1"/>
          </p:nvPr>
        </p:nvSpPr>
        <p:spPr>
          <a:xfrm>
            <a:off x="323850" y="2017713"/>
            <a:ext cx="8631238" cy="4114800"/>
          </a:xfrm>
        </p:spPr>
        <p:txBody>
          <a:bodyPr/>
          <a:lstStyle/>
          <a:p>
            <a:r>
              <a:rPr lang="zh-CN" altLang="en-US" b="1" dirty="0" smtClean="0"/>
              <a:t>卫星通信</a:t>
            </a:r>
            <a:r>
              <a:rPr lang="zh-CN" altLang="en-US" dirty="0" smtClean="0"/>
              <a:t>是利用人造地球卫星作为中继站，转发无线微波信号，在多个地面站之间进行的通信。</a:t>
            </a:r>
            <a:endParaRPr lang="en-US" altLang="zh-CN" dirty="0" smtClean="0"/>
          </a:p>
          <a:p>
            <a:r>
              <a:rPr lang="zh-CN" altLang="en-US" dirty="0" smtClean="0"/>
              <a:t>目前用来转发信号的通信卫星几乎都是静止卫星或同步卫星，即卫星环绕地球一周的时间恰好等于地球自转一周的时间，卫星相对于地面站来说呈静止状态。</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xfrm>
            <a:off x="395288" y="3816350"/>
            <a:ext cx="8497192" cy="2636986"/>
          </a:xfrm>
        </p:spPr>
        <p:txBody>
          <a:bodyPr/>
          <a:lstStyle/>
          <a:p>
            <a:r>
              <a:rPr lang="zh-CN" altLang="en-US" dirty="0" smtClean="0"/>
              <a:t>一个典型的卫星通常拥有</a:t>
            </a:r>
            <a:r>
              <a:rPr lang="en-US" altLang="zh-CN" dirty="0" smtClean="0"/>
              <a:t>12~20</a:t>
            </a:r>
            <a:r>
              <a:rPr lang="zh-CN" altLang="en-US" dirty="0" smtClean="0"/>
              <a:t>个转发器。</a:t>
            </a:r>
            <a:endParaRPr lang="en-US" altLang="zh-CN" dirty="0" smtClean="0"/>
          </a:p>
          <a:p>
            <a:pPr lvl="1"/>
            <a:r>
              <a:rPr lang="zh-CN" altLang="en-US" dirty="0" smtClean="0"/>
              <a:t>每个转发器的频段为</a:t>
            </a:r>
            <a:r>
              <a:rPr lang="en-US" altLang="zh-CN" dirty="0" smtClean="0"/>
              <a:t>36~50MHz</a:t>
            </a:r>
          </a:p>
          <a:p>
            <a:pPr lvl="1"/>
            <a:r>
              <a:rPr lang="zh-CN" altLang="en-US" dirty="0" smtClean="0"/>
              <a:t>一个转发器可用来传输</a:t>
            </a:r>
            <a:r>
              <a:rPr lang="en-US" altLang="zh-CN" dirty="0" smtClean="0"/>
              <a:t>56Mbit/s</a:t>
            </a:r>
            <a:r>
              <a:rPr lang="zh-CN" altLang="en-US" dirty="0" smtClean="0"/>
              <a:t>的数据，或</a:t>
            </a:r>
            <a:r>
              <a:rPr lang="en-US" altLang="zh-CN" dirty="0" smtClean="0"/>
              <a:t>800</a:t>
            </a:r>
            <a:r>
              <a:rPr lang="zh-CN" altLang="en-US" dirty="0" smtClean="0"/>
              <a:t>路</a:t>
            </a:r>
            <a:r>
              <a:rPr lang="en-US" altLang="zh-CN" dirty="0" smtClean="0"/>
              <a:t>64kbit/s</a:t>
            </a:r>
            <a:r>
              <a:rPr lang="zh-CN" altLang="en-US" dirty="0" smtClean="0"/>
              <a:t>的数字化语音信道</a:t>
            </a:r>
            <a:endParaRPr lang="en-US" altLang="zh-CN" dirty="0" smtClean="0"/>
          </a:p>
          <a:p>
            <a:pPr lvl="1"/>
            <a:r>
              <a:rPr lang="zh-CN" altLang="en-US" dirty="0" smtClean="0"/>
              <a:t>不同的转发器之间一般不会产生干扰</a:t>
            </a:r>
          </a:p>
        </p:txBody>
      </p:sp>
      <p:sp>
        <p:nvSpPr>
          <p:cNvPr id="44035"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44036" name="Text Box 4"/>
          <p:cNvSpPr txBox="1">
            <a:spLocks noChangeArrowheads="1"/>
          </p:cNvSpPr>
          <p:nvPr/>
        </p:nvSpPr>
        <p:spPr bwMode="auto">
          <a:xfrm>
            <a:off x="1619250" y="3284538"/>
            <a:ext cx="5791200" cy="457200"/>
          </a:xfrm>
          <a:prstGeom prst="rect">
            <a:avLst/>
          </a:prstGeom>
          <a:noFill/>
          <a:ln w="9525">
            <a:noFill/>
            <a:miter lim="800000"/>
            <a:headEnd/>
            <a:tailEnd/>
          </a:ln>
        </p:spPr>
        <p:txBody>
          <a:bodyPr>
            <a:spAutoFit/>
          </a:bodyPr>
          <a:lstStyle/>
          <a:p>
            <a:pPr>
              <a:spcBef>
                <a:spcPct val="50000"/>
              </a:spcBef>
            </a:pPr>
            <a:r>
              <a:rPr lang="zh-CN" altLang="en-US" sz="1800">
                <a:latin typeface="Verdana" pitchFamily="34" charset="0"/>
              </a:rPr>
              <a:t> </a:t>
            </a:r>
            <a:r>
              <a:rPr lang="zh-CN" altLang="en-US" b="1">
                <a:latin typeface="Verdana" pitchFamily="34" charset="0"/>
              </a:rPr>
              <a:t>微波通信方式</a:t>
            </a:r>
          </a:p>
        </p:txBody>
      </p:sp>
      <p:pic>
        <p:nvPicPr>
          <p:cNvPr id="44037" name="Picture 5"/>
          <p:cNvPicPr>
            <a:picLocks noChangeAspect="1" noChangeArrowheads="1"/>
          </p:cNvPicPr>
          <p:nvPr/>
        </p:nvPicPr>
        <p:blipFill>
          <a:blip r:embed="rId2" cstate="print"/>
          <a:srcRect/>
          <a:stretch>
            <a:fillRect/>
          </a:stretch>
        </p:blipFill>
        <p:spPr bwMode="auto">
          <a:xfrm>
            <a:off x="395288" y="620713"/>
            <a:ext cx="8382000" cy="24384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Line 20"/>
          <p:cNvSpPr>
            <a:spLocks noChangeShapeType="1"/>
          </p:cNvSpPr>
          <p:nvPr/>
        </p:nvSpPr>
        <p:spPr bwMode="auto">
          <a:xfrm>
            <a:off x="5214938" y="4038600"/>
            <a:ext cx="3263900" cy="0"/>
          </a:xfrm>
          <a:prstGeom prst="line">
            <a:avLst/>
          </a:prstGeom>
          <a:noFill/>
          <a:ln w="9525">
            <a:solidFill>
              <a:schemeClr val="tx1"/>
            </a:solidFill>
            <a:round/>
            <a:headEnd/>
            <a:tailEnd/>
          </a:ln>
        </p:spPr>
        <p:txBody>
          <a:bodyPr/>
          <a:lstStyle/>
          <a:p>
            <a:endParaRPr lang="zh-CN" altLang="en-US"/>
          </a:p>
        </p:txBody>
      </p:sp>
      <p:sp>
        <p:nvSpPr>
          <p:cNvPr id="45059" name="Text Box 31"/>
          <p:cNvSpPr txBox="1">
            <a:spLocks noChangeArrowheads="1"/>
          </p:cNvSpPr>
          <p:nvPr/>
        </p:nvSpPr>
        <p:spPr bwMode="auto">
          <a:xfrm>
            <a:off x="6159500" y="3578225"/>
            <a:ext cx="1301750" cy="427038"/>
          </a:xfrm>
          <a:prstGeom prst="rect">
            <a:avLst/>
          </a:prstGeom>
          <a:noFill/>
          <a:ln w="9525">
            <a:noFill/>
            <a:miter lim="800000"/>
            <a:headEnd/>
            <a:tailEnd/>
          </a:ln>
        </p:spPr>
        <p:txBody>
          <a:bodyPr wrap="none">
            <a:spAutoFit/>
          </a:bodyPr>
          <a:lstStyle/>
          <a:p>
            <a:pPr algn="l"/>
            <a:r>
              <a:rPr lang="zh-CN" altLang="en-US" sz="2200">
                <a:solidFill>
                  <a:schemeClr val="folHlink"/>
                </a:solidFill>
                <a:latin typeface="Arial" pitchFamily="34" charset="0"/>
                <a:ea typeface="黑体" pitchFamily="49" charset="-122"/>
              </a:rPr>
              <a:t>共享信道</a:t>
            </a:r>
          </a:p>
        </p:txBody>
      </p:sp>
      <p:sp>
        <p:nvSpPr>
          <p:cNvPr id="45060" name="Rectangle 2"/>
          <p:cNvSpPr>
            <a:spLocks noGrp="1" noChangeArrowheads="1"/>
          </p:cNvSpPr>
          <p:nvPr>
            <p:ph type="title"/>
          </p:nvPr>
        </p:nvSpPr>
        <p:spPr>
          <a:xfrm>
            <a:off x="467545" y="548679"/>
            <a:ext cx="7992888" cy="1080121"/>
          </a:xfrm>
        </p:spPr>
        <p:txBody>
          <a:bodyPr/>
          <a:lstStyle/>
          <a:p>
            <a:pPr algn="ctr" eaLnBrk="1" hangingPunct="1"/>
            <a:r>
              <a:rPr lang="en-US" altLang="zh-CN" sz="4000" dirty="0" smtClean="0"/>
              <a:t>4. </a:t>
            </a:r>
            <a:r>
              <a:rPr lang="zh-CN" altLang="en-US" sz="4000" dirty="0" smtClean="0"/>
              <a:t>信道复用技术</a:t>
            </a:r>
          </a:p>
        </p:txBody>
      </p:sp>
      <p:sp>
        <p:nvSpPr>
          <p:cNvPr id="45061" name="Rectangle 3"/>
          <p:cNvSpPr>
            <a:spLocks noGrp="1" noChangeArrowheads="1"/>
          </p:cNvSpPr>
          <p:nvPr>
            <p:ph type="body" idx="1"/>
          </p:nvPr>
        </p:nvSpPr>
        <p:spPr>
          <a:xfrm>
            <a:off x="827088" y="1773238"/>
            <a:ext cx="7988300" cy="4114800"/>
          </a:xfrm>
        </p:spPr>
        <p:txBody>
          <a:bodyPr/>
          <a:lstStyle/>
          <a:p>
            <a:pPr eaLnBrk="1" hangingPunct="1"/>
            <a:r>
              <a:rPr lang="zh-CN" altLang="en-US" smtClean="0">
                <a:solidFill>
                  <a:schemeClr val="hlink"/>
                </a:solidFill>
              </a:rPr>
              <a:t>复用</a:t>
            </a:r>
            <a:r>
              <a:rPr lang="en-US" altLang="zh-CN" smtClean="0"/>
              <a:t>(multiplexing)</a:t>
            </a:r>
            <a:r>
              <a:rPr lang="zh-CN" altLang="en-US" smtClean="0"/>
              <a:t>是通信技术中的基本概念。 </a:t>
            </a:r>
          </a:p>
        </p:txBody>
      </p:sp>
      <p:grpSp>
        <p:nvGrpSpPr>
          <p:cNvPr id="45062" name="Group 9"/>
          <p:cNvGrpSpPr>
            <a:grpSpLocks/>
          </p:cNvGrpSpPr>
          <p:nvPr/>
        </p:nvGrpSpPr>
        <p:grpSpPr bwMode="auto">
          <a:xfrm>
            <a:off x="590550" y="3438525"/>
            <a:ext cx="3408363" cy="1200150"/>
            <a:chOff x="657" y="1230"/>
            <a:chExt cx="1180" cy="590"/>
          </a:xfrm>
        </p:grpSpPr>
        <p:sp>
          <p:nvSpPr>
            <p:cNvPr id="45087" name="Line 10"/>
            <p:cNvSpPr>
              <a:spLocks noChangeShapeType="1"/>
            </p:cNvSpPr>
            <p:nvPr/>
          </p:nvSpPr>
          <p:spPr bwMode="auto">
            <a:xfrm>
              <a:off x="657" y="1230"/>
              <a:ext cx="1180" cy="0"/>
            </a:xfrm>
            <a:prstGeom prst="line">
              <a:avLst/>
            </a:prstGeom>
            <a:noFill/>
            <a:ln w="9525">
              <a:solidFill>
                <a:schemeClr val="tx1"/>
              </a:solidFill>
              <a:round/>
              <a:headEnd/>
              <a:tailEnd/>
            </a:ln>
          </p:spPr>
          <p:txBody>
            <a:bodyPr/>
            <a:lstStyle/>
            <a:p>
              <a:endParaRPr lang="zh-CN" altLang="en-US"/>
            </a:p>
          </p:txBody>
        </p:sp>
        <p:sp>
          <p:nvSpPr>
            <p:cNvPr id="45088" name="Line 11"/>
            <p:cNvSpPr>
              <a:spLocks noChangeShapeType="1"/>
            </p:cNvSpPr>
            <p:nvPr/>
          </p:nvSpPr>
          <p:spPr bwMode="auto">
            <a:xfrm>
              <a:off x="657" y="1525"/>
              <a:ext cx="1180" cy="0"/>
            </a:xfrm>
            <a:prstGeom prst="line">
              <a:avLst/>
            </a:prstGeom>
            <a:noFill/>
            <a:ln w="9525">
              <a:solidFill>
                <a:schemeClr val="tx1"/>
              </a:solidFill>
              <a:round/>
              <a:headEnd/>
              <a:tailEnd/>
            </a:ln>
          </p:spPr>
          <p:txBody>
            <a:bodyPr/>
            <a:lstStyle/>
            <a:p>
              <a:endParaRPr lang="zh-CN" altLang="en-US"/>
            </a:p>
          </p:txBody>
        </p:sp>
        <p:sp>
          <p:nvSpPr>
            <p:cNvPr id="45089" name="Line 12"/>
            <p:cNvSpPr>
              <a:spLocks noChangeShapeType="1"/>
            </p:cNvSpPr>
            <p:nvPr/>
          </p:nvSpPr>
          <p:spPr bwMode="auto">
            <a:xfrm>
              <a:off x="657" y="1820"/>
              <a:ext cx="1180" cy="0"/>
            </a:xfrm>
            <a:prstGeom prst="line">
              <a:avLst/>
            </a:prstGeom>
            <a:noFill/>
            <a:ln w="9525">
              <a:solidFill>
                <a:schemeClr val="tx1"/>
              </a:solidFill>
              <a:round/>
              <a:headEnd/>
              <a:tailEnd/>
            </a:ln>
          </p:spPr>
          <p:txBody>
            <a:bodyPr/>
            <a:lstStyle/>
            <a:p>
              <a:endParaRPr lang="zh-CN" altLang="en-US"/>
            </a:p>
          </p:txBody>
        </p:sp>
      </p:grpSp>
      <p:sp>
        <p:nvSpPr>
          <p:cNvPr id="45063" name="Text Box 13"/>
          <p:cNvSpPr txBox="1">
            <a:spLocks noChangeArrowheads="1"/>
          </p:cNvSpPr>
          <p:nvPr/>
        </p:nvSpPr>
        <p:spPr bwMode="auto">
          <a:xfrm>
            <a:off x="1844675" y="3001963"/>
            <a:ext cx="742950" cy="427037"/>
          </a:xfrm>
          <a:prstGeom prst="rect">
            <a:avLst/>
          </a:prstGeom>
          <a:noFill/>
          <a:ln w="9525">
            <a:noFill/>
            <a:miter lim="800000"/>
            <a:headEnd/>
            <a:tailEnd/>
          </a:ln>
        </p:spPr>
        <p:txBody>
          <a:bodyPr wrap="none">
            <a:spAutoFit/>
          </a:bodyPr>
          <a:lstStyle/>
          <a:p>
            <a:pPr algn="l"/>
            <a:r>
              <a:rPr lang="zh-CN" altLang="en-US" sz="2200">
                <a:solidFill>
                  <a:schemeClr val="folHlink"/>
                </a:solidFill>
                <a:latin typeface="黑体" pitchFamily="49" charset="-122"/>
                <a:ea typeface="黑体" pitchFamily="49" charset="-122"/>
              </a:rPr>
              <a:t>信道</a:t>
            </a:r>
          </a:p>
        </p:txBody>
      </p:sp>
      <p:sp>
        <p:nvSpPr>
          <p:cNvPr id="123918" name="Oval 14"/>
          <p:cNvSpPr>
            <a:spLocks noChangeArrowheads="1"/>
          </p:cNvSpPr>
          <p:nvPr/>
        </p:nvSpPr>
        <p:spPr bwMode="auto">
          <a:xfrm>
            <a:off x="142875" y="3208338"/>
            <a:ext cx="44767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A</a:t>
            </a:r>
            <a:r>
              <a:rPr lang="en-US" altLang="zh-CN" sz="2200" baseline="-25000">
                <a:solidFill>
                  <a:schemeClr val="folHlink"/>
                </a:solidFill>
                <a:latin typeface="Arial" charset="0"/>
                <a:ea typeface="黑体" pitchFamily="2" charset="-122"/>
              </a:rPr>
              <a:t>1</a:t>
            </a:r>
          </a:p>
        </p:txBody>
      </p:sp>
      <p:sp>
        <p:nvSpPr>
          <p:cNvPr id="123919" name="Oval 15"/>
          <p:cNvSpPr>
            <a:spLocks noChangeArrowheads="1"/>
          </p:cNvSpPr>
          <p:nvPr/>
        </p:nvSpPr>
        <p:spPr bwMode="auto">
          <a:xfrm>
            <a:off x="3910013" y="3208338"/>
            <a:ext cx="446087"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A</a:t>
            </a:r>
            <a:r>
              <a:rPr lang="en-US" altLang="zh-CN" sz="2200" baseline="-25000">
                <a:solidFill>
                  <a:schemeClr val="folHlink"/>
                </a:solidFill>
                <a:latin typeface="Arial" charset="0"/>
                <a:ea typeface="黑体" pitchFamily="2" charset="-122"/>
              </a:rPr>
              <a:t>2</a:t>
            </a:r>
          </a:p>
        </p:txBody>
      </p:sp>
      <p:sp>
        <p:nvSpPr>
          <p:cNvPr id="123920" name="Oval 16"/>
          <p:cNvSpPr>
            <a:spLocks noChangeArrowheads="1"/>
          </p:cNvSpPr>
          <p:nvPr/>
        </p:nvSpPr>
        <p:spPr bwMode="auto">
          <a:xfrm>
            <a:off x="142875" y="3808413"/>
            <a:ext cx="44767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B</a:t>
            </a:r>
            <a:r>
              <a:rPr lang="en-US" altLang="zh-CN" sz="2200" baseline="-25000">
                <a:solidFill>
                  <a:schemeClr val="folHlink"/>
                </a:solidFill>
                <a:latin typeface="Arial" charset="0"/>
                <a:ea typeface="黑体" pitchFamily="2" charset="-122"/>
              </a:rPr>
              <a:t>1</a:t>
            </a:r>
          </a:p>
        </p:txBody>
      </p:sp>
      <p:sp>
        <p:nvSpPr>
          <p:cNvPr id="123921" name="Oval 17"/>
          <p:cNvSpPr>
            <a:spLocks noChangeArrowheads="1"/>
          </p:cNvSpPr>
          <p:nvPr/>
        </p:nvSpPr>
        <p:spPr bwMode="auto">
          <a:xfrm>
            <a:off x="3910013" y="3808413"/>
            <a:ext cx="446087"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B</a:t>
            </a:r>
            <a:r>
              <a:rPr lang="en-US" altLang="zh-CN" sz="2200" baseline="-25000">
                <a:solidFill>
                  <a:schemeClr val="folHlink"/>
                </a:solidFill>
                <a:latin typeface="Arial" charset="0"/>
                <a:ea typeface="黑体" pitchFamily="2" charset="-122"/>
              </a:rPr>
              <a:t>2</a:t>
            </a:r>
          </a:p>
        </p:txBody>
      </p:sp>
      <p:sp>
        <p:nvSpPr>
          <p:cNvPr id="123922" name="Oval 18"/>
          <p:cNvSpPr>
            <a:spLocks noChangeArrowheads="1"/>
          </p:cNvSpPr>
          <p:nvPr/>
        </p:nvSpPr>
        <p:spPr bwMode="auto">
          <a:xfrm>
            <a:off x="142875" y="4408488"/>
            <a:ext cx="44767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C</a:t>
            </a:r>
            <a:r>
              <a:rPr lang="en-US" altLang="zh-CN" sz="2200" baseline="-25000">
                <a:solidFill>
                  <a:schemeClr val="folHlink"/>
                </a:solidFill>
                <a:latin typeface="Arial" charset="0"/>
                <a:ea typeface="黑体" pitchFamily="2" charset="-122"/>
              </a:rPr>
              <a:t>1</a:t>
            </a:r>
          </a:p>
        </p:txBody>
      </p:sp>
      <p:sp>
        <p:nvSpPr>
          <p:cNvPr id="123923" name="Oval 19"/>
          <p:cNvSpPr>
            <a:spLocks noChangeArrowheads="1"/>
          </p:cNvSpPr>
          <p:nvPr/>
        </p:nvSpPr>
        <p:spPr bwMode="auto">
          <a:xfrm>
            <a:off x="3910013" y="4408488"/>
            <a:ext cx="446087"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C</a:t>
            </a:r>
            <a:r>
              <a:rPr lang="en-US" altLang="zh-CN" sz="2200" baseline="-25000">
                <a:solidFill>
                  <a:schemeClr val="folHlink"/>
                </a:solidFill>
                <a:latin typeface="Arial" charset="0"/>
                <a:ea typeface="黑体" pitchFamily="2" charset="-122"/>
              </a:rPr>
              <a:t>2</a:t>
            </a:r>
          </a:p>
        </p:txBody>
      </p:sp>
      <p:sp>
        <p:nvSpPr>
          <p:cNvPr id="45070" name="Text Box 29"/>
          <p:cNvSpPr txBox="1">
            <a:spLocks noChangeArrowheads="1"/>
          </p:cNvSpPr>
          <p:nvPr/>
        </p:nvSpPr>
        <p:spPr bwMode="auto">
          <a:xfrm>
            <a:off x="1844675" y="3644900"/>
            <a:ext cx="742950" cy="427038"/>
          </a:xfrm>
          <a:prstGeom prst="rect">
            <a:avLst/>
          </a:prstGeom>
          <a:noFill/>
          <a:ln w="9525">
            <a:noFill/>
            <a:miter lim="800000"/>
            <a:headEnd/>
            <a:tailEnd/>
          </a:ln>
        </p:spPr>
        <p:txBody>
          <a:bodyPr wrap="none">
            <a:spAutoFit/>
          </a:bodyPr>
          <a:lstStyle/>
          <a:p>
            <a:pPr algn="l"/>
            <a:r>
              <a:rPr lang="zh-CN" altLang="en-US" sz="2200">
                <a:solidFill>
                  <a:schemeClr val="folHlink"/>
                </a:solidFill>
                <a:latin typeface="黑体" pitchFamily="49" charset="-122"/>
                <a:ea typeface="黑体" pitchFamily="49" charset="-122"/>
              </a:rPr>
              <a:t>信道</a:t>
            </a:r>
          </a:p>
        </p:txBody>
      </p:sp>
      <p:sp>
        <p:nvSpPr>
          <p:cNvPr id="45071" name="Text Box 30"/>
          <p:cNvSpPr txBox="1">
            <a:spLocks noChangeArrowheads="1"/>
          </p:cNvSpPr>
          <p:nvPr/>
        </p:nvSpPr>
        <p:spPr bwMode="auto">
          <a:xfrm>
            <a:off x="1844675" y="4260850"/>
            <a:ext cx="742950" cy="427038"/>
          </a:xfrm>
          <a:prstGeom prst="rect">
            <a:avLst/>
          </a:prstGeom>
          <a:noFill/>
          <a:ln w="9525">
            <a:noFill/>
            <a:miter lim="800000"/>
            <a:headEnd/>
            <a:tailEnd/>
          </a:ln>
        </p:spPr>
        <p:txBody>
          <a:bodyPr wrap="none">
            <a:spAutoFit/>
          </a:bodyPr>
          <a:lstStyle/>
          <a:p>
            <a:pPr algn="l"/>
            <a:r>
              <a:rPr lang="zh-CN" altLang="en-US" sz="2200">
                <a:solidFill>
                  <a:schemeClr val="folHlink"/>
                </a:solidFill>
                <a:latin typeface="黑体" pitchFamily="49" charset="-122"/>
                <a:ea typeface="黑体" pitchFamily="49" charset="-122"/>
              </a:rPr>
              <a:t>信道</a:t>
            </a:r>
          </a:p>
        </p:txBody>
      </p:sp>
      <p:sp>
        <p:nvSpPr>
          <p:cNvPr id="45072" name="Line 4"/>
          <p:cNvSpPr>
            <a:spLocks noChangeShapeType="1"/>
          </p:cNvSpPr>
          <p:nvPr/>
        </p:nvSpPr>
        <p:spPr bwMode="auto">
          <a:xfrm>
            <a:off x="5988050" y="4038600"/>
            <a:ext cx="1543050" cy="0"/>
          </a:xfrm>
          <a:prstGeom prst="line">
            <a:avLst/>
          </a:prstGeom>
          <a:noFill/>
          <a:ln w="76200">
            <a:solidFill>
              <a:schemeClr val="hlink"/>
            </a:solidFill>
            <a:round/>
            <a:headEnd/>
            <a:tailEnd/>
          </a:ln>
        </p:spPr>
        <p:txBody>
          <a:bodyPr/>
          <a:lstStyle/>
          <a:p>
            <a:endParaRPr lang="zh-CN" altLang="en-US"/>
          </a:p>
        </p:txBody>
      </p:sp>
      <p:sp>
        <p:nvSpPr>
          <p:cNvPr id="45073" name="Line 5"/>
          <p:cNvSpPr>
            <a:spLocks noChangeShapeType="1"/>
          </p:cNvSpPr>
          <p:nvPr/>
        </p:nvSpPr>
        <p:spPr bwMode="auto">
          <a:xfrm>
            <a:off x="8047038" y="4130675"/>
            <a:ext cx="515937" cy="461963"/>
          </a:xfrm>
          <a:prstGeom prst="line">
            <a:avLst/>
          </a:prstGeom>
          <a:noFill/>
          <a:ln w="9525">
            <a:solidFill>
              <a:schemeClr val="tx1"/>
            </a:solidFill>
            <a:round/>
            <a:headEnd/>
            <a:tailEnd/>
          </a:ln>
        </p:spPr>
        <p:txBody>
          <a:bodyPr/>
          <a:lstStyle/>
          <a:p>
            <a:endParaRPr lang="zh-CN" altLang="en-US"/>
          </a:p>
        </p:txBody>
      </p:sp>
      <p:sp>
        <p:nvSpPr>
          <p:cNvPr id="45074" name="Line 6"/>
          <p:cNvSpPr>
            <a:spLocks noChangeShapeType="1"/>
          </p:cNvSpPr>
          <p:nvPr/>
        </p:nvSpPr>
        <p:spPr bwMode="auto">
          <a:xfrm flipH="1">
            <a:off x="8047038" y="3484563"/>
            <a:ext cx="515937" cy="368300"/>
          </a:xfrm>
          <a:prstGeom prst="line">
            <a:avLst/>
          </a:prstGeom>
          <a:noFill/>
          <a:ln w="9525">
            <a:solidFill>
              <a:schemeClr val="tx1"/>
            </a:solidFill>
            <a:round/>
            <a:headEnd/>
            <a:tailEnd/>
          </a:ln>
        </p:spPr>
        <p:txBody>
          <a:bodyPr/>
          <a:lstStyle/>
          <a:p>
            <a:endParaRPr lang="zh-CN" altLang="en-US"/>
          </a:p>
        </p:txBody>
      </p:sp>
      <p:sp>
        <p:nvSpPr>
          <p:cNvPr id="45075" name="Line 7"/>
          <p:cNvSpPr>
            <a:spLocks noChangeShapeType="1"/>
          </p:cNvSpPr>
          <p:nvPr/>
        </p:nvSpPr>
        <p:spPr bwMode="auto">
          <a:xfrm flipV="1">
            <a:off x="5127625" y="4130675"/>
            <a:ext cx="430213" cy="461963"/>
          </a:xfrm>
          <a:prstGeom prst="line">
            <a:avLst/>
          </a:prstGeom>
          <a:noFill/>
          <a:ln w="9525">
            <a:solidFill>
              <a:schemeClr val="tx1"/>
            </a:solidFill>
            <a:round/>
            <a:headEnd/>
            <a:tailEnd/>
          </a:ln>
        </p:spPr>
        <p:txBody>
          <a:bodyPr/>
          <a:lstStyle/>
          <a:p>
            <a:endParaRPr lang="zh-CN" altLang="en-US"/>
          </a:p>
        </p:txBody>
      </p:sp>
      <p:sp>
        <p:nvSpPr>
          <p:cNvPr id="45076" name="Line 8"/>
          <p:cNvSpPr>
            <a:spLocks noChangeShapeType="1"/>
          </p:cNvSpPr>
          <p:nvPr/>
        </p:nvSpPr>
        <p:spPr bwMode="auto">
          <a:xfrm>
            <a:off x="5127625" y="3484563"/>
            <a:ext cx="430213" cy="368300"/>
          </a:xfrm>
          <a:prstGeom prst="line">
            <a:avLst/>
          </a:prstGeom>
          <a:noFill/>
          <a:ln w="9525">
            <a:solidFill>
              <a:schemeClr val="tx1"/>
            </a:solidFill>
            <a:round/>
            <a:headEnd/>
            <a:tailEnd/>
          </a:ln>
        </p:spPr>
        <p:txBody>
          <a:bodyPr/>
          <a:lstStyle/>
          <a:p>
            <a:endParaRPr lang="zh-CN" altLang="en-US"/>
          </a:p>
        </p:txBody>
      </p:sp>
      <p:sp>
        <p:nvSpPr>
          <p:cNvPr id="123925" name="Oval 21"/>
          <p:cNvSpPr>
            <a:spLocks noChangeArrowheads="1"/>
          </p:cNvSpPr>
          <p:nvPr/>
        </p:nvSpPr>
        <p:spPr bwMode="auto">
          <a:xfrm>
            <a:off x="4787900" y="3208338"/>
            <a:ext cx="427038"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A</a:t>
            </a:r>
            <a:r>
              <a:rPr lang="en-US" altLang="zh-CN" sz="2200" baseline="-25000">
                <a:solidFill>
                  <a:schemeClr val="folHlink"/>
                </a:solidFill>
                <a:latin typeface="Arial" charset="0"/>
                <a:ea typeface="黑体" pitchFamily="2" charset="-122"/>
              </a:rPr>
              <a:t>1</a:t>
            </a:r>
          </a:p>
        </p:txBody>
      </p:sp>
      <p:sp>
        <p:nvSpPr>
          <p:cNvPr id="123926" name="Oval 22"/>
          <p:cNvSpPr>
            <a:spLocks noChangeArrowheads="1"/>
          </p:cNvSpPr>
          <p:nvPr/>
        </p:nvSpPr>
        <p:spPr bwMode="auto">
          <a:xfrm>
            <a:off x="8391525" y="3208338"/>
            <a:ext cx="42862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A</a:t>
            </a:r>
            <a:r>
              <a:rPr lang="en-US" altLang="zh-CN" sz="2200" baseline="-25000">
                <a:solidFill>
                  <a:schemeClr val="folHlink"/>
                </a:solidFill>
                <a:latin typeface="Arial" charset="0"/>
                <a:ea typeface="黑体" pitchFamily="2" charset="-122"/>
              </a:rPr>
              <a:t>2</a:t>
            </a:r>
          </a:p>
        </p:txBody>
      </p:sp>
      <p:sp>
        <p:nvSpPr>
          <p:cNvPr id="123927" name="Oval 23"/>
          <p:cNvSpPr>
            <a:spLocks noChangeArrowheads="1"/>
          </p:cNvSpPr>
          <p:nvPr/>
        </p:nvSpPr>
        <p:spPr bwMode="auto">
          <a:xfrm>
            <a:off x="4787900" y="3794125"/>
            <a:ext cx="427038"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B</a:t>
            </a:r>
            <a:r>
              <a:rPr lang="en-US" altLang="zh-CN" sz="2200" baseline="-25000">
                <a:solidFill>
                  <a:schemeClr val="folHlink"/>
                </a:solidFill>
                <a:latin typeface="Arial" charset="0"/>
                <a:ea typeface="黑体" pitchFamily="2" charset="-122"/>
              </a:rPr>
              <a:t>1</a:t>
            </a:r>
          </a:p>
        </p:txBody>
      </p:sp>
      <p:sp>
        <p:nvSpPr>
          <p:cNvPr id="123928" name="Oval 24"/>
          <p:cNvSpPr>
            <a:spLocks noChangeArrowheads="1"/>
          </p:cNvSpPr>
          <p:nvPr/>
        </p:nvSpPr>
        <p:spPr bwMode="auto">
          <a:xfrm>
            <a:off x="8391525" y="3794125"/>
            <a:ext cx="42862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B</a:t>
            </a:r>
            <a:r>
              <a:rPr lang="en-US" altLang="zh-CN" sz="2200" baseline="-25000">
                <a:solidFill>
                  <a:schemeClr val="folHlink"/>
                </a:solidFill>
                <a:latin typeface="Arial" charset="0"/>
                <a:ea typeface="黑体" pitchFamily="2" charset="-122"/>
              </a:rPr>
              <a:t>2</a:t>
            </a:r>
          </a:p>
        </p:txBody>
      </p:sp>
      <p:sp>
        <p:nvSpPr>
          <p:cNvPr id="123929" name="Oval 25"/>
          <p:cNvSpPr>
            <a:spLocks noChangeArrowheads="1"/>
          </p:cNvSpPr>
          <p:nvPr/>
        </p:nvSpPr>
        <p:spPr bwMode="auto">
          <a:xfrm>
            <a:off x="4787900" y="4408488"/>
            <a:ext cx="427038"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C</a:t>
            </a:r>
            <a:r>
              <a:rPr lang="en-US" altLang="zh-CN" sz="2200" baseline="-25000">
                <a:solidFill>
                  <a:schemeClr val="folHlink"/>
                </a:solidFill>
                <a:latin typeface="Arial" charset="0"/>
                <a:ea typeface="黑体" pitchFamily="2" charset="-122"/>
              </a:rPr>
              <a:t>1</a:t>
            </a:r>
          </a:p>
        </p:txBody>
      </p:sp>
      <p:sp>
        <p:nvSpPr>
          <p:cNvPr id="123930" name="Oval 26"/>
          <p:cNvSpPr>
            <a:spLocks noChangeArrowheads="1"/>
          </p:cNvSpPr>
          <p:nvPr/>
        </p:nvSpPr>
        <p:spPr bwMode="auto">
          <a:xfrm>
            <a:off x="8391525" y="4408488"/>
            <a:ext cx="42862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defRPr/>
            </a:pPr>
            <a:r>
              <a:rPr lang="en-US" altLang="zh-CN" sz="2200">
                <a:solidFill>
                  <a:schemeClr val="folHlink"/>
                </a:solidFill>
                <a:latin typeface="Arial" charset="0"/>
                <a:ea typeface="黑体" pitchFamily="2" charset="-122"/>
              </a:rPr>
              <a:t>C</a:t>
            </a:r>
            <a:r>
              <a:rPr lang="en-US" altLang="zh-CN" sz="2200" baseline="-25000">
                <a:solidFill>
                  <a:schemeClr val="folHlink"/>
                </a:solidFill>
                <a:latin typeface="Arial" charset="0"/>
                <a:ea typeface="黑体" pitchFamily="2" charset="-122"/>
              </a:rPr>
              <a:t>2</a:t>
            </a:r>
          </a:p>
        </p:txBody>
      </p:sp>
      <p:sp>
        <p:nvSpPr>
          <p:cNvPr id="123931" name="Rectangle 27"/>
          <p:cNvSpPr>
            <a:spLocks noChangeArrowheads="1"/>
          </p:cNvSpPr>
          <p:nvPr/>
        </p:nvSpPr>
        <p:spPr bwMode="auto">
          <a:xfrm>
            <a:off x="5473700" y="3792538"/>
            <a:ext cx="601663" cy="4619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defRPr/>
            </a:pPr>
            <a:r>
              <a:rPr lang="zh-CN" altLang="en-US" sz="2200">
                <a:solidFill>
                  <a:schemeClr val="folHlink"/>
                </a:solidFill>
                <a:latin typeface="Arial" charset="0"/>
                <a:ea typeface="黑体" pitchFamily="2" charset="-122"/>
              </a:rPr>
              <a:t>复用</a:t>
            </a:r>
          </a:p>
        </p:txBody>
      </p:sp>
      <p:sp>
        <p:nvSpPr>
          <p:cNvPr id="123932" name="Rectangle 28"/>
          <p:cNvSpPr>
            <a:spLocks noChangeArrowheads="1"/>
          </p:cNvSpPr>
          <p:nvPr/>
        </p:nvSpPr>
        <p:spPr bwMode="auto">
          <a:xfrm>
            <a:off x="7531100" y="3792538"/>
            <a:ext cx="601663" cy="4619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defRPr/>
            </a:pPr>
            <a:r>
              <a:rPr lang="zh-CN" altLang="en-US" sz="2200">
                <a:solidFill>
                  <a:schemeClr val="folHlink"/>
                </a:solidFill>
                <a:latin typeface="Arial" charset="0"/>
                <a:ea typeface="黑体" pitchFamily="2" charset="-122"/>
              </a:rPr>
              <a:t>分用</a:t>
            </a:r>
          </a:p>
        </p:txBody>
      </p:sp>
      <p:sp>
        <p:nvSpPr>
          <p:cNvPr id="45085" name="Text Box 32"/>
          <p:cNvSpPr txBox="1">
            <a:spLocks noChangeArrowheads="1"/>
          </p:cNvSpPr>
          <p:nvPr/>
        </p:nvSpPr>
        <p:spPr bwMode="auto">
          <a:xfrm>
            <a:off x="684213" y="5214938"/>
            <a:ext cx="2927350" cy="457200"/>
          </a:xfrm>
          <a:prstGeom prst="rect">
            <a:avLst/>
          </a:prstGeom>
          <a:noFill/>
          <a:ln w="9525">
            <a:noFill/>
            <a:miter lim="800000"/>
            <a:headEnd/>
            <a:tailEnd/>
          </a:ln>
        </p:spPr>
        <p:txBody>
          <a:bodyPr wrap="none">
            <a:spAutoFit/>
          </a:bodyPr>
          <a:lstStyle/>
          <a:p>
            <a:pPr algn="l"/>
            <a:r>
              <a:rPr lang="en-US" altLang="zh-CN">
                <a:solidFill>
                  <a:schemeClr val="folHlink"/>
                </a:solidFill>
                <a:latin typeface="黑体" pitchFamily="49" charset="-122"/>
                <a:ea typeface="黑体" pitchFamily="49" charset="-122"/>
              </a:rPr>
              <a:t>(a) </a:t>
            </a:r>
            <a:r>
              <a:rPr lang="zh-CN" altLang="en-US">
                <a:solidFill>
                  <a:schemeClr val="folHlink"/>
                </a:solidFill>
                <a:latin typeface="黑体" pitchFamily="49" charset="-122"/>
                <a:ea typeface="黑体" pitchFamily="49" charset="-122"/>
              </a:rPr>
              <a:t>不使用复用技术</a:t>
            </a:r>
          </a:p>
        </p:txBody>
      </p:sp>
      <p:sp>
        <p:nvSpPr>
          <p:cNvPr id="45086" name="Text Box 33"/>
          <p:cNvSpPr txBox="1">
            <a:spLocks noChangeArrowheads="1"/>
          </p:cNvSpPr>
          <p:nvPr/>
        </p:nvSpPr>
        <p:spPr bwMode="auto">
          <a:xfrm>
            <a:off x="5580063" y="5221288"/>
            <a:ext cx="2470150" cy="457200"/>
          </a:xfrm>
          <a:prstGeom prst="rect">
            <a:avLst/>
          </a:prstGeom>
          <a:noFill/>
          <a:ln w="9525">
            <a:noFill/>
            <a:miter lim="800000"/>
            <a:headEnd/>
            <a:tailEnd/>
          </a:ln>
        </p:spPr>
        <p:txBody>
          <a:bodyPr wrap="none">
            <a:spAutoFit/>
          </a:bodyPr>
          <a:lstStyle/>
          <a:p>
            <a:pPr algn="l"/>
            <a:r>
              <a:rPr lang="en-US" altLang="zh-CN">
                <a:solidFill>
                  <a:schemeClr val="folHlink"/>
                </a:solidFill>
                <a:latin typeface="Arial" pitchFamily="34" charset="0"/>
                <a:ea typeface="黑体" pitchFamily="49" charset="-122"/>
              </a:rPr>
              <a:t>(b) </a:t>
            </a:r>
            <a:r>
              <a:rPr lang="zh-CN" altLang="en-US">
                <a:solidFill>
                  <a:schemeClr val="folHlink"/>
                </a:solidFill>
                <a:latin typeface="Arial" pitchFamily="34" charset="0"/>
                <a:ea typeface="黑体" pitchFamily="49" charset="-122"/>
              </a:rPr>
              <a:t>使用复用技术</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algn="ctr" eaLnBrk="1" hangingPunct="1"/>
            <a:r>
              <a:rPr lang="en-US" altLang="zh-CN" sz="4000" dirty="0" smtClean="0"/>
              <a:t>(1) </a:t>
            </a:r>
            <a:r>
              <a:rPr lang="zh-CN" altLang="en-US" sz="4000" dirty="0" smtClean="0"/>
              <a:t>频分复用 </a:t>
            </a:r>
            <a:r>
              <a:rPr lang="en-US" altLang="zh-CN" sz="4000" dirty="0" smtClean="0"/>
              <a:t>FDM</a:t>
            </a:r>
            <a:br>
              <a:rPr lang="en-US" altLang="zh-CN" sz="4000" dirty="0" smtClean="0"/>
            </a:br>
            <a:r>
              <a:rPr lang="en-US" altLang="zh-CN" sz="4000" dirty="0" smtClean="0"/>
              <a:t>(Frequency Division Multiplexing) </a:t>
            </a:r>
          </a:p>
        </p:txBody>
      </p:sp>
      <p:sp>
        <p:nvSpPr>
          <p:cNvPr id="46084" name="Rectangle 3"/>
          <p:cNvSpPr>
            <a:spLocks noGrp="1" noChangeArrowheads="1"/>
          </p:cNvSpPr>
          <p:nvPr>
            <p:ph type="body" idx="1"/>
          </p:nvPr>
        </p:nvSpPr>
        <p:spPr>
          <a:xfrm>
            <a:off x="900113" y="1773238"/>
            <a:ext cx="7915275" cy="1800225"/>
          </a:xfrm>
        </p:spPr>
        <p:txBody>
          <a:bodyPr/>
          <a:lstStyle/>
          <a:p>
            <a:pPr eaLnBrk="1" hangingPunct="1"/>
            <a:r>
              <a:rPr lang="zh-CN" altLang="en-US" sz="2200" smtClean="0"/>
              <a:t>用户在分配到一定的频带后，在通信过程中自始至终都占用这个频带。</a:t>
            </a:r>
          </a:p>
          <a:p>
            <a:pPr eaLnBrk="1" hangingPunct="1"/>
            <a:r>
              <a:rPr lang="zh-CN" altLang="en-US" sz="2200" smtClean="0">
                <a:solidFill>
                  <a:schemeClr val="hlink"/>
                </a:solidFill>
              </a:rPr>
              <a:t>频分复用</a:t>
            </a:r>
            <a:r>
              <a:rPr lang="zh-CN" altLang="en-US" sz="2200" smtClean="0"/>
              <a:t>的所有用户在同样的时间占用不同的带宽资源（请注意，这里的“带宽”是频率带宽而不是数据的发送速率）。 </a:t>
            </a:r>
          </a:p>
        </p:txBody>
      </p:sp>
      <p:grpSp>
        <p:nvGrpSpPr>
          <p:cNvPr id="46085" name="Group 42"/>
          <p:cNvGrpSpPr>
            <a:grpSpLocks/>
          </p:cNvGrpSpPr>
          <p:nvPr/>
        </p:nvGrpSpPr>
        <p:grpSpPr bwMode="auto">
          <a:xfrm>
            <a:off x="1392238" y="3357563"/>
            <a:ext cx="7500937" cy="2990850"/>
            <a:chOff x="494" y="2310"/>
            <a:chExt cx="4725" cy="2100"/>
          </a:xfrm>
        </p:grpSpPr>
        <p:sp>
          <p:nvSpPr>
            <p:cNvPr id="46086" name="Line 28"/>
            <p:cNvSpPr>
              <a:spLocks noChangeShapeType="1"/>
            </p:cNvSpPr>
            <p:nvPr/>
          </p:nvSpPr>
          <p:spPr bwMode="auto">
            <a:xfrm flipV="1">
              <a:off x="930" y="4284"/>
              <a:ext cx="3853" cy="7"/>
            </a:xfrm>
            <a:prstGeom prst="line">
              <a:avLst/>
            </a:prstGeom>
            <a:noFill/>
            <a:ln w="28575">
              <a:solidFill>
                <a:srgbClr val="333399"/>
              </a:solidFill>
              <a:round/>
              <a:headEnd/>
              <a:tailEnd type="triangle" w="sm" len="med"/>
            </a:ln>
          </p:spPr>
          <p:txBody>
            <a:bodyPr wrap="none" anchor="ctr"/>
            <a:lstStyle/>
            <a:p>
              <a:endParaRPr lang="zh-CN" altLang="en-US"/>
            </a:p>
          </p:txBody>
        </p:sp>
        <p:sp>
          <p:nvSpPr>
            <p:cNvPr id="46087" name="Text Box 29"/>
            <p:cNvSpPr txBox="1">
              <a:spLocks noChangeArrowheads="1"/>
            </p:cNvSpPr>
            <p:nvPr/>
          </p:nvSpPr>
          <p:spPr bwMode="auto">
            <a:xfrm>
              <a:off x="494" y="2310"/>
              <a:ext cx="436" cy="257"/>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频率</a:t>
              </a:r>
            </a:p>
          </p:txBody>
        </p:sp>
        <p:sp>
          <p:nvSpPr>
            <p:cNvPr id="46088" name="Text Box 30"/>
            <p:cNvSpPr txBox="1">
              <a:spLocks noChangeArrowheads="1"/>
            </p:cNvSpPr>
            <p:nvPr/>
          </p:nvSpPr>
          <p:spPr bwMode="auto">
            <a:xfrm>
              <a:off x="4783" y="4152"/>
              <a:ext cx="436" cy="258"/>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时间</a:t>
              </a:r>
            </a:p>
          </p:txBody>
        </p:sp>
        <p:sp>
          <p:nvSpPr>
            <p:cNvPr id="46089" name="Rectangle 31"/>
            <p:cNvSpPr>
              <a:spLocks noChangeArrowheads="1"/>
            </p:cNvSpPr>
            <p:nvPr/>
          </p:nvSpPr>
          <p:spPr bwMode="auto">
            <a:xfrm>
              <a:off x="930" y="2567"/>
              <a:ext cx="3492" cy="272"/>
            </a:xfrm>
            <a:prstGeom prst="rect">
              <a:avLst/>
            </a:prstGeom>
            <a:solidFill>
              <a:schemeClr val="accent1"/>
            </a:solidFill>
            <a:ln w="9525">
              <a:noFill/>
              <a:miter lim="800000"/>
              <a:headEnd/>
              <a:tailEnd/>
            </a:ln>
          </p:spPr>
          <p:txBody>
            <a:bodyPr wrap="none" anchor="ctr"/>
            <a:lstStyle/>
            <a:p>
              <a:endParaRPr lang="zh-CN" altLang="en-US"/>
            </a:p>
          </p:txBody>
        </p:sp>
        <p:sp>
          <p:nvSpPr>
            <p:cNvPr id="46090" name="Rectangle 32"/>
            <p:cNvSpPr>
              <a:spLocks noChangeArrowheads="1"/>
            </p:cNvSpPr>
            <p:nvPr/>
          </p:nvSpPr>
          <p:spPr bwMode="auto">
            <a:xfrm>
              <a:off x="930" y="2839"/>
              <a:ext cx="3492" cy="272"/>
            </a:xfrm>
            <a:prstGeom prst="rect">
              <a:avLst/>
            </a:prstGeom>
            <a:solidFill>
              <a:srgbClr val="FFFF99"/>
            </a:solidFill>
            <a:ln w="9525">
              <a:noFill/>
              <a:miter lim="800000"/>
              <a:headEnd/>
              <a:tailEnd/>
            </a:ln>
          </p:spPr>
          <p:txBody>
            <a:bodyPr wrap="none" anchor="ctr"/>
            <a:lstStyle/>
            <a:p>
              <a:endParaRPr lang="zh-CN" altLang="en-US"/>
            </a:p>
          </p:txBody>
        </p:sp>
        <p:sp>
          <p:nvSpPr>
            <p:cNvPr id="46091" name="Rectangle 33"/>
            <p:cNvSpPr>
              <a:spLocks noChangeArrowheads="1"/>
            </p:cNvSpPr>
            <p:nvPr/>
          </p:nvSpPr>
          <p:spPr bwMode="auto">
            <a:xfrm>
              <a:off x="930" y="3111"/>
              <a:ext cx="3492" cy="272"/>
            </a:xfrm>
            <a:prstGeom prst="rect">
              <a:avLst/>
            </a:prstGeom>
            <a:solidFill>
              <a:schemeClr val="accent2"/>
            </a:solidFill>
            <a:ln w="9525">
              <a:noFill/>
              <a:miter lim="800000"/>
              <a:headEnd/>
              <a:tailEnd/>
            </a:ln>
          </p:spPr>
          <p:txBody>
            <a:bodyPr wrap="none" anchor="ctr"/>
            <a:lstStyle/>
            <a:p>
              <a:endParaRPr lang="zh-CN" altLang="en-US"/>
            </a:p>
          </p:txBody>
        </p:sp>
        <p:sp>
          <p:nvSpPr>
            <p:cNvPr id="46092" name="Rectangle 34"/>
            <p:cNvSpPr>
              <a:spLocks noChangeArrowheads="1"/>
            </p:cNvSpPr>
            <p:nvPr/>
          </p:nvSpPr>
          <p:spPr bwMode="auto">
            <a:xfrm>
              <a:off x="930" y="3383"/>
              <a:ext cx="3492" cy="272"/>
            </a:xfrm>
            <a:prstGeom prst="rect">
              <a:avLst/>
            </a:prstGeom>
            <a:solidFill>
              <a:srgbClr val="CCECFF"/>
            </a:solidFill>
            <a:ln w="9525">
              <a:noFill/>
              <a:miter lim="800000"/>
              <a:headEnd/>
              <a:tailEnd/>
            </a:ln>
          </p:spPr>
          <p:txBody>
            <a:bodyPr wrap="none" anchor="ctr"/>
            <a:lstStyle/>
            <a:p>
              <a:endParaRPr lang="zh-CN" altLang="en-US"/>
            </a:p>
          </p:txBody>
        </p:sp>
        <p:sp>
          <p:nvSpPr>
            <p:cNvPr id="46093" name="Rectangle 35"/>
            <p:cNvSpPr>
              <a:spLocks noChangeArrowheads="1"/>
            </p:cNvSpPr>
            <p:nvPr/>
          </p:nvSpPr>
          <p:spPr bwMode="auto">
            <a:xfrm>
              <a:off x="930" y="3655"/>
              <a:ext cx="3492" cy="272"/>
            </a:xfrm>
            <a:prstGeom prst="rect">
              <a:avLst/>
            </a:prstGeom>
            <a:solidFill>
              <a:srgbClr val="FFCCFF"/>
            </a:solidFill>
            <a:ln w="9525">
              <a:noFill/>
              <a:miter lim="800000"/>
              <a:headEnd/>
              <a:tailEnd/>
            </a:ln>
          </p:spPr>
          <p:txBody>
            <a:bodyPr wrap="none" anchor="ctr"/>
            <a:lstStyle/>
            <a:p>
              <a:endParaRPr lang="zh-CN" altLang="en-US"/>
            </a:p>
          </p:txBody>
        </p:sp>
        <p:sp>
          <p:nvSpPr>
            <p:cNvPr id="46094" name="Text Box 36"/>
            <p:cNvSpPr txBox="1">
              <a:spLocks noChangeArrowheads="1"/>
            </p:cNvSpPr>
            <p:nvPr/>
          </p:nvSpPr>
          <p:spPr bwMode="auto">
            <a:xfrm>
              <a:off x="2426" y="3696"/>
              <a:ext cx="569" cy="258"/>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1</a:t>
              </a:r>
            </a:p>
          </p:txBody>
        </p:sp>
        <p:sp>
          <p:nvSpPr>
            <p:cNvPr id="46095" name="Text Box 37"/>
            <p:cNvSpPr txBox="1">
              <a:spLocks noChangeArrowheads="1"/>
            </p:cNvSpPr>
            <p:nvPr/>
          </p:nvSpPr>
          <p:spPr bwMode="auto">
            <a:xfrm>
              <a:off x="2426" y="3422"/>
              <a:ext cx="569" cy="258"/>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2</a:t>
              </a:r>
            </a:p>
          </p:txBody>
        </p:sp>
        <p:sp>
          <p:nvSpPr>
            <p:cNvPr id="46096" name="Text Box 38"/>
            <p:cNvSpPr txBox="1">
              <a:spLocks noChangeArrowheads="1"/>
            </p:cNvSpPr>
            <p:nvPr/>
          </p:nvSpPr>
          <p:spPr bwMode="auto">
            <a:xfrm>
              <a:off x="2426" y="3147"/>
              <a:ext cx="569" cy="257"/>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3</a:t>
              </a:r>
            </a:p>
          </p:txBody>
        </p:sp>
        <p:sp>
          <p:nvSpPr>
            <p:cNvPr id="46097" name="Text Box 39"/>
            <p:cNvSpPr txBox="1">
              <a:spLocks noChangeArrowheads="1"/>
            </p:cNvSpPr>
            <p:nvPr/>
          </p:nvSpPr>
          <p:spPr bwMode="auto">
            <a:xfrm>
              <a:off x="2426" y="2872"/>
              <a:ext cx="569" cy="257"/>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4</a:t>
              </a:r>
            </a:p>
          </p:txBody>
        </p:sp>
        <p:sp>
          <p:nvSpPr>
            <p:cNvPr id="46098" name="Text Box 40"/>
            <p:cNvSpPr txBox="1">
              <a:spLocks noChangeArrowheads="1"/>
            </p:cNvSpPr>
            <p:nvPr/>
          </p:nvSpPr>
          <p:spPr bwMode="auto">
            <a:xfrm>
              <a:off x="2426" y="2598"/>
              <a:ext cx="569" cy="257"/>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5</a:t>
              </a:r>
            </a:p>
          </p:txBody>
        </p:sp>
        <p:sp>
          <p:nvSpPr>
            <p:cNvPr id="46099" name="Line 41"/>
            <p:cNvSpPr>
              <a:spLocks noChangeShapeType="1"/>
            </p:cNvSpPr>
            <p:nvPr/>
          </p:nvSpPr>
          <p:spPr bwMode="auto">
            <a:xfrm rot="-5400000">
              <a:off x="-5" y="3353"/>
              <a:ext cx="1870" cy="0"/>
            </a:xfrm>
            <a:prstGeom prst="line">
              <a:avLst/>
            </a:prstGeom>
            <a:noFill/>
            <a:ln w="28575">
              <a:solidFill>
                <a:srgbClr val="333399"/>
              </a:solidFill>
              <a:round/>
              <a:headEnd/>
              <a:tailEnd type="triangle" w="sm" len="med"/>
            </a:ln>
          </p:spPr>
          <p:txBody>
            <a:bodyPr wrap="none" anchor="ctr"/>
            <a:lstStyle/>
            <a:p>
              <a:endParaRPr lang="zh-CN" alt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150938" y="214313"/>
            <a:ext cx="7597775" cy="1462087"/>
          </a:xfrm>
        </p:spPr>
        <p:txBody>
          <a:bodyPr/>
          <a:lstStyle/>
          <a:p>
            <a:pPr algn="ctr" eaLnBrk="1" hangingPunct="1"/>
            <a:r>
              <a:rPr lang="en-US" altLang="zh-CN" dirty="0" smtClean="0"/>
              <a:t>(2) </a:t>
            </a:r>
            <a:r>
              <a:rPr lang="zh-CN" altLang="en-US" dirty="0" smtClean="0"/>
              <a:t>时分复用</a:t>
            </a:r>
            <a:r>
              <a:rPr lang="en-US" altLang="zh-CN" dirty="0" smtClean="0"/>
              <a:t>TDM</a:t>
            </a:r>
            <a:br>
              <a:rPr lang="en-US" altLang="zh-CN" dirty="0" smtClean="0"/>
            </a:br>
            <a:r>
              <a:rPr lang="en-US" altLang="zh-CN" dirty="0" smtClean="0"/>
              <a:t>(Time Division Multiplexing) </a:t>
            </a:r>
          </a:p>
        </p:txBody>
      </p:sp>
      <p:sp>
        <p:nvSpPr>
          <p:cNvPr id="47108" name="Rectangle 3"/>
          <p:cNvSpPr>
            <a:spLocks noGrp="1" noChangeArrowheads="1"/>
          </p:cNvSpPr>
          <p:nvPr>
            <p:ph type="body" idx="1"/>
          </p:nvPr>
        </p:nvSpPr>
        <p:spPr>
          <a:xfrm>
            <a:off x="1042988" y="1917700"/>
            <a:ext cx="7772400" cy="4248150"/>
          </a:xfrm>
        </p:spPr>
        <p:txBody>
          <a:bodyPr/>
          <a:lstStyle/>
          <a:p>
            <a:pPr eaLnBrk="1" hangingPunct="1"/>
            <a:r>
              <a:rPr lang="zh-CN" altLang="en-US" sz="2600" smtClean="0">
                <a:solidFill>
                  <a:schemeClr val="hlink"/>
                </a:solidFill>
              </a:rPr>
              <a:t>时分复用</a:t>
            </a:r>
            <a:r>
              <a:rPr lang="zh-CN" altLang="en-US" sz="2600" smtClean="0"/>
              <a:t>则是将时间划分为一段段等长的</a:t>
            </a:r>
            <a:r>
              <a:rPr lang="zh-CN" altLang="en-US" sz="2600" smtClean="0">
                <a:solidFill>
                  <a:schemeClr val="hlink"/>
                </a:solidFill>
              </a:rPr>
              <a:t>时分复用帧</a:t>
            </a:r>
            <a:r>
              <a:rPr lang="zh-CN" altLang="en-US" sz="2600" smtClean="0"/>
              <a:t>（</a:t>
            </a:r>
            <a:r>
              <a:rPr lang="en-US" altLang="zh-CN" sz="2600" smtClean="0"/>
              <a:t>TDM </a:t>
            </a:r>
            <a:r>
              <a:rPr lang="zh-CN" altLang="en-US" sz="2600" smtClean="0"/>
              <a:t>帧）。每一个时分复用的用户在每一个 </a:t>
            </a:r>
            <a:r>
              <a:rPr lang="en-US" altLang="zh-CN" sz="2600" smtClean="0"/>
              <a:t>TDM </a:t>
            </a:r>
            <a:r>
              <a:rPr lang="zh-CN" altLang="en-US" sz="2600" smtClean="0"/>
              <a:t>帧中占用固定序号的时隙。</a:t>
            </a:r>
          </a:p>
          <a:p>
            <a:pPr eaLnBrk="1" hangingPunct="1"/>
            <a:r>
              <a:rPr lang="zh-CN" altLang="en-US" sz="2600" smtClean="0"/>
              <a:t>每一个用户所占用的时隙是</a:t>
            </a:r>
            <a:r>
              <a:rPr lang="zh-CN" altLang="en-US" sz="2600" smtClean="0">
                <a:solidFill>
                  <a:schemeClr val="hlink"/>
                </a:solidFill>
              </a:rPr>
              <a:t>周期性地出现</a:t>
            </a:r>
            <a:r>
              <a:rPr lang="zh-CN" altLang="en-US" sz="2600" smtClean="0"/>
              <a:t>（其周期就是 </a:t>
            </a:r>
            <a:r>
              <a:rPr lang="en-US" altLang="zh-CN" sz="2600" smtClean="0"/>
              <a:t>TDM  </a:t>
            </a:r>
            <a:r>
              <a:rPr lang="zh-CN" altLang="en-US" sz="2600" smtClean="0"/>
              <a:t>帧的长度）。</a:t>
            </a:r>
          </a:p>
          <a:p>
            <a:pPr eaLnBrk="1" hangingPunct="1"/>
            <a:r>
              <a:rPr lang="en-US" altLang="zh-CN" sz="2600" smtClean="0"/>
              <a:t>TDM </a:t>
            </a:r>
            <a:r>
              <a:rPr lang="zh-CN" altLang="en-US" sz="2600" smtClean="0"/>
              <a:t>信号也称为</a:t>
            </a:r>
            <a:r>
              <a:rPr lang="zh-CN" altLang="en-US" sz="2600" smtClean="0">
                <a:solidFill>
                  <a:schemeClr val="hlink"/>
                </a:solidFill>
              </a:rPr>
              <a:t>等时</a:t>
            </a:r>
            <a:r>
              <a:rPr lang="en-US" altLang="zh-CN" sz="2600" smtClean="0"/>
              <a:t>(isochronous)</a:t>
            </a:r>
            <a:r>
              <a:rPr lang="zh-CN" altLang="en-US" sz="2600" smtClean="0"/>
              <a:t>信号。</a:t>
            </a:r>
          </a:p>
          <a:p>
            <a:pPr eaLnBrk="1" hangingPunct="1"/>
            <a:r>
              <a:rPr lang="zh-CN" altLang="en-US" sz="2600" smtClean="0"/>
              <a:t>时分复用的所有用户是在不同的时间占用</a:t>
            </a:r>
            <a:r>
              <a:rPr lang="zh-CN" altLang="en-US" sz="2600" smtClean="0">
                <a:solidFill>
                  <a:schemeClr val="hlink"/>
                </a:solidFill>
              </a:rPr>
              <a:t>同样的</a:t>
            </a:r>
            <a:r>
              <a:rPr lang="zh-CN" altLang="en-US" sz="2600" smtClean="0"/>
              <a:t>频带宽度。</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algn="ctr" eaLnBrk="1" hangingPunct="1"/>
            <a:r>
              <a:rPr lang="zh-CN" altLang="en-US" smtClean="0"/>
              <a:t>时分复用 </a:t>
            </a:r>
          </a:p>
        </p:txBody>
      </p:sp>
      <p:sp>
        <p:nvSpPr>
          <p:cNvPr id="48132"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p:spPr>
        <p:txBody>
          <a:bodyPr wrap="none" anchor="ctr"/>
          <a:lstStyle/>
          <a:p>
            <a:endParaRPr lang="zh-CN" altLang="en-US"/>
          </a:p>
        </p:txBody>
      </p:sp>
      <p:sp>
        <p:nvSpPr>
          <p:cNvPr id="48133" name="Text Box 4"/>
          <p:cNvSpPr txBox="1">
            <a:spLocks noChangeArrowheads="1"/>
          </p:cNvSpPr>
          <p:nvPr/>
        </p:nvSpPr>
        <p:spPr bwMode="auto">
          <a:xfrm>
            <a:off x="784225" y="2012950"/>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频率</a:t>
            </a:r>
          </a:p>
        </p:txBody>
      </p:sp>
      <p:sp>
        <p:nvSpPr>
          <p:cNvPr id="48134" name="Text Box 5"/>
          <p:cNvSpPr txBox="1">
            <a:spLocks noChangeArrowheads="1"/>
          </p:cNvSpPr>
          <p:nvPr/>
        </p:nvSpPr>
        <p:spPr bwMode="auto">
          <a:xfrm>
            <a:off x="7593013" y="4937125"/>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时间</a:t>
            </a:r>
          </a:p>
        </p:txBody>
      </p:sp>
      <p:sp>
        <p:nvSpPr>
          <p:cNvPr id="48135" name="Rectangle 6"/>
          <p:cNvSpPr>
            <a:spLocks noChangeArrowheads="1"/>
          </p:cNvSpPr>
          <p:nvPr/>
        </p:nvSpPr>
        <p:spPr bwMode="auto">
          <a:xfrm>
            <a:off x="1763713"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48136" name="Rectangle 7"/>
          <p:cNvSpPr>
            <a:spLocks noChangeArrowheads="1"/>
          </p:cNvSpPr>
          <p:nvPr/>
        </p:nvSpPr>
        <p:spPr bwMode="auto">
          <a:xfrm>
            <a:off x="2052638"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8137" name="Rectangle 8"/>
          <p:cNvSpPr>
            <a:spLocks noChangeArrowheads="1"/>
          </p:cNvSpPr>
          <p:nvPr/>
        </p:nvSpPr>
        <p:spPr bwMode="auto">
          <a:xfrm>
            <a:off x="2339975"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48138" name="Rectangle 9"/>
          <p:cNvSpPr>
            <a:spLocks noChangeArrowheads="1"/>
          </p:cNvSpPr>
          <p:nvPr/>
        </p:nvSpPr>
        <p:spPr bwMode="auto">
          <a:xfrm>
            <a:off x="2916238"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48139" name="Rectangle 10"/>
          <p:cNvSpPr>
            <a:spLocks noChangeArrowheads="1"/>
          </p:cNvSpPr>
          <p:nvPr/>
        </p:nvSpPr>
        <p:spPr bwMode="auto">
          <a:xfrm>
            <a:off x="3205163"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8140" name="Rectangle 11"/>
          <p:cNvSpPr>
            <a:spLocks noChangeArrowheads="1"/>
          </p:cNvSpPr>
          <p:nvPr/>
        </p:nvSpPr>
        <p:spPr bwMode="auto">
          <a:xfrm>
            <a:off x="3492500"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48141" name="Rectangle 12"/>
          <p:cNvSpPr>
            <a:spLocks noChangeArrowheads="1"/>
          </p:cNvSpPr>
          <p:nvPr/>
        </p:nvSpPr>
        <p:spPr bwMode="auto">
          <a:xfrm>
            <a:off x="4068763"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48142" name="Rectangle 13"/>
          <p:cNvSpPr>
            <a:spLocks noChangeArrowheads="1"/>
          </p:cNvSpPr>
          <p:nvPr/>
        </p:nvSpPr>
        <p:spPr bwMode="auto">
          <a:xfrm>
            <a:off x="4357688"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8143" name="Rectangle 14"/>
          <p:cNvSpPr>
            <a:spLocks noChangeArrowheads="1"/>
          </p:cNvSpPr>
          <p:nvPr/>
        </p:nvSpPr>
        <p:spPr bwMode="auto">
          <a:xfrm>
            <a:off x="4645025"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48144" name="Rectangle 15"/>
          <p:cNvSpPr>
            <a:spLocks noChangeArrowheads="1"/>
          </p:cNvSpPr>
          <p:nvPr/>
        </p:nvSpPr>
        <p:spPr bwMode="auto">
          <a:xfrm>
            <a:off x="5221288"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48145" name="Rectangle 16"/>
          <p:cNvSpPr>
            <a:spLocks noChangeArrowheads="1"/>
          </p:cNvSpPr>
          <p:nvPr/>
        </p:nvSpPr>
        <p:spPr bwMode="auto">
          <a:xfrm>
            <a:off x="5510213"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8146" name="Rectangle 17"/>
          <p:cNvSpPr>
            <a:spLocks noChangeArrowheads="1"/>
          </p:cNvSpPr>
          <p:nvPr/>
        </p:nvSpPr>
        <p:spPr bwMode="auto">
          <a:xfrm>
            <a:off x="5797550"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grpSp>
        <p:nvGrpSpPr>
          <p:cNvPr id="2" name="Group 18"/>
          <p:cNvGrpSpPr>
            <a:grpSpLocks/>
          </p:cNvGrpSpPr>
          <p:nvPr/>
        </p:nvGrpSpPr>
        <p:grpSpPr bwMode="auto">
          <a:xfrm>
            <a:off x="1476375" y="2636838"/>
            <a:ext cx="3744913" cy="1871662"/>
            <a:chOff x="930" y="1661"/>
            <a:chExt cx="2359" cy="1179"/>
          </a:xfrm>
        </p:grpSpPr>
        <p:sp>
          <p:nvSpPr>
            <p:cNvPr id="48177" name="Rectangle 19"/>
            <p:cNvSpPr>
              <a:spLocks noChangeArrowheads="1"/>
            </p:cNvSpPr>
            <p:nvPr/>
          </p:nvSpPr>
          <p:spPr bwMode="auto">
            <a:xfrm>
              <a:off x="930" y="1661"/>
              <a:ext cx="181" cy="1179"/>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48178" name="Rectangle 20"/>
            <p:cNvSpPr>
              <a:spLocks noChangeArrowheads="1"/>
            </p:cNvSpPr>
            <p:nvPr/>
          </p:nvSpPr>
          <p:spPr bwMode="auto">
            <a:xfrm>
              <a:off x="1656" y="1661"/>
              <a:ext cx="181" cy="1179"/>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48179" name="Rectangle 21"/>
            <p:cNvSpPr>
              <a:spLocks noChangeArrowheads="1"/>
            </p:cNvSpPr>
            <p:nvPr/>
          </p:nvSpPr>
          <p:spPr bwMode="auto">
            <a:xfrm>
              <a:off x="2382" y="1661"/>
              <a:ext cx="181" cy="1179"/>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48180" name="Rectangle 22"/>
            <p:cNvSpPr>
              <a:spLocks noChangeArrowheads="1"/>
            </p:cNvSpPr>
            <p:nvPr/>
          </p:nvSpPr>
          <p:spPr bwMode="auto">
            <a:xfrm>
              <a:off x="3108" y="1661"/>
              <a:ext cx="181" cy="1179"/>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grpSp>
      <p:sp>
        <p:nvSpPr>
          <p:cNvPr id="48148" name="Text Box 24"/>
          <p:cNvSpPr txBox="1">
            <a:spLocks noChangeArrowheads="1"/>
          </p:cNvSpPr>
          <p:nvPr/>
        </p:nvSpPr>
        <p:spPr bwMode="auto">
          <a:xfrm>
            <a:off x="5292725" y="2133600"/>
            <a:ext cx="2913063" cy="641350"/>
          </a:xfrm>
          <a:prstGeom prst="rect">
            <a:avLst/>
          </a:prstGeom>
          <a:noFill/>
          <a:ln w="9525">
            <a:noFill/>
            <a:miter lim="800000"/>
            <a:headEnd/>
            <a:tailEnd/>
          </a:ln>
        </p:spPr>
        <p:txBody>
          <a:bodyPr>
            <a:spAutoFit/>
          </a:bodyPr>
          <a:lstStyle/>
          <a:p>
            <a:pPr>
              <a:lnSpc>
                <a:spcPct val="90000"/>
              </a:lnSpc>
            </a:pPr>
            <a:r>
              <a:rPr kumimoji="1" lang="en-US" altLang="zh-CN" sz="2000">
                <a:solidFill>
                  <a:srgbClr val="333399"/>
                </a:solidFill>
                <a:latin typeface="Arial" pitchFamily="34" charset="0"/>
                <a:ea typeface="黑体" pitchFamily="49" charset="-122"/>
              </a:rPr>
              <a:t>A </a:t>
            </a:r>
            <a:r>
              <a:rPr kumimoji="1" lang="zh-CN" altLang="en-US" sz="2000">
                <a:solidFill>
                  <a:srgbClr val="333399"/>
                </a:solidFill>
                <a:latin typeface="Arial" pitchFamily="34" charset="0"/>
                <a:ea typeface="黑体" pitchFamily="49" charset="-122"/>
              </a:rPr>
              <a:t>在</a:t>
            </a:r>
            <a:r>
              <a:rPr kumimoji="1" lang="zh-CN" altLang="en-US" sz="1400">
                <a:solidFill>
                  <a:srgbClr val="333399"/>
                </a:solidFill>
                <a:latin typeface="Arial" pitchFamily="34" charset="0"/>
                <a:ea typeface="黑体" pitchFamily="49" charset="-122"/>
              </a:rPr>
              <a:t> </a:t>
            </a:r>
            <a:r>
              <a:rPr kumimoji="1" lang="en-US" altLang="zh-CN" sz="2000">
                <a:solidFill>
                  <a:srgbClr val="333399"/>
                </a:solidFill>
                <a:latin typeface="Arial" pitchFamily="34" charset="0"/>
                <a:ea typeface="黑体" pitchFamily="49" charset="-122"/>
              </a:rPr>
              <a:t>TDM</a:t>
            </a:r>
            <a:r>
              <a:rPr kumimoji="1" lang="en-US" altLang="zh-CN" sz="14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帧中</a:t>
            </a:r>
          </a:p>
          <a:p>
            <a:pPr>
              <a:lnSpc>
                <a:spcPct val="90000"/>
              </a:lnSpc>
            </a:pPr>
            <a:r>
              <a:rPr kumimoji="1" lang="zh-CN" altLang="en-US" sz="2000">
                <a:solidFill>
                  <a:srgbClr val="333399"/>
                </a:solidFill>
                <a:latin typeface="Arial" pitchFamily="34" charset="0"/>
                <a:ea typeface="黑体" pitchFamily="49" charset="-122"/>
              </a:rPr>
              <a:t>的位置不变</a:t>
            </a:r>
          </a:p>
        </p:txBody>
      </p:sp>
      <p:sp>
        <p:nvSpPr>
          <p:cNvPr id="48149" name="Line 25"/>
          <p:cNvSpPr>
            <a:spLocks noChangeShapeType="1"/>
          </p:cNvSpPr>
          <p:nvPr/>
        </p:nvSpPr>
        <p:spPr bwMode="auto">
          <a:xfrm>
            <a:off x="1619250" y="2276475"/>
            <a:ext cx="4098925" cy="0"/>
          </a:xfrm>
          <a:prstGeom prst="line">
            <a:avLst/>
          </a:prstGeom>
          <a:noFill/>
          <a:ln w="28575">
            <a:solidFill>
              <a:srgbClr val="333399"/>
            </a:solidFill>
            <a:round/>
            <a:headEnd/>
            <a:tailEnd/>
          </a:ln>
        </p:spPr>
        <p:txBody>
          <a:bodyPr/>
          <a:lstStyle/>
          <a:p>
            <a:endParaRPr lang="zh-CN" altLang="en-US"/>
          </a:p>
        </p:txBody>
      </p:sp>
      <p:sp>
        <p:nvSpPr>
          <p:cNvPr id="48150" name="Line 26"/>
          <p:cNvSpPr>
            <a:spLocks noChangeShapeType="1"/>
          </p:cNvSpPr>
          <p:nvPr/>
        </p:nvSpPr>
        <p:spPr bwMode="auto">
          <a:xfrm>
            <a:off x="1619250"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48151" name="Line 27"/>
          <p:cNvSpPr>
            <a:spLocks noChangeShapeType="1"/>
          </p:cNvSpPr>
          <p:nvPr/>
        </p:nvSpPr>
        <p:spPr bwMode="auto">
          <a:xfrm>
            <a:off x="2765425"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48152" name="Line 28"/>
          <p:cNvSpPr>
            <a:spLocks noChangeShapeType="1"/>
          </p:cNvSpPr>
          <p:nvPr/>
        </p:nvSpPr>
        <p:spPr bwMode="auto">
          <a:xfrm>
            <a:off x="3913188"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48153" name="Line 29"/>
          <p:cNvSpPr>
            <a:spLocks noChangeShapeType="1"/>
          </p:cNvSpPr>
          <p:nvPr/>
        </p:nvSpPr>
        <p:spPr bwMode="auto">
          <a:xfrm>
            <a:off x="5059363" y="2276475"/>
            <a:ext cx="0" cy="288925"/>
          </a:xfrm>
          <a:prstGeom prst="line">
            <a:avLst/>
          </a:prstGeom>
          <a:noFill/>
          <a:ln w="28575">
            <a:solidFill>
              <a:srgbClr val="333399"/>
            </a:solidFill>
            <a:round/>
            <a:headEnd/>
            <a:tailEnd type="triangle" w="med" len="med"/>
          </a:ln>
        </p:spPr>
        <p:txBody>
          <a:bodyPr/>
          <a:lstStyle/>
          <a:p>
            <a:endParaRPr lang="zh-CN" altLang="en-US"/>
          </a:p>
        </p:txBody>
      </p:sp>
      <p:grpSp>
        <p:nvGrpSpPr>
          <p:cNvPr id="3" name="Group 30"/>
          <p:cNvGrpSpPr>
            <a:grpSpLocks/>
          </p:cNvGrpSpPr>
          <p:nvPr/>
        </p:nvGrpSpPr>
        <p:grpSpPr bwMode="auto">
          <a:xfrm>
            <a:off x="1476375" y="4581525"/>
            <a:ext cx="1150938" cy="509588"/>
            <a:chOff x="930" y="2886"/>
            <a:chExt cx="725" cy="321"/>
          </a:xfrm>
        </p:grpSpPr>
        <p:sp>
          <p:nvSpPr>
            <p:cNvPr id="48175" name="Text Box 31"/>
            <p:cNvSpPr txBox="1">
              <a:spLocks noChangeArrowheads="1"/>
            </p:cNvSpPr>
            <p:nvPr/>
          </p:nvSpPr>
          <p:spPr bwMode="auto">
            <a:xfrm>
              <a:off x="975"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8176"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4" name="Group 33"/>
          <p:cNvGrpSpPr>
            <a:grpSpLocks/>
          </p:cNvGrpSpPr>
          <p:nvPr/>
        </p:nvGrpSpPr>
        <p:grpSpPr bwMode="auto">
          <a:xfrm>
            <a:off x="2627313" y="4581525"/>
            <a:ext cx="1150937" cy="509588"/>
            <a:chOff x="1655" y="2886"/>
            <a:chExt cx="725" cy="321"/>
          </a:xfrm>
        </p:grpSpPr>
        <p:sp>
          <p:nvSpPr>
            <p:cNvPr id="48173" name="Text Box 34"/>
            <p:cNvSpPr txBox="1">
              <a:spLocks noChangeArrowheads="1"/>
            </p:cNvSpPr>
            <p:nvPr/>
          </p:nvSpPr>
          <p:spPr bwMode="auto">
            <a:xfrm>
              <a:off x="1700"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8174"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 name="Group 36"/>
          <p:cNvGrpSpPr>
            <a:grpSpLocks/>
          </p:cNvGrpSpPr>
          <p:nvPr/>
        </p:nvGrpSpPr>
        <p:grpSpPr bwMode="auto">
          <a:xfrm>
            <a:off x="3778250" y="4581525"/>
            <a:ext cx="1150938" cy="509588"/>
            <a:chOff x="2380" y="2886"/>
            <a:chExt cx="725" cy="321"/>
          </a:xfrm>
        </p:grpSpPr>
        <p:sp>
          <p:nvSpPr>
            <p:cNvPr id="48171" name="Text Box 37"/>
            <p:cNvSpPr txBox="1">
              <a:spLocks noChangeArrowheads="1"/>
            </p:cNvSpPr>
            <p:nvPr/>
          </p:nvSpPr>
          <p:spPr bwMode="auto">
            <a:xfrm>
              <a:off x="2426"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8172"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6" name="Group 39"/>
          <p:cNvGrpSpPr>
            <a:grpSpLocks/>
          </p:cNvGrpSpPr>
          <p:nvPr/>
        </p:nvGrpSpPr>
        <p:grpSpPr bwMode="auto">
          <a:xfrm>
            <a:off x="4929188" y="4581525"/>
            <a:ext cx="1150937" cy="509588"/>
            <a:chOff x="3105" y="2886"/>
            <a:chExt cx="725" cy="321"/>
          </a:xfrm>
        </p:grpSpPr>
        <p:sp>
          <p:nvSpPr>
            <p:cNvPr id="48169" name="Text Box 40"/>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8170"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sp>
        <p:nvSpPr>
          <p:cNvPr id="48158" name="Rectangle 42"/>
          <p:cNvSpPr>
            <a:spLocks noChangeArrowheads="1"/>
          </p:cNvSpPr>
          <p:nvPr/>
        </p:nvSpPr>
        <p:spPr bwMode="auto">
          <a:xfrm>
            <a:off x="6442075" y="3322638"/>
            <a:ext cx="434975" cy="393700"/>
          </a:xfrm>
          <a:prstGeom prst="rect">
            <a:avLst/>
          </a:prstGeom>
          <a:noFill/>
          <a:ln w="12700">
            <a:noFill/>
            <a:miter lim="800000"/>
            <a:headEnd/>
            <a:tailEnd/>
          </a:ln>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48159"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p:spPr>
        <p:txBody>
          <a:bodyPr wrap="none" anchor="ctr"/>
          <a:lstStyle/>
          <a:p>
            <a:endParaRPr lang="zh-CN" altLang="en-US"/>
          </a:p>
        </p:txBody>
      </p:sp>
      <p:grpSp>
        <p:nvGrpSpPr>
          <p:cNvPr id="7" name="Group 44"/>
          <p:cNvGrpSpPr>
            <a:grpSpLocks/>
          </p:cNvGrpSpPr>
          <p:nvPr/>
        </p:nvGrpSpPr>
        <p:grpSpPr bwMode="auto">
          <a:xfrm>
            <a:off x="6084888" y="4581525"/>
            <a:ext cx="1150937" cy="509588"/>
            <a:chOff x="3105" y="2886"/>
            <a:chExt cx="725" cy="321"/>
          </a:xfrm>
        </p:grpSpPr>
        <p:sp>
          <p:nvSpPr>
            <p:cNvPr id="48167" name="Text Box 45"/>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8168"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48161" name="Group 52"/>
          <p:cNvGrpSpPr>
            <a:grpSpLocks/>
          </p:cNvGrpSpPr>
          <p:nvPr/>
        </p:nvGrpSpPr>
        <p:grpSpPr bwMode="auto">
          <a:xfrm>
            <a:off x="2627313" y="2492375"/>
            <a:ext cx="4610100" cy="2376488"/>
            <a:chOff x="1655" y="1570"/>
            <a:chExt cx="2904" cy="1497"/>
          </a:xfrm>
        </p:grpSpPr>
        <p:sp>
          <p:nvSpPr>
            <p:cNvPr id="48162" name="Line 47"/>
            <p:cNvSpPr>
              <a:spLocks noChangeShapeType="1"/>
            </p:cNvSpPr>
            <p:nvPr/>
          </p:nvSpPr>
          <p:spPr bwMode="auto">
            <a:xfrm>
              <a:off x="1655" y="1570"/>
              <a:ext cx="0" cy="1497"/>
            </a:xfrm>
            <a:prstGeom prst="line">
              <a:avLst/>
            </a:prstGeom>
            <a:noFill/>
            <a:ln w="28575">
              <a:solidFill>
                <a:schemeClr val="hlink"/>
              </a:solidFill>
              <a:prstDash val="dash"/>
              <a:round/>
              <a:headEnd/>
              <a:tailEnd/>
            </a:ln>
          </p:spPr>
          <p:txBody>
            <a:bodyPr/>
            <a:lstStyle/>
            <a:p>
              <a:endParaRPr lang="zh-CN" altLang="en-US"/>
            </a:p>
          </p:txBody>
        </p:sp>
        <p:sp>
          <p:nvSpPr>
            <p:cNvPr id="48163" name="Line 48"/>
            <p:cNvSpPr>
              <a:spLocks noChangeShapeType="1"/>
            </p:cNvSpPr>
            <p:nvPr/>
          </p:nvSpPr>
          <p:spPr bwMode="auto">
            <a:xfrm>
              <a:off x="2381" y="1570"/>
              <a:ext cx="0" cy="1497"/>
            </a:xfrm>
            <a:prstGeom prst="line">
              <a:avLst/>
            </a:prstGeom>
            <a:noFill/>
            <a:ln w="28575">
              <a:solidFill>
                <a:schemeClr val="hlink"/>
              </a:solidFill>
              <a:prstDash val="dash"/>
              <a:round/>
              <a:headEnd/>
              <a:tailEnd/>
            </a:ln>
          </p:spPr>
          <p:txBody>
            <a:bodyPr/>
            <a:lstStyle/>
            <a:p>
              <a:endParaRPr lang="zh-CN" altLang="en-US"/>
            </a:p>
          </p:txBody>
        </p:sp>
        <p:sp>
          <p:nvSpPr>
            <p:cNvPr id="48164" name="Line 49"/>
            <p:cNvSpPr>
              <a:spLocks noChangeShapeType="1"/>
            </p:cNvSpPr>
            <p:nvPr/>
          </p:nvSpPr>
          <p:spPr bwMode="auto">
            <a:xfrm>
              <a:off x="3107" y="1570"/>
              <a:ext cx="0" cy="1497"/>
            </a:xfrm>
            <a:prstGeom prst="line">
              <a:avLst/>
            </a:prstGeom>
            <a:noFill/>
            <a:ln w="28575">
              <a:solidFill>
                <a:schemeClr val="hlink"/>
              </a:solidFill>
              <a:prstDash val="dash"/>
              <a:round/>
              <a:headEnd/>
              <a:tailEnd/>
            </a:ln>
          </p:spPr>
          <p:txBody>
            <a:bodyPr/>
            <a:lstStyle/>
            <a:p>
              <a:endParaRPr lang="zh-CN" altLang="en-US"/>
            </a:p>
          </p:txBody>
        </p:sp>
        <p:sp>
          <p:nvSpPr>
            <p:cNvPr id="48165" name="Line 50"/>
            <p:cNvSpPr>
              <a:spLocks noChangeShapeType="1"/>
            </p:cNvSpPr>
            <p:nvPr/>
          </p:nvSpPr>
          <p:spPr bwMode="auto">
            <a:xfrm>
              <a:off x="3833" y="1570"/>
              <a:ext cx="0" cy="1497"/>
            </a:xfrm>
            <a:prstGeom prst="line">
              <a:avLst/>
            </a:prstGeom>
            <a:noFill/>
            <a:ln w="28575">
              <a:solidFill>
                <a:schemeClr val="hlink"/>
              </a:solidFill>
              <a:prstDash val="dash"/>
              <a:round/>
              <a:headEnd/>
              <a:tailEnd/>
            </a:ln>
          </p:spPr>
          <p:txBody>
            <a:bodyPr/>
            <a:lstStyle/>
            <a:p>
              <a:endParaRPr lang="zh-CN" altLang="en-US"/>
            </a:p>
          </p:txBody>
        </p:sp>
        <p:sp>
          <p:nvSpPr>
            <p:cNvPr id="48166" name="Line 51"/>
            <p:cNvSpPr>
              <a:spLocks noChangeShapeType="1"/>
            </p:cNvSpPr>
            <p:nvPr/>
          </p:nvSpPr>
          <p:spPr bwMode="auto">
            <a:xfrm>
              <a:off x="4559" y="1570"/>
              <a:ext cx="0" cy="1497"/>
            </a:xfrm>
            <a:prstGeom prst="line">
              <a:avLst/>
            </a:prstGeom>
            <a:noFill/>
            <a:ln w="28575">
              <a:solidFill>
                <a:schemeClr val="hlink"/>
              </a:solidFill>
              <a:prstDash val="dash"/>
              <a:round/>
              <a:headEnd/>
              <a:tailE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50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nodeType="afterEffect">
                                  <p:stCondLst>
                                    <p:cond delay="500"/>
                                  </p:stCondLst>
                                  <p:childTnLst>
                                    <p:set>
                                      <p:cBhvr>
                                        <p:cTn id="18" dur="1" fill="hold">
                                          <p:stCondLst>
                                            <p:cond delay="0"/>
                                          </p:stCondLst>
                                        </p:cTn>
                                        <p:tgtEl>
                                          <p:spTgt spid="7"/>
                                        </p:tgtEl>
                                        <p:attrNameLst>
                                          <p:attrName>style.visibility</p:attrName>
                                        </p:attrNameLst>
                                      </p:cBhvr>
                                      <p:to>
                                        <p:strVal val="visible"/>
                                      </p:to>
                                    </p:set>
                                  </p:childTnLst>
                                </p:cTn>
                              </p:par>
                            </p:childTnLst>
                          </p:cTn>
                        </p:par>
                        <p:par>
                          <p:cTn id="19" fill="hold">
                            <p:stCondLst>
                              <p:cond delay="2000"/>
                            </p:stCondLst>
                            <p:childTnLst>
                              <p:par>
                                <p:cTn id="20" presetID="35" presetClass="emph" presetSubtype="0" repeatCount="4000" fill="hold" nodeType="afterEffect">
                                  <p:stCondLst>
                                    <p:cond delay="0"/>
                                  </p:stCondLst>
                                  <p:childTnLst>
                                    <p:anim calcmode="discrete" valueType="str">
                                      <p:cBhvr>
                                        <p:cTn id="21" dur="500" fill="hold"/>
                                        <p:tgtEl>
                                          <p:spTgt spid="2"/>
                                        </p:tgtEl>
                                        <p:attrNameLst>
                                          <p:attrName>style.visibility</p:attrName>
                                        </p:attrNameLst>
                                      </p:cBhvr>
                                      <p:tavLst>
                                        <p:tav tm="0">
                                          <p:val>
                                            <p:strVal val="hidden"/>
                                          </p:val>
                                        </p:tav>
                                        <p:tav tm="50000">
                                          <p:val>
                                            <p:strVal val="visible"/>
                                          </p:val>
                                        </p:tav>
                                      </p:tavLst>
                                    </p:anim>
                                  </p:childTnLst>
                                </p:cTn>
                              </p:par>
                            </p:childTnLst>
                          </p:cTn>
                        </p:par>
                        <p:par>
                          <p:cTn id="22" fill="hold">
                            <p:stCondLst>
                              <p:cond delay="4000"/>
                            </p:stCondLst>
                            <p:childTnLst>
                              <p:par>
                                <p:cTn id="23" presetID="1" presetClass="entr" presetSubtype="0" fill="hold" nodeType="afterEffect">
                                  <p:stCondLst>
                                    <p:cond delay="50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algn="ctr" eaLnBrk="1" hangingPunct="1"/>
            <a:r>
              <a:rPr lang="zh-CN" altLang="en-US" smtClean="0"/>
              <a:t>时分复用 </a:t>
            </a:r>
          </a:p>
        </p:txBody>
      </p:sp>
      <p:sp>
        <p:nvSpPr>
          <p:cNvPr id="49156"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p:spPr>
        <p:txBody>
          <a:bodyPr wrap="none" anchor="ctr"/>
          <a:lstStyle/>
          <a:p>
            <a:endParaRPr lang="zh-CN" altLang="en-US"/>
          </a:p>
        </p:txBody>
      </p:sp>
      <p:sp>
        <p:nvSpPr>
          <p:cNvPr id="49157" name="Text Box 4"/>
          <p:cNvSpPr txBox="1">
            <a:spLocks noChangeArrowheads="1"/>
          </p:cNvSpPr>
          <p:nvPr/>
        </p:nvSpPr>
        <p:spPr bwMode="auto">
          <a:xfrm>
            <a:off x="784225" y="2012950"/>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频率</a:t>
            </a:r>
          </a:p>
        </p:txBody>
      </p:sp>
      <p:sp>
        <p:nvSpPr>
          <p:cNvPr id="49158" name="Text Box 5"/>
          <p:cNvSpPr txBox="1">
            <a:spLocks noChangeArrowheads="1"/>
          </p:cNvSpPr>
          <p:nvPr/>
        </p:nvSpPr>
        <p:spPr bwMode="auto">
          <a:xfrm>
            <a:off x="7593013" y="4937125"/>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时间</a:t>
            </a:r>
          </a:p>
        </p:txBody>
      </p:sp>
      <p:sp>
        <p:nvSpPr>
          <p:cNvPr id="49159" name="Rectangle 6"/>
          <p:cNvSpPr>
            <a:spLocks noChangeArrowheads="1"/>
          </p:cNvSpPr>
          <p:nvPr/>
        </p:nvSpPr>
        <p:spPr bwMode="auto">
          <a:xfrm>
            <a:off x="2052638"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9160" name="Rectangle 7"/>
          <p:cNvSpPr>
            <a:spLocks noChangeArrowheads="1"/>
          </p:cNvSpPr>
          <p:nvPr/>
        </p:nvSpPr>
        <p:spPr bwMode="auto">
          <a:xfrm>
            <a:off x="2339975"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49161" name="Rectangle 8"/>
          <p:cNvSpPr>
            <a:spLocks noChangeArrowheads="1"/>
          </p:cNvSpPr>
          <p:nvPr/>
        </p:nvSpPr>
        <p:spPr bwMode="auto">
          <a:xfrm>
            <a:off x="3205163"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9162" name="Rectangle 9"/>
          <p:cNvSpPr>
            <a:spLocks noChangeArrowheads="1"/>
          </p:cNvSpPr>
          <p:nvPr/>
        </p:nvSpPr>
        <p:spPr bwMode="auto">
          <a:xfrm>
            <a:off x="3492500"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49163" name="Rectangle 10"/>
          <p:cNvSpPr>
            <a:spLocks noChangeArrowheads="1"/>
          </p:cNvSpPr>
          <p:nvPr/>
        </p:nvSpPr>
        <p:spPr bwMode="auto">
          <a:xfrm>
            <a:off x="4357688"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9164" name="Rectangle 11"/>
          <p:cNvSpPr>
            <a:spLocks noChangeArrowheads="1"/>
          </p:cNvSpPr>
          <p:nvPr/>
        </p:nvSpPr>
        <p:spPr bwMode="auto">
          <a:xfrm>
            <a:off x="4645025"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49165" name="Rectangle 12"/>
          <p:cNvSpPr>
            <a:spLocks noChangeArrowheads="1"/>
          </p:cNvSpPr>
          <p:nvPr/>
        </p:nvSpPr>
        <p:spPr bwMode="auto">
          <a:xfrm>
            <a:off x="1476375"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49166" name="Rectangle 13"/>
          <p:cNvSpPr>
            <a:spLocks noChangeArrowheads="1"/>
          </p:cNvSpPr>
          <p:nvPr/>
        </p:nvSpPr>
        <p:spPr bwMode="auto">
          <a:xfrm>
            <a:off x="2628900"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49167" name="Rectangle 14"/>
          <p:cNvSpPr>
            <a:spLocks noChangeArrowheads="1"/>
          </p:cNvSpPr>
          <p:nvPr/>
        </p:nvSpPr>
        <p:spPr bwMode="auto">
          <a:xfrm>
            <a:off x="3781425"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49168" name="Rectangle 15"/>
          <p:cNvSpPr>
            <a:spLocks noChangeArrowheads="1"/>
          </p:cNvSpPr>
          <p:nvPr/>
        </p:nvSpPr>
        <p:spPr bwMode="auto">
          <a:xfrm>
            <a:off x="4933950"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grpSp>
        <p:nvGrpSpPr>
          <p:cNvPr id="2" name="Group 16"/>
          <p:cNvGrpSpPr>
            <a:grpSpLocks/>
          </p:cNvGrpSpPr>
          <p:nvPr/>
        </p:nvGrpSpPr>
        <p:grpSpPr bwMode="auto">
          <a:xfrm>
            <a:off x="1763713" y="2636838"/>
            <a:ext cx="3744912" cy="1871662"/>
            <a:chOff x="1111" y="1661"/>
            <a:chExt cx="2359" cy="1179"/>
          </a:xfrm>
        </p:grpSpPr>
        <p:sp>
          <p:nvSpPr>
            <p:cNvPr id="49201" name="Rectangle 17"/>
            <p:cNvSpPr>
              <a:spLocks noChangeArrowheads="1"/>
            </p:cNvSpPr>
            <p:nvPr/>
          </p:nvSpPr>
          <p:spPr bwMode="auto">
            <a:xfrm>
              <a:off x="1111" y="1661"/>
              <a:ext cx="181" cy="1179"/>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49202" name="Rectangle 18"/>
            <p:cNvSpPr>
              <a:spLocks noChangeArrowheads="1"/>
            </p:cNvSpPr>
            <p:nvPr/>
          </p:nvSpPr>
          <p:spPr bwMode="auto">
            <a:xfrm>
              <a:off x="1837" y="1661"/>
              <a:ext cx="181" cy="1179"/>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49203" name="Rectangle 19"/>
            <p:cNvSpPr>
              <a:spLocks noChangeArrowheads="1"/>
            </p:cNvSpPr>
            <p:nvPr/>
          </p:nvSpPr>
          <p:spPr bwMode="auto">
            <a:xfrm>
              <a:off x="2563" y="1661"/>
              <a:ext cx="181" cy="1179"/>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49204" name="Rectangle 20"/>
            <p:cNvSpPr>
              <a:spLocks noChangeArrowheads="1"/>
            </p:cNvSpPr>
            <p:nvPr/>
          </p:nvSpPr>
          <p:spPr bwMode="auto">
            <a:xfrm>
              <a:off x="3289" y="1661"/>
              <a:ext cx="181" cy="1179"/>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grpSp>
      <p:sp>
        <p:nvSpPr>
          <p:cNvPr id="49170" name="Rectangle 21"/>
          <p:cNvSpPr>
            <a:spLocks noChangeArrowheads="1"/>
          </p:cNvSpPr>
          <p:nvPr/>
        </p:nvSpPr>
        <p:spPr bwMode="auto">
          <a:xfrm>
            <a:off x="5510213"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49171" name="Rectangle 22"/>
          <p:cNvSpPr>
            <a:spLocks noChangeArrowheads="1"/>
          </p:cNvSpPr>
          <p:nvPr/>
        </p:nvSpPr>
        <p:spPr bwMode="auto">
          <a:xfrm>
            <a:off x="5797550"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49172" name="Text Box 24"/>
          <p:cNvSpPr txBox="1">
            <a:spLocks noChangeArrowheads="1"/>
          </p:cNvSpPr>
          <p:nvPr/>
        </p:nvSpPr>
        <p:spPr bwMode="auto">
          <a:xfrm>
            <a:off x="6030913" y="2133600"/>
            <a:ext cx="1835150" cy="641350"/>
          </a:xfrm>
          <a:prstGeom prst="rect">
            <a:avLst/>
          </a:prstGeom>
          <a:noFill/>
          <a:ln w="9525">
            <a:noFill/>
            <a:miter lim="800000"/>
            <a:headEnd/>
            <a:tailEnd/>
          </a:ln>
        </p:spPr>
        <p:txBody>
          <a:bodyPr wrap="none">
            <a:spAutoFit/>
          </a:bodyPr>
          <a:lstStyle/>
          <a:p>
            <a:pPr>
              <a:lnSpc>
                <a:spcPct val="90000"/>
              </a:lnSpc>
            </a:pPr>
            <a:r>
              <a:rPr kumimoji="1" lang="en-US" altLang="zh-CN" sz="2000">
                <a:solidFill>
                  <a:srgbClr val="333399"/>
                </a:solidFill>
                <a:latin typeface="Arial" pitchFamily="34" charset="0"/>
                <a:ea typeface="黑体" pitchFamily="49" charset="-122"/>
              </a:rPr>
              <a:t>B </a:t>
            </a:r>
            <a:r>
              <a:rPr kumimoji="1" lang="zh-CN" altLang="en-US" sz="2000">
                <a:solidFill>
                  <a:srgbClr val="333399"/>
                </a:solidFill>
                <a:latin typeface="Arial" pitchFamily="34" charset="0"/>
                <a:ea typeface="黑体" pitchFamily="49" charset="-122"/>
              </a:rPr>
              <a:t>在</a:t>
            </a:r>
            <a:r>
              <a:rPr kumimoji="1" lang="zh-CN" altLang="en-US" sz="1400">
                <a:solidFill>
                  <a:srgbClr val="333399"/>
                </a:solidFill>
                <a:latin typeface="Arial" pitchFamily="34" charset="0"/>
                <a:ea typeface="黑体" pitchFamily="49" charset="-122"/>
              </a:rPr>
              <a:t> </a:t>
            </a:r>
            <a:r>
              <a:rPr kumimoji="1" lang="en-US" altLang="zh-CN" sz="2000">
                <a:solidFill>
                  <a:srgbClr val="333399"/>
                </a:solidFill>
                <a:latin typeface="Arial" pitchFamily="34" charset="0"/>
                <a:ea typeface="黑体" pitchFamily="49" charset="-122"/>
              </a:rPr>
              <a:t>TDM</a:t>
            </a:r>
            <a:r>
              <a:rPr kumimoji="1" lang="en-US" altLang="zh-CN" sz="14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帧中</a:t>
            </a:r>
          </a:p>
          <a:p>
            <a:pPr>
              <a:lnSpc>
                <a:spcPct val="90000"/>
              </a:lnSpc>
            </a:pPr>
            <a:r>
              <a:rPr kumimoji="1" lang="zh-CN" altLang="en-US" sz="2000">
                <a:solidFill>
                  <a:srgbClr val="333399"/>
                </a:solidFill>
                <a:latin typeface="Arial" pitchFamily="34" charset="0"/>
                <a:ea typeface="黑体" pitchFamily="49" charset="-122"/>
              </a:rPr>
              <a:t>的位置不变</a:t>
            </a:r>
          </a:p>
        </p:txBody>
      </p:sp>
      <p:sp>
        <p:nvSpPr>
          <p:cNvPr id="49173" name="Line 25"/>
          <p:cNvSpPr>
            <a:spLocks noChangeShapeType="1"/>
          </p:cNvSpPr>
          <p:nvPr/>
        </p:nvSpPr>
        <p:spPr bwMode="auto">
          <a:xfrm>
            <a:off x="1901825" y="2276475"/>
            <a:ext cx="4121150" cy="0"/>
          </a:xfrm>
          <a:prstGeom prst="line">
            <a:avLst/>
          </a:prstGeom>
          <a:noFill/>
          <a:ln w="28575">
            <a:solidFill>
              <a:srgbClr val="333399"/>
            </a:solidFill>
            <a:round/>
            <a:headEnd/>
            <a:tailEnd/>
          </a:ln>
        </p:spPr>
        <p:txBody>
          <a:bodyPr/>
          <a:lstStyle/>
          <a:p>
            <a:endParaRPr lang="zh-CN" altLang="en-US"/>
          </a:p>
        </p:txBody>
      </p:sp>
      <p:sp>
        <p:nvSpPr>
          <p:cNvPr id="49174" name="Line 26"/>
          <p:cNvSpPr>
            <a:spLocks noChangeShapeType="1"/>
          </p:cNvSpPr>
          <p:nvPr/>
        </p:nvSpPr>
        <p:spPr bwMode="auto">
          <a:xfrm>
            <a:off x="1901825"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49175" name="Line 27"/>
          <p:cNvSpPr>
            <a:spLocks noChangeShapeType="1"/>
          </p:cNvSpPr>
          <p:nvPr/>
        </p:nvSpPr>
        <p:spPr bwMode="auto">
          <a:xfrm>
            <a:off x="3054350"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49176" name="Line 28"/>
          <p:cNvSpPr>
            <a:spLocks noChangeShapeType="1"/>
          </p:cNvSpPr>
          <p:nvPr/>
        </p:nvSpPr>
        <p:spPr bwMode="auto">
          <a:xfrm>
            <a:off x="4206875"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49177" name="Line 29"/>
          <p:cNvSpPr>
            <a:spLocks noChangeShapeType="1"/>
          </p:cNvSpPr>
          <p:nvPr/>
        </p:nvSpPr>
        <p:spPr bwMode="auto">
          <a:xfrm>
            <a:off x="5360988" y="2276475"/>
            <a:ext cx="0" cy="288925"/>
          </a:xfrm>
          <a:prstGeom prst="line">
            <a:avLst/>
          </a:prstGeom>
          <a:noFill/>
          <a:ln w="28575">
            <a:solidFill>
              <a:srgbClr val="333399"/>
            </a:solidFill>
            <a:round/>
            <a:headEnd/>
            <a:tailEnd type="triangle" w="med" len="med"/>
          </a:ln>
        </p:spPr>
        <p:txBody>
          <a:bodyPr/>
          <a:lstStyle/>
          <a:p>
            <a:endParaRPr lang="zh-CN" altLang="en-US"/>
          </a:p>
        </p:txBody>
      </p:sp>
      <p:grpSp>
        <p:nvGrpSpPr>
          <p:cNvPr id="49178" name="Group 30"/>
          <p:cNvGrpSpPr>
            <a:grpSpLocks/>
          </p:cNvGrpSpPr>
          <p:nvPr/>
        </p:nvGrpSpPr>
        <p:grpSpPr bwMode="auto">
          <a:xfrm>
            <a:off x="1476375" y="4581525"/>
            <a:ext cx="1150938" cy="509588"/>
            <a:chOff x="930" y="2886"/>
            <a:chExt cx="725" cy="321"/>
          </a:xfrm>
        </p:grpSpPr>
        <p:sp>
          <p:nvSpPr>
            <p:cNvPr id="49199" name="Text Box 31"/>
            <p:cNvSpPr txBox="1">
              <a:spLocks noChangeArrowheads="1"/>
            </p:cNvSpPr>
            <p:nvPr/>
          </p:nvSpPr>
          <p:spPr bwMode="auto">
            <a:xfrm>
              <a:off x="975"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9200"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49179" name="Group 33"/>
          <p:cNvGrpSpPr>
            <a:grpSpLocks/>
          </p:cNvGrpSpPr>
          <p:nvPr/>
        </p:nvGrpSpPr>
        <p:grpSpPr bwMode="auto">
          <a:xfrm>
            <a:off x="2627313" y="4581525"/>
            <a:ext cx="1150937" cy="509588"/>
            <a:chOff x="1655" y="2886"/>
            <a:chExt cx="725" cy="321"/>
          </a:xfrm>
        </p:grpSpPr>
        <p:sp>
          <p:nvSpPr>
            <p:cNvPr id="49197" name="Text Box 34"/>
            <p:cNvSpPr txBox="1">
              <a:spLocks noChangeArrowheads="1"/>
            </p:cNvSpPr>
            <p:nvPr/>
          </p:nvSpPr>
          <p:spPr bwMode="auto">
            <a:xfrm>
              <a:off x="1700"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9198"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49180" name="Group 36"/>
          <p:cNvGrpSpPr>
            <a:grpSpLocks/>
          </p:cNvGrpSpPr>
          <p:nvPr/>
        </p:nvGrpSpPr>
        <p:grpSpPr bwMode="auto">
          <a:xfrm>
            <a:off x="3778250" y="4581525"/>
            <a:ext cx="1150938" cy="509588"/>
            <a:chOff x="2380" y="2886"/>
            <a:chExt cx="725" cy="321"/>
          </a:xfrm>
        </p:grpSpPr>
        <p:sp>
          <p:nvSpPr>
            <p:cNvPr id="49195" name="Text Box 37"/>
            <p:cNvSpPr txBox="1">
              <a:spLocks noChangeArrowheads="1"/>
            </p:cNvSpPr>
            <p:nvPr/>
          </p:nvSpPr>
          <p:spPr bwMode="auto">
            <a:xfrm>
              <a:off x="2426"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9196"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49181" name="Group 39"/>
          <p:cNvGrpSpPr>
            <a:grpSpLocks/>
          </p:cNvGrpSpPr>
          <p:nvPr/>
        </p:nvGrpSpPr>
        <p:grpSpPr bwMode="auto">
          <a:xfrm>
            <a:off x="4929188" y="4581525"/>
            <a:ext cx="1150937" cy="509588"/>
            <a:chOff x="3105" y="2886"/>
            <a:chExt cx="725" cy="321"/>
          </a:xfrm>
        </p:grpSpPr>
        <p:sp>
          <p:nvSpPr>
            <p:cNvPr id="49193" name="Text Box 40"/>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9194"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sp>
        <p:nvSpPr>
          <p:cNvPr id="49182" name="Rectangle 42"/>
          <p:cNvSpPr>
            <a:spLocks noChangeArrowheads="1"/>
          </p:cNvSpPr>
          <p:nvPr/>
        </p:nvSpPr>
        <p:spPr bwMode="auto">
          <a:xfrm>
            <a:off x="6513513" y="3322638"/>
            <a:ext cx="434975" cy="393700"/>
          </a:xfrm>
          <a:prstGeom prst="rect">
            <a:avLst/>
          </a:prstGeom>
          <a:noFill/>
          <a:ln w="12700">
            <a:noFill/>
            <a:miter lim="800000"/>
            <a:headEnd/>
            <a:tailEnd/>
          </a:ln>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49183"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p:spPr>
        <p:txBody>
          <a:bodyPr wrap="none" anchor="ctr"/>
          <a:lstStyle/>
          <a:p>
            <a:endParaRPr lang="zh-CN" altLang="en-US"/>
          </a:p>
        </p:txBody>
      </p:sp>
      <p:grpSp>
        <p:nvGrpSpPr>
          <p:cNvPr id="49184" name="Group 44"/>
          <p:cNvGrpSpPr>
            <a:grpSpLocks/>
          </p:cNvGrpSpPr>
          <p:nvPr/>
        </p:nvGrpSpPr>
        <p:grpSpPr bwMode="auto">
          <a:xfrm>
            <a:off x="6084888" y="4581525"/>
            <a:ext cx="1150937" cy="509588"/>
            <a:chOff x="3105" y="2886"/>
            <a:chExt cx="725" cy="321"/>
          </a:xfrm>
        </p:grpSpPr>
        <p:sp>
          <p:nvSpPr>
            <p:cNvPr id="49191" name="Text Box 45"/>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49192"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49185" name="Group 47"/>
          <p:cNvGrpSpPr>
            <a:grpSpLocks/>
          </p:cNvGrpSpPr>
          <p:nvPr/>
        </p:nvGrpSpPr>
        <p:grpSpPr bwMode="auto">
          <a:xfrm>
            <a:off x="2627313" y="2492375"/>
            <a:ext cx="4610100" cy="2376488"/>
            <a:chOff x="1655" y="1570"/>
            <a:chExt cx="2904" cy="1497"/>
          </a:xfrm>
        </p:grpSpPr>
        <p:sp>
          <p:nvSpPr>
            <p:cNvPr id="49186" name="Line 48"/>
            <p:cNvSpPr>
              <a:spLocks noChangeShapeType="1"/>
            </p:cNvSpPr>
            <p:nvPr/>
          </p:nvSpPr>
          <p:spPr bwMode="auto">
            <a:xfrm>
              <a:off x="1655" y="1570"/>
              <a:ext cx="0" cy="1497"/>
            </a:xfrm>
            <a:prstGeom prst="line">
              <a:avLst/>
            </a:prstGeom>
            <a:noFill/>
            <a:ln w="28575">
              <a:solidFill>
                <a:schemeClr val="hlink"/>
              </a:solidFill>
              <a:prstDash val="dash"/>
              <a:round/>
              <a:headEnd/>
              <a:tailEnd/>
            </a:ln>
          </p:spPr>
          <p:txBody>
            <a:bodyPr/>
            <a:lstStyle/>
            <a:p>
              <a:endParaRPr lang="zh-CN" altLang="en-US"/>
            </a:p>
          </p:txBody>
        </p:sp>
        <p:sp>
          <p:nvSpPr>
            <p:cNvPr id="49187" name="Line 49"/>
            <p:cNvSpPr>
              <a:spLocks noChangeShapeType="1"/>
            </p:cNvSpPr>
            <p:nvPr/>
          </p:nvSpPr>
          <p:spPr bwMode="auto">
            <a:xfrm>
              <a:off x="2381" y="1570"/>
              <a:ext cx="0" cy="1497"/>
            </a:xfrm>
            <a:prstGeom prst="line">
              <a:avLst/>
            </a:prstGeom>
            <a:noFill/>
            <a:ln w="28575">
              <a:solidFill>
                <a:schemeClr val="hlink"/>
              </a:solidFill>
              <a:prstDash val="dash"/>
              <a:round/>
              <a:headEnd/>
              <a:tailEnd/>
            </a:ln>
          </p:spPr>
          <p:txBody>
            <a:bodyPr/>
            <a:lstStyle/>
            <a:p>
              <a:endParaRPr lang="zh-CN" altLang="en-US"/>
            </a:p>
          </p:txBody>
        </p:sp>
        <p:sp>
          <p:nvSpPr>
            <p:cNvPr id="49188" name="Line 50"/>
            <p:cNvSpPr>
              <a:spLocks noChangeShapeType="1"/>
            </p:cNvSpPr>
            <p:nvPr/>
          </p:nvSpPr>
          <p:spPr bwMode="auto">
            <a:xfrm>
              <a:off x="3107" y="1570"/>
              <a:ext cx="0" cy="1497"/>
            </a:xfrm>
            <a:prstGeom prst="line">
              <a:avLst/>
            </a:prstGeom>
            <a:noFill/>
            <a:ln w="28575">
              <a:solidFill>
                <a:schemeClr val="hlink"/>
              </a:solidFill>
              <a:prstDash val="dash"/>
              <a:round/>
              <a:headEnd/>
              <a:tailEnd/>
            </a:ln>
          </p:spPr>
          <p:txBody>
            <a:bodyPr/>
            <a:lstStyle/>
            <a:p>
              <a:endParaRPr lang="zh-CN" altLang="en-US"/>
            </a:p>
          </p:txBody>
        </p:sp>
        <p:sp>
          <p:nvSpPr>
            <p:cNvPr id="49189" name="Line 51"/>
            <p:cNvSpPr>
              <a:spLocks noChangeShapeType="1"/>
            </p:cNvSpPr>
            <p:nvPr/>
          </p:nvSpPr>
          <p:spPr bwMode="auto">
            <a:xfrm>
              <a:off x="3833" y="1570"/>
              <a:ext cx="0" cy="1497"/>
            </a:xfrm>
            <a:prstGeom prst="line">
              <a:avLst/>
            </a:prstGeom>
            <a:noFill/>
            <a:ln w="28575">
              <a:solidFill>
                <a:schemeClr val="hlink"/>
              </a:solidFill>
              <a:prstDash val="dash"/>
              <a:round/>
              <a:headEnd/>
              <a:tailEnd/>
            </a:ln>
          </p:spPr>
          <p:txBody>
            <a:bodyPr/>
            <a:lstStyle/>
            <a:p>
              <a:endParaRPr lang="zh-CN" altLang="en-US"/>
            </a:p>
          </p:txBody>
        </p:sp>
        <p:sp>
          <p:nvSpPr>
            <p:cNvPr id="49190" name="Line 52"/>
            <p:cNvSpPr>
              <a:spLocks noChangeShapeType="1"/>
            </p:cNvSpPr>
            <p:nvPr/>
          </p:nvSpPr>
          <p:spPr bwMode="auto">
            <a:xfrm>
              <a:off x="4559" y="1570"/>
              <a:ext cx="0" cy="1497"/>
            </a:xfrm>
            <a:prstGeom prst="line">
              <a:avLst/>
            </a:prstGeom>
            <a:noFill/>
            <a:ln w="28575">
              <a:solidFill>
                <a:schemeClr val="hlink"/>
              </a:solidFill>
              <a:prstDash val="dash"/>
              <a:round/>
              <a:headEnd/>
              <a:tailE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nodeType="afterEffect">
                                  <p:stCondLst>
                                    <p:cond delay="0"/>
                                  </p:stCondLst>
                                  <p:childTnLst>
                                    <p:anim calcmode="discrete" valueType="str">
                                      <p:cBhvr>
                                        <p:cTn id="6" dur="5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algn="ctr" eaLnBrk="1" hangingPunct="1"/>
            <a:r>
              <a:rPr lang="zh-CN" altLang="en-US" smtClean="0"/>
              <a:t>时分复用 </a:t>
            </a:r>
          </a:p>
        </p:txBody>
      </p:sp>
      <p:sp>
        <p:nvSpPr>
          <p:cNvPr id="50180"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p:spPr>
        <p:txBody>
          <a:bodyPr wrap="none" anchor="ctr"/>
          <a:lstStyle/>
          <a:p>
            <a:endParaRPr lang="zh-CN" altLang="en-US"/>
          </a:p>
        </p:txBody>
      </p:sp>
      <p:sp>
        <p:nvSpPr>
          <p:cNvPr id="50181" name="Text Box 4"/>
          <p:cNvSpPr txBox="1">
            <a:spLocks noChangeArrowheads="1"/>
          </p:cNvSpPr>
          <p:nvPr/>
        </p:nvSpPr>
        <p:spPr bwMode="auto">
          <a:xfrm>
            <a:off x="784225" y="2012950"/>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频率</a:t>
            </a:r>
          </a:p>
        </p:txBody>
      </p:sp>
      <p:sp>
        <p:nvSpPr>
          <p:cNvPr id="50182" name="Text Box 5"/>
          <p:cNvSpPr txBox="1">
            <a:spLocks noChangeArrowheads="1"/>
          </p:cNvSpPr>
          <p:nvPr/>
        </p:nvSpPr>
        <p:spPr bwMode="auto">
          <a:xfrm>
            <a:off x="7593013" y="4937125"/>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时间</a:t>
            </a:r>
          </a:p>
        </p:txBody>
      </p:sp>
      <p:sp>
        <p:nvSpPr>
          <p:cNvPr id="50183" name="Rectangle 6"/>
          <p:cNvSpPr>
            <a:spLocks noChangeArrowheads="1"/>
          </p:cNvSpPr>
          <p:nvPr/>
        </p:nvSpPr>
        <p:spPr bwMode="auto">
          <a:xfrm>
            <a:off x="1763713"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50184" name="Rectangle 7"/>
          <p:cNvSpPr>
            <a:spLocks noChangeArrowheads="1"/>
          </p:cNvSpPr>
          <p:nvPr/>
        </p:nvSpPr>
        <p:spPr bwMode="auto">
          <a:xfrm>
            <a:off x="2339975"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50185" name="Rectangle 8"/>
          <p:cNvSpPr>
            <a:spLocks noChangeArrowheads="1"/>
          </p:cNvSpPr>
          <p:nvPr/>
        </p:nvSpPr>
        <p:spPr bwMode="auto">
          <a:xfrm>
            <a:off x="2916238"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50186" name="Rectangle 9"/>
          <p:cNvSpPr>
            <a:spLocks noChangeArrowheads="1"/>
          </p:cNvSpPr>
          <p:nvPr/>
        </p:nvSpPr>
        <p:spPr bwMode="auto">
          <a:xfrm>
            <a:off x="3492500"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50187" name="Rectangle 10"/>
          <p:cNvSpPr>
            <a:spLocks noChangeArrowheads="1"/>
          </p:cNvSpPr>
          <p:nvPr/>
        </p:nvSpPr>
        <p:spPr bwMode="auto">
          <a:xfrm>
            <a:off x="4068763"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50188" name="Rectangle 11"/>
          <p:cNvSpPr>
            <a:spLocks noChangeArrowheads="1"/>
          </p:cNvSpPr>
          <p:nvPr/>
        </p:nvSpPr>
        <p:spPr bwMode="auto">
          <a:xfrm>
            <a:off x="4645025"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50189" name="Rectangle 12"/>
          <p:cNvSpPr>
            <a:spLocks noChangeArrowheads="1"/>
          </p:cNvSpPr>
          <p:nvPr/>
        </p:nvSpPr>
        <p:spPr bwMode="auto">
          <a:xfrm>
            <a:off x="1476375"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0190" name="Rectangle 13"/>
          <p:cNvSpPr>
            <a:spLocks noChangeArrowheads="1"/>
          </p:cNvSpPr>
          <p:nvPr/>
        </p:nvSpPr>
        <p:spPr bwMode="auto">
          <a:xfrm>
            <a:off x="2628900"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0191" name="Rectangle 14"/>
          <p:cNvSpPr>
            <a:spLocks noChangeArrowheads="1"/>
          </p:cNvSpPr>
          <p:nvPr/>
        </p:nvSpPr>
        <p:spPr bwMode="auto">
          <a:xfrm>
            <a:off x="3781425"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0192" name="Rectangle 15"/>
          <p:cNvSpPr>
            <a:spLocks noChangeArrowheads="1"/>
          </p:cNvSpPr>
          <p:nvPr/>
        </p:nvSpPr>
        <p:spPr bwMode="auto">
          <a:xfrm>
            <a:off x="4933950"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0193" name="Rectangle 16"/>
          <p:cNvSpPr>
            <a:spLocks noChangeArrowheads="1"/>
          </p:cNvSpPr>
          <p:nvPr/>
        </p:nvSpPr>
        <p:spPr bwMode="auto">
          <a:xfrm>
            <a:off x="5221288"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grpSp>
        <p:nvGrpSpPr>
          <p:cNvPr id="2" name="Group 17"/>
          <p:cNvGrpSpPr>
            <a:grpSpLocks/>
          </p:cNvGrpSpPr>
          <p:nvPr/>
        </p:nvGrpSpPr>
        <p:grpSpPr bwMode="auto">
          <a:xfrm>
            <a:off x="2052638" y="2636838"/>
            <a:ext cx="3744912" cy="1871662"/>
            <a:chOff x="1293" y="1661"/>
            <a:chExt cx="2359" cy="1179"/>
          </a:xfrm>
        </p:grpSpPr>
        <p:sp>
          <p:nvSpPr>
            <p:cNvPr id="50225" name="Rectangle 18"/>
            <p:cNvSpPr>
              <a:spLocks noChangeArrowheads="1"/>
            </p:cNvSpPr>
            <p:nvPr/>
          </p:nvSpPr>
          <p:spPr bwMode="auto">
            <a:xfrm>
              <a:off x="1293" y="1661"/>
              <a:ext cx="181" cy="1179"/>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50226" name="Rectangle 19"/>
            <p:cNvSpPr>
              <a:spLocks noChangeArrowheads="1"/>
            </p:cNvSpPr>
            <p:nvPr/>
          </p:nvSpPr>
          <p:spPr bwMode="auto">
            <a:xfrm>
              <a:off x="2019" y="1661"/>
              <a:ext cx="181" cy="1179"/>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50227" name="Rectangle 20"/>
            <p:cNvSpPr>
              <a:spLocks noChangeArrowheads="1"/>
            </p:cNvSpPr>
            <p:nvPr/>
          </p:nvSpPr>
          <p:spPr bwMode="auto">
            <a:xfrm>
              <a:off x="2745" y="1661"/>
              <a:ext cx="181" cy="1179"/>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50228" name="Rectangle 21"/>
            <p:cNvSpPr>
              <a:spLocks noChangeArrowheads="1"/>
            </p:cNvSpPr>
            <p:nvPr/>
          </p:nvSpPr>
          <p:spPr bwMode="auto">
            <a:xfrm>
              <a:off x="3471" y="1661"/>
              <a:ext cx="181" cy="1179"/>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grpSp>
      <p:sp>
        <p:nvSpPr>
          <p:cNvPr id="50195" name="Rectangle 22"/>
          <p:cNvSpPr>
            <a:spLocks noChangeArrowheads="1"/>
          </p:cNvSpPr>
          <p:nvPr/>
        </p:nvSpPr>
        <p:spPr bwMode="auto">
          <a:xfrm>
            <a:off x="5797550" y="2636838"/>
            <a:ext cx="287338" cy="1871662"/>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50196" name="Text Box 24"/>
          <p:cNvSpPr txBox="1">
            <a:spLocks noChangeArrowheads="1"/>
          </p:cNvSpPr>
          <p:nvPr/>
        </p:nvSpPr>
        <p:spPr bwMode="auto">
          <a:xfrm>
            <a:off x="6286500" y="2133600"/>
            <a:ext cx="1849438" cy="641350"/>
          </a:xfrm>
          <a:prstGeom prst="rect">
            <a:avLst/>
          </a:prstGeom>
          <a:noFill/>
          <a:ln w="9525">
            <a:noFill/>
            <a:miter lim="800000"/>
            <a:headEnd/>
            <a:tailEnd/>
          </a:ln>
        </p:spPr>
        <p:txBody>
          <a:bodyPr wrap="none">
            <a:spAutoFit/>
          </a:bodyPr>
          <a:lstStyle/>
          <a:p>
            <a:pPr>
              <a:lnSpc>
                <a:spcPct val="90000"/>
              </a:lnSpc>
            </a:pPr>
            <a:r>
              <a:rPr kumimoji="1" lang="en-US" altLang="zh-CN" sz="2000">
                <a:solidFill>
                  <a:srgbClr val="333399"/>
                </a:solidFill>
                <a:latin typeface="Arial" pitchFamily="34" charset="0"/>
                <a:ea typeface="黑体" pitchFamily="49" charset="-122"/>
              </a:rPr>
              <a:t>C </a:t>
            </a:r>
            <a:r>
              <a:rPr kumimoji="1" lang="zh-CN" altLang="en-US" sz="2000">
                <a:solidFill>
                  <a:srgbClr val="333399"/>
                </a:solidFill>
                <a:latin typeface="Arial" pitchFamily="34" charset="0"/>
                <a:ea typeface="黑体" pitchFamily="49" charset="-122"/>
              </a:rPr>
              <a:t>在</a:t>
            </a:r>
            <a:r>
              <a:rPr kumimoji="1" lang="zh-CN" altLang="en-US" sz="1400">
                <a:solidFill>
                  <a:srgbClr val="333399"/>
                </a:solidFill>
                <a:latin typeface="Arial" pitchFamily="34" charset="0"/>
                <a:ea typeface="黑体" pitchFamily="49" charset="-122"/>
              </a:rPr>
              <a:t> </a:t>
            </a:r>
            <a:r>
              <a:rPr kumimoji="1" lang="en-US" altLang="zh-CN" sz="2000">
                <a:solidFill>
                  <a:srgbClr val="333399"/>
                </a:solidFill>
                <a:latin typeface="Arial" pitchFamily="34" charset="0"/>
                <a:ea typeface="黑体" pitchFamily="49" charset="-122"/>
              </a:rPr>
              <a:t>TDM</a:t>
            </a:r>
            <a:r>
              <a:rPr kumimoji="1" lang="en-US" altLang="zh-CN" sz="14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帧中</a:t>
            </a:r>
          </a:p>
          <a:p>
            <a:pPr>
              <a:lnSpc>
                <a:spcPct val="90000"/>
              </a:lnSpc>
            </a:pPr>
            <a:r>
              <a:rPr kumimoji="1" lang="zh-CN" altLang="en-US" sz="2000">
                <a:solidFill>
                  <a:srgbClr val="333399"/>
                </a:solidFill>
                <a:latin typeface="Arial" pitchFamily="34" charset="0"/>
                <a:ea typeface="黑体" pitchFamily="49" charset="-122"/>
              </a:rPr>
              <a:t>的位置不变</a:t>
            </a:r>
          </a:p>
        </p:txBody>
      </p:sp>
      <p:sp>
        <p:nvSpPr>
          <p:cNvPr id="50197" name="Line 25"/>
          <p:cNvSpPr>
            <a:spLocks noChangeShapeType="1"/>
          </p:cNvSpPr>
          <p:nvPr/>
        </p:nvSpPr>
        <p:spPr bwMode="auto">
          <a:xfrm>
            <a:off x="2181225" y="2276475"/>
            <a:ext cx="4105275" cy="0"/>
          </a:xfrm>
          <a:prstGeom prst="line">
            <a:avLst/>
          </a:prstGeom>
          <a:noFill/>
          <a:ln w="28575">
            <a:solidFill>
              <a:srgbClr val="333399"/>
            </a:solidFill>
            <a:round/>
            <a:headEnd/>
            <a:tailEnd/>
          </a:ln>
        </p:spPr>
        <p:txBody>
          <a:bodyPr/>
          <a:lstStyle/>
          <a:p>
            <a:endParaRPr lang="zh-CN" altLang="en-US"/>
          </a:p>
        </p:txBody>
      </p:sp>
      <p:sp>
        <p:nvSpPr>
          <p:cNvPr id="50198" name="Line 26"/>
          <p:cNvSpPr>
            <a:spLocks noChangeShapeType="1"/>
          </p:cNvSpPr>
          <p:nvPr/>
        </p:nvSpPr>
        <p:spPr bwMode="auto">
          <a:xfrm>
            <a:off x="2181225"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50199" name="Line 27"/>
          <p:cNvSpPr>
            <a:spLocks noChangeShapeType="1"/>
          </p:cNvSpPr>
          <p:nvPr/>
        </p:nvSpPr>
        <p:spPr bwMode="auto">
          <a:xfrm>
            <a:off x="3328988"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50200" name="Line 28"/>
          <p:cNvSpPr>
            <a:spLocks noChangeShapeType="1"/>
          </p:cNvSpPr>
          <p:nvPr/>
        </p:nvSpPr>
        <p:spPr bwMode="auto">
          <a:xfrm>
            <a:off x="4478338"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50201" name="Line 29"/>
          <p:cNvSpPr>
            <a:spLocks noChangeShapeType="1"/>
          </p:cNvSpPr>
          <p:nvPr/>
        </p:nvSpPr>
        <p:spPr bwMode="auto">
          <a:xfrm>
            <a:off x="5627688" y="2276475"/>
            <a:ext cx="0" cy="288925"/>
          </a:xfrm>
          <a:prstGeom prst="line">
            <a:avLst/>
          </a:prstGeom>
          <a:noFill/>
          <a:ln w="28575">
            <a:solidFill>
              <a:srgbClr val="333399"/>
            </a:solidFill>
            <a:round/>
            <a:headEnd/>
            <a:tailEnd type="triangle" w="med" len="med"/>
          </a:ln>
        </p:spPr>
        <p:txBody>
          <a:bodyPr/>
          <a:lstStyle/>
          <a:p>
            <a:endParaRPr lang="zh-CN" altLang="en-US"/>
          </a:p>
        </p:txBody>
      </p:sp>
      <p:grpSp>
        <p:nvGrpSpPr>
          <p:cNvPr id="50202" name="Group 30"/>
          <p:cNvGrpSpPr>
            <a:grpSpLocks/>
          </p:cNvGrpSpPr>
          <p:nvPr/>
        </p:nvGrpSpPr>
        <p:grpSpPr bwMode="auto">
          <a:xfrm>
            <a:off x="1476375" y="4581525"/>
            <a:ext cx="1150938" cy="509588"/>
            <a:chOff x="930" y="2886"/>
            <a:chExt cx="725" cy="321"/>
          </a:xfrm>
        </p:grpSpPr>
        <p:sp>
          <p:nvSpPr>
            <p:cNvPr id="50223" name="Text Box 31"/>
            <p:cNvSpPr txBox="1">
              <a:spLocks noChangeArrowheads="1"/>
            </p:cNvSpPr>
            <p:nvPr/>
          </p:nvSpPr>
          <p:spPr bwMode="auto">
            <a:xfrm>
              <a:off x="975"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0224"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0203" name="Group 33"/>
          <p:cNvGrpSpPr>
            <a:grpSpLocks/>
          </p:cNvGrpSpPr>
          <p:nvPr/>
        </p:nvGrpSpPr>
        <p:grpSpPr bwMode="auto">
          <a:xfrm>
            <a:off x="2627313" y="4581525"/>
            <a:ext cx="1150937" cy="509588"/>
            <a:chOff x="1655" y="2886"/>
            <a:chExt cx="725" cy="321"/>
          </a:xfrm>
        </p:grpSpPr>
        <p:sp>
          <p:nvSpPr>
            <p:cNvPr id="50221" name="Text Box 34"/>
            <p:cNvSpPr txBox="1">
              <a:spLocks noChangeArrowheads="1"/>
            </p:cNvSpPr>
            <p:nvPr/>
          </p:nvSpPr>
          <p:spPr bwMode="auto">
            <a:xfrm>
              <a:off x="1700"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0222"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0204" name="Group 36"/>
          <p:cNvGrpSpPr>
            <a:grpSpLocks/>
          </p:cNvGrpSpPr>
          <p:nvPr/>
        </p:nvGrpSpPr>
        <p:grpSpPr bwMode="auto">
          <a:xfrm>
            <a:off x="3778250" y="4581525"/>
            <a:ext cx="1150938" cy="509588"/>
            <a:chOff x="2380" y="2886"/>
            <a:chExt cx="725" cy="321"/>
          </a:xfrm>
        </p:grpSpPr>
        <p:sp>
          <p:nvSpPr>
            <p:cNvPr id="50219" name="Text Box 37"/>
            <p:cNvSpPr txBox="1">
              <a:spLocks noChangeArrowheads="1"/>
            </p:cNvSpPr>
            <p:nvPr/>
          </p:nvSpPr>
          <p:spPr bwMode="auto">
            <a:xfrm>
              <a:off x="2426"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0220"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0205" name="Group 39"/>
          <p:cNvGrpSpPr>
            <a:grpSpLocks/>
          </p:cNvGrpSpPr>
          <p:nvPr/>
        </p:nvGrpSpPr>
        <p:grpSpPr bwMode="auto">
          <a:xfrm>
            <a:off x="4929188" y="4581525"/>
            <a:ext cx="1150937" cy="509588"/>
            <a:chOff x="3105" y="2886"/>
            <a:chExt cx="725" cy="321"/>
          </a:xfrm>
        </p:grpSpPr>
        <p:sp>
          <p:nvSpPr>
            <p:cNvPr id="50217" name="Text Box 40"/>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0218"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sp>
        <p:nvSpPr>
          <p:cNvPr id="50206" name="Rectangle 42"/>
          <p:cNvSpPr>
            <a:spLocks noChangeArrowheads="1"/>
          </p:cNvSpPr>
          <p:nvPr/>
        </p:nvSpPr>
        <p:spPr bwMode="auto">
          <a:xfrm>
            <a:off x="6443663" y="3322638"/>
            <a:ext cx="434975" cy="393700"/>
          </a:xfrm>
          <a:prstGeom prst="rect">
            <a:avLst/>
          </a:prstGeom>
          <a:noFill/>
          <a:ln w="12700">
            <a:noFill/>
            <a:miter lim="800000"/>
            <a:headEnd/>
            <a:tailEnd/>
          </a:ln>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50207"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p:spPr>
        <p:txBody>
          <a:bodyPr wrap="none" anchor="ctr"/>
          <a:lstStyle/>
          <a:p>
            <a:endParaRPr lang="zh-CN" altLang="en-US"/>
          </a:p>
        </p:txBody>
      </p:sp>
      <p:grpSp>
        <p:nvGrpSpPr>
          <p:cNvPr id="50208" name="Group 44"/>
          <p:cNvGrpSpPr>
            <a:grpSpLocks/>
          </p:cNvGrpSpPr>
          <p:nvPr/>
        </p:nvGrpSpPr>
        <p:grpSpPr bwMode="auto">
          <a:xfrm>
            <a:off x="6084888" y="4581525"/>
            <a:ext cx="1150937" cy="509588"/>
            <a:chOff x="3105" y="2886"/>
            <a:chExt cx="725" cy="321"/>
          </a:xfrm>
        </p:grpSpPr>
        <p:sp>
          <p:nvSpPr>
            <p:cNvPr id="50215" name="Text Box 45"/>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0216"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0209" name="Group 47"/>
          <p:cNvGrpSpPr>
            <a:grpSpLocks/>
          </p:cNvGrpSpPr>
          <p:nvPr/>
        </p:nvGrpSpPr>
        <p:grpSpPr bwMode="auto">
          <a:xfrm>
            <a:off x="2627313" y="2492375"/>
            <a:ext cx="4610100" cy="2376488"/>
            <a:chOff x="1655" y="1570"/>
            <a:chExt cx="2904" cy="1497"/>
          </a:xfrm>
        </p:grpSpPr>
        <p:sp>
          <p:nvSpPr>
            <p:cNvPr id="50210" name="Line 48"/>
            <p:cNvSpPr>
              <a:spLocks noChangeShapeType="1"/>
            </p:cNvSpPr>
            <p:nvPr/>
          </p:nvSpPr>
          <p:spPr bwMode="auto">
            <a:xfrm>
              <a:off x="1655" y="1570"/>
              <a:ext cx="0" cy="1497"/>
            </a:xfrm>
            <a:prstGeom prst="line">
              <a:avLst/>
            </a:prstGeom>
            <a:noFill/>
            <a:ln w="28575">
              <a:solidFill>
                <a:schemeClr val="hlink"/>
              </a:solidFill>
              <a:prstDash val="dash"/>
              <a:round/>
              <a:headEnd/>
              <a:tailEnd/>
            </a:ln>
          </p:spPr>
          <p:txBody>
            <a:bodyPr/>
            <a:lstStyle/>
            <a:p>
              <a:endParaRPr lang="zh-CN" altLang="en-US"/>
            </a:p>
          </p:txBody>
        </p:sp>
        <p:sp>
          <p:nvSpPr>
            <p:cNvPr id="50211" name="Line 49"/>
            <p:cNvSpPr>
              <a:spLocks noChangeShapeType="1"/>
            </p:cNvSpPr>
            <p:nvPr/>
          </p:nvSpPr>
          <p:spPr bwMode="auto">
            <a:xfrm>
              <a:off x="2381" y="1570"/>
              <a:ext cx="0" cy="1497"/>
            </a:xfrm>
            <a:prstGeom prst="line">
              <a:avLst/>
            </a:prstGeom>
            <a:noFill/>
            <a:ln w="28575">
              <a:solidFill>
                <a:schemeClr val="hlink"/>
              </a:solidFill>
              <a:prstDash val="dash"/>
              <a:round/>
              <a:headEnd/>
              <a:tailEnd/>
            </a:ln>
          </p:spPr>
          <p:txBody>
            <a:bodyPr/>
            <a:lstStyle/>
            <a:p>
              <a:endParaRPr lang="zh-CN" altLang="en-US"/>
            </a:p>
          </p:txBody>
        </p:sp>
        <p:sp>
          <p:nvSpPr>
            <p:cNvPr id="50212" name="Line 50"/>
            <p:cNvSpPr>
              <a:spLocks noChangeShapeType="1"/>
            </p:cNvSpPr>
            <p:nvPr/>
          </p:nvSpPr>
          <p:spPr bwMode="auto">
            <a:xfrm>
              <a:off x="3107" y="1570"/>
              <a:ext cx="0" cy="1497"/>
            </a:xfrm>
            <a:prstGeom prst="line">
              <a:avLst/>
            </a:prstGeom>
            <a:noFill/>
            <a:ln w="28575">
              <a:solidFill>
                <a:schemeClr val="hlink"/>
              </a:solidFill>
              <a:prstDash val="dash"/>
              <a:round/>
              <a:headEnd/>
              <a:tailEnd/>
            </a:ln>
          </p:spPr>
          <p:txBody>
            <a:bodyPr/>
            <a:lstStyle/>
            <a:p>
              <a:endParaRPr lang="zh-CN" altLang="en-US"/>
            </a:p>
          </p:txBody>
        </p:sp>
        <p:sp>
          <p:nvSpPr>
            <p:cNvPr id="50213" name="Line 51"/>
            <p:cNvSpPr>
              <a:spLocks noChangeShapeType="1"/>
            </p:cNvSpPr>
            <p:nvPr/>
          </p:nvSpPr>
          <p:spPr bwMode="auto">
            <a:xfrm>
              <a:off x="3833" y="1570"/>
              <a:ext cx="0" cy="1497"/>
            </a:xfrm>
            <a:prstGeom prst="line">
              <a:avLst/>
            </a:prstGeom>
            <a:noFill/>
            <a:ln w="28575">
              <a:solidFill>
                <a:schemeClr val="hlink"/>
              </a:solidFill>
              <a:prstDash val="dash"/>
              <a:round/>
              <a:headEnd/>
              <a:tailEnd/>
            </a:ln>
          </p:spPr>
          <p:txBody>
            <a:bodyPr/>
            <a:lstStyle/>
            <a:p>
              <a:endParaRPr lang="zh-CN" altLang="en-US"/>
            </a:p>
          </p:txBody>
        </p:sp>
        <p:sp>
          <p:nvSpPr>
            <p:cNvPr id="50214" name="Line 52"/>
            <p:cNvSpPr>
              <a:spLocks noChangeShapeType="1"/>
            </p:cNvSpPr>
            <p:nvPr/>
          </p:nvSpPr>
          <p:spPr bwMode="auto">
            <a:xfrm>
              <a:off x="4559" y="1570"/>
              <a:ext cx="0" cy="1497"/>
            </a:xfrm>
            <a:prstGeom prst="line">
              <a:avLst/>
            </a:prstGeom>
            <a:noFill/>
            <a:ln w="28575">
              <a:solidFill>
                <a:schemeClr val="hlink"/>
              </a:solidFill>
              <a:prstDash val="dash"/>
              <a:round/>
              <a:headEnd/>
              <a:tailE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nodeType="afterEffect">
                                  <p:stCondLst>
                                    <p:cond delay="0"/>
                                  </p:stCondLst>
                                  <p:childTnLst>
                                    <p:anim calcmode="discrete" valueType="str">
                                      <p:cBhvr>
                                        <p:cTn id="6" dur="5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algn="ctr" eaLnBrk="1" hangingPunct="1"/>
            <a:r>
              <a:rPr lang="zh-CN" altLang="en-US" smtClean="0"/>
              <a:t>时分复用 </a:t>
            </a:r>
          </a:p>
        </p:txBody>
      </p:sp>
      <p:sp>
        <p:nvSpPr>
          <p:cNvPr id="51204"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p:spPr>
        <p:txBody>
          <a:bodyPr wrap="none" anchor="ctr"/>
          <a:lstStyle/>
          <a:p>
            <a:endParaRPr lang="zh-CN" altLang="en-US"/>
          </a:p>
        </p:txBody>
      </p:sp>
      <p:sp>
        <p:nvSpPr>
          <p:cNvPr id="51205" name="Text Box 4"/>
          <p:cNvSpPr txBox="1">
            <a:spLocks noChangeArrowheads="1"/>
          </p:cNvSpPr>
          <p:nvPr/>
        </p:nvSpPr>
        <p:spPr bwMode="auto">
          <a:xfrm>
            <a:off x="784225" y="2012950"/>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频率</a:t>
            </a:r>
          </a:p>
        </p:txBody>
      </p:sp>
      <p:sp>
        <p:nvSpPr>
          <p:cNvPr id="51206" name="Text Box 5"/>
          <p:cNvSpPr txBox="1">
            <a:spLocks noChangeArrowheads="1"/>
          </p:cNvSpPr>
          <p:nvPr/>
        </p:nvSpPr>
        <p:spPr bwMode="auto">
          <a:xfrm>
            <a:off x="7593013" y="4937125"/>
            <a:ext cx="692150" cy="366713"/>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Times New Roman" pitchFamily="18" charset="0"/>
                <a:ea typeface="黑体" pitchFamily="49" charset="-122"/>
              </a:rPr>
              <a:t>时间</a:t>
            </a:r>
          </a:p>
        </p:txBody>
      </p:sp>
      <p:sp>
        <p:nvSpPr>
          <p:cNvPr id="51207" name="Rectangle 6"/>
          <p:cNvSpPr>
            <a:spLocks noChangeArrowheads="1"/>
          </p:cNvSpPr>
          <p:nvPr/>
        </p:nvSpPr>
        <p:spPr bwMode="auto">
          <a:xfrm>
            <a:off x="1763713"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51208" name="Rectangle 7"/>
          <p:cNvSpPr>
            <a:spLocks noChangeArrowheads="1"/>
          </p:cNvSpPr>
          <p:nvPr/>
        </p:nvSpPr>
        <p:spPr bwMode="auto">
          <a:xfrm>
            <a:off x="2052638"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51209" name="Rectangle 8"/>
          <p:cNvSpPr>
            <a:spLocks noChangeArrowheads="1"/>
          </p:cNvSpPr>
          <p:nvPr/>
        </p:nvSpPr>
        <p:spPr bwMode="auto">
          <a:xfrm>
            <a:off x="2916238"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51210" name="Rectangle 9"/>
          <p:cNvSpPr>
            <a:spLocks noChangeArrowheads="1"/>
          </p:cNvSpPr>
          <p:nvPr/>
        </p:nvSpPr>
        <p:spPr bwMode="auto">
          <a:xfrm>
            <a:off x="3205163"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51211" name="Rectangle 10"/>
          <p:cNvSpPr>
            <a:spLocks noChangeArrowheads="1"/>
          </p:cNvSpPr>
          <p:nvPr/>
        </p:nvSpPr>
        <p:spPr bwMode="auto">
          <a:xfrm>
            <a:off x="4068763"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51212" name="Rectangle 11"/>
          <p:cNvSpPr>
            <a:spLocks noChangeArrowheads="1"/>
          </p:cNvSpPr>
          <p:nvPr/>
        </p:nvSpPr>
        <p:spPr bwMode="auto">
          <a:xfrm>
            <a:off x="4357688"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sp>
        <p:nvSpPr>
          <p:cNvPr id="51213" name="Rectangle 12"/>
          <p:cNvSpPr>
            <a:spLocks noChangeArrowheads="1"/>
          </p:cNvSpPr>
          <p:nvPr/>
        </p:nvSpPr>
        <p:spPr bwMode="auto">
          <a:xfrm>
            <a:off x="1476375"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1214" name="Rectangle 13"/>
          <p:cNvSpPr>
            <a:spLocks noChangeArrowheads="1"/>
          </p:cNvSpPr>
          <p:nvPr/>
        </p:nvSpPr>
        <p:spPr bwMode="auto">
          <a:xfrm>
            <a:off x="2628900"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1215" name="Rectangle 14"/>
          <p:cNvSpPr>
            <a:spLocks noChangeArrowheads="1"/>
          </p:cNvSpPr>
          <p:nvPr/>
        </p:nvSpPr>
        <p:spPr bwMode="auto">
          <a:xfrm>
            <a:off x="3781425"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1216" name="Rectangle 15"/>
          <p:cNvSpPr>
            <a:spLocks noChangeArrowheads="1"/>
          </p:cNvSpPr>
          <p:nvPr/>
        </p:nvSpPr>
        <p:spPr bwMode="auto">
          <a:xfrm>
            <a:off x="4933950" y="2636838"/>
            <a:ext cx="287338" cy="1871662"/>
          </a:xfrm>
          <a:prstGeom prst="rect">
            <a:avLst/>
          </a:prstGeom>
          <a:solidFill>
            <a:srgbClr val="CCECFF"/>
          </a:solidFill>
          <a:ln w="9525">
            <a:noFill/>
            <a:miter lim="800000"/>
            <a:headEnd/>
            <a:tailEnd/>
          </a:ln>
        </p:spPr>
        <p:txBody>
          <a:bodyPr wrap="none" anchor="ctr"/>
          <a:lstStyle/>
          <a:p>
            <a:r>
              <a:rPr lang="en-US" altLang="zh-CN">
                <a:solidFill>
                  <a:srgbClr val="333399"/>
                </a:solidFill>
                <a:latin typeface="Arial" pitchFamily="34" charset="0"/>
              </a:rPr>
              <a:t>A</a:t>
            </a:r>
          </a:p>
        </p:txBody>
      </p:sp>
      <p:sp>
        <p:nvSpPr>
          <p:cNvPr id="51217" name="Rectangle 16"/>
          <p:cNvSpPr>
            <a:spLocks noChangeArrowheads="1"/>
          </p:cNvSpPr>
          <p:nvPr/>
        </p:nvSpPr>
        <p:spPr bwMode="auto">
          <a:xfrm>
            <a:off x="5221288" y="2636838"/>
            <a:ext cx="287337" cy="1871662"/>
          </a:xfrm>
          <a:prstGeom prst="rect">
            <a:avLst/>
          </a:prstGeom>
          <a:solidFill>
            <a:srgbClr val="FFFF99"/>
          </a:solidFill>
          <a:ln w="9525">
            <a:noFill/>
            <a:miter lim="800000"/>
            <a:headEnd/>
            <a:tailEnd/>
          </a:ln>
        </p:spPr>
        <p:txBody>
          <a:bodyPr wrap="none" anchor="ctr"/>
          <a:lstStyle/>
          <a:p>
            <a:r>
              <a:rPr lang="en-US" altLang="zh-CN">
                <a:solidFill>
                  <a:srgbClr val="333399"/>
                </a:solidFill>
                <a:latin typeface="Arial" pitchFamily="34" charset="0"/>
              </a:rPr>
              <a:t>B</a:t>
            </a:r>
          </a:p>
        </p:txBody>
      </p:sp>
      <p:sp>
        <p:nvSpPr>
          <p:cNvPr id="51218" name="Rectangle 17"/>
          <p:cNvSpPr>
            <a:spLocks noChangeArrowheads="1"/>
          </p:cNvSpPr>
          <p:nvPr/>
        </p:nvSpPr>
        <p:spPr bwMode="auto">
          <a:xfrm>
            <a:off x="5510213" y="2636838"/>
            <a:ext cx="287337" cy="1871662"/>
          </a:xfrm>
          <a:prstGeom prst="rect">
            <a:avLst/>
          </a:prstGeom>
          <a:solidFill>
            <a:srgbClr val="FFCCFF"/>
          </a:solidFill>
          <a:ln w="9525">
            <a:noFill/>
            <a:miter lim="800000"/>
            <a:headEnd/>
            <a:tailEnd/>
          </a:ln>
        </p:spPr>
        <p:txBody>
          <a:bodyPr wrap="none" anchor="ctr"/>
          <a:lstStyle/>
          <a:p>
            <a:r>
              <a:rPr lang="en-US" altLang="zh-CN">
                <a:solidFill>
                  <a:srgbClr val="333399"/>
                </a:solidFill>
                <a:latin typeface="Arial" pitchFamily="34" charset="0"/>
              </a:rPr>
              <a:t>C</a:t>
            </a:r>
          </a:p>
        </p:txBody>
      </p:sp>
      <p:grpSp>
        <p:nvGrpSpPr>
          <p:cNvPr id="2" name="Group 18"/>
          <p:cNvGrpSpPr>
            <a:grpSpLocks/>
          </p:cNvGrpSpPr>
          <p:nvPr/>
        </p:nvGrpSpPr>
        <p:grpSpPr bwMode="auto">
          <a:xfrm>
            <a:off x="2339975" y="2636838"/>
            <a:ext cx="3744913" cy="1871662"/>
            <a:chOff x="1474" y="1661"/>
            <a:chExt cx="2359" cy="1179"/>
          </a:xfrm>
        </p:grpSpPr>
        <p:sp>
          <p:nvSpPr>
            <p:cNvPr id="51249" name="Rectangle 19"/>
            <p:cNvSpPr>
              <a:spLocks noChangeArrowheads="1"/>
            </p:cNvSpPr>
            <p:nvPr/>
          </p:nvSpPr>
          <p:spPr bwMode="auto">
            <a:xfrm>
              <a:off x="1474" y="1661"/>
              <a:ext cx="181" cy="1179"/>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51250" name="Rectangle 20"/>
            <p:cNvSpPr>
              <a:spLocks noChangeArrowheads="1"/>
            </p:cNvSpPr>
            <p:nvPr/>
          </p:nvSpPr>
          <p:spPr bwMode="auto">
            <a:xfrm>
              <a:off x="2200" y="1661"/>
              <a:ext cx="181" cy="1179"/>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51251" name="Rectangle 21"/>
            <p:cNvSpPr>
              <a:spLocks noChangeArrowheads="1"/>
            </p:cNvSpPr>
            <p:nvPr/>
          </p:nvSpPr>
          <p:spPr bwMode="auto">
            <a:xfrm>
              <a:off x="2926" y="1661"/>
              <a:ext cx="181" cy="1179"/>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sp>
          <p:nvSpPr>
            <p:cNvPr id="51252" name="Rectangle 22"/>
            <p:cNvSpPr>
              <a:spLocks noChangeArrowheads="1"/>
            </p:cNvSpPr>
            <p:nvPr/>
          </p:nvSpPr>
          <p:spPr bwMode="auto">
            <a:xfrm>
              <a:off x="3652" y="1661"/>
              <a:ext cx="181" cy="1179"/>
            </a:xfrm>
            <a:prstGeom prst="rect">
              <a:avLst/>
            </a:prstGeom>
            <a:solidFill>
              <a:srgbClr val="66FF99"/>
            </a:solidFill>
            <a:ln w="9525">
              <a:noFill/>
              <a:miter lim="800000"/>
              <a:headEnd/>
              <a:tailEnd/>
            </a:ln>
          </p:spPr>
          <p:txBody>
            <a:bodyPr wrap="none" anchor="ctr"/>
            <a:lstStyle/>
            <a:p>
              <a:r>
                <a:rPr lang="en-US" altLang="zh-CN">
                  <a:solidFill>
                    <a:srgbClr val="333399"/>
                  </a:solidFill>
                  <a:latin typeface="Arial" pitchFamily="34" charset="0"/>
                </a:rPr>
                <a:t>D</a:t>
              </a:r>
            </a:p>
          </p:txBody>
        </p:sp>
      </p:grpSp>
      <p:sp>
        <p:nvSpPr>
          <p:cNvPr id="51220" name="Text Box 24"/>
          <p:cNvSpPr txBox="1">
            <a:spLocks noChangeArrowheads="1"/>
          </p:cNvSpPr>
          <p:nvPr/>
        </p:nvSpPr>
        <p:spPr bwMode="auto">
          <a:xfrm>
            <a:off x="6624638" y="2133600"/>
            <a:ext cx="1890712" cy="641350"/>
          </a:xfrm>
          <a:prstGeom prst="rect">
            <a:avLst/>
          </a:prstGeom>
          <a:noFill/>
          <a:ln w="9525">
            <a:noFill/>
            <a:miter lim="800000"/>
            <a:headEnd/>
            <a:tailEnd/>
          </a:ln>
        </p:spPr>
        <p:txBody>
          <a:bodyPr wrap="none">
            <a:spAutoFit/>
          </a:bodyPr>
          <a:lstStyle/>
          <a:p>
            <a:pPr>
              <a:lnSpc>
                <a:spcPct val="90000"/>
              </a:lnSpc>
            </a:pPr>
            <a:r>
              <a:rPr kumimoji="1" lang="en-US" altLang="zh-CN" sz="2000">
                <a:solidFill>
                  <a:srgbClr val="333399"/>
                </a:solidFill>
                <a:latin typeface="Arial" pitchFamily="34" charset="0"/>
                <a:ea typeface="黑体" pitchFamily="49" charset="-122"/>
              </a:rPr>
              <a:t>D </a:t>
            </a:r>
            <a:r>
              <a:rPr kumimoji="1" lang="zh-CN" altLang="en-US" sz="2000">
                <a:solidFill>
                  <a:srgbClr val="333399"/>
                </a:solidFill>
                <a:latin typeface="Arial" pitchFamily="34" charset="0"/>
                <a:ea typeface="黑体" pitchFamily="49" charset="-122"/>
              </a:rPr>
              <a:t>在 </a:t>
            </a: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帧中</a:t>
            </a:r>
          </a:p>
          <a:p>
            <a:pPr>
              <a:lnSpc>
                <a:spcPct val="90000"/>
              </a:lnSpc>
            </a:pPr>
            <a:r>
              <a:rPr kumimoji="1" lang="zh-CN" altLang="en-US" sz="2000">
                <a:solidFill>
                  <a:srgbClr val="333399"/>
                </a:solidFill>
                <a:latin typeface="Arial" pitchFamily="34" charset="0"/>
                <a:ea typeface="黑体" pitchFamily="49" charset="-122"/>
              </a:rPr>
              <a:t>的位置不变</a:t>
            </a:r>
          </a:p>
        </p:txBody>
      </p:sp>
      <p:sp>
        <p:nvSpPr>
          <p:cNvPr id="51221" name="Line 25"/>
          <p:cNvSpPr>
            <a:spLocks noChangeShapeType="1"/>
          </p:cNvSpPr>
          <p:nvPr/>
        </p:nvSpPr>
        <p:spPr bwMode="auto">
          <a:xfrm>
            <a:off x="2484438" y="2276475"/>
            <a:ext cx="4138612" cy="0"/>
          </a:xfrm>
          <a:prstGeom prst="line">
            <a:avLst/>
          </a:prstGeom>
          <a:noFill/>
          <a:ln w="28575">
            <a:solidFill>
              <a:srgbClr val="333399"/>
            </a:solidFill>
            <a:round/>
            <a:headEnd/>
            <a:tailEnd/>
          </a:ln>
        </p:spPr>
        <p:txBody>
          <a:bodyPr/>
          <a:lstStyle/>
          <a:p>
            <a:endParaRPr lang="zh-CN" altLang="en-US"/>
          </a:p>
        </p:txBody>
      </p:sp>
      <p:sp>
        <p:nvSpPr>
          <p:cNvPr id="51222" name="Line 26"/>
          <p:cNvSpPr>
            <a:spLocks noChangeShapeType="1"/>
          </p:cNvSpPr>
          <p:nvPr/>
        </p:nvSpPr>
        <p:spPr bwMode="auto">
          <a:xfrm>
            <a:off x="2484438"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51223" name="Line 27"/>
          <p:cNvSpPr>
            <a:spLocks noChangeShapeType="1"/>
          </p:cNvSpPr>
          <p:nvPr/>
        </p:nvSpPr>
        <p:spPr bwMode="auto">
          <a:xfrm>
            <a:off x="3641725"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51224" name="Line 28"/>
          <p:cNvSpPr>
            <a:spLocks noChangeShapeType="1"/>
          </p:cNvSpPr>
          <p:nvPr/>
        </p:nvSpPr>
        <p:spPr bwMode="auto">
          <a:xfrm>
            <a:off x="4800600" y="2276475"/>
            <a:ext cx="0" cy="288925"/>
          </a:xfrm>
          <a:prstGeom prst="line">
            <a:avLst/>
          </a:prstGeom>
          <a:noFill/>
          <a:ln w="28575">
            <a:solidFill>
              <a:srgbClr val="333399"/>
            </a:solidFill>
            <a:round/>
            <a:headEnd/>
            <a:tailEnd type="triangle" w="med" len="med"/>
          </a:ln>
        </p:spPr>
        <p:txBody>
          <a:bodyPr/>
          <a:lstStyle/>
          <a:p>
            <a:endParaRPr lang="zh-CN" altLang="en-US"/>
          </a:p>
        </p:txBody>
      </p:sp>
      <p:sp>
        <p:nvSpPr>
          <p:cNvPr id="51225" name="Line 29"/>
          <p:cNvSpPr>
            <a:spLocks noChangeShapeType="1"/>
          </p:cNvSpPr>
          <p:nvPr/>
        </p:nvSpPr>
        <p:spPr bwMode="auto">
          <a:xfrm>
            <a:off x="5957888" y="2276475"/>
            <a:ext cx="0" cy="288925"/>
          </a:xfrm>
          <a:prstGeom prst="line">
            <a:avLst/>
          </a:prstGeom>
          <a:noFill/>
          <a:ln w="28575">
            <a:solidFill>
              <a:srgbClr val="333399"/>
            </a:solidFill>
            <a:round/>
            <a:headEnd/>
            <a:tailEnd type="triangle" w="med" len="med"/>
          </a:ln>
        </p:spPr>
        <p:txBody>
          <a:bodyPr/>
          <a:lstStyle/>
          <a:p>
            <a:endParaRPr lang="zh-CN" altLang="en-US"/>
          </a:p>
        </p:txBody>
      </p:sp>
      <p:grpSp>
        <p:nvGrpSpPr>
          <p:cNvPr id="51226" name="Group 30"/>
          <p:cNvGrpSpPr>
            <a:grpSpLocks/>
          </p:cNvGrpSpPr>
          <p:nvPr/>
        </p:nvGrpSpPr>
        <p:grpSpPr bwMode="auto">
          <a:xfrm>
            <a:off x="1476375" y="4581525"/>
            <a:ext cx="1150938" cy="509588"/>
            <a:chOff x="930" y="2886"/>
            <a:chExt cx="725" cy="321"/>
          </a:xfrm>
        </p:grpSpPr>
        <p:sp>
          <p:nvSpPr>
            <p:cNvPr id="51247" name="Text Box 31"/>
            <p:cNvSpPr txBox="1">
              <a:spLocks noChangeArrowheads="1"/>
            </p:cNvSpPr>
            <p:nvPr/>
          </p:nvSpPr>
          <p:spPr bwMode="auto">
            <a:xfrm>
              <a:off x="975"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1248"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1227" name="Group 33"/>
          <p:cNvGrpSpPr>
            <a:grpSpLocks/>
          </p:cNvGrpSpPr>
          <p:nvPr/>
        </p:nvGrpSpPr>
        <p:grpSpPr bwMode="auto">
          <a:xfrm>
            <a:off x="2627313" y="4581525"/>
            <a:ext cx="1150937" cy="509588"/>
            <a:chOff x="1655" y="2886"/>
            <a:chExt cx="725" cy="321"/>
          </a:xfrm>
        </p:grpSpPr>
        <p:sp>
          <p:nvSpPr>
            <p:cNvPr id="51245" name="Text Box 34"/>
            <p:cNvSpPr txBox="1">
              <a:spLocks noChangeArrowheads="1"/>
            </p:cNvSpPr>
            <p:nvPr/>
          </p:nvSpPr>
          <p:spPr bwMode="auto">
            <a:xfrm>
              <a:off x="1700"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1246"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1228" name="Group 36"/>
          <p:cNvGrpSpPr>
            <a:grpSpLocks/>
          </p:cNvGrpSpPr>
          <p:nvPr/>
        </p:nvGrpSpPr>
        <p:grpSpPr bwMode="auto">
          <a:xfrm>
            <a:off x="3778250" y="4581525"/>
            <a:ext cx="1150938" cy="509588"/>
            <a:chOff x="2380" y="2886"/>
            <a:chExt cx="725" cy="321"/>
          </a:xfrm>
        </p:grpSpPr>
        <p:sp>
          <p:nvSpPr>
            <p:cNvPr id="51243" name="Text Box 37"/>
            <p:cNvSpPr txBox="1">
              <a:spLocks noChangeArrowheads="1"/>
            </p:cNvSpPr>
            <p:nvPr/>
          </p:nvSpPr>
          <p:spPr bwMode="auto">
            <a:xfrm>
              <a:off x="2426"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1244"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1229" name="Group 39"/>
          <p:cNvGrpSpPr>
            <a:grpSpLocks/>
          </p:cNvGrpSpPr>
          <p:nvPr/>
        </p:nvGrpSpPr>
        <p:grpSpPr bwMode="auto">
          <a:xfrm>
            <a:off x="4929188" y="4581525"/>
            <a:ext cx="1150937" cy="509588"/>
            <a:chOff x="3105" y="2886"/>
            <a:chExt cx="725" cy="321"/>
          </a:xfrm>
        </p:grpSpPr>
        <p:sp>
          <p:nvSpPr>
            <p:cNvPr id="51241" name="Text Box 40"/>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1242"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sp>
        <p:nvSpPr>
          <p:cNvPr id="51230" name="Rectangle 42"/>
          <p:cNvSpPr>
            <a:spLocks noChangeArrowheads="1"/>
          </p:cNvSpPr>
          <p:nvPr/>
        </p:nvSpPr>
        <p:spPr bwMode="auto">
          <a:xfrm>
            <a:off x="6442075" y="3322638"/>
            <a:ext cx="434975" cy="393700"/>
          </a:xfrm>
          <a:prstGeom prst="rect">
            <a:avLst/>
          </a:prstGeom>
          <a:noFill/>
          <a:ln w="12700">
            <a:noFill/>
            <a:miter lim="800000"/>
            <a:headEnd/>
            <a:tailEnd/>
          </a:ln>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51231"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p:spPr>
        <p:txBody>
          <a:bodyPr wrap="none" anchor="ctr"/>
          <a:lstStyle/>
          <a:p>
            <a:endParaRPr lang="zh-CN" altLang="en-US"/>
          </a:p>
        </p:txBody>
      </p:sp>
      <p:grpSp>
        <p:nvGrpSpPr>
          <p:cNvPr id="51232" name="Group 44"/>
          <p:cNvGrpSpPr>
            <a:grpSpLocks/>
          </p:cNvGrpSpPr>
          <p:nvPr/>
        </p:nvGrpSpPr>
        <p:grpSpPr bwMode="auto">
          <a:xfrm>
            <a:off x="6084888" y="4581525"/>
            <a:ext cx="1150937" cy="509588"/>
            <a:chOff x="3105" y="2886"/>
            <a:chExt cx="725" cy="321"/>
          </a:xfrm>
        </p:grpSpPr>
        <p:sp>
          <p:nvSpPr>
            <p:cNvPr id="51239" name="Text Box 45"/>
            <p:cNvSpPr txBox="1">
              <a:spLocks noChangeArrowheads="1"/>
            </p:cNvSpPr>
            <p:nvPr/>
          </p:nvSpPr>
          <p:spPr bwMode="auto">
            <a:xfrm>
              <a:off x="3152" y="2976"/>
              <a:ext cx="667" cy="231"/>
            </a:xfrm>
            <a:prstGeom prst="rect">
              <a:avLst/>
            </a:prstGeom>
            <a:noFill/>
            <a:ln w="9525">
              <a:noFill/>
              <a:miter lim="800000"/>
              <a:headEnd/>
              <a:tailEnd/>
            </a:ln>
          </p:spPr>
          <p:txBody>
            <a:bodyPr wrap="none">
              <a:spAutoFit/>
            </a:bodyPr>
            <a:lstStyle/>
            <a:p>
              <a:pPr algn="l">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51240"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p:spPr>
          <p:txBody>
            <a:bodyPr wrap="none" anchor="ctr"/>
            <a:lstStyle/>
            <a:p>
              <a:endParaRPr lang="zh-CN" altLang="en-US"/>
            </a:p>
          </p:txBody>
        </p:sp>
      </p:grpSp>
      <p:grpSp>
        <p:nvGrpSpPr>
          <p:cNvPr id="51233" name="Group 47"/>
          <p:cNvGrpSpPr>
            <a:grpSpLocks/>
          </p:cNvGrpSpPr>
          <p:nvPr/>
        </p:nvGrpSpPr>
        <p:grpSpPr bwMode="auto">
          <a:xfrm>
            <a:off x="2627313" y="2492375"/>
            <a:ext cx="4610100" cy="2376488"/>
            <a:chOff x="1655" y="1570"/>
            <a:chExt cx="2904" cy="1497"/>
          </a:xfrm>
        </p:grpSpPr>
        <p:sp>
          <p:nvSpPr>
            <p:cNvPr id="51234" name="Line 48"/>
            <p:cNvSpPr>
              <a:spLocks noChangeShapeType="1"/>
            </p:cNvSpPr>
            <p:nvPr/>
          </p:nvSpPr>
          <p:spPr bwMode="auto">
            <a:xfrm>
              <a:off x="1655" y="1570"/>
              <a:ext cx="0" cy="1497"/>
            </a:xfrm>
            <a:prstGeom prst="line">
              <a:avLst/>
            </a:prstGeom>
            <a:noFill/>
            <a:ln w="28575">
              <a:solidFill>
                <a:schemeClr val="hlink"/>
              </a:solidFill>
              <a:prstDash val="dash"/>
              <a:round/>
              <a:headEnd/>
              <a:tailEnd/>
            </a:ln>
          </p:spPr>
          <p:txBody>
            <a:bodyPr/>
            <a:lstStyle/>
            <a:p>
              <a:endParaRPr lang="zh-CN" altLang="en-US"/>
            </a:p>
          </p:txBody>
        </p:sp>
        <p:sp>
          <p:nvSpPr>
            <p:cNvPr id="51235" name="Line 49"/>
            <p:cNvSpPr>
              <a:spLocks noChangeShapeType="1"/>
            </p:cNvSpPr>
            <p:nvPr/>
          </p:nvSpPr>
          <p:spPr bwMode="auto">
            <a:xfrm>
              <a:off x="2381" y="1570"/>
              <a:ext cx="0" cy="1497"/>
            </a:xfrm>
            <a:prstGeom prst="line">
              <a:avLst/>
            </a:prstGeom>
            <a:noFill/>
            <a:ln w="28575">
              <a:solidFill>
                <a:schemeClr val="hlink"/>
              </a:solidFill>
              <a:prstDash val="dash"/>
              <a:round/>
              <a:headEnd/>
              <a:tailEnd/>
            </a:ln>
          </p:spPr>
          <p:txBody>
            <a:bodyPr/>
            <a:lstStyle/>
            <a:p>
              <a:endParaRPr lang="zh-CN" altLang="en-US"/>
            </a:p>
          </p:txBody>
        </p:sp>
        <p:sp>
          <p:nvSpPr>
            <p:cNvPr id="51236" name="Line 50"/>
            <p:cNvSpPr>
              <a:spLocks noChangeShapeType="1"/>
            </p:cNvSpPr>
            <p:nvPr/>
          </p:nvSpPr>
          <p:spPr bwMode="auto">
            <a:xfrm>
              <a:off x="3107" y="1570"/>
              <a:ext cx="0" cy="1497"/>
            </a:xfrm>
            <a:prstGeom prst="line">
              <a:avLst/>
            </a:prstGeom>
            <a:noFill/>
            <a:ln w="28575">
              <a:solidFill>
                <a:schemeClr val="hlink"/>
              </a:solidFill>
              <a:prstDash val="dash"/>
              <a:round/>
              <a:headEnd/>
              <a:tailEnd/>
            </a:ln>
          </p:spPr>
          <p:txBody>
            <a:bodyPr/>
            <a:lstStyle/>
            <a:p>
              <a:endParaRPr lang="zh-CN" altLang="en-US"/>
            </a:p>
          </p:txBody>
        </p:sp>
        <p:sp>
          <p:nvSpPr>
            <p:cNvPr id="51237" name="Line 51"/>
            <p:cNvSpPr>
              <a:spLocks noChangeShapeType="1"/>
            </p:cNvSpPr>
            <p:nvPr/>
          </p:nvSpPr>
          <p:spPr bwMode="auto">
            <a:xfrm>
              <a:off x="3833" y="1570"/>
              <a:ext cx="0" cy="1497"/>
            </a:xfrm>
            <a:prstGeom prst="line">
              <a:avLst/>
            </a:prstGeom>
            <a:noFill/>
            <a:ln w="28575">
              <a:solidFill>
                <a:schemeClr val="hlink"/>
              </a:solidFill>
              <a:prstDash val="dash"/>
              <a:round/>
              <a:headEnd/>
              <a:tailEnd/>
            </a:ln>
          </p:spPr>
          <p:txBody>
            <a:bodyPr/>
            <a:lstStyle/>
            <a:p>
              <a:endParaRPr lang="zh-CN" altLang="en-US"/>
            </a:p>
          </p:txBody>
        </p:sp>
        <p:sp>
          <p:nvSpPr>
            <p:cNvPr id="51238" name="Line 52"/>
            <p:cNvSpPr>
              <a:spLocks noChangeShapeType="1"/>
            </p:cNvSpPr>
            <p:nvPr/>
          </p:nvSpPr>
          <p:spPr bwMode="auto">
            <a:xfrm>
              <a:off x="4559" y="1570"/>
              <a:ext cx="0" cy="1497"/>
            </a:xfrm>
            <a:prstGeom prst="line">
              <a:avLst/>
            </a:prstGeom>
            <a:noFill/>
            <a:ln w="28575">
              <a:solidFill>
                <a:schemeClr val="hlink"/>
              </a:solidFill>
              <a:prstDash val="dash"/>
              <a:round/>
              <a:headEnd/>
              <a:tailE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nodeType="afterEffect">
                                  <p:stCondLst>
                                    <p:cond delay="0"/>
                                  </p:stCondLst>
                                  <p:childTnLst>
                                    <p:anim calcmode="discrete" valueType="str">
                                      <p:cBhvr>
                                        <p:cTn id="6" dur="5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683569" y="214313"/>
            <a:ext cx="7992888" cy="1462087"/>
          </a:xfrm>
        </p:spPr>
        <p:txBody>
          <a:bodyPr/>
          <a:lstStyle/>
          <a:p>
            <a:pPr algn="ctr" eaLnBrk="1" hangingPunct="1"/>
            <a:r>
              <a:rPr lang="zh-CN" altLang="en-US" dirty="0" smtClean="0"/>
              <a:t>时分复用可能会造成</a:t>
            </a:r>
            <a:br>
              <a:rPr lang="zh-CN" altLang="en-US" dirty="0" smtClean="0"/>
            </a:br>
            <a:r>
              <a:rPr lang="zh-CN" altLang="en-US" dirty="0" smtClean="0"/>
              <a:t>线路资源的浪费 </a:t>
            </a:r>
          </a:p>
        </p:txBody>
      </p:sp>
      <p:sp>
        <p:nvSpPr>
          <p:cNvPr id="52228" name="Freeform 3"/>
          <p:cNvSpPr>
            <a:spLocks/>
          </p:cNvSpPr>
          <p:nvPr/>
        </p:nvSpPr>
        <p:spPr bwMode="auto">
          <a:xfrm>
            <a:off x="6011863" y="4700588"/>
            <a:ext cx="241300"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2229" name="Freeform 4"/>
          <p:cNvSpPr>
            <a:spLocks/>
          </p:cNvSpPr>
          <p:nvPr/>
        </p:nvSpPr>
        <p:spPr bwMode="auto">
          <a:xfrm>
            <a:off x="6975475" y="4700588"/>
            <a:ext cx="239713"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2230" name="Freeform 5"/>
          <p:cNvSpPr>
            <a:spLocks/>
          </p:cNvSpPr>
          <p:nvPr/>
        </p:nvSpPr>
        <p:spPr bwMode="auto">
          <a:xfrm>
            <a:off x="7456488" y="4700588"/>
            <a:ext cx="241300"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2231" name="Freeform 6"/>
          <p:cNvSpPr>
            <a:spLocks/>
          </p:cNvSpPr>
          <p:nvPr/>
        </p:nvSpPr>
        <p:spPr bwMode="auto">
          <a:xfrm>
            <a:off x="8178800" y="4700588"/>
            <a:ext cx="239713"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CCCC00"/>
          </a:solidFill>
          <a:ln w="9525">
            <a:solidFill>
              <a:schemeClr val="tx1"/>
            </a:solidFill>
            <a:round/>
            <a:headEnd/>
            <a:tailEnd/>
          </a:ln>
        </p:spPr>
        <p:txBody>
          <a:bodyPr/>
          <a:lstStyle/>
          <a:p>
            <a:endParaRPr lang="zh-CN" altLang="en-US"/>
          </a:p>
        </p:txBody>
      </p:sp>
      <p:sp>
        <p:nvSpPr>
          <p:cNvPr id="52232" name="Freeform 7"/>
          <p:cNvSpPr>
            <a:spLocks/>
          </p:cNvSpPr>
          <p:nvPr/>
        </p:nvSpPr>
        <p:spPr bwMode="auto">
          <a:xfrm>
            <a:off x="5772150" y="4700588"/>
            <a:ext cx="239713"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FF99"/>
          </a:solidFill>
          <a:ln w="9525">
            <a:solidFill>
              <a:schemeClr val="tx1"/>
            </a:solidFill>
            <a:round/>
            <a:headEnd/>
            <a:tailEnd/>
          </a:ln>
        </p:spPr>
        <p:txBody>
          <a:bodyPr/>
          <a:lstStyle/>
          <a:p>
            <a:endParaRPr lang="zh-CN" altLang="en-US"/>
          </a:p>
        </p:txBody>
      </p:sp>
      <p:sp>
        <p:nvSpPr>
          <p:cNvPr id="52233" name="Freeform 8"/>
          <p:cNvSpPr>
            <a:spLocks/>
          </p:cNvSpPr>
          <p:nvPr/>
        </p:nvSpPr>
        <p:spPr bwMode="auto">
          <a:xfrm>
            <a:off x="4808538" y="4703763"/>
            <a:ext cx="241300" cy="376237"/>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FF99"/>
          </a:solidFill>
          <a:ln w="9525">
            <a:solidFill>
              <a:schemeClr val="tx1"/>
            </a:solidFill>
            <a:round/>
            <a:headEnd/>
            <a:tailEnd/>
          </a:ln>
        </p:spPr>
        <p:txBody>
          <a:bodyPr/>
          <a:lstStyle/>
          <a:p>
            <a:endParaRPr lang="zh-CN" altLang="en-US"/>
          </a:p>
        </p:txBody>
      </p:sp>
      <p:sp>
        <p:nvSpPr>
          <p:cNvPr id="52234" name="Freeform 9"/>
          <p:cNvSpPr>
            <a:spLocks/>
          </p:cNvSpPr>
          <p:nvPr/>
        </p:nvSpPr>
        <p:spPr bwMode="auto">
          <a:xfrm>
            <a:off x="4568825" y="4703763"/>
            <a:ext cx="239713" cy="376237"/>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2235" name="Freeform 10"/>
          <p:cNvSpPr>
            <a:spLocks/>
          </p:cNvSpPr>
          <p:nvPr/>
        </p:nvSpPr>
        <p:spPr bwMode="auto">
          <a:xfrm>
            <a:off x="2320925" y="3571875"/>
            <a:ext cx="561975" cy="3762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2236" name="Freeform 11"/>
          <p:cNvSpPr>
            <a:spLocks/>
          </p:cNvSpPr>
          <p:nvPr/>
        </p:nvSpPr>
        <p:spPr bwMode="auto">
          <a:xfrm>
            <a:off x="636588" y="4324350"/>
            <a:ext cx="1123950" cy="3762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FFFF99"/>
          </a:solidFill>
          <a:ln w="9525">
            <a:solidFill>
              <a:schemeClr val="tx1"/>
            </a:solidFill>
            <a:round/>
            <a:headEnd/>
            <a:tailEnd/>
          </a:ln>
        </p:spPr>
        <p:txBody>
          <a:bodyPr/>
          <a:lstStyle/>
          <a:p>
            <a:endParaRPr lang="zh-CN" altLang="en-US"/>
          </a:p>
        </p:txBody>
      </p:sp>
      <p:sp>
        <p:nvSpPr>
          <p:cNvPr id="52237" name="Freeform 12"/>
          <p:cNvSpPr>
            <a:spLocks/>
          </p:cNvSpPr>
          <p:nvPr/>
        </p:nvSpPr>
        <p:spPr bwMode="auto">
          <a:xfrm>
            <a:off x="1198563" y="5075238"/>
            <a:ext cx="1122362" cy="376237"/>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CCECFF"/>
          </a:solidFill>
          <a:ln w="9525">
            <a:solidFill>
              <a:schemeClr val="tx1"/>
            </a:solidFill>
            <a:round/>
            <a:headEnd/>
            <a:tailEnd/>
          </a:ln>
        </p:spPr>
        <p:txBody>
          <a:bodyPr/>
          <a:lstStyle/>
          <a:p>
            <a:endParaRPr lang="zh-CN" altLang="en-US"/>
          </a:p>
        </p:txBody>
      </p:sp>
      <p:sp>
        <p:nvSpPr>
          <p:cNvPr id="52238" name="Freeform 13"/>
          <p:cNvSpPr>
            <a:spLocks/>
          </p:cNvSpPr>
          <p:nvPr/>
        </p:nvSpPr>
        <p:spPr bwMode="auto">
          <a:xfrm>
            <a:off x="2320925" y="5827713"/>
            <a:ext cx="561975" cy="376237"/>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CCCC00"/>
          </a:solidFill>
          <a:ln w="9525">
            <a:solidFill>
              <a:schemeClr val="tx1"/>
            </a:solidFill>
            <a:round/>
            <a:headEnd/>
            <a:tailEnd/>
          </a:ln>
        </p:spPr>
        <p:txBody>
          <a:bodyPr/>
          <a:lstStyle/>
          <a:p>
            <a:endParaRPr lang="zh-CN" altLang="en-US"/>
          </a:p>
        </p:txBody>
      </p:sp>
      <p:sp>
        <p:nvSpPr>
          <p:cNvPr id="52239" name="Text Box 14"/>
          <p:cNvSpPr txBox="1">
            <a:spLocks noChangeArrowheads="1"/>
          </p:cNvSpPr>
          <p:nvPr/>
        </p:nvSpPr>
        <p:spPr bwMode="auto">
          <a:xfrm>
            <a:off x="209550" y="3549650"/>
            <a:ext cx="354013"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2240" name="Text Box 15"/>
          <p:cNvSpPr txBox="1">
            <a:spLocks noChangeArrowheads="1"/>
          </p:cNvSpPr>
          <p:nvPr/>
        </p:nvSpPr>
        <p:spPr bwMode="auto">
          <a:xfrm>
            <a:off x="209550" y="4302125"/>
            <a:ext cx="354013"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2241" name="Text Box 16"/>
          <p:cNvSpPr txBox="1">
            <a:spLocks noChangeArrowheads="1"/>
          </p:cNvSpPr>
          <p:nvPr/>
        </p:nvSpPr>
        <p:spPr bwMode="auto">
          <a:xfrm>
            <a:off x="209550" y="5054600"/>
            <a:ext cx="3683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2242" name="Text Box 17"/>
          <p:cNvSpPr txBox="1">
            <a:spLocks noChangeArrowheads="1"/>
          </p:cNvSpPr>
          <p:nvPr/>
        </p:nvSpPr>
        <p:spPr bwMode="auto">
          <a:xfrm>
            <a:off x="209550" y="5807075"/>
            <a:ext cx="3683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D</a:t>
            </a:r>
          </a:p>
        </p:txBody>
      </p:sp>
      <p:sp>
        <p:nvSpPr>
          <p:cNvPr id="52243" name="Line 18"/>
          <p:cNvSpPr>
            <a:spLocks noChangeShapeType="1"/>
          </p:cNvSpPr>
          <p:nvPr/>
        </p:nvSpPr>
        <p:spPr bwMode="auto">
          <a:xfrm>
            <a:off x="4406900" y="5075238"/>
            <a:ext cx="4252913" cy="0"/>
          </a:xfrm>
          <a:prstGeom prst="line">
            <a:avLst/>
          </a:prstGeom>
          <a:noFill/>
          <a:ln w="28575">
            <a:solidFill>
              <a:srgbClr val="333399"/>
            </a:solidFill>
            <a:round/>
            <a:headEnd/>
            <a:tailEnd type="triangle" w="sm" len="med"/>
          </a:ln>
        </p:spPr>
        <p:txBody>
          <a:bodyPr/>
          <a:lstStyle/>
          <a:p>
            <a:endParaRPr lang="zh-CN" altLang="en-US"/>
          </a:p>
        </p:txBody>
      </p:sp>
      <p:sp>
        <p:nvSpPr>
          <p:cNvPr id="52244" name="Line 19"/>
          <p:cNvSpPr>
            <a:spLocks noChangeShapeType="1"/>
          </p:cNvSpPr>
          <p:nvPr/>
        </p:nvSpPr>
        <p:spPr bwMode="auto">
          <a:xfrm>
            <a:off x="5049838" y="4981575"/>
            <a:ext cx="0" cy="93663"/>
          </a:xfrm>
          <a:prstGeom prst="line">
            <a:avLst/>
          </a:prstGeom>
          <a:noFill/>
          <a:ln w="9525">
            <a:solidFill>
              <a:schemeClr val="tx1"/>
            </a:solidFill>
            <a:round/>
            <a:headEnd/>
            <a:tailEnd/>
          </a:ln>
        </p:spPr>
        <p:txBody>
          <a:bodyPr/>
          <a:lstStyle/>
          <a:p>
            <a:endParaRPr lang="zh-CN" altLang="en-US"/>
          </a:p>
        </p:txBody>
      </p:sp>
      <p:sp>
        <p:nvSpPr>
          <p:cNvPr id="52245" name="Text Box 20"/>
          <p:cNvSpPr txBox="1">
            <a:spLocks noChangeArrowheads="1"/>
          </p:cNvSpPr>
          <p:nvPr/>
        </p:nvSpPr>
        <p:spPr bwMode="auto">
          <a:xfrm>
            <a:off x="2441575" y="3533775"/>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2246" name="Text Box 21"/>
          <p:cNvSpPr txBox="1">
            <a:spLocks noChangeArrowheads="1"/>
          </p:cNvSpPr>
          <p:nvPr/>
        </p:nvSpPr>
        <p:spPr bwMode="auto">
          <a:xfrm>
            <a:off x="7426325" y="4686300"/>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2247" name="Text Box 22"/>
          <p:cNvSpPr txBox="1">
            <a:spLocks noChangeArrowheads="1"/>
          </p:cNvSpPr>
          <p:nvPr/>
        </p:nvSpPr>
        <p:spPr bwMode="auto">
          <a:xfrm>
            <a:off x="4768850" y="4686300"/>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2248" name="Text Box 23"/>
          <p:cNvSpPr txBox="1">
            <a:spLocks noChangeArrowheads="1"/>
          </p:cNvSpPr>
          <p:nvPr/>
        </p:nvSpPr>
        <p:spPr bwMode="auto">
          <a:xfrm>
            <a:off x="739775" y="4321175"/>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2249" name="Text Box 24"/>
          <p:cNvSpPr txBox="1">
            <a:spLocks noChangeArrowheads="1"/>
          </p:cNvSpPr>
          <p:nvPr/>
        </p:nvSpPr>
        <p:spPr bwMode="auto">
          <a:xfrm>
            <a:off x="1893888" y="5045075"/>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2250" name="Text Box 25"/>
          <p:cNvSpPr txBox="1">
            <a:spLocks noChangeArrowheads="1"/>
          </p:cNvSpPr>
          <p:nvPr/>
        </p:nvSpPr>
        <p:spPr bwMode="auto">
          <a:xfrm>
            <a:off x="2408238" y="5802313"/>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d</a:t>
            </a:r>
          </a:p>
        </p:txBody>
      </p:sp>
      <p:sp>
        <p:nvSpPr>
          <p:cNvPr id="52251" name="Text Box 26"/>
          <p:cNvSpPr txBox="1">
            <a:spLocks noChangeArrowheads="1"/>
          </p:cNvSpPr>
          <p:nvPr/>
        </p:nvSpPr>
        <p:spPr bwMode="auto">
          <a:xfrm>
            <a:off x="5738813" y="4686300"/>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2252" name="Text Box 27"/>
          <p:cNvSpPr txBox="1">
            <a:spLocks noChangeArrowheads="1"/>
          </p:cNvSpPr>
          <p:nvPr/>
        </p:nvSpPr>
        <p:spPr bwMode="auto">
          <a:xfrm>
            <a:off x="5972175" y="4686300"/>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2253" name="Text Box 28"/>
          <p:cNvSpPr txBox="1">
            <a:spLocks noChangeArrowheads="1"/>
          </p:cNvSpPr>
          <p:nvPr/>
        </p:nvSpPr>
        <p:spPr bwMode="auto">
          <a:xfrm>
            <a:off x="4541838" y="4686300"/>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2254" name="Text Box 29"/>
          <p:cNvSpPr txBox="1">
            <a:spLocks noChangeArrowheads="1"/>
          </p:cNvSpPr>
          <p:nvPr/>
        </p:nvSpPr>
        <p:spPr bwMode="auto">
          <a:xfrm>
            <a:off x="3103563" y="3549650"/>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2255" name="Text Box 30"/>
          <p:cNvSpPr txBox="1">
            <a:spLocks noChangeArrowheads="1"/>
          </p:cNvSpPr>
          <p:nvPr/>
        </p:nvSpPr>
        <p:spPr bwMode="auto">
          <a:xfrm>
            <a:off x="3103563" y="4319588"/>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2256" name="Text Box 31"/>
          <p:cNvSpPr txBox="1">
            <a:spLocks noChangeArrowheads="1"/>
          </p:cNvSpPr>
          <p:nvPr/>
        </p:nvSpPr>
        <p:spPr bwMode="auto">
          <a:xfrm>
            <a:off x="3103563" y="5089525"/>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2257" name="Text Box 32"/>
          <p:cNvSpPr txBox="1">
            <a:spLocks noChangeArrowheads="1"/>
          </p:cNvSpPr>
          <p:nvPr/>
        </p:nvSpPr>
        <p:spPr bwMode="auto">
          <a:xfrm>
            <a:off x="3103563" y="5859463"/>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2258" name="Text Box 33"/>
          <p:cNvSpPr txBox="1">
            <a:spLocks noChangeArrowheads="1"/>
          </p:cNvSpPr>
          <p:nvPr/>
        </p:nvSpPr>
        <p:spPr bwMode="auto">
          <a:xfrm>
            <a:off x="8639175" y="4678363"/>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2259" name="Line 34"/>
          <p:cNvSpPr>
            <a:spLocks noChangeShapeType="1"/>
          </p:cNvSpPr>
          <p:nvPr/>
        </p:nvSpPr>
        <p:spPr bwMode="auto">
          <a:xfrm>
            <a:off x="6734175" y="4981575"/>
            <a:ext cx="0" cy="93663"/>
          </a:xfrm>
          <a:prstGeom prst="line">
            <a:avLst/>
          </a:prstGeom>
          <a:noFill/>
          <a:ln w="9525">
            <a:solidFill>
              <a:schemeClr val="tx1"/>
            </a:solidFill>
            <a:round/>
            <a:headEnd/>
            <a:tailEnd/>
          </a:ln>
        </p:spPr>
        <p:txBody>
          <a:bodyPr/>
          <a:lstStyle/>
          <a:p>
            <a:endParaRPr lang="zh-CN" altLang="en-US"/>
          </a:p>
        </p:txBody>
      </p:sp>
      <p:sp>
        <p:nvSpPr>
          <p:cNvPr id="52260" name="Line 35"/>
          <p:cNvSpPr>
            <a:spLocks noChangeShapeType="1"/>
          </p:cNvSpPr>
          <p:nvPr/>
        </p:nvSpPr>
        <p:spPr bwMode="auto">
          <a:xfrm>
            <a:off x="1198563" y="4605338"/>
            <a:ext cx="0" cy="95250"/>
          </a:xfrm>
          <a:prstGeom prst="line">
            <a:avLst/>
          </a:prstGeom>
          <a:noFill/>
          <a:ln w="9525">
            <a:solidFill>
              <a:schemeClr val="tx1"/>
            </a:solidFill>
            <a:round/>
            <a:headEnd/>
            <a:tailEnd/>
          </a:ln>
        </p:spPr>
        <p:txBody>
          <a:bodyPr/>
          <a:lstStyle/>
          <a:p>
            <a:endParaRPr lang="zh-CN" altLang="en-US"/>
          </a:p>
        </p:txBody>
      </p:sp>
      <p:sp>
        <p:nvSpPr>
          <p:cNvPr id="52261" name="Line 36"/>
          <p:cNvSpPr>
            <a:spLocks noChangeShapeType="1"/>
          </p:cNvSpPr>
          <p:nvPr/>
        </p:nvSpPr>
        <p:spPr bwMode="auto">
          <a:xfrm>
            <a:off x="1760538" y="5357813"/>
            <a:ext cx="0" cy="93662"/>
          </a:xfrm>
          <a:prstGeom prst="line">
            <a:avLst/>
          </a:prstGeom>
          <a:noFill/>
          <a:ln w="9525">
            <a:solidFill>
              <a:schemeClr val="tx1"/>
            </a:solidFill>
            <a:round/>
            <a:headEnd/>
            <a:tailEnd/>
          </a:ln>
        </p:spPr>
        <p:txBody>
          <a:bodyPr/>
          <a:lstStyle/>
          <a:p>
            <a:endParaRPr lang="zh-CN" altLang="en-US"/>
          </a:p>
        </p:txBody>
      </p:sp>
      <p:sp>
        <p:nvSpPr>
          <p:cNvPr id="52262" name="Line 37"/>
          <p:cNvSpPr>
            <a:spLocks noChangeShapeType="1"/>
          </p:cNvSpPr>
          <p:nvPr/>
        </p:nvSpPr>
        <p:spPr bwMode="auto">
          <a:xfrm>
            <a:off x="2320925" y="4605338"/>
            <a:ext cx="0" cy="95250"/>
          </a:xfrm>
          <a:prstGeom prst="line">
            <a:avLst/>
          </a:prstGeom>
          <a:noFill/>
          <a:ln w="9525">
            <a:solidFill>
              <a:schemeClr val="tx1"/>
            </a:solidFill>
            <a:round/>
            <a:headEnd/>
            <a:tailEnd/>
          </a:ln>
        </p:spPr>
        <p:txBody>
          <a:bodyPr/>
          <a:lstStyle/>
          <a:p>
            <a:endParaRPr lang="zh-CN" altLang="en-US"/>
          </a:p>
        </p:txBody>
      </p:sp>
      <p:sp>
        <p:nvSpPr>
          <p:cNvPr id="52263" name="Line 38"/>
          <p:cNvSpPr>
            <a:spLocks noChangeShapeType="1"/>
          </p:cNvSpPr>
          <p:nvPr/>
        </p:nvSpPr>
        <p:spPr bwMode="auto">
          <a:xfrm>
            <a:off x="1198563" y="6110288"/>
            <a:ext cx="0" cy="93662"/>
          </a:xfrm>
          <a:prstGeom prst="line">
            <a:avLst/>
          </a:prstGeom>
          <a:noFill/>
          <a:ln w="9525">
            <a:solidFill>
              <a:schemeClr val="tx1"/>
            </a:solidFill>
            <a:round/>
            <a:headEnd/>
            <a:tailEnd/>
          </a:ln>
        </p:spPr>
        <p:txBody>
          <a:bodyPr/>
          <a:lstStyle/>
          <a:p>
            <a:endParaRPr lang="zh-CN" altLang="en-US"/>
          </a:p>
        </p:txBody>
      </p:sp>
      <p:sp>
        <p:nvSpPr>
          <p:cNvPr id="52264" name="Line 39"/>
          <p:cNvSpPr>
            <a:spLocks noChangeShapeType="1"/>
          </p:cNvSpPr>
          <p:nvPr/>
        </p:nvSpPr>
        <p:spPr bwMode="auto">
          <a:xfrm>
            <a:off x="2882900" y="5357813"/>
            <a:ext cx="0" cy="93662"/>
          </a:xfrm>
          <a:prstGeom prst="line">
            <a:avLst/>
          </a:prstGeom>
          <a:noFill/>
          <a:ln w="9525">
            <a:solidFill>
              <a:schemeClr val="tx1"/>
            </a:solidFill>
            <a:round/>
            <a:headEnd/>
            <a:tailEnd/>
          </a:ln>
        </p:spPr>
        <p:txBody>
          <a:bodyPr/>
          <a:lstStyle/>
          <a:p>
            <a:endParaRPr lang="zh-CN" altLang="en-US"/>
          </a:p>
        </p:txBody>
      </p:sp>
      <p:sp>
        <p:nvSpPr>
          <p:cNvPr id="52265" name="Line 40"/>
          <p:cNvSpPr>
            <a:spLocks noChangeShapeType="1"/>
          </p:cNvSpPr>
          <p:nvPr/>
        </p:nvSpPr>
        <p:spPr bwMode="auto">
          <a:xfrm>
            <a:off x="2320925" y="6110288"/>
            <a:ext cx="0" cy="93662"/>
          </a:xfrm>
          <a:prstGeom prst="line">
            <a:avLst/>
          </a:prstGeom>
          <a:noFill/>
          <a:ln w="9525">
            <a:solidFill>
              <a:schemeClr val="tx1"/>
            </a:solidFill>
            <a:round/>
            <a:headEnd/>
            <a:tailEnd/>
          </a:ln>
        </p:spPr>
        <p:txBody>
          <a:bodyPr/>
          <a:lstStyle/>
          <a:p>
            <a:endParaRPr lang="zh-CN" altLang="en-US"/>
          </a:p>
        </p:txBody>
      </p:sp>
      <p:sp>
        <p:nvSpPr>
          <p:cNvPr id="52266" name="Line 41"/>
          <p:cNvSpPr>
            <a:spLocks noChangeShapeType="1"/>
          </p:cNvSpPr>
          <p:nvPr/>
        </p:nvSpPr>
        <p:spPr bwMode="auto">
          <a:xfrm>
            <a:off x="4568825" y="5170488"/>
            <a:ext cx="0" cy="187325"/>
          </a:xfrm>
          <a:prstGeom prst="line">
            <a:avLst/>
          </a:prstGeom>
          <a:noFill/>
          <a:ln w="9525">
            <a:solidFill>
              <a:schemeClr val="tx1"/>
            </a:solidFill>
            <a:round/>
            <a:headEnd/>
            <a:tailEnd/>
          </a:ln>
        </p:spPr>
        <p:txBody>
          <a:bodyPr/>
          <a:lstStyle/>
          <a:p>
            <a:endParaRPr lang="zh-CN" altLang="en-US"/>
          </a:p>
        </p:txBody>
      </p:sp>
      <p:sp>
        <p:nvSpPr>
          <p:cNvPr id="52267" name="Line 42"/>
          <p:cNvSpPr>
            <a:spLocks noChangeShapeType="1"/>
          </p:cNvSpPr>
          <p:nvPr/>
        </p:nvSpPr>
        <p:spPr bwMode="auto">
          <a:xfrm>
            <a:off x="5530850" y="5170488"/>
            <a:ext cx="0" cy="187325"/>
          </a:xfrm>
          <a:prstGeom prst="line">
            <a:avLst/>
          </a:prstGeom>
          <a:noFill/>
          <a:ln w="9525">
            <a:solidFill>
              <a:schemeClr val="tx1"/>
            </a:solidFill>
            <a:round/>
            <a:headEnd/>
            <a:tailEnd/>
          </a:ln>
        </p:spPr>
        <p:txBody>
          <a:bodyPr/>
          <a:lstStyle/>
          <a:p>
            <a:endParaRPr lang="zh-CN" altLang="en-US"/>
          </a:p>
        </p:txBody>
      </p:sp>
      <p:sp>
        <p:nvSpPr>
          <p:cNvPr id="52268" name="Line 43"/>
          <p:cNvSpPr>
            <a:spLocks noChangeShapeType="1"/>
          </p:cNvSpPr>
          <p:nvPr/>
        </p:nvSpPr>
        <p:spPr bwMode="auto">
          <a:xfrm>
            <a:off x="6492875" y="5170488"/>
            <a:ext cx="0" cy="187325"/>
          </a:xfrm>
          <a:prstGeom prst="line">
            <a:avLst/>
          </a:prstGeom>
          <a:noFill/>
          <a:ln w="9525">
            <a:solidFill>
              <a:schemeClr val="tx1"/>
            </a:solidFill>
            <a:round/>
            <a:headEnd/>
            <a:tailEnd/>
          </a:ln>
        </p:spPr>
        <p:txBody>
          <a:bodyPr/>
          <a:lstStyle/>
          <a:p>
            <a:endParaRPr lang="zh-CN" altLang="en-US"/>
          </a:p>
        </p:txBody>
      </p:sp>
      <p:sp>
        <p:nvSpPr>
          <p:cNvPr id="52269" name="Line 44"/>
          <p:cNvSpPr>
            <a:spLocks noChangeShapeType="1"/>
          </p:cNvSpPr>
          <p:nvPr/>
        </p:nvSpPr>
        <p:spPr bwMode="auto">
          <a:xfrm>
            <a:off x="7456488" y="5170488"/>
            <a:ext cx="0" cy="187325"/>
          </a:xfrm>
          <a:prstGeom prst="line">
            <a:avLst/>
          </a:prstGeom>
          <a:noFill/>
          <a:ln w="9525">
            <a:solidFill>
              <a:schemeClr val="tx1"/>
            </a:solidFill>
            <a:round/>
            <a:headEnd/>
            <a:tailEnd/>
          </a:ln>
        </p:spPr>
        <p:txBody>
          <a:bodyPr/>
          <a:lstStyle/>
          <a:p>
            <a:endParaRPr lang="zh-CN" altLang="en-US"/>
          </a:p>
        </p:txBody>
      </p:sp>
      <p:sp>
        <p:nvSpPr>
          <p:cNvPr id="52270" name="Line 45"/>
          <p:cNvSpPr>
            <a:spLocks noChangeShapeType="1"/>
          </p:cNvSpPr>
          <p:nvPr/>
        </p:nvSpPr>
        <p:spPr bwMode="auto">
          <a:xfrm>
            <a:off x="4568825" y="5264150"/>
            <a:ext cx="962025" cy="0"/>
          </a:xfrm>
          <a:prstGeom prst="line">
            <a:avLst/>
          </a:prstGeom>
          <a:noFill/>
          <a:ln w="28575">
            <a:solidFill>
              <a:srgbClr val="333399"/>
            </a:solidFill>
            <a:round/>
            <a:headEnd type="triangle" w="sm" len="med"/>
            <a:tailEnd type="triangle" w="sm" len="med"/>
          </a:ln>
        </p:spPr>
        <p:txBody>
          <a:bodyPr/>
          <a:lstStyle/>
          <a:p>
            <a:endParaRPr lang="zh-CN" altLang="en-US"/>
          </a:p>
        </p:txBody>
      </p:sp>
      <p:sp>
        <p:nvSpPr>
          <p:cNvPr id="52271" name="Line 46"/>
          <p:cNvSpPr>
            <a:spLocks noChangeShapeType="1"/>
          </p:cNvSpPr>
          <p:nvPr/>
        </p:nvSpPr>
        <p:spPr bwMode="auto">
          <a:xfrm>
            <a:off x="5530850" y="5264150"/>
            <a:ext cx="962025" cy="0"/>
          </a:xfrm>
          <a:prstGeom prst="line">
            <a:avLst/>
          </a:prstGeom>
          <a:noFill/>
          <a:ln w="28575">
            <a:solidFill>
              <a:srgbClr val="333399"/>
            </a:solidFill>
            <a:round/>
            <a:headEnd type="triangle" w="sm" len="med"/>
            <a:tailEnd type="triangle" w="sm" len="med"/>
          </a:ln>
        </p:spPr>
        <p:txBody>
          <a:bodyPr/>
          <a:lstStyle/>
          <a:p>
            <a:endParaRPr lang="zh-CN" altLang="en-US"/>
          </a:p>
        </p:txBody>
      </p:sp>
      <p:sp>
        <p:nvSpPr>
          <p:cNvPr id="52272" name="Line 47"/>
          <p:cNvSpPr>
            <a:spLocks noChangeShapeType="1"/>
          </p:cNvSpPr>
          <p:nvPr/>
        </p:nvSpPr>
        <p:spPr bwMode="auto">
          <a:xfrm>
            <a:off x="6492875" y="5264150"/>
            <a:ext cx="963613" cy="0"/>
          </a:xfrm>
          <a:prstGeom prst="line">
            <a:avLst/>
          </a:prstGeom>
          <a:noFill/>
          <a:ln w="28575">
            <a:solidFill>
              <a:srgbClr val="333399"/>
            </a:solidFill>
            <a:round/>
            <a:headEnd type="triangle" w="sm" len="med"/>
            <a:tailEnd type="triangle" w="sm" len="med"/>
          </a:ln>
        </p:spPr>
        <p:txBody>
          <a:bodyPr/>
          <a:lstStyle/>
          <a:p>
            <a:endParaRPr lang="zh-CN" altLang="en-US"/>
          </a:p>
        </p:txBody>
      </p:sp>
      <p:sp>
        <p:nvSpPr>
          <p:cNvPr id="52273" name="Text Box 48"/>
          <p:cNvSpPr txBox="1">
            <a:spLocks noChangeArrowheads="1"/>
          </p:cNvSpPr>
          <p:nvPr/>
        </p:nvSpPr>
        <p:spPr bwMode="auto">
          <a:xfrm>
            <a:off x="5772150" y="5984875"/>
            <a:ext cx="191928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4 </a:t>
            </a:r>
            <a:r>
              <a:rPr kumimoji="1" lang="zh-CN" altLang="en-US" sz="2000">
                <a:solidFill>
                  <a:srgbClr val="333399"/>
                </a:solidFill>
                <a:latin typeface="Arial" pitchFamily="34" charset="0"/>
                <a:ea typeface="黑体" pitchFamily="49" charset="-122"/>
              </a:rPr>
              <a:t>个时分复用帧</a:t>
            </a:r>
          </a:p>
        </p:txBody>
      </p:sp>
      <p:sp>
        <p:nvSpPr>
          <p:cNvPr id="52274" name="Text Box 49"/>
          <p:cNvSpPr txBox="1">
            <a:spLocks noChangeArrowheads="1"/>
          </p:cNvSpPr>
          <p:nvPr/>
        </p:nvSpPr>
        <p:spPr bwMode="auto">
          <a:xfrm>
            <a:off x="4808538" y="5213350"/>
            <a:ext cx="4667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#1</a:t>
            </a:r>
          </a:p>
        </p:txBody>
      </p:sp>
      <p:sp>
        <p:nvSpPr>
          <p:cNvPr id="52275" name="Line 50"/>
          <p:cNvSpPr>
            <a:spLocks noChangeShapeType="1"/>
          </p:cNvSpPr>
          <p:nvPr/>
        </p:nvSpPr>
        <p:spPr bwMode="auto">
          <a:xfrm>
            <a:off x="3276600" y="4002088"/>
            <a:ext cx="1050925" cy="698500"/>
          </a:xfrm>
          <a:prstGeom prst="line">
            <a:avLst/>
          </a:prstGeom>
          <a:noFill/>
          <a:ln w="28575">
            <a:solidFill>
              <a:srgbClr val="333399"/>
            </a:solidFill>
            <a:round/>
            <a:headEnd/>
            <a:tailEnd type="triangle" w="sm" len="med"/>
          </a:ln>
        </p:spPr>
        <p:txBody>
          <a:bodyPr/>
          <a:lstStyle/>
          <a:p>
            <a:endParaRPr lang="zh-CN" altLang="en-US"/>
          </a:p>
        </p:txBody>
      </p:sp>
      <p:sp>
        <p:nvSpPr>
          <p:cNvPr id="52276" name="Line 51"/>
          <p:cNvSpPr>
            <a:spLocks noChangeShapeType="1"/>
          </p:cNvSpPr>
          <p:nvPr/>
        </p:nvSpPr>
        <p:spPr bwMode="auto">
          <a:xfrm>
            <a:off x="3276600" y="4722813"/>
            <a:ext cx="969963" cy="165100"/>
          </a:xfrm>
          <a:prstGeom prst="line">
            <a:avLst/>
          </a:prstGeom>
          <a:noFill/>
          <a:ln w="28575">
            <a:solidFill>
              <a:srgbClr val="333399"/>
            </a:solidFill>
            <a:round/>
            <a:headEnd/>
            <a:tailEnd type="triangle" w="sm" len="med"/>
          </a:ln>
        </p:spPr>
        <p:txBody>
          <a:bodyPr/>
          <a:lstStyle/>
          <a:p>
            <a:endParaRPr lang="zh-CN" altLang="en-US"/>
          </a:p>
        </p:txBody>
      </p:sp>
      <p:sp>
        <p:nvSpPr>
          <p:cNvPr id="52277" name="Line 52"/>
          <p:cNvSpPr>
            <a:spLocks noChangeShapeType="1"/>
          </p:cNvSpPr>
          <p:nvPr/>
        </p:nvSpPr>
        <p:spPr bwMode="auto">
          <a:xfrm flipV="1">
            <a:off x="3348038" y="5075238"/>
            <a:ext cx="898525" cy="366712"/>
          </a:xfrm>
          <a:prstGeom prst="line">
            <a:avLst/>
          </a:prstGeom>
          <a:noFill/>
          <a:ln w="28575">
            <a:solidFill>
              <a:srgbClr val="333399"/>
            </a:solidFill>
            <a:round/>
            <a:headEnd/>
            <a:tailEnd type="triangle" w="sm" len="med"/>
          </a:ln>
        </p:spPr>
        <p:txBody>
          <a:bodyPr/>
          <a:lstStyle/>
          <a:p>
            <a:endParaRPr lang="zh-CN" altLang="en-US"/>
          </a:p>
        </p:txBody>
      </p:sp>
      <p:sp>
        <p:nvSpPr>
          <p:cNvPr id="52278" name="Line 53"/>
          <p:cNvSpPr>
            <a:spLocks noChangeShapeType="1"/>
          </p:cNvSpPr>
          <p:nvPr/>
        </p:nvSpPr>
        <p:spPr bwMode="auto">
          <a:xfrm flipV="1">
            <a:off x="3363913" y="5264150"/>
            <a:ext cx="963612" cy="846138"/>
          </a:xfrm>
          <a:prstGeom prst="line">
            <a:avLst/>
          </a:prstGeom>
          <a:noFill/>
          <a:ln w="28575">
            <a:solidFill>
              <a:srgbClr val="333399"/>
            </a:solidFill>
            <a:round/>
            <a:headEnd/>
            <a:tailEnd type="triangle" w="sm" len="med"/>
          </a:ln>
        </p:spPr>
        <p:txBody>
          <a:bodyPr/>
          <a:lstStyle/>
          <a:p>
            <a:endParaRPr lang="zh-CN" altLang="en-US"/>
          </a:p>
        </p:txBody>
      </p:sp>
      <p:sp>
        <p:nvSpPr>
          <p:cNvPr id="52279" name="Text Box 54"/>
          <p:cNvSpPr txBox="1">
            <a:spLocks noChangeArrowheads="1"/>
          </p:cNvSpPr>
          <p:nvPr/>
        </p:nvSpPr>
        <p:spPr bwMode="auto">
          <a:xfrm>
            <a:off x="3348038" y="5514975"/>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④</a:t>
            </a:r>
          </a:p>
        </p:txBody>
      </p:sp>
      <p:sp>
        <p:nvSpPr>
          <p:cNvPr id="52280" name="Text Box 55"/>
          <p:cNvSpPr txBox="1">
            <a:spLocks noChangeArrowheads="1"/>
          </p:cNvSpPr>
          <p:nvPr/>
        </p:nvSpPr>
        <p:spPr bwMode="auto">
          <a:xfrm>
            <a:off x="3276600" y="5010150"/>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③</a:t>
            </a:r>
          </a:p>
        </p:txBody>
      </p:sp>
      <p:sp>
        <p:nvSpPr>
          <p:cNvPr id="52281" name="Text Box 56"/>
          <p:cNvSpPr txBox="1">
            <a:spLocks noChangeArrowheads="1"/>
          </p:cNvSpPr>
          <p:nvPr/>
        </p:nvSpPr>
        <p:spPr bwMode="auto">
          <a:xfrm>
            <a:off x="3276600" y="4362450"/>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②</a:t>
            </a:r>
          </a:p>
        </p:txBody>
      </p:sp>
      <p:sp>
        <p:nvSpPr>
          <p:cNvPr id="52282" name="Text Box 57"/>
          <p:cNvSpPr txBox="1">
            <a:spLocks noChangeArrowheads="1"/>
          </p:cNvSpPr>
          <p:nvPr/>
        </p:nvSpPr>
        <p:spPr bwMode="auto">
          <a:xfrm>
            <a:off x="3419475" y="3786188"/>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①</a:t>
            </a:r>
          </a:p>
        </p:txBody>
      </p:sp>
      <p:sp>
        <p:nvSpPr>
          <p:cNvPr id="52283" name="Freeform 58"/>
          <p:cNvSpPr>
            <a:spLocks/>
          </p:cNvSpPr>
          <p:nvPr/>
        </p:nvSpPr>
        <p:spPr bwMode="auto">
          <a:xfrm>
            <a:off x="636588" y="3571875"/>
            <a:ext cx="561975" cy="3762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2284" name="Line 59"/>
          <p:cNvSpPr>
            <a:spLocks noChangeShapeType="1"/>
          </p:cNvSpPr>
          <p:nvPr/>
        </p:nvSpPr>
        <p:spPr bwMode="auto">
          <a:xfrm>
            <a:off x="2882900" y="4605338"/>
            <a:ext cx="0" cy="95250"/>
          </a:xfrm>
          <a:prstGeom prst="line">
            <a:avLst/>
          </a:prstGeom>
          <a:noFill/>
          <a:ln w="9525">
            <a:solidFill>
              <a:schemeClr val="tx1"/>
            </a:solidFill>
            <a:round/>
            <a:headEnd/>
            <a:tailEnd/>
          </a:ln>
        </p:spPr>
        <p:txBody>
          <a:bodyPr/>
          <a:lstStyle/>
          <a:p>
            <a:endParaRPr lang="zh-CN" altLang="en-US"/>
          </a:p>
        </p:txBody>
      </p:sp>
      <p:sp>
        <p:nvSpPr>
          <p:cNvPr id="52285" name="Line 60"/>
          <p:cNvSpPr>
            <a:spLocks noChangeShapeType="1"/>
          </p:cNvSpPr>
          <p:nvPr/>
        </p:nvSpPr>
        <p:spPr bwMode="auto">
          <a:xfrm>
            <a:off x="636588" y="6091238"/>
            <a:ext cx="0" cy="93662"/>
          </a:xfrm>
          <a:prstGeom prst="line">
            <a:avLst/>
          </a:prstGeom>
          <a:noFill/>
          <a:ln w="9525">
            <a:solidFill>
              <a:schemeClr val="tx1"/>
            </a:solidFill>
            <a:round/>
            <a:headEnd/>
            <a:tailEnd/>
          </a:ln>
        </p:spPr>
        <p:txBody>
          <a:bodyPr/>
          <a:lstStyle/>
          <a:p>
            <a:endParaRPr lang="zh-CN" altLang="en-US"/>
          </a:p>
        </p:txBody>
      </p:sp>
      <p:sp>
        <p:nvSpPr>
          <p:cNvPr id="52286" name="Text Box 61"/>
          <p:cNvSpPr txBox="1">
            <a:spLocks noChangeArrowheads="1"/>
          </p:cNvSpPr>
          <p:nvPr/>
        </p:nvSpPr>
        <p:spPr bwMode="auto">
          <a:xfrm>
            <a:off x="739775" y="3530600"/>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2287" name="Text Box 62"/>
          <p:cNvSpPr txBox="1">
            <a:spLocks noChangeArrowheads="1"/>
          </p:cNvSpPr>
          <p:nvPr/>
        </p:nvSpPr>
        <p:spPr bwMode="auto">
          <a:xfrm>
            <a:off x="1328738" y="5032375"/>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2288" name="Text Box 63"/>
          <p:cNvSpPr txBox="1">
            <a:spLocks noChangeArrowheads="1"/>
          </p:cNvSpPr>
          <p:nvPr/>
        </p:nvSpPr>
        <p:spPr bwMode="auto">
          <a:xfrm>
            <a:off x="1355725" y="4324350"/>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2289" name="Line 64"/>
          <p:cNvSpPr>
            <a:spLocks noChangeShapeType="1"/>
          </p:cNvSpPr>
          <p:nvPr/>
        </p:nvSpPr>
        <p:spPr bwMode="auto">
          <a:xfrm>
            <a:off x="5289550" y="4981575"/>
            <a:ext cx="0" cy="93663"/>
          </a:xfrm>
          <a:prstGeom prst="line">
            <a:avLst/>
          </a:prstGeom>
          <a:noFill/>
          <a:ln w="9525">
            <a:solidFill>
              <a:schemeClr val="tx1"/>
            </a:solidFill>
            <a:round/>
            <a:headEnd/>
            <a:tailEnd/>
          </a:ln>
        </p:spPr>
        <p:txBody>
          <a:bodyPr/>
          <a:lstStyle/>
          <a:p>
            <a:endParaRPr lang="zh-CN" altLang="en-US"/>
          </a:p>
        </p:txBody>
      </p:sp>
      <p:sp>
        <p:nvSpPr>
          <p:cNvPr id="52290" name="Line 65"/>
          <p:cNvSpPr>
            <a:spLocks noChangeShapeType="1"/>
          </p:cNvSpPr>
          <p:nvPr/>
        </p:nvSpPr>
        <p:spPr bwMode="auto">
          <a:xfrm>
            <a:off x="5530850" y="4981575"/>
            <a:ext cx="0" cy="93663"/>
          </a:xfrm>
          <a:prstGeom prst="line">
            <a:avLst/>
          </a:prstGeom>
          <a:noFill/>
          <a:ln w="9525">
            <a:solidFill>
              <a:schemeClr val="tx1"/>
            </a:solidFill>
            <a:round/>
            <a:headEnd/>
            <a:tailEnd/>
          </a:ln>
        </p:spPr>
        <p:txBody>
          <a:bodyPr/>
          <a:lstStyle/>
          <a:p>
            <a:endParaRPr lang="zh-CN" altLang="en-US"/>
          </a:p>
        </p:txBody>
      </p:sp>
      <p:sp>
        <p:nvSpPr>
          <p:cNvPr id="52291" name="Line 66"/>
          <p:cNvSpPr>
            <a:spLocks noChangeShapeType="1"/>
          </p:cNvSpPr>
          <p:nvPr/>
        </p:nvSpPr>
        <p:spPr bwMode="auto">
          <a:xfrm>
            <a:off x="7456488" y="5264150"/>
            <a:ext cx="962025" cy="0"/>
          </a:xfrm>
          <a:prstGeom prst="line">
            <a:avLst/>
          </a:prstGeom>
          <a:noFill/>
          <a:ln w="28575">
            <a:solidFill>
              <a:srgbClr val="333399"/>
            </a:solidFill>
            <a:round/>
            <a:headEnd type="triangle" w="sm" len="med"/>
            <a:tailEnd type="triangle" w="sm" len="med"/>
          </a:ln>
        </p:spPr>
        <p:txBody>
          <a:bodyPr/>
          <a:lstStyle/>
          <a:p>
            <a:endParaRPr lang="zh-CN" altLang="en-US"/>
          </a:p>
        </p:txBody>
      </p:sp>
      <p:sp>
        <p:nvSpPr>
          <p:cNvPr id="52292" name="Line 67"/>
          <p:cNvSpPr>
            <a:spLocks noChangeShapeType="1"/>
          </p:cNvSpPr>
          <p:nvPr/>
        </p:nvSpPr>
        <p:spPr bwMode="auto">
          <a:xfrm>
            <a:off x="8418513" y="5170488"/>
            <a:ext cx="0" cy="187325"/>
          </a:xfrm>
          <a:prstGeom prst="line">
            <a:avLst/>
          </a:prstGeom>
          <a:noFill/>
          <a:ln w="9525">
            <a:solidFill>
              <a:schemeClr val="tx1"/>
            </a:solidFill>
            <a:round/>
            <a:headEnd/>
            <a:tailEnd/>
          </a:ln>
        </p:spPr>
        <p:txBody>
          <a:bodyPr/>
          <a:lstStyle/>
          <a:p>
            <a:endParaRPr lang="zh-CN" altLang="en-US"/>
          </a:p>
        </p:txBody>
      </p:sp>
      <p:sp>
        <p:nvSpPr>
          <p:cNvPr id="52293" name="Line 68"/>
          <p:cNvSpPr>
            <a:spLocks noChangeShapeType="1"/>
          </p:cNvSpPr>
          <p:nvPr/>
        </p:nvSpPr>
        <p:spPr bwMode="auto">
          <a:xfrm>
            <a:off x="7937500" y="4981575"/>
            <a:ext cx="0" cy="93663"/>
          </a:xfrm>
          <a:prstGeom prst="line">
            <a:avLst/>
          </a:prstGeom>
          <a:noFill/>
          <a:ln w="9525">
            <a:solidFill>
              <a:schemeClr val="tx1"/>
            </a:solidFill>
            <a:round/>
            <a:headEnd/>
            <a:tailEnd/>
          </a:ln>
        </p:spPr>
        <p:txBody>
          <a:bodyPr/>
          <a:lstStyle/>
          <a:p>
            <a:endParaRPr lang="zh-CN" altLang="en-US"/>
          </a:p>
        </p:txBody>
      </p:sp>
      <p:sp>
        <p:nvSpPr>
          <p:cNvPr id="52294" name="Line 69"/>
          <p:cNvSpPr>
            <a:spLocks noChangeShapeType="1"/>
          </p:cNvSpPr>
          <p:nvPr/>
        </p:nvSpPr>
        <p:spPr bwMode="auto">
          <a:xfrm>
            <a:off x="6492875" y="4981575"/>
            <a:ext cx="0" cy="93663"/>
          </a:xfrm>
          <a:prstGeom prst="line">
            <a:avLst/>
          </a:prstGeom>
          <a:noFill/>
          <a:ln w="9525">
            <a:solidFill>
              <a:schemeClr val="tx1"/>
            </a:solidFill>
            <a:round/>
            <a:headEnd/>
            <a:tailEnd/>
          </a:ln>
        </p:spPr>
        <p:txBody>
          <a:bodyPr/>
          <a:lstStyle/>
          <a:p>
            <a:endParaRPr lang="zh-CN" altLang="en-US"/>
          </a:p>
        </p:txBody>
      </p:sp>
      <p:sp>
        <p:nvSpPr>
          <p:cNvPr id="52295" name="Text Box 70"/>
          <p:cNvSpPr txBox="1">
            <a:spLocks noChangeArrowheads="1"/>
          </p:cNvSpPr>
          <p:nvPr/>
        </p:nvSpPr>
        <p:spPr bwMode="auto">
          <a:xfrm>
            <a:off x="6954838" y="4686300"/>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2296" name="Text Box 71"/>
          <p:cNvSpPr txBox="1">
            <a:spLocks noChangeArrowheads="1"/>
          </p:cNvSpPr>
          <p:nvPr/>
        </p:nvSpPr>
        <p:spPr bwMode="auto">
          <a:xfrm>
            <a:off x="8139113" y="4686300"/>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d</a:t>
            </a:r>
          </a:p>
        </p:txBody>
      </p:sp>
      <p:sp>
        <p:nvSpPr>
          <p:cNvPr id="52297" name="Text Box 72"/>
          <p:cNvSpPr txBox="1">
            <a:spLocks noChangeArrowheads="1"/>
          </p:cNvSpPr>
          <p:nvPr/>
        </p:nvSpPr>
        <p:spPr bwMode="auto">
          <a:xfrm>
            <a:off x="3605213" y="3251200"/>
            <a:ext cx="1200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时分复用</a:t>
            </a:r>
          </a:p>
        </p:txBody>
      </p:sp>
      <p:sp>
        <p:nvSpPr>
          <p:cNvPr id="52298" name="Text Box 73"/>
          <p:cNvSpPr txBox="1">
            <a:spLocks noChangeArrowheads="1"/>
          </p:cNvSpPr>
          <p:nvPr/>
        </p:nvSpPr>
        <p:spPr bwMode="auto">
          <a:xfrm>
            <a:off x="5772150" y="5213350"/>
            <a:ext cx="4667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#2</a:t>
            </a:r>
          </a:p>
        </p:txBody>
      </p:sp>
      <p:sp>
        <p:nvSpPr>
          <p:cNvPr id="52299" name="Text Box 74"/>
          <p:cNvSpPr txBox="1">
            <a:spLocks noChangeArrowheads="1"/>
          </p:cNvSpPr>
          <p:nvPr/>
        </p:nvSpPr>
        <p:spPr bwMode="auto">
          <a:xfrm>
            <a:off x="6781800" y="5213350"/>
            <a:ext cx="4667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#3</a:t>
            </a:r>
          </a:p>
        </p:txBody>
      </p:sp>
      <p:sp>
        <p:nvSpPr>
          <p:cNvPr id="52300" name="Text Box 75"/>
          <p:cNvSpPr txBox="1">
            <a:spLocks noChangeArrowheads="1"/>
          </p:cNvSpPr>
          <p:nvPr/>
        </p:nvSpPr>
        <p:spPr bwMode="auto">
          <a:xfrm>
            <a:off x="7743825" y="5213350"/>
            <a:ext cx="4667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#4</a:t>
            </a:r>
          </a:p>
        </p:txBody>
      </p:sp>
      <p:sp>
        <p:nvSpPr>
          <p:cNvPr id="52301" name="Line 76"/>
          <p:cNvSpPr>
            <a:spLocks noChangeShapeType="1"/>
          </p:cNvSpPr>
          <p:nvPr/>
        </p:nvSpPr>
        <p:spPr bwMode="auto">
          <a:xfrm>
            <a:off x="5129213" y="5610225"/>
            <a:ext cx="1203325" cy="376238"/>
          </a:xfrm>
          <a:prstGeom prst="line">
            <a:avLst/>
          </a:prstGeom>
          <a:noFill/>
          <a:ln w="9525">
            <a:solidFill>
              <a:schemeClr val="tx1"/>
            </a:solidFill>
            <a:round/>
            <a:headEnd/>
            <a:tailEnd/>
          </a:ln>
        </p:spPr>
        <p:txBody>
          <a:bodyPr/>
          <a:lstStyle/>
          <a:p>
            <a:endParaRPr lang="zh-CN" altLang="en-US"/>
          </a:p>
        </p:txBody>
      </p:sp>
      <p:sp>
        <p:nvSpPr>
          <p:cNvPr id="52302" name="Line 77"/>
          <p:cNvSpPr>
            <a:spLocks noChangeShapeType="1"/>
          </p:cNvSpPr>
          <p:nvPr/>
        </p:nvSpPr>
        <p:spPr bwMode="auto">
          <a:xfrm>
            <a:off x="6011863" y="5610225"/>
            <a:ext cx="481012" cy="376238"/>
          </a:xfrm>
          <a:prstGeom prst="line">
            <a:avLst/>
          </a:prstGeom>
          <a:noFill/>
          <a:ln w="9525">
            <a:solidFill>
              <a:schemeClr val="tx1"/>
            </a:solidFill>
            <a:round/>
            <a:headEnd/>
            <a:tailEnd/>
          </a:ln>
        </p:spPr>
        <p:txBody>
          <a:bodyPr/>
          <a:lstStyle/>
          <a:p>
            <a:endParaRPr lang="zh-CN" altLang="en-US"/>
          </a:p>
        </p:txBody>
      </p:sp>
      <p:sp>
        <p:nvSpPr>
          <p:cNvPr id="52303" name="Line 78"/>
          <p:cNvSpPr>
            <a:spLocks noChangeShapeType="1"/>
          </p:cNvSpPr>
          <p:nvPr/>
        </p:nvSpPr>
        <p:spPr bwMode="auto">
          <a:xfrm flipH="1">
            <a:off x="6573838" y="5610225"/>
            <a:ext cx="401637" cy="376238"/>
          </a:xfrm>
          <a:prstGeom prst="line">
            <a:avLst/>
          </a:prstGeom>
          <a:noFill/>
          <a:ln w="9525">
            <a:solidFill>
              <a:schemeClr val="tx1"/>
            </a:solidFill>
            <a:round/>
            <a:headEnd/>
            <a:tailEnd/>
          </a:ln>
        </p:spPr>
        <p:txBody>
          <a:bodyPr/>
          <a:lstStyle/>
          <a:p>
            <a:endParaRPr lang="zh-CN" altLang="en-US"/>
          </a:p>
        </p:txBody>
      </p:sp>
      <p:sp>
        <p:nvSpPr>
          <p:cNvPr id="52304" name="Line 79"/>
          <p:cNvSpPr>
            <a:spLocks noChangeShapeType="1"/>
          </p:cNvSpPr>
          <p:nvPr/>
        </p:nvSpPr>
        <p:spPr bwMode="auto">
          <a:xfrm flipV="1">
            <a:off x="6734175" y="5610225"/>
            <a:ext cx="1203325" cy="376238"/>
          </a:xfrm>
          <a:prstGeom prst="line">
            <a:avLst/>
          </a:prstGeom>
          <a:noFill/>
          <a:ln w="9525">
            <a:solidFill>
              <a:schemeClr val="tx1"/>
            </a:solidFill>
            <a:round/>
            <a:headEnd/>
            <a:tailEnd/>
          </a:ln>
        </p:spPr>
        <p:txBody>
          <a:bodyPr/>
          <a:lstStyle/>
          <a:p>
            <a:endParaRPr lang="zh-CN" altLang="en-US"/>
          </a:p>
        </p:txBody>
      </p:sp>
      <p:sp>
        <p:nvSpPr>
          <p:cNvPr id="52305" name="Text Box 80"/>
          <p:cNvSpPr txBox="1">
            <a:spLocks noChangeArrowheads="1"/>
          </p:cNvSpPr>
          <p:nvPr/>
        </p:nvSpPr>
        <p:spPr bwMode="auto">
          <a:xfrm>
            <a:off x="93663" y="2976563"/>
            <a:ext cx="692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用户</a:t>
            </a:r>
          </a:p>
        </p:txBody>
      </p:sp>
      <p:sp>
        <p:nvSpPr>
          <p:cNvPr id="52306" name="Line 81"/>
          <p:cNvSpPr>
            <a:spLocks noChangeShapeType="1"/>
          </p:cNvSpPr>
          <p:nvPr/>
        </p:nvSpPr>
        <p:spPr bwMode="auto">
          <a:xfrm>
            <a:off x="557213" y="3948113"/>
            <a:ext cx="2646362" cy="0"/>
          </a:xfrm>
          <a:prstGeom prst="line">
            <a:avLst/>
          </a:prstGeom>
          <a:noFill/>
          <a:ln w="28575">
            <a:solidFill>
              <a:srgbClr val="333399"/>
            </a:solidFill>
            <a:round/>
            <a:headEnd/>
            <a:tailEnd type="triangle" w="sm" len="med"/>
          </a:ln>
        </p:spPr>
        <p:txBody>
          <a:bodyPr/>
          <a:lstStyle/>
          <a:p>
            <a:endParaRPr lang="zh-CN" altLang="en-US"/>
          </a:p>
        </p:txBody>
      </p:sp>
      <p:sp>
        <p:nvSpPr>
          <p:cNvPr id="52307" name="Line 82"/>
          <p:cNvSpPr>
            <a:spLocks noChangeShapeType="1"/>
          </p:cNvSpPr>
          <p:nvPr/>
        </p:nvSpPr>
        <p:spPr bwMode="auto">
          <a:xfrm>
            <a:off x="557213" y="4700588"/>
            <a:ext cx="2646362" cy="0"/>
          </a:xfrm>
          <a:prstGeom prst="line">
            <a:avLst/>
          </a:prstGeom>
          <a:noFill/>
          <a:ln w="28575">
            <a:solidFill>
              <a:srgbClr val="333399"/>
            </a:solidFill>
            <a:round/>
            <a:headEnd/>
            <a:tailEnd type="triangle" w="sm" len="med"/>
          </a:ln>
        </p:spPr>
        <p:txBody>
          <a:bodyPr/>
          <a:lstStyle/>
          <a:p>
            <a:endParaRPr lang="zh-CN" altLang="en-US"/>
          </a:p>
        </p:txBody>
      </p:sp>
      <p:sp>
        <p:nvSpPr>
          <p:cNvPr id="52308" name="Line 83"/>
          <p:cNvSpPr>
            <a:spLocks noChangeShapeType="1"/>
          </p:cNvSpPr>
          <p:nvPr/>
        </p:nvSpPr>
        <p:spPr bwMode="auto">
          <a:xfrm>
            <a:off x="557213" y="5451475"/>
            <a:ext cx="2646362" cy="0"/>
          </a:xfrm>
          <a:prstGeom prst="line">
            <a:avLst/>
          </a:prstGeom>
          <a:noFill/>
          <a:ln w="28575">
            <a:solidFill>
              <a:srgbClr val="333399"/>
            </a:solidFill>
            <a:round/>
            <a:headEnd/>
            <a:tailEnd type="triangle" w="sm" len="med"/>
          </a:ln>
        </p:spPr>
        <p:txBody>
          <a:bodyPr/>
          <a:lstStyle/>
          <a:p>
            <a:endParaRPr lang="zh-CN" altLang="en-US"/>
          </a:p>
        </p:txBody>
      </p:sp>
      <p:sp>
        <p:nvSpPr>
          <p:cNvPr id="52309" name="Line 84"/>
          <p:cNvSpPr>
            <a:spLocks noChangeShapeType="1"/>
          </p:cNvSpPr>
          <p:nvPr/>
        </p:nvSpPr>
        <p:spPr bwMode="auto">
          <a:xfrm>
            <a:off x="557213" y="6203950"/>
            <a:ext cx="2646362" cy="0"/>
          </a:xfrm>
          <a:prstGeom prst="line">
            <a:avLst/>
          </a:prstGeom>
          <a:noFill/>
          <a:ln w="28575">
            <a:solidFill>
              <a:srgbClr val="333399"/>
            </a:solidFill>
            <a:round/>
            <a:headEnd/>
            <a:tailEnd type="triangle" w="sm" len="med"/>
          </a:ln>
        </p:spPr>
        <p:txBody>
          <a:bodyPr/>
          <a:lstStyle/>
          <a:p>
            <a:endParaRPr lang="zh-CN" altLang="en-US"/>
          </a:p>
        </p:txBody>
      </p:sp>
      <p:grpSp>
        <p:nvGrpSpPr>
          <p:cNvPr id="52310" name="Group 85"/>
          <p:cNvGrpSpPr>
            <a:grpSpLocks/>
          </p:cNvGrpSpPr>
          <p:nvPr/>
        </p:nvGrpSpPr>
        <p:grpSpPr bwMode="auto">
          <a:xfrm>
            <a:off x="4572000" y="4506913"/>
            <a:ext cx="3830638" cy="1079500"/>
            <a:chOff x="1655" y="1570"/>
            <a:chExt cx="2904" cy="1497"/>
          </a:xfrm>
        </p:grpSpPr>
        <p:sp>
          <p:nvSpPr>
            <p:cNvPr id="52312" name="Line 86"/>
            <p:cNvSpPr>
              <a:spLocks noChangeShapeType="1"/>
            </p:cNvSpPr>
            <p:nvPr/>
          </p:nvSpPr>
          <p:spPr bwMode="auto">
            <a:xfrm>
              <a:off x="1655" y="1570"/>
              <a:ext cx="0" cy="1497"/>
            </a:xfrm>
            <a:prstGeom prst="line">
              <a:avLst/>
            </a:prstGeom>
            <a:noFill/>
            <a:ln w="28575">
              <a:solidFill>
                <a:schemeClr val="hlink"/>
              </a:solidFill>
              <a:prstDash val="dash"/>
              <a:round/>
              <a:headEnd/>
              <a:tailEnd/>
            </a:ln>
          </p:spPr>
          <p:txBody>
            <a:bodyPr/>
            <a:lstStyle/>
            <a:p>
              <a:endParaRPr lang="zh-CN" altLang="en-US"/>
            </a:p>
          </p:txBody>
        </p:sp>
        <p:sp>
          <p:nvSpPr>
            <p:cNvPr id="52313" name="Line 87"/>
            <p:cNvSpPr>
              <a:spLocks noChangeShapeType="1"/>
            </p:cNvSpPr>
            <p:nvPr/>
          </p:nvSpPr>
          <p:spPr bwMode="auto">
            <a:xfrm>
              <a:off x="2381" y="1570"/>
              <a:ext cx="0" cy="1497"/>
            </a:xfrm>
            <a:prstGeom prst="line">
              <a:avLst/>
            </a:prstGeom>
            <a:noFill/>
            <a:ln w="28575">
              <a:solidFill>
                <a:schemeClr val="hlink"/>
              </a:solidFill>
              <a:prstDash val="dash"/>
              <a:round/>
              <a:headEnd/>
              <a:tailEnd/>
            </a:ln>
          </p:spPr>
          <p:txBody>
            <a:bodyPr/>
            <a:lstStyle/>
            <a:p>
              <a:endParaRPr lang="zh-CN" altLang="en-US"/>
            </a:p>
          </p:txBody>
        </p:sp>
        <p:sp>
          <p:nvSpPr>
            <p:cNvPr id="52314" name="Line 88"/>
            <p:cNvSpPr>
              <a:spLocks noChangeShapeType="1"/>
            </p:cNvSpPr>
            <p:nvPr/>
          </p:nvSpPr>
          <p:spPr bwMode="auto">
            <a:xfrm>
              <a:off x="3107" y="1570"/>
              <a:ext cx="0" cy="1497"/>
            </a:xfrm>
            <a:prstGeom prst="line">
              <a:avLst/>
            </a:prstGeom>
            <a:noFill/>
            <a:ln w="28575">
              <a:solidFill>
                <a:schemeClr val="hlink"/>
              </a:solidFill>
              <a:prstDash val="dash"/>
              <a:round/>
              <a:headEnd/>
              <a:tailEnd/>
            </a:ln>
          </p:spPr>
          <p:txBody>
            <a:bodyPr/>
            <a:lstStyle/>
            <a:p>
              <a:endParaRPr lang="zh-CN" altLang="en-US"/>
            </a:p>
          </p:txBody>
        </p:sp>
        <p:sp>
          <p:nvSpPr>
            <p:cNvPr id="52315" name="Line 89"/>
            <p:cNvSpPr>
              <a:spLocks noChangeShapeType="1"/>
            </p:cNvSpPr>
            <p:nvPr/>
          </p:nvSpPr>
          <p:spPr bwMode="auto">
            <a:xfrm>
              <a:off x="3833" y="1570"/>
              <a:ext cx="0" cy="1497"/>
            </a:xfrm>
            <a:prstGeom prst="line">
              <a:avLst/>
            </a:prstGeom>
            <a:noFill/>
            <a:ln w="28575">
              <a:solidFill>
                <a:schemeClr val="hlink"/>
              </a:solidFill>
              <a:prstDash val="dash"/>
              <a:round/>
              <a:headEnd/>
              <a:tailEnd/>
            </a:ln>
          </p:spPr>
          <p:txBody>
            <a:bodyPr/>
            <a:lstStyle/>
            <a:p>
              <a:endParaRPr lang="zh-CN" altLang="en-US"/>
            </a:p>
          </p:txBody>
        </p:sp>
        <p:sp>
          <p:nvSpPr>
            <p:cNvPr id="52316" name="Line 90"/>
            <p:cNvSpPr>
              <a:spLocks noChangeShapeType="1"/>
            </p:cNvSpPr>
            <p:nvPr/>
          </p:nvSpPr>
          <p:spPr bwMode="auto">
            <a:xfrm>
              <a:off x="4559" y="1570"/>
              <a:ext cx="0" cy="1497"/>
            </a:xfrm>
            <a:prstGeom prst="line">
              <a:avLst/>
            </a:prstGeom>
            <a:noFill/>
            <a:ln w="28575">
              <a:solidFill>
                <a:schemeClr val="hlink"/>
              </a:solidFill>
              <a:prstDash val="dash"/>
              <a:round/>
              <a:headEnd/>
              <a:tailEnd/>
            </a:ln>
          </p:spPr>
          <p:txBody>
            <a:bodyPr/>
            <a:lstStyle/>
            <a:p>
              <a:endParaRPr lang="zh-CN" altLang="en-US"/>
            </a:p>
          </p:txBody>
        </p:sp>
      </p:grpSp>
      <p:sp>
        <p:nvSpPr>
          <p:cNvPr id="52311" name="Text Box 91"/>
          <p:cNvSpPr txBox="1">
            <a:spLocks noChangeArrowheads="1"/>
          </p:cNvSpPr>
          <p:nvPr/>
        </p:nvSpPr>
        <p:spPr bwMode="auto">
          <a:xfrm>
            <a:off x="1773238" y="1844675"/>
            <a:ext cx="5822950" cy="1187450"/>
          </a:xfrm>
          <a:prstGeom prst="rect">
            <a:avLst/>
          </a:prstGeom>
          <a:noFill/>
          <a:ln w="9525">
            <a:noFill/>
            <a:miter lim="800000"/>
            <a:headEnd/>
            <a:tailEnd/>
          </a:ln>
        </p:spPr>
        <p:txBody>
          <a:bodyPr wrap="none">
            <a:spAutoFit/>
          </a:bodyPr>
          <a:lstStyle/>
          <a:p>
            <a:pPr algn="l"/>
            <a:r>
              <a:rPr lang="zh-CN" altLang="en-US">
                <a:solidFill>
                  <a:schemeClr val="folHlink"/>
                </a:solidFill>
                <a:latin typeface="黑体" pitchFamily="49" charset="-122"/>
                <a:ea typeface="黑体" pitchFamily="49" charset="-122"/>
              </a:rPr>
              <a:t>使用时分复用系统传送计算机数据时，</a:t>
            </a:r>
          </a:p>
          <a:p>
            <a:pPr algn="l"/>
            <a:r>
              <a:rPr lang="zh-CN" altLang="en-US">
                <a:solidFill>
                  <a:schemeClr val="folHlink"/>
                </a:solidFill>
                <a:latin typeface="黑体" pitchFamily="49" charset="-122"/>
                <a:ea typeface="黑体" pitchFamily="49" charset="-122"/>
              </a:rPr>
              <a:t>由于计算机数据的突发性质，用户对</a:t>
            </a:r>
          </a:p>
          <a:p>
            <a:pPr algn="l"/>
            <a:r>
              <a:rPr lang="zh-CN" altLang="en-US">
                <a:solidFill>
                  <a:schemeClr val="folHlink"/>
                </a:solidFill>
                <a:latin typeface="黑体" pitchFamily="49" charset="-122"/>
                <a:ea typeface="黑体" pitchFamily="49" charset="-122"/>
              </a:rPr>
              <a:t>分配到的子信道的利用率一般是不高的。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611560" y="214313"/>
            <a:ext cx="8332415" cy="1462087"/>
          </a:xfrm>
        </p:spPr>
        <p:txBody>
          <a:bodyPr/>
          <a:lstStyle/>
          <a:p>
            <a:pPr algn="ctr" eaLnBrk="1" hangingPunct="1"/>
            <a:r>
              <a:rPr lang="zh-CN" altLang="en-US" dirty="0" smtClean="0"/>
              <a:t>统计时分复用</a:t>
            </a:r>
            <a:r>
              <a:rPr lang="zh-CN" altLang="en-US" sz="3200" dirty="0" smtClean="0"/>
              <a:t> </a:t>
            </a:r>
            <a:r>
              <a:rPr lang="en-US" altLang="zh-CN" dirty="0" smtClean="0"/>
              <a:t>STDM</a:t>
            </a:r>
            <a:br>
              <a:rPr lang="en-US" altLang="zh-CN" dirty="0" smtClean="0"/>
            </a:br>
            <a:r>
              <a:rPr lang="en-US" altLang="zh-CN" dirty="0" smtClean="0"/>
              <a:t>(Statistic TDM)  </a:t>
            </a:r>
          </a:p>
        </p:txBody>
      </p:sp>
      <p:sp>
        <p:nvSpPr>
          <p:cNvPr id="53252" name="Freeform 85"/>
          <p:cNvSpPr>
            <a:spLocks/>
          </p:cNvSpPr>
          <p:nvPr/>
        </p:nvSpPr>
        <p:spPr bwMode="auto">
          <a:xfrm>
            <a:off x="6891338" y="4021138"/>
            <a:ext cx="269875"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3253" name="Freeform 86"/>
          <p:cNvSpPr>
            <a:spLocks/>
          </p:cNvSpPr>
          <p:nvPr/>
        </p:nvSpPr>
        <p:spPr bwMode="auto">
          <a:xfrm>
            <a:off x="7975600" y="4021138"/>
            <a:ext cx="269875"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3254" name="Freeform 87"/>
          <p:cNvSpPr>
            <a:spLocks/>
          </p:cNvSpPr>
          <p:nvPr/>
        </p:nvSpPr>
        <p:spPr bwMode="auto">
          <a:xfrm>
            <a:off x="7613650" y="4021138"/>
            <a:ext cx="271463"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CCCC00"/>
          </a:solidFill>
          <a:ln w="9525">
            <a:solidFill>
              <a:schemeClr val="tx1"/>
            </a:solidFill>
            <a:round/>
            <a:headEnd/>
            <a:tailEnd/>
          </a:ln>
        </p:spPr>
        <p:txBody>
          <a:bodyPr/>
          <a:lstStyle/>
          <a:p>
            <a:endParaRPr lang="zh-CN" altLang="en-US"/>
          </a:p>
        </p:txBody>
      </p:sp>
      <p:sp>
        <p:nvSpPr>
          <p:cNvPr id="53255" name="Freeform 88"/>
          <p:cNvSpPr>
            <a:spLocks/>
          </p:cNvSpPr>
          <p:nvPr/>
        </p:nvSpPr>
        <p:spPr bwMode="auto">
          <a:xfrm>
            <a:off x="7251700" y="4021138"/>
            <a:ext cx="271463"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3256" name="Freeform 89"/>
          <p:cNvSpPr>
            <a:spLocks/>
          </p:cNvSpPr>
          <p:nvPr/>
        </p:nvSpPr>
        <p:spPr bwMode="auto">
          <a:xfrm>
            <a:off x="6529388" y="4021138"/>
            <a:ext cx="271462"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FF99"/>
          </a:solidFill>
          <a:ln w="9525">
            <a:solidFill>
              <a:schemeClr val="tx1"/>
            </a:solidFill>
            <a:round/>
            <a:headEnd/>
            <a:tailEnd/>
          </a:ln>
        </p:spPr>
        <p:txBody>
          <a:bodyPr/>
          <a:lstStyle/>
          <a:p>
            <a:endParaRPr lang="zh-CN" altLang="en-US"/>
          </a:p>
        </p:txBody>
      </p:sp>
      <p:sp>
        <p:nvSpPr>
          <p:cNvPr id="53257" name="Freeform 90"/>
          <p:cNvSpPr>
            <a:spLocks/>
          </p:cNvSpPr>
          <p:nvPr/>
        </p:nvSpPr>
        <p:spPr bwMode="auto">
          <a:xfrm>
            <a:off x="6167438" y="4021138"/>
            <a:ext cx="271462"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FF99"/>
          </a:solidFill>
          <a:ln w="9525">
            <a:solidFill>
              <a:schemeClr val="tx1"/>
            </a:solidFill>
            <a:round/>
            <a:headEnd/>
            <a:tailEnd/>
          </a:ln>
        </p:spPr>
        <p:txBody>
          <a:bodyPr/>
          <a:lstStyle/>
          <a:p>
            <a:endParaRPr lang="zh-CN" altLang="en-US"/>
          </a:p>
        </p:txBody>
      </p:sp>
      <p:sp>
        <p:nvSpPr>
          <p:cNvPr id="53258" name="Freeform 91"/>
          <p:cNvSpPr>
            <a:spLocks/>
          </p:cNvSpPr>
          <p:nvPr/>
        </p:nvSpPr>
        <p:spPr bwMode="auto">
          <a:xfrm>
            <a:off x="5807075" y="4021138"/>
            <a:ext cx="269875"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3259" name="Text Box 92"/>
          <p:cNvSpPr txBox="1">
            <a:spLocks noChangeArrowheads="1"/>
          </p:cNvSpPr>
          <p:nvPr/>
        </p:nvSpPr>
        <p:spPr bwMode="auto">
          <a:xfrm>
            <a:off x="660400" y="2138363"/>
            <a:ext cx="692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用户</a:t>
            </a:r>
          </a:p>
        </p:txBody>
      </p:sp>
      <p:sp>
        <p:nvSpPr>
          <p:cNvPr id="53260" name="Freeform 93"/>
          <p:cNvSpPr>
            <a:spLocks/>
          </p:cNvSpPr>
          <p:nvPr/>
        </p:nvSpPr>
        <p:spPr bwMode="auto">
          <a:xfrm>
            <a:off x="3186113" y="2813050"/>
            <a:ext cx="633412"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3261" name="Freeform 94"/>
          <p:cNvSpPr>
            <a:spLocks/>
          </p:cNvSpPr>
          <p:nvPr/>
        </p:nvSpPr>
        <p:spPr bwMode="auto">
          <a:xfrm>
            <a:off x="1289050" y="3619500"/>
            <a:ext cx="1265238" cy="4016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FFFF99"/>
          </a:solidFill>
          <a:ln w="9525">
            <a:solidFill>
              <a:schemeClr val="tx1"/>
            </a:solidFill>
            <a:round/>
            <a:headEnd/>
            <a:tailEnd/>
          </a:ln>
        </p:spPr>
        <p:txBody>
          <a:bodyPr/>
          <a:lstStyle/>
          <a:p>
            <a:endParaRPr lang="zh-CN" altLang="en-US"/>
          </a:p>
        </p:txBody>
      </p:sp>
      <p:sp>
        <p:nvSpPr>
          <p:cNvPr id="53262" name="Freeform 95"/>
          <p:cNvSpPr>
            <a:spLocks/>
          </p:cNvSpPr>
          <p:nvPr/>
        </p:nvSpPr>
        <p:spPr bwMode="auto">
          <a:xfrm>
            <a:off x="1920875" y="4424363"/>
            <a:ext cx="1265238"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CCECFF"/>
          </a:solidFill>
          <a:ln w="9525">
            <a:solidFill>
              <a:schemeClr val="tx1"/>
            </a:solidFill>
            <a:round/>
            <a:headEnd/>
            <a:tailEnd/>
          </a:ln>
        </p:spPr>
        <p:txBody>
          <a:bodyPr/>
          <a:lstStyle/>
          <a:p>
            <a:endParaRPr lang="zh-CN" altLang="en-US"/>
          </a:p>
        </p:txBody>
      </p:sp>
      <p:sp>
        <p:nvSpPr>
          <p:cNvPr id="53263" name="Freeform 96"/>
          <p:cNvSpPr>
            <a:spLocks/>
          </p:cNvSpPr>
          <p:nvPr/>
        </p:nvSpPr>
        <p:spPr bwMode="auto">
          <a:xfrm>
            <a:off x="2554288" y="5229225"/>
            <a:ext cx="631825"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CCCC00"/>
          </a:solidFill>
          <a:ln w="9525">
            <a:solidFill>
              <a:schemeClr val="tx1"/>
            </a:solidFill>
            <a:round/>
            <a:headEnd/>
            <a:tailEnd/>
          </a:ln>
        </p:spPr>
        <p:txBody>
          <a:bodyPr/>
          <a:lstStyle/>
          <a:p>
            <a:endParaRPr lang="zh-CN" altLang="en-US"/>
          </a:p>
        </p:txBody>
      </p:sp>
      <p:sp>
        <p:nvSpPr>
          <p:cNvPr id="53264" name="Text Box 97"/>
          <p:cNvSpPr txBox="1">
            <a:spLocks noChangeArrowheads="1"/>
          </p:cNvSpPr>
          <p:nvPr/>
        </p:nvSpPr>
        <p:spPr bwMode="auto">
          <a:xfrm>
            <a:off x="755650" y="2776538"/>
            <a:ext cx="354013"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3265" name="Text Box 98"/>
          <p:cNvSpPr txBox="1">
            <a:spLocks noChangeArrowheads="1"/>
          </p:cNvSpPr>
          <p:nvPr/>
        </p:nvSpPr>
        <p:spPr bwMode="auto">
          <a:xfrm>
            <a:off x="755650" y="3581400"/>
            <a:ext cx="354013"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3266" name="Text Box 99"/>
          <p:cNvSpPr txBox="1">
            <a:spLocks noChangeArrowheads="1"/>
          </p:cNvSpPr>
          <p:nvPr/>
        </p:nvSpPr>
        <p:spPr bwMode="auto">
          <a:xfrm>
            <a:off x="755650" y="4387850"/>
            <a:ext cx="3683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3267" name="Text Box 100"/>
          <p:cNvSpPr txBox="1">
            <a:spLocks noChangeArrowheads="1"/>
          </p:cNvSpPr>
          <p:nvPr/>
        </p:nvSpPr>
        <p:spPr bwMode="auto">
          <a:xfrm>
            <a:off x="755650" y="5192713"/>
            <a:ext cx="3683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D</a:t>
            </a:r>
          </a:p>
        </p:txBody>
      </p:sp>
      <p:sp>
        <p:nvSpPr>
          <p:cNvPr id="53268" name="Line 101"/>
          <p:cNvSpPr>
            <a:spLocks noChangeShapeType="1"/>
          </p:cNvSpPr>
          <p:nvPr/>
        </p:nvSpPr>
        <p:spPr bwMode="auto">
          <a:xfrm>
            <a:off x="5535613" y="4424363"/>
            <a:ext cx="2981325" cy="0"/>
          </a:xfrm>
          <a:prstGeom prst="line">
            <a:avLst/>
          </a:prstGeom>
          <a:noFill/>
          <a:ln w="28575">
            <a:solidFill>
              <a:srgbClr val="333399"/>
            </a:solidFill>
            <a:round/>
            <a:headEnd/>
            <a:tailEnd type="triangle" w="sm" len="med"/>
          </a:ln>
        </p:spPr>
        <p:txBody>
          <a:bodyPr/>
          <a:lstStyle/>
          <a:p>
            <a:endParaRPr lang="zh-CN" altLang="en-US"/>
          </a:p>
        </p:txBody>
      </p:sp>
      <p:sp>
        <p:nvSpPr>
          <p:cNvPr id="53269" name="Text Box 102"/>
          <p:cNvSpPr txBox="1">
            <a:spLocks noChangeArrowheads="1"/>
          </p:cNvSpPr>
          <p:nvPr/>
        </p:nvSpPr>
        <p:spPr bwMode="auto">
          <a:xfrm>
            <a:off x="3322638" y="2797175"/>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3270" name="Text Box 105"/>
          <p:cNvSpPr txBox="1">
            <a:spLocks noChangeArrowheads="1"/>
          </p:cNvSpPr>
          <p:nvPr/>
        </p:nvSpPr>
        <p:spPr bwMode="auto">
          <a:xfrm>
            <a:off x="1477963" y="3605213"/>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3271" name="Text Box 106"/>
          <p:cNvSpPr txBox="1">
            <a:spLocks noChangeArrowheads="1"/>
          </p:cNvSpPr>
          <p:nvPr/>
        </p:nvSpPr>
        <p:spPr bwMode="auto">
          <a:xfrm>
            <a:off x="2705100" y="4400550"/>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3272" name="Text Box 107"/>
          <p:cNvSpPr txBox="1">
            <a:spLocks noChangeArrowheads="1"/>
          </p:cNvSpPr>
          <p:nvPr/>
        </p:nvSpPr>
        <p:spPr bwMode="auto">
          <a:xfrm>
            <a:off x="2708275" y="5229225"/>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d</a:t>
            </a:r>
          </a:p>
        </p:txBody>
      </p:sp>
      <p:sp>
        <p:nvSpPr>
          <p:cNvPr id="53273" name="Text Box 111"/>
          <p:cNvSpPr txBox="1">
            <a:spLocks noChangeArrowheads="1"/>
          </p:cNvSpPr>
          <p:nvPr/>
        </p:nvSpPr>
        <p:spPr bwMode="auto">
          <a:xfrm>
            <a:off x="4067175" y="2852738"/>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3274" name="Text Box 112"/>
          <p:cNvSpPr txBox="1">
            <a:spLocks noChangeArrowheads="1"/>
          </p:cNvSpPr>
          <p:nvPr/>
        </p:nvSpPr>
        <p:spPr bwMode="auto">
          <a:xfrm>
            <a:off x="4067175" y="3676650"/>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3275" name="Text Box 113"/>
          <p:cNvSpPr txBox="1">
            <a:spLocks noChangeArrowheads="1"/>
          </p:cNvSpPr>
          <p:nvPr/>
        </p:nvSpPr>
        <p:spPr bwMode="auto">
          <a:xfrm>
            <a:off x="4067175" y="4502150"/>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3276" name="Text Box 114"/>
          <p:cNvSpPr txBox="1">
            <a:spLocks noChangeArrowheads="1"/>
          </p:cNvSpPr>
          <p:nvPr/>
        </p:nvSpPr>
        <p:spPr bwMode="auto">
          <a:xfrm>
            <a:off x="4067175" y="5326063"/>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3277" name="Text Box 115"/>
          <p:cNvSpPr txBox="1">
            <a:spLocks noChangeArrowheads="1"/>
          </p:cNvSpPr>
          <p:nvPr/>
        </p:nvSpPr>
        <p:spPr bwMode="auto">
          <a:xfrm>
            <a:off x="8426450" y="4002088"/>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3278" name="Line 116"/>
          <p:cNvSpPr>
            <a:spLocks noChangeShapeType="1"/>
          </p:cNvSpPr>
          <p:nvPr/>
        </p:nvSpPr>
        <p:spPr bwMode="auto">
          <a:xfrm>
            <a:off x="1920875" y="3921125"/>
            <a:ext cx="0" cy="100013"/>
          </a:xfrm>
          <a:prstGeom prst="line">
            <a:avLst/>
          </a:prstGeom>
          <a:noFill/>
          <a:ln w="9525">
            <a:solidFill>
              <a:schemeClr val="tx1"/>
            </a:solidFill>
            <a:round/>
            <a:headEnd/>
            <a:tailEnd/>
          </a:ln>
        </p:spPr>
        <p:txBody>
          <a:bodyPr/>
          <a:lstStyle/>
          <a:p>
            <a:endParaRPr lang="zh-CN" altLang="en-US"/>
          </a:p>
        </p:txBody>
      </p:sp>
      <p:sp>
        <p:nvSpPr>
          <p:cNvPr id="53279" name="Line 117"/>
          <p:cNvSpPr>
            <a:spLocks noChangeShapeType="1"/>
          </p:cNvSpPr>
          <p:nvPr/>
        </p:nvSpPr>
        <p:spPr bwMode="auto">
          <a:xfrm>
            <a:off x="2554288" y="4725988"/>
            <a:ext cx="0" cy="101600"/>
          </a:xfrm>
          <a:prstGeom prst="line">
            <a:avLst/>
          </a:prstGeom>
          <a:noFill/>
          <a:ln w="9525">
            <a:solidFill>
              <a:schemeClr val="tx1"/>
            </a:solidFill>
            <a:round/>
            <a:headEnd/>
            <a:tailEnd/>
          </a:ln>
        </p:spPr>
        <p:txBody>
          <a:bodyPr/>
          <a:lstStyle/>
          <a:p>
            <a:endParaRPr lang="zh-CN" altLang="en-US"/>
          </a:p>
        </p:txBody>
      </p:sp>
      <p:sp>
        <p:nvSpPr>
          <p:cNvPr id="53280" name="Line 118"/>
          <p:cNvSpPr>
            <a:spLocks noChangeShapeType="1"/>
          </p:cNvSpPr>
          <p:nvPr/>
        </p:nvSpPr>
        <p:spPr bwMode="auto">
          <a:xfrm>
            <a:off x="3186113" y="3921125"/>
            <a:ext cx="0" cy="100013"/>
          </a:xfrm>
          <a:prstGeom prst="line">
            <a:avLst/>
          </a:prstGeom>
          <a:noFill/>
          <a:ln w="9525">
            <a:solidFill>
              <a:schemeClr val="tx1"/>
            </a:solidFill>
            <a:round/>
            <a:headEnd/>
            <a:tailEnd/>
          </a:ln>
        </p:spPr>
        <p:txBody>
          <a:bodyPr/>
          <a:lstStyle/>
          <a:p>
            <a:endParaRPr lang="zh-CN" altLang="en-US"/>
          </a:p>
        </p:txBody>
      </p:sp>
      <p:sp>
        <p:nvSpPr>
          <p:cNvPr id="53281" name="Line 119"/>
          <p:cNvSpPr>
            <a:spLocks noChangeShapeType="1"/>
          </p:cNvSpPr>
          <p:nvPr/>
        </p:nvSpPr>
        <p:spPr bwMode="auto">
          <a:xfrm>
            <a:off x="1920875" y="5532438"/>
            <a:ext cx="0" cy="100012"/>
          </a:xfrm>
          <a:prstGeom prst="line">
            <a:avLst/>
          </a:prstGeom>
          <a:noFill/>
          <a:ln w="9525">
            <a:solidFill>
              <a:schemeClr val="tx1"/>
            </a:solidFill>
            <a:round/>
            <a:headEnd/>
            <a:tailEnd/>
          </a:ln>
        </p:spPr>
        <p:txBody>
          <a:bodyPr/>
          <a:lstStyle/>
          <a:p>
            <a:endParaRPr lang="zh-CN" altLang="en-US"/>
          </a:p>
        </p:txBody>
      </p:sp>
      <p:sp>
        <p:nvSpPr>
          <p:cNvPr id="53282" name="Line 120"/>
          <p:cNvSpPr>
            <a:spLocks noChangeShapeType="1"/>
          </p:cNvSpPr>
          <p:nvPr/>
        </p:nvSpPr>
        <p:spPr bwMode="auto">
          <a:xfrm>
            <a:off x="3819525" y="4725988"/>
            <a:ext cx="0" cy="101600"/>
          </a:xfrm>
          <a:prstGeom prst="line">
            <a:avLst/>
          </a:prstGeom>
          <a:noFill/>
          <a:ln w="9525">
            <a:solidFill>
              <a:schemeClr val="tx1"/>
            </a:solidFill>
            <a:round/>
            <a:headEnd/>
            <a:tailEnd/>
          </a:ln>
        </p:spPr>
        <p:txBody>
          <a:bodyPr/>
          <a:lstStyle/>
          <a:p>
            <a:endParaRPr lang="zh-CN" altLang="en-US"/>
          </a:p>
        </p:txBody>
      </p:sp>
      <p:sp>
        <p:nvSpPr>
          <p:cNvPr id="53283" name="Line 121"/>
          <p:cNvSpPr>
            <a:spLocks noChangeShapeType="1"/>
          </p:cNvSpPr>
          <p:nvPr/>
        </p:nvSpPr>
        <p:spPr bwMode="auto">
          <a:xfrm>
            <a:off x="3819525" y="5532438"/>
            <a:ext cx="0" cy="100012"/>
          </a:xfrm>
          <a:prstGeom prst="line">
            <a:avLst/>
          </a:prstGeom>
          <a:noFill/>
          <a:ln w="9525">
            <a:solidFill>
              <a:schemeClr val="tx1"/>
            </a:solidFill>
            <a:round/>
            <a:headEnd/>
            <a:tailEnd/>
          </a:ln>
        </p:spPr>
        <p:txBody>
          <a:bodyPr/>
          <a:lstStyle/>
          <a:p>
            <a:endParaRPr lang="zh-CN" altLang="en-US"/>
          </a:p>
        </p:txBody>
      </p:sp>
      <p:sp>
        <p:nvSpPr>
          <p:cNvPr id="53284" name="Line 122"/>
          <p:cNvSpPr>
            <a:spLocks noChangeShapeType="1"/>
          </p:cNvSpPr>
          <p:nvPr/>
        </p:nvSpPr>
        <p:spPr bwMode="auto">
          <a:xfrm>
            <a:off x="5716588" y="4525963"/>
            <a:ext cx="0" cy="200025"/>
          </a:xfrm>
          <a:prstGeom prst="line">
            <a:avLst/>
          </a:prstGeom>
          <a:noFill/>
          <a:ln w="9525">
            <a:solidFill>
              <a:schemeClr val="tx1"/>
            </a:solidFill>
            <a:round/>
            <a:headEnd/>
            <a:tailEnd/>
          </a:ln>
        </p:spPr>
        <p:txBody>
          <a:bodyPr/>
          <a:lstStyle/>
          <a:p>
            <a:endParaRPr lang="zh-CN" altLang="en-US"/>
          </a:p>
        </p:txBody>
      </p:sp>
      <p:sp>
        <p:nvSpPr>
          <p:cNvPr id="53285" name="Line 123"/>
          <p:cNvSpPr>
            <a:spLocks noChangeShapeType="1"/>
          </p:cNvSpPr>
          <p:nvPr/>
        </p:nvSpPr>
        <p:spPr bwMode="auto">
          <a:xfrm>
            <a:off x="6438900" y="4525963"/>
            <a:ext cx="0" cy="200025"/>
          </a:xfrm>
          <a:prstGeom prst="line">
            <a:avLst/>
          </a:prstGeom>
          <a:noFill/>
          <a:ln w="9525">
            <a:solidFill>
              <a:schemeClr val="tx1"/>
            </a:solidFill>
            <a:round/>
            <a:headEnd/>
            <a:tailEnd/>
          </a:ln>
        </p:spPr>
        <p:txBody>
          <a:bodyPr/>
          <a:lstStyle/>
          <a:p>
            <a:endParaRPr lang="zh-CN" altLang="en-US"/>
          </a:p>
        </p:txBody>
      </p:sp>
      <p:sp>
        <p:nvSpPr>
          <p:cNvPr id="53286" name="Line 124"/>
          <p:cNvSpPr>
            <a:spLocks noChangeShapeType="1"/>
          </p:cNvSpPr>
          <p:nvPr/>
        </p:nvSpPr>
        <p:spPr bwMode="auto">
          <a:xfrm>
            <a:off x="7161213" y="4525963"/>
            <a:ext cx="0" cy="200025"/>
          </a:xfrm>
          <a:prstGeom prst="line">
            <a:avLst/>
          </a:prstGeom>
          <a:noFill/>
          <a:ln w="9525">
            <a:solidFill>
              <a:schemeClr val="tx1"/>
            </a:solidFill>
            <a:round/>
            <a:headEnd/>
            <a:tailEnd/>
          </a:ln>
        </p:spPr>
        <p:txBody>
          <a:bodyPr/>
          <a:lstStyle/>
          <a:p>
            <a:endParaRPr lang="zh-CN" altLang="en-US"/>
          </a:p>
        </p:txBody>
      </p:sp>
      <p:sp>
        <p:nvSpPr>
          <p:cNvPr id="53287" name="Line 125"/>
          <p:cNvSpPr>
            <a:spLocks noChangeShapeType="1"/>
          </p:cNvSpPr>
          <p:nvPr/>
        </p:nvSpPr>
        <p:spPr bwMode="auto">
          <a:xfrm>
            <a:off x="5716588" y="4625975"/>
            <a:ext cx="722312" cy="0"/>
          </a:xfrm>
          <a:prstGeom prst="line">
            <a:avLst/>
          </a:prstGeom>
          <a:noFill/>
          <a:ln w="9525">
            <a:solidFill>
              <a:schemeClr val="tx1"/>
            </a:solidFill>
            <a:round/>
            <a:headEnd type="triangle" w="sm" len="med"/>
            <a:tailEnd type="triangle" w="sm" len="med"/>
          </a:ln>
        </p:spPr>
        <p:txBody>
          <a:bodyPr/>
          <a:lstStyle/>
          <a:p>
            <a:endParaRPr lang="zh-CN" altLang="en-US"/>
          </a:p>
        </p:txBody>
      </p:sp>
      <p:sp>
        <p:nvSpPr>
          <p:cNvPr id="53288" name="Line 126"/>
          <p:cNvSpPr>
            <a:spLocks noChangeShapeType="1"/>
          </p:cNvSpPr>
          <p:nvPr/>
        </p:nvSpPr>
        <p:spPr bwMode="auto">
          <a:xfrm>
            <a:off x="6438900" y="4625975"/>
            <a:ext cx="722313" cy="0"/>
          </a:xfrm>
          <a:prstGeom prst="line">
            <a:avLst/>
          </a:prstGeom>
          <a:noFill/>
          <a:ln w="9525">
            <a:solidFill>
              <a:schemeClr val="tx1"/>
            </a:solidFill>
            <a:round/>
            <a:headEnd type="triangle" w="sm" len="med"/>
            <a:tailEnd type="triangle" w="sm" len="med"/>
          </a:ln>
        </p:spPr>
        <p:txBody>
          <a:bodyPr/>
          <a:lstStyle/>
          <a:p>
            <a:endParaRPr lang="zh-CN" altLang="en-US"/>
          </a:p>
        </p:txBody>
      </p:sp>
      <p:sp>
        <p:nvSpPr>
          <p:cNvPr id="53289" name="Line 127"/>
          <p:cNvSpPr>
            <a:spLocks noChangeShapeType="1"/>
          </p:cNvSpPr>
          <p:nvPr/>
        </p:nvSpPr>
        <p:spPr bwMode="auto">
          <a:xfrm>
            <a:off x="7161213" y="4625975"/>
            <a:ext cx="723900" cy="0"/>
          </a:xfrm>
          <a:prstGeom prst="line">
            <a:avLst/>
          </a:prstGeom>
          <a:noFill/>
          <a:ln w="9525">
            <a:solidFill>
              <a:schemeClr val="tx1"/>
            </a:solidFill>
            <a:round/>
            <a:headEnd type="triangle" w="sm" len="med"/>
            <a:tailEnd type="triangle" w="sm" len="med"/>
          </a:ln>
        </p:spPr>
        <p:txBody>
          <a:bodyPr/>
          <a:lstStyle/>
          <a:p>
            <a:endParaRPr lang="zh-CN" altLang="en-US"/>
          </a:p>
        </p:txBody>
      </p:sp>
      <p:sp>
        <p:nvSpPr>
          <p:cNvPr id="53290" name="Text Box 128"/>
          <p:cNvSpPr txBox="1">
            <a:spLocks noChangeArrowheads="1"/>
          </p:cNvSpPr>
          <p:nvPr/>
        </p:nvSpPr>
        <p:spPr bwMode="auto">
          <a:xfrm>
            <a:off x="6076950" y="5330825"/>
            <a:ext cx="1763713"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3 </a:t>
            </a:r>
            <a:r>
              <a:rPr kumimoji="1" lang="zh-CN" altLang="en-US" sz="2000">
                <a:solidFill>
                  <a:srgbClr val="333399"/>
                </a:solidFill>
                <a:latin typeface="Arial" pitchFamily="34" charset="0"/>
                <a:ea typeface="黑体" pitchFamily="49" charset="-122"/>
              </a:rPr>
              <a:t>个 </a:t>
            </a:r>
            <a:r>
              <a:rPr kumimoji="1" lang="en-US" altLang="zh-CN" sz="2000">
                <a:solidFill>
                  <a:srgbClr val="333399"/>
                </a:solidFill>
                <a:latin typeface="Arial" pitchFamily="34" charset="0"/>
                <a:ea typeface="黑体" pitchFamily="49" charset="-122"/>
              </a:rPr>
              <a:t>STDM </a:t>
            </a:r>
            <a:r>
              <a:rPr kumimoji="1" lang="zh-CN" altLang="en-US" sz="2000">
                <a:solidFill>
                  <a:srgbClr val="333399"/>
                </a:solidFill>
                <a:latin typeface="Arial" pitchFamily="34" charset="0"/>
                <a:ea typeface="黑体" pitchFamily="49" charset="-122"/>
              </a:rPr>
              <a:t>帧</a:t>
            </a:r>
          </a:p>
        </p:txBody>
      </p:sp>
      <p:sp>
        <p:nvSpPr>
          <p:cNvPr id="53291" name="Text Box 129"/>
          <p:cNvSpPr txBox="1">
            <a:spLocks noChangeArrowheads="1"/>
          </p:cNvSpPr>
          <p:nvPr/>
        </p:nvSpPr>
        <p:spPr bwMode="auto">
          <a:xfrm>
            <a:off x="5826125" y="4533900"/>
            <a:ext cx="4667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#1</a:t>
            </a:r>
          </a:p>
        </p:txBody>
      </p:sp>
      <p:sp>
        <p:nvSpPr>
          <p:cNvPr id="53292" name="Line 130"/>
          <p:cNvSpPr>
            <a:spLocks noChangeShapeType="1"/>
          </p:cNvSpPr>
          <p:nvPr/>
        </p:nvSpPr>
        <p:spPr bwMode="auto">
          <a:xfrm>
            <a:off x="4284663" y="3213100"/>
            <a:ext cx="1160462" cy="808038"/>
          </a:xfrm>
          <a:prstGeom prst="line">
            <a:avLst/>
          </a:prstGeom>
          <a:noFill/>
          <a:ln w="28575">
            <a:solidFill>
              <a:srgbClr val="333399"/>
            </a:solidFill>
            <a:round/>
            <a:headEnd/>
            <a:tailEnd type="triangle" w="sm" len="med"/>
          </a:ln>
        </p:spPr>
        <p:txBody>
          <a:bodyPr/>
          <a:lstStyle/>
          <a:p>
            <a:endParaRPr lang="zh-CN" altLang="en-US"/>
          </a:p>
        </p:txBody>
      </p:sp>
      <p:sp>
        <p:nvSpPr>
          <p:cNvPr id="53293" name="Line 131"/>
          <p:cNvSpPr>
            <a:spLocks noChangeShapeType="1"/>
          </p:cNvSpPr>
          <p:nvPr/>
        </p:nvSpPr>
        <p:spPr bwMode="auto">
          <a:xfrm>
            <a:off x="4356100" y="4005263"/>
            <a:ext cx="998538" cy="217487"/>
          </a:xfrm>
          <a:prstGeom prst="line">
            <a:avLst/>
          </a:prstGeom>
          <a:noFill/>
          <a:ln w="28575">
            <a:solidFill>
              <a:srgbClr val="333399"/>
            </a:solidFill>
            <a:round/>
            <a:headEnd/>
            <a:tailEnd type="triangle" w="sm" len="med"/>
          </a:ln>
        </p:spPr>
        <p:txBody>
          <a:bodyPr/>
          <a:lstStyle/>
          <a:p>
            <a:endParaRPr lang="zh-CN" altLang="en-US"/>
          </a:p>
        </p:txBody>
      </p:sp>
      <p:sp>
        <p:nvSpPr>
          <p:cNvPr id="53294" name="Line 132"/>
          <p:cNvSpPr>
            <a:spLocks noChangeShapeType="1"/>
          </p:cNvSpPr>
          <p:nvPr/>
        </p:nvSpPr>
        <p:spPr bwMode="auto">
          <a:xfrm flipV="1">
            <a:off x="4356100" y="4424363"/>
            <a:ext cx="998538" cy="373062"/>
          </a:xfrm>
          <a:prstGeom prst="line">
            <a:avLst/>
          </a:prstGeom>
          <a:noFill/>
          <a:ln w="28575">
            <a:solidFill>
              <a:srgbClr val="333399"/>
            </a:solidFill>
            <a:round/>
            <a:headEnd/>
            <a:tailEnd type="triangle" w="sm" len="med"/>
          </a:ln>
        </p:spPr>
        <p:txBody>
          <a:bodyPr/>
          <a:lstStyle/>
          <a:p>
            <a:endParaRPr lang="zh-CN" altLang="en-US"/>
          </a:p>
        </p:txBody>
      </p:sp>
      <p:sp>
        <p:nvSpPr>
          <p:cNvPr id="53295" name="Line 133"/>
          <p:cNvSpPr>
            <a:spLocks noChangeShapeType="1"/>
          </p:cNvSpPr>
          <p:nvPr/>
        </p:nvSpPr>
        <p:spPr bwMode="auto">
          <a:xfrm flipV="1">
            <a:off x="4284663" y="4625975"/>
            <a:ext cx="1160462" cy="963613"/>
          </a:xfrm>
          <a:prstGeom prst="line">
            <a:avLst/>
          </a:prstGeom>
          <a:noFill/>
          <a:ln w="28575">
            <a:solidFill>
              <a:srgbClr val="333399"/>
            </a:solidFill>
            <a:round/>
            <a:headEnd/>
            <a:tailEnd type="triangle" w="sm" len="med"/>
          </a:ln>
        </p:spPr>
        <p:txBody>
          <a:bodyPr/>
          <a:lstStyle/>
          <a:p>
            <a:endParaRPr lang="zh-CN" altLang="en-US"/>
          </a:p>
        </p:txBody>
      </p:sp>
      <p:sp>
        <p:nvSpPr>
          <p:cNvPr id="53296" name="Text Box 134"/>
          <p:cNvSpPr txBox="1">
            <a:spLocks noChangeArrowheads="1"/>
          </p:cNvSpPr>
          <p:nvPr/>
        </p:nvSpPr>
        <p:spPr bwMode="auto">
          <a:xfrm>
            <a:off x="4356100" y="4941888"/>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④</a:t>
            </a:r>
          </a:p>
        </p:txBody>
      </p:sp>
      <p:sp>
        <p:nvSpPr>
          <p:cNvPr id="53297" name="Text Box 135"/>
          <p:cNvSpPr txBox="1">
            <a:spLocks noChangeArrowheads="1"/>
          </p:cNvSpPr>
          <p:nvPr/>
        </p:nvSpPr>
        <p:spPr bwMode="auto">
          <a:xfrm>
            <a:off x="4284663" y="4292600"/>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③</a:t>
            </a:r>
          </a:p>
        </p:txBody>
      </p:sp>
      <p:sp>
        <p:nvSpPr>
          <p:cNvPr id="53298" name="Text Box 136"/>
          <p:cNvSpPr txBox="1">
            <a:spLocks noChangeArrowheads="1"/>
          </p:cNvSpPr>
          <p:nvPr/>
        </p:nvSpPr>
        <p:spPr bwMode="auto">
          <a:xfrm>
            <a:off x="4284663" y="3644900"/>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②</a:t>
            </a:r>
          </a:p>
        </p:txBody>
      </p:sp>
      <p:sp>
        <p:nvSpPr>
          <p:cNvPr id="53299" name="Text Box 137"/>
          <p:cNvSpPr txBox="1">
            <a:spLocks noChangeArrowheads="1"/>
          </p:cNvSpPr>
          <p:nvPr/>
        </p:nvSpPr>
        <p:spPr bwMode="auto">
          <a:xfrm>
            <a:off x="4427538" y="2997200"/>
            <a:ext cx="438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①</a:t>
            </a:r>
          </a:p>
        </p:txBody>
      </p:sp>
      <p:sp>
        <p:nvSpPr>
          <p:cNvPr id="53300" name="Freeform 138"/>
          <p:cNvSpPr>
            <a:spLocks/>
          </p:cNvSpPr>
          <p:nvPr/>
        </p:nvSpPr>
        <p:spPr bwMode="auto">
          <a:xfrm>
            <a:off x="1289050" y="2813050"/>
            <a:ext cx="631825"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 name="T12" fmla="*/ 0 w 1008"/>
              <a:gd name="T13" fmla="*/ 0 h 192"/>
              <a:gd name="T14" fmla="*/ 1008 w 1008"/>
              <a:gd name="T15" fmla="*/ 192 h 192"/>
            </a:gdLst>
            <a:ahLst/>
            <a:cxnLst>
              <a:cxn ang="T8">
                <a:pos x="T0" y="T1"/>
              </a:cxn>
              <a:cxn ang="T9">
                <a:pos x="T2" y="T3"/>
              </a:cxn>
              <a:cxn ang="T10">
                <a:pos x="T4" y="T5"/>
              </a:cxn>
              <a:cxn ang="T11">
                <a:pos x="T6" y="T7"/>
              </a:cxn>
            </a:cxnLst>
            <a:rect l="T12" t="T13" r="T14" b="T15"/>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3301" name="Line 139"/>
          <p:cNvSpPr>
            <a:spLocks noChangeShapeType="1"/>
          </p:cNvSpPr>
          <p:nvPr/>
        </p:nvSpPr>
        <p:spPr bwMode="auto">
          <a:xfrm>
            <a:off x="3819525" y="3921125"/>
            <a:ext cx="0" cy="100013"/>
          </a:xfrm>
          <a:prstGeom prst="line">
            <a:avLst/>
          </a:prstGeom>
          <a:noFill/>
          <a:ln w="9525">
            <a:solidFill>
              <a:schemeClr val="tx1"/>
            </a:solidFill>
            <a:round/>
            <a:headEnd/>
            <a:tailEnd/>
          </a:ln>
        </p:spPr>
        <p:txBody>
          <a:bodyPr/>
          <a:lstStyle/>
          <a:p>
            <a:endParaRPr lang="zh-CN" altLang="en-US"/>
          </a:p>
        </p:txBody>
      </p:sp>
      <p:sp>
        <p:nvSpPr>
          <p:cNvPr id="53302" name="Line 140"/>
          <p:cNvSpPr>
            <a:spLocks noChangeShapeType="1"/>
          </p:cNvSpPr>
          <p:nvPr/>
        </p:nvSpPr>
        <p:spPr bwMode="auto">
          <a:xfrm>
            <a:off x="1379538" y="5532438"/>
            <a:ext cx="0" cy="100012"/>
          </a:xfrm>
          <a:prstGeom prst="line">
            <a:avLst/>
          </a:prstGeom>
          <a:noFill/>
          <a:ln w="9525">
            <a:solidFill>
              <a:schemeClr val="tx1"/>
            </a:solidFill>
            <a:round/>
            <a:headEnd/>
            <a:tailEnd/>
          </a:ln>
        </p:spPr>
        <p:txBody>
          <a:bodyPr/>
          <a:lstStyle/>
          <a:p>
            <a:endParaRPr lang="zh-CN" altLang="en-US"/>
          </a:p>
        </p:txBody>
      </p:sp>
      <p:sp>
        <p:nvSpPr>
          <p:cNvPr id="53303" name="Text Box 141"/>
          <p:cNvSpPr txBox="1">
            <a:spLocks noChangeArrowheads="1"/>
          </p:cNvSpPr>
          <p:nvPr/>
        </p:nvSpPr>
        <p:spPr bwMode="auto">
          <a:xfrm>
            <a:off x="1447800" y="2781300"/>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3304" name="Text Box 142"/>
          <p:cNvSpPr txBox="1">
            <a:spLocks noChangeArrowheads="1"/>
          </p:cNvSpPr>
          <p:nvPr/>
        </p:nvSpPr>
        <p:spPr bwMode="auto">
          <a:xfrm>
            <a:off x="2068513" y="4387850"/>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3305" name="Text Box 143"/>
          <p:cNvSpPr txBox="1">
            <a:spLocks noChangeArrowheads="1"/>
          </p:cNvSpPr>
          <p:nvPr/>
        </p:nvSpPr>
        <p:spPr bwMode="auto">
          <a:xfrm>
            <a:off x="2098675" y="3608388"/>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3306" name="Line 144"/>
          <p:cNvSpPr>
            <a:spLocks noChangeShapeType="1"/>
          </p:cNvSpPr>
          <p:nvPr/>
        </p:nvSpPr>
        <p:spPr bwMode="auto">
          <a:xfrm>
            <a:off x="6529388" y="4324350"/>
            <a:ext cx="0" cy="100013"/>
          </a:xfrm>
          <a:prstGeom prst="line">
            <a:avLst/>
          </a:prstGeom>
          <a:noFill/>
          <a:ln w="9525">
            <a:solidFill>
              <a:schemeClr val="tx1"/>
            </a:solidFill>
            <a:round/>
            <a:headEnd/>
            <a:tailEnd/>
          </a:ln>
        </p:spPr>
        <p:txBody>
          <a:bodyPr/>
          <a:lstStyle/>
          <a:p>
            <a:endParaRPr lang="zh-CN" altLang="en-US"/>
          </a:p>
        </p:txBody>
      </p:sp>
      <p:sp>
        <p:nvSpPr>
          <p:cNvPr id="53307" name="Line 145"/>
          <p:cNvSpPr>
            <a:spLocks noChangeShapeType="1"/>
          </p:cNvSpPr>
          <p:nvPr/>
        </p:nvSpPr>
        <p:spPr bwMode="auto">
          <a:xfrm>
            <a:off x="6800850" y="4324350"/>
            <a:ext cx="0" cy="100013"/>
          </a:xfrm>
          <a:prstGeom prst="line">
            <a:avLst/>
          </a:prstGeom>
          <a:noFill/>
          <a:ln w="9525">
            <a:solidFill>
              <a:schemeClr val="tx1"/>
            </a:solidFill>
            <a:round/>
            <a:headEnd/>
            <a:tailEnd/>
          </a:ln>
        </p:spPr>
        <p:txBody>
          <a:bodyPr/>
          <a:lstStyle/>
          <a:p>
            <a:endParaRPr lang="zh-CN" altLang="en-US"/>
          </a:p>
        </p:txBody>
      </p:sp>
      <p:sp>
        <p:nvSpPr>
          <p:cNvPr id="53308" name="Line 146"/>
          <p:cNvSpPr>
            <a:spLocks noChangeShapeType="1"/>
          </p:cNvSpPr>
          <p:nvPr/>
        </p:nvSpPr>
        <p:spPr bwMode="auto">
          <a:xfrm>
            <a:off x="7885113" y="4525963"/>
            <a:ext cx="0" cy="200025"/>
          </a:xfrm>
          <a:prstGeom prst="line">
            <a:avLst/>
          </a:prstGeom>
          <a:noFill/>
          <a:ln w="9525">
            <a:solidFill>
              <a:schemeClr val="tx1"/>
            </a:solidFill>
            <a:round/>
            <a:headEnd/>
            <a:tailEnd/>
          </a:ln>
        </p:spPr>
        <p:txBody>
          <a:bodyPr/>
          <a:lstStyle/>
          <a:p>
            <a:endParaRPr lang="zh-CN" altLang="en-US"/>
          </a:p>
        </p:txBody>
      </p:sp>
      <p:sp>
        <p:nvSpPr>
          <p:cNvPr id="53309" name="Line 147"/>
          <p:cNvSpPr>
            <a:spLocks noChangeShapeType="1"/>
          </p:cNvSpPr>
          <p:nvPr/>
        </p:nvSpPr>
        <p:spPr bwMode="auto">
          <a:xfrm>
            <a:off x="7885113" y="4324350"/>
            <a:ext cx="0" cy="100013"/>
          </a:xfrm>
          <a:prstGeom prst="line">
            <a:avLst/>
          </a:prstGeom>
          <a:noFill/>
          <a:ln w="9525">
            <a:solidFill>
              <a:schemeClr val="tx1"/>
            </a:solidFill>
            <a:round/>
            <a:headEnd/>
            <a:tailEnd/>
          </a:ln>
        </p:spPr>
        <p:txBody>
          <a:bodyPr/>
          <a:lstStyle/>
          <a:p>
            <a:endParaRPr lang="zh-CN" altLang="en-US"/>
          </a:p>
        </p:txBody>
      </p:sp>
      <p:sp>
        <p:nvSpPr>
          <p:cNvPr id="53310" name="Text Box 103"/>
          <p:cNvSpPr txBox="1">
            <a:spLocks noChangeArrowheads="1"/>
          </p:cNvSpPr>
          <p:nvPr/>
        </p:nvSpPr>
        <p:spPr bwMode="auto">
          <a:xfrm>
            <a:off x="7951788" y="4005263"/>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3311" name="Text Box 104"/>
          <p:cNvSpPr txBox="1">
            <a:spLocks noChangeArrowheads="1"/>
          </p:cNvSpPr>
          <p:nvPr/>
        </p:nvSpPr>
        <p:spPr bwMode="auto">
          <a:xfrm>
            <a:off x="6145213" y="4005263"/>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3312" name="Text Box 108"/>
          <p:cNvSpPr txBox="1">
            <a:spLocks noChangeArrowheads="1"/>
          </p:cNvSpPr>
          <p:nvPr/>
        </p:nvSpPr>
        <p:spPr bwMode="auto">
          <a:xfrm>
            <a:off x="6484938" y="4005263"/>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b</a:t>
            </a:r>
          </a:p>
        </p:txBody>
      </p:sp>
      <p:sp>
        <p:nvSpPr>
          <p:cNvPr id="53313" name="Text Box 109"/>
          <p:cNvSpPr txBox="1">
            <a:spLocks noChangeArrowheads="1"/>
          </p:cNvSpPr>
          <p:nvPr/>
        </p:nvSpPr>
        <p:spPr bwMode="auto">
          <a:xfrm>
            <a:off x="6845300" y="4005263"/>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3314" name="Text Box 110"/>
          <p:cNvSpPr txBox="1">
            <a:spLocks noChangeArrowheads="1"/>
          </p:cNvSpPr>
          <p:nvPr/>
        </p:nvSpPr>
        <p:spPr bwMode="auto">
          <a:xfrm>
            <a:off x="5776913" y="4005263"/>
            <a:ext cx="325437"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a:t>
            </a:r>
          </a:p>
        </p:txBody>
      </p:sp>
      <p:sp>
        <p:nvSpPr>
          <p:cNvPr id="53315" name="Text Box 148"/>
          <p:cNvSpPr txBox="1">
            <a:spLocks noChangeArrowheads="1"/>
          </p:cNvSpPr>
          <p:nvPr/>
        </p:nvSpPr>
        <p:spPr bwMode="auto">
          <a:xfrm>
            <a:off x="7218363" y="4005263"/>
            <a:ext cx="31115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c</a:t>
            </a:r>
          </a:p>
        </p:txBody>
      </p:sp>
      <p:sp>
        <p:nvSpPr>
          <p:cNvPr id="53316" name="Text Box 149"/>
          <p:cNvSpPr txBox="1">
            <a:spLocks noChangeArrowheads="1"/>
          </p:cNvSpPr>
          <p:nvPr/>
        </p:nvSpPr>
        <p:spPr bwMode="auto">
          <a:xfrm>
            <a:off x="7569200" y="4005263"/>
            <a:ext cx="325438"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d</a:t>
            </a:r>
          </a:p>
        </p:txBody>
      </p:sp>
      <p:sp>
        <p:nvSpPr>
          <p:cNvPr id="53317" name="Freeform 150"/>
          <p:cNvSpPr>
            <a:spLocks/>
          </p:cNvSpPr>
          <p:nvPr/>
        </p:nvSpPr>
        <p:spPr bwMode="auto">
          <a:xfrm>
            <a:off x="5716588"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 name="T12" fmla="*/ 0 w 48"/>
              <a:gd name="T13" fmla="*/ 0 h 192"/>
              <a:gd name="T14" fmla="*/ 48 w 48"/>
              <a:gd name="T15" fmla="*/ 192 h 192"/>
            </a:gdLst>
            <a:ahLst/>
            <a:cxnLst>
              <a:cxn ang="T8">
                <a:pos x="T0" y="T1"/>
              </a:cxn>
              <a:cxn ang="T9">
                <a:pos x="T2" y="T3"/>
              </a:cxn>
              <a:cxn ang="T10">
                <a:pos x="T4" y="T5"/>
              </a:cxn>
              <a:cxn ang="T11">
                <a:pos x="T6" y="T7"/>
              </a:cxn>
            </a:cxnLst>
            <a:rect l="T12" t="T13" r="T14" b="T15"/>
            <a:pathLst>
              <a:path w="48" h="192">
                <a:moveTo>
                  <a:pt x="0" y="192"/>
                </a:moveTo>
                <a:lnTo>
                  <a:pt x="0" y="0"/>
                </a:lnTo>
                <a:lnTo>
                  <a:pt x="48" y="0"/>
                </a:lnTo>
                <a:lnTo>
                  <a:pt x="48" y="192"/>
                </a:lnTo>
              </a:path>
            </a:pathLst>
          </a:custGeom>
          <a:noFill/>
          <a:ln w="9525">
            <a:solidFill>
              <a:schemeClr val="tx1"/>
            </a:solidFill>
            <a:round/>
            <a:headEnd/>
            <a:tailEnd/>
          </a:ln>
        </p:spPr>
        <p:txBody>
          <a:bodyPr/>
          <a:lstStyle/>
          <a:p>
            <a:endParaRPr lang="zh-CN" altLang="en-US"/>
          </a:p>
        </p:txBody>
      </p:sp>
      <p:sp>
        <p:nvSpPr>
          <p:cNvPr id="53318" name="Freeform 151"/>
          <p:cNvSpPr>
            <a:spLocks/>
          </p:cNvSpPr>
          <p:nvPr/>
        </p:nvSpPr>
        <p:spPr bwMode="auto">
          <a:xfrm>
            <a:off x="6076950" y="4021138"/>
            <a:ext cx="90488"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 name="T12" fmla="*/ 0 w 48"/>
              <a:gd name="T13" fmla="*/ 0 h 192"/>
              <a:gd name="T14" fmla="*/ 48 w 48"/>
              <a:gd name="T15" fmla="*/ 192 h 192"/>
            </a:gdLst>
            <a:ahLst/>
            <a:cxnLst>
              <a:cxn ang="T8">
                <a:pos x="T0" y="T1"/>
              </a:cxn>
              <a:cxn ang="T9">
                <a:pos x="T2" y="T3"/>
              </a:cxn>
              <a:cxn ang="T10">
                <a:pos x="T4" y="T5"/>
              </a:cxn>
              <a:cxn ang="T11">
                <a:pos x="T6" y="T7"/>
              </a:cxn>
            </a:cxnLst>
            <a:rect l="T12" t="T13" r="T14" b="T15"/>
            <a:pathLst>
              <a:path w="48" h="192">
                <a:moveTo>
                  <a:pt x="0" y="192"/>
                </a:moveTo>
                <a:lnTo>
                  <a:pt x="0" y="0"/>
                </a:lnTo>
                <a:lnTo>
                  <a:pt x="48" y="0"/>
                </a:lnTo>
                <a:lnTo>
                  <a:pt x="48" y="192"/>
                </a:lnTo>
              </a:path>
            </a:pathLst>
          </a:custGeom>
          <a:noFill/>
          <a:ln w="9525">
            <a:solidFill>
              <a:schemeClr val="tx1"/>
            </a:solidFill>
            <a:round/>
            <a:headEnd/>
            <a:tailEnd/>
          </a:ln>
        </p:spPr>
        <p:txBody>
          <a:bodyPr/>
          <a:lstStyle/>
          <a:p>
            <a:endParaRPr lang="zh-CN" altLang="en-US"/>
          </a:p>
        </p:txBody>
      </p:sp>
      <p:sp>
        <p:nvSpPr>
          <p:cNvPr id="53319" name="Freeform 152"/>
          <p:cNvSpPr>
            <a:spLocks/>
          </p:cNvSpPr>
          <p:nvPr/>
        </p:nvSpPr>
        <p:spPr bwMode="auto">
          <a:xfrm>
            <a:off x="6438900" y="4021138"/>
            <a:ext cx="90488"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 name="T12" fmla="*/ 0 w 48"/>
              <a:gd name="T13" fmla="*/ 0 h 192"/>
              <a:gd name="T14" fmla="*/ 48 w 48"/>
              <a:gd name="T15" fmla="*/ 192 h 192"/>
            </a:gdLst>
            <a:ahLst/>
            <a:cxnLst>
              <a:cxn ang="T8">
                <a:pos x="T0" y="T1"/>
              </a:cxn>
              <a:cxn ang="T9">
                <a:pos x="T2" y="T3"/>
              </a:cxn>
              <a:cxn ang="T10">
                <a:pos x="T4" y="T5"/>
              </a:cxn>
              <a:cxn ang="T11">
                <a:pos x="T6" y="T7"/>
              </a:cxn>
            </a:cxnLst>
            <a:rect l="T12" t="T13" r="T14" b="T15"/>
            <a:pathLst>
              <a:path w="48" h="192">
                <a:moveTo>
                  <a:pt x="0" y="192"/>
                </a:moveTo>
                <a:lnTo>
                  <a:pt x="0" y="0"/>
                </a:lnTo>
                <a:lnTo>
                  <a:pt x="48" y="0"/>
                </a:lnTo>
                <a:lnTo>
                  <a:pt x="48" y="192"/>
                </a:lnTo>
              </a:path>
            </a:pathLst>
          </a:custGeom>
          <a:noFill/>
          <a:ln w="9525">
            <a:solidFill>
              <a:schemeClr val="tx1"/>
            </a:solidFill>
            <a:round/>
            <a:headEnd/>
            <a:tailEnd/>
          </a:ln>
        </p:spPr>
        <p:txBody>
          <a:bodyPr/>
          <a:lstStyle/>
          <a:p>
            <a:endParaRPr lang="zh-CN" altLang="en-US"/>
          </a:p>
        </p:txBody>
      </p:sp>
      <p:sp>
        <p:nvSpPr>
          <p:cNvPr id="53320" name="Freeform 153"/>
          <p:cNvSpPr>
            <a:spLocks/>
          </p:cNvSpPr>
          <p:nvPr/>
        </p:nvSpPr>
        <p:spPr bwMode="auto">
          <a:xfrm>
            <a:off x="6800850" y="4021138"/>
            <a:ext cx="90488"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 name="T12" fmla="*/ 0 w 48"/>
              <a:gd name="T13" fmla="*/ 0 h 192"/>
              <a:gd name="T14" fmla="*/ 48 w 48"/>
              <a:gd name="T15" fmla="*/ 192 h 192"/>
            </a:gdLst>
            <a:ahLst/>
            <a:cxnLst>
              <a:cxn ang="T8">
                <a:pos x="T0" y="T1"/>
              </a:cxn>
              <a:cxn ang="T9">
                <a:pos x="T2" y="T3"/>
              </a:cxn>
              <a:cxn ang="T10">
                <a:pos x="T4" y="T5"/>
              </a:cxn>
              <a:cxn ang="T11">
                <a:pos x="T6" y="T7"/>
              </a:cxn>
            </a:cxnLst>
            <a:rect l="T12" t="T13" r="T14" b="T15"/>
            <a:pathLst>
              <a:path w="48" h="192">
                <a:moveTo>
                  <a:pt x="0" y="192"/>
                </a:moveTo>
                <a:lnTo>
                  <a:pt x="0" y="0"/>
                </a:lnTo>
                <a:lnTo>
                  <a:pt x="48" y="0"/>
                </a:lnTo>
                <a:lnTo>
                  <a:pt x="48" y="192"/>
                </a:lnTo>
              </a:path>
            </a:pathLst>
          </a:custGeom>
          <a:noFill/>
          <a:ln w="9525">
            <a:solidFill>
              <a:schemeClr val="tx1"/>
            </a:solidFill>
            <a:round/>
            <a:headEnd/>
            <a:tailEnd/>
          </a:ln>
        </p:spPr>
        <p:txBody>
          <a:bodyPr/>
          <a:lstStyle/>
          <a:p>
            <a:endParaRPr lang="zh-CN" altLang="en-US"/>
          </a:p>
        </p:txBody>
      </p:sp>
      <p:sp>
        <p:nvSpPr>
          <p:cNvPr id="53321" name="Freeform 154"/>
          <p:cNvSpPr>
            <a:spLocks/>
          </p:cNvSpPr>
          <p:nvPr/>
        </p:nvSpPr>
        <p:spPr bwMode="auto">
          <a:xfrm>
            <a:off x="7161213"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 name="T12" fmla="*/ 0 w 48"/>
              <a:gd name="T13" fmla="*/ 0 h 192"/>
              <a:gd name="T14" fmla="*/ 48 w 48"/>
              <a:gd name="T15" fmla="*/ 192 h 192"/>
            </a:gdLst>
            <a:ahLst/>
            <a:cxnLst>
              <a:cxn ang="T8">
                <a:pos x="T0" y="T1"/>
              </a:cxn>
              <a:cxn ang="T9">
                <a:pos x="T2" y="T3"/>
              </a:cxn>
              <a:cxn ang="T10">
                <a:pos x="T4" y="T5"/>
              </a:cxn>
              <a:cxn ang="T11">
                <a:pos x="T6" y="T7"/>
              </a:cxn>
            </a:cxnLst>
            <a:rect l="T12" t="T13" r="T14" b="T15"/>
            <a:pathLst>
              <a:path w="48" h="192">
                <a:moveTo>
                  <a:pt x="0" y="192"/>
                </a:moveTo>
                <a:lnTo>
                  <a:pt x="0" y="0"/>
                </a:lnTo>
                <a:lnTo>
                  <a:pt x="48" y="0"/>
                </a:lnTo>
                <a:lnTo>
                  <a:pt x="48" y="192"/>
                </a:lnTo>
              </a:path>
            </a:pathLst>
          </a:custGeom>
          <a:noFill/>
          <a:ln w="9525">
            <a:solidFill>
              <a:schemeClr val="tx1"/>
            </a:solidFill>
            <a:round/>
            <a:headEnd/>
            <a:tailEnd/>
          </a:ln>
        </p:spPr>
        <p:txBody>
          <a:bodyPr/>
          <a:lstStyle/>
          <a:p>
            <a:endParaRPr lang="zh-CN" altLang="en-US"/>
          </a:p>
        </p:txBody>
      </p:sp>
      <p:sp>
        <p:nvSpPr>
          <p:cNvPr id="53322" name="Freeform 155"/>
          <p:cNvSpPr>
            <a:spLocks/>
          </p:cNvSpPr>
          <p:nvPr/>
        </p:nvSpPr>
        <p:spPr bwMode="auto">
          <a:xfrm>
            <a:off x="7523163"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 name="T12" fmla="*/ 0 w 48"/>
              <a:gd name="T13" fmla="*/ 0 h 192"/>
              <a:gd name="T14" fmla="*/ 48 w 48"/>
              <a:gd name="T15" fmla="*/ 192 h 192"/>
            </a:gdLst>
            <a:ahLst/>
            <a:cxnLst>
              <a:cxn ang="T8">
                <a:pos x="T0" y="T1"/>
              </a:cxn>
              <a:cxn ang="T9">
                <a:pos x="T2" y="T3"/>
              </a:cxn>
              <a:cxn ang="T10">
                <a:pos x="T4" y="T5"/>
              </a:cxn>
              <a:cxn ang="T11">
                <a:pos x="T6" y="T7"/>
              </a:cxn>
            </a:cxnLst>
            <a:rect l="T12" t="T13" r="T14" b="T15"/>
            <a:pathLst>
              <a:path w="48" h="192">
                <a:moveTo>
                  <a:pt x="0" y="192"/>
                </a:moveTo>
                <a:lnTo>
                  <a:pt x="0" y="0"/>
                </a:lnTo>
                <a:lnTo>
                  <a:pt x="48" y="0"/>
                </a:lnTo>
                <a:lnTo>
                  <a:pt x="48" y="192"/>
                </a:lnTo>
              </a:path>
            </a:pathLst>
          </a:custGeom>
          <a:noFill/>
          <a:ln w="9525">
            <a:solidFill>
              <a:schemeClr val="tx1"/>
            </a:solidFill>
            <a:round/>
            <a:headEnd/>
            <a:tailEnd/>
          </a:ln>
        </p:spPr>
        <p:txBody>
          <a:bodyPr/>
          <a:lstStyle/>
          <a:p>
            <a:endParaRPr lang="zh-CN" altLang="en-US"/>
          </a:p>
        </p:txBody>
      </p:sp>
      <p:sp>
        <p:nvSpPr>
          <p:cNvPr id="53323" name="Freeform 156"/>
          <p:cNvSpPr>
            <a:spLocks/>
          </p:cNvSpPr>
          <p:nvPr/>
        </p:nvSpPr>
        <p:spPr bwMode="auto">
          <a:xfrm>
            <a:off x="7885113"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 name="T12" fmla="*/ 0 w 48"/>
              <a:gd name="T13" fmla="*/ 0 h 192"/>
              <a:gd name="T14" fmla="*/ 48 w 48"/>
              <a:gd name="T15" fmla="*/ 192 h 192"/>
            </a:gdLst>
            <a:ahLst/>
            <a:cxnLst>
              <a:cxn ang="T8">
                <a:pos x="T0" y="T1"/>
              </a:cxn>
              <a:cxn ang="T9">
                <a:pos x="T2" y="T3"/>
              </a:cxn>
              <a:cxn ang="T10">
                <a:pos x="T4" y="T5"/>
              </a:cxn>
              <a:cxn ang="T11">
                <a:pos x="T6" y="T7"/>
              </a:cxn>
            </a:cxnLst>
            <a:rect l="T12" t="T13" r="T14" b="T15"/>
            <a:pathLst>
              <a:path w="48" h="192">
                <a:moveTo>
                  <a:pt x="0" y="192"/>
                </a:moveTo>
                <a:lnTo>
                  <a:pt x="0" y="0"/>
                </a:lnTo>
                <a:lnTo>
                  <a:pt x="48" y="0"/>
                </a:lnTo>
                <a:lnTo>
                  <a:pt x="48" y="192"/>
                </a:lnTo>
              </a:path>
            </a:pathLst>
          </a:custGeom>
          <a:noFill/>
          <a:ln w="9525">
            <a:solidFill>
              <a:schemeClr val="tx1"/>
            </a:solidFill>
            <a:round/>
            <a:headEnd/>
            <a:tailEnd/>
          </a:ln>
        </p:spPr>
        <p:txBody>
          <a:bodyPr/>
          <a:lstStyle/>
          <a:p>
            <a:endParaRPr lang="zh-CN" altLang="en-US"/>
          </a:p>
        </p:txBody>
      </p:sp>
      <p:sp>
        <p:nvSpPr>
          <p:cNvPr id="53324" name="Text Box 157"/>
          <p:cNvSpPr txBox="1">
            <a:spLocks noChangeArrowheads="1"/>
          </p:cNvSpPr>
          <p:nvPr/>
        </p:nvSpPr>
        <p:spPr bwMode="auto">
          <a:xfrm>
            <a:off x="6529388" y="4521200"/>
            <a:ext cx="4667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#2</a:t>
            </a:r>
          </a:p>
        </p:txBody>
      </p:sp>
      <p:sp>
        <p:nvSpPr>
          <p:cNvPr id="53325" name="Text Box 158"/>
          <p:cNvSpPr txBox="1">
            <a:spLocks noChangeArrowheads="1"/>
          </p:cNvSpPr>
          <p:nvPr/>
        </p:nvSpPr>
        <p:spPr bwMode="auto">
          <a:xfrm>
            <a:off x="7232650" y="4508500"/>
            <a:ext cx="4667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#3</a:t>
            </a:r>
          </a:p>
        </p:txBody>
      </p:sp>
      <p:sp>
        <p:nvSpPr>
          <p:cNvPr id="53326" name="Text Box 159"/>
          <p:cNvSpPr txBox="1">
            <a:spLocks noChangeArrowheads="1"/>
          </p:cNvSpPr>
          <p:nvPr/>
        </p:nvSpPr>
        <p:spPr bwMode="auto">
          <a:xfrm>
            <a:off x="4270375" y="2473325"/>
            <a:ext cx="1708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统计时分复用</a:t>
            </a:r>
          </a:p>
        </p:txBody>
      </p:sp>
      <p:sp>
        <p:nvSpPr>
          <p:cNvPr id="53327" name="Line 160"/>
          <p:cNvSpPr>
            <a:spLocks noChangeShapeType="1"/>
          </p:cNvSpPr>
          <p:nvPr/>
        </p:nvSpPr>
        <p:spPr bwMode="auto">
          <a:xfrm>
            <a:off x="6076950" y="4927600"/>
            <a:ext cx="633413" cy="503238"/>
          </a:xfrm>
          <a:prstGeom prst="line">
            <a:avLst/>
          </a:prstGeom>
          <a:noFill/>
          <a:ln w="9525">
            <a:solidFill>
              <a:schemeClr val="tx1"/>
            </a:solidFill>
            <a:round/>
            <a:headEnd/>
            <a:tailEnd/>
          </a:ln>
        </p:spPr>
        <p:txBody>
          <a:bodyPr/>
          <a:lstStyle/>
          <a:p>
            <a:endParaRPr lang="zh-CN" altLang="en-US"/>
          </a:p>
        </p:txBody>
      </p:sp>
      <p:sp>
        <p:nvSpPr>
          <p:cNvPr id="53328" name="Line 161"/>
          <p:cNvSpPr>
            <a:spLocks noChangeShapeType="1"/>
          </p:cNvSpPr>
          <p:nvPr/>
        </p:nvSpPr>
        <p:spPr bwMode="auto">
          <a:xfrm>
            <a:off x="6800850" y="4927600"/>
            <a:ext cx="0" cy="503238"/>
          </a:xfrm>
          <a:prstGeom prst="line">
            <a:avLst/>
          </a:prstGeom>
          <a:noFill/>
          <a:ln w="9525">
            <a:solidFill>
              <a:schemeClr val="tx1"/>
            </a:solidFill>
            <a:round/>
            <a:headEnd/>
            <a:tailEnd/>
          </a:ln>
        </p:spPr>
        <p:txBody>
          <a:bodyPr/>
          <a:lstStyle/>
          <a:p>
            <a:endParaRPr lang="zh-CN" altLang="en-US"/>
          </a:p>
        </p:txBody>
      </p:sp>
      <p:sp>
        <p:nvSpPr>
          <p:cNvPr id="53329" name="Line 162"/>
          <p:cNvSpPr>
            <a:spLocks noChangeShapeType="1"/>
          </p:cNvSpPr>
          <p:nvPr/>
        </p:nvSpPr>
        <p:spPr bwMode="auto">
          <a:xfrm flipH="1">
            <a:off x="6981825" y="4927600"/>
            <a:ext cx="450850" cy="503238"/>
          </a:xfrm>
          <a:prstGeom prst="line">
            <a:avLst/>
          </a:prstGeom>
          <a:noFill/>
          <a:ln w="9525">
            <a:solidFill>
              <a:schemeClr val="tx1"/>
            </a:solidFill>
            <a:round/>
            <a:headEnd/>
            <a:tailEnd/>
          </a:ln>
        </p:spPr>
        <p:txBody>
          <a:bodyPr/>
          <a:lstStyle/>
          <a:p>
            <a:endParaRPr lang="zh-CN" altLang="en-US"/>
          </a:p>
        </p:txBody>
      </p:sp>
      <p:sp>
        <p:nvSpPr>
          <p:cNvPr id="53330" name="Line 163"/>
          <p:cNvSpPr>
            <a:spLocks noChangeShapeType="1"/>
          </p:cNvSpPr>
          <p:nvPr/>
        </p:nvSpPr>
        <p:spPr bwMode="auto">
          <a:xfrm>
            <a:off x="1198563" y="3216275"/>
            <a:ext cx="2981325" cy="0"/>
          </a:xfrm>
          <a:prstGeom prst="line">
            <a:avLst/>
          </a:prstGeom>
          <a:noFill/>
          <a:ln w="28575">
            <a:solidFill>
              <a:srgbClr val="333399"/>
            </a:solidFill>
            <a:round/>
            <a:headEnd/>
            <a:tailEnd type="triangle" w="sm" len="med"/>
          </a:ln>
        </p:spPr>
        <p:txBody>
          <a:bodyPr/>
          <a:lstStyle/>
          <a:p>
            <a:endParaRPr lang="zh-CN" altLang="en-US"/>
          </a:p>
        </p:txBody>
      </p:sp>
      <p:sp>
        <p:nvSpPr>
          <p:cNvPr id="53331" name="Line 164"/>
          <p:cNvSpPr>
            <a:spLocks noChangeShapeType="1"/>
          </p:cNvSpPr>
          <p:nvPr/>
        </p:nvSpPr>
        <p:spPr bwMode="auto">
          <a:xfrm>
            <a:off x="1198563" y="4021138"/>
            <a:ext cx="2981325" cy="0"/>
          </a:xfrm>
          <a:prstGeom prst="line">
            <a:avLst/>
          </a:prstGeom>
          <a:noFill/>
          <a:ln w="28575">
            <a:solidFill>
              <a:srgbClr val="333399"/>
            </a:solidFill>
            <a:round/>
            <a:headEnd/>
            <a:tailEnd type="triangle" w="sm" len="med"/>
          </a:ln>
        </p:spPr>
        <p:txBody>
          <a:bodyPr/>
          <a:lstStyle/>
          <a:p>
            <a:endParaRPr lang="zh-CN" altLang="en-US"/>
          </a:p>
        </p:txBody>
      </p:sp>
      <p:sp>
        <p:nvSpPr>
          <p:cNvPr id="53332" name="Line 165"/>
          <p:cNvSpPr>
            <a:spLocks noChangeShapeType="1"/>
          </p:cNvSpPr>
          <p:nvPr/>
        </p:nvSpPr>
        <p:spPr bwMode="auto">
          <a:xfrm>
            <a:off x="1198563" y="4827588"/>
            <a:ext cx="2981325" cy="0"/>
          </a:xfrm>
          <a:prstGeom prst="line">
            <a:avLst/>
          </a:prstGeom>
          <a:noFill/>
          <a:ln w="28575">
            <a:solidFill>
              <a:srgbClr val="333399"/>
            </a:solidFill>
            <a:round/>
            <a:headEnd/>
            <a:tailEnd type="triangle" w="sm" len="med"/>
          </a:ln>
        </p:spPr>
        <p:txBody>
          <a:bodyPr/>
          <a:lstStyle/>
          <a:p>
            <a:endParaRPr lang="zh-CN" altLang="en-US"/>
          </a:p>
        </p:txBody>
      </p:sp>
      <p:sp>
        <p:nvSpPr>
          <p:cNvPr id="53333" name="Line 166"/>
          <p:cNvSpPr>
            <a:spLocks noChangeShapeType="1"/>
          </p:cNvSpPr>
          <p:nvPr/>
        </p:nvSpPr>
        <p:spPr bwMode="auto">
          <a:xfrm>
            <a:off x="1198563" y="5632450"/>
            <a:ext cx="2981325" cy="0"/>
          </a:xfrm>
          <a:prstGeom prst="line">
            <a:avLst/>
          </a:prstGeom>
          <a:noFill/>
          <a:ln w="28575">
            <a:solidFill>
              <a:srgbClr val="333399"/>
            </a:solidFill>
            <a:round/>
            <a:headEnd/>
            <a:tailEnd type="triangle" w="sm" len="med"/>
          </a:ln>
        </p:spPr>
        <p:txBody>
          <a:bodyPr/>
          <a:lstStyle/>
          <a:p>
            <a:endParaRPr lang="zh-CN" altLang="en-US"/>
          </a:p>
        </p:txBody>
      </p:sp>
      <p:sp>
        <p:nvSpPr>
          <p:cNvPr id="53334" name="Line 170"/>
          <p:cNvSpPr>
            <a:spLocks noChangeShapeType="1"/>
          </p:cNvSpPr>
          <p:nvPr/>
        </p:nvSpPr>
        <p:spPr bwMode="auto">
          <a:xfrm>
            <a:off x="5710238" y="3716338"/>
            <a:ext cx="0" cy="1079500"/>
          </a:xfrm>
          <a:prstGeom prst="line">
            <a:avLst/>
          </a:prstGeom>
          <a:noFill/>
          <a:ln w="28575">
            <a:solidFill>
              <a:schemeClr val="hlink"/>
            </a:solidFill>
            <a:prstDash val="dash"/>
            <a:round/>
            <a:headEnd/>
            <a:tailEnd/>
          </a:ln>
        </p:spPr>
        <p:txBody>
          <a:bodyPr/>
          <a:lstStyle/>
          <a:p>
            <a:endParaRPr lang="zh-CN" altLang="en-US"/>
          </a:p>
        </p:txBody>
      </p:sp>
      <p:sp>
        <p:nvSpPr>
          <p:cNvPr id="53335" name="Line 171"/>
          <p:cNvSpPr>
            <a:spLocks noChangeShapeType="1"/>
          </p:cNvSpPr>
          <p:nvPr/>
        </p:nvSpPr>
        <p:spPr bwMode="auto">
          <a:xfrm>
            <a:off x="6434138" y="3716338"/>
            <a:ext cx="0" cy="1079500"/>
          </a:xfrm>
          <a:prstGeom prst="line">
            <a:avLst/>
          </a:prstGeom>
          <a:noFill/>
          <a:ln w="28575">
            <a:solidFill>
              <a:schemeClr val="hlink"/>
            </a:solidFill>
            <a:prstDash val="dash"/>
            <a:round/>
            <a:headEnd/>
            <a:tailEnd/>
          </a:ln>
        </p:spPr>
        <p:txBody>
          <a:bodyPr/>
          <a:lstStyle/>
          <a:p>
            <a:endParaRPr lang="zh-CN" altLang="en-US"/>
          </a:p>
        </p:txBody>
      </p:sp>
      <p:sp>
        <p:nvSpPr>
          <p:cNvPr id="53336" name="Line 172"/>
          <p:cNvSpPr>
            <a:spLocks noChangeShapeType="1"/>
          </p:cNvSpPr>
          <p:nvPr/>
        </p:nvSpPr>
        <p:spPr bwMode="auto">
          <a:xfrm>
            <a:off x="7158038" y="3716338"/>
            <a:ext cx="0" cy="1079500"/>
          </a:xfrm>
          <a:prstGeom prst="line">
            <a:avLst/>
          </a:prstGeom>
          <a:noFill/>
          <a:ln w="28575">
            <a:solidFill>
              <a:schemeClr val="hlink"/>
            </a:solidFill>
            <a:prstDash val="dash"/>
            <a:round/>
            <a:headEnd/>
            <a:tailEnd/>
          </a:ln>
        </p:spPr>
        <p:txBody>
          <a:bodyPr/>
          <a:lstStyle/>
          <a:p>
            <a:endParaRPr lang="zh-CN" altLang="en-US"/>
          </a:p>
        </p:txBody>
      </p:sp>
      <p:sp>
        <p:nvSpPr>
          <p:cNvPr id="53337" name="Line 173"/>
          <p:cNvSpPr>
            <a:spLocks noChangeShapeType="1"/>
          </p:cNvSpPr>
          <p:nvPr/>
        </p:nvSpPr>
        <p:spPr bwMode="auto">
          <a:xfrm>
            <a:off x="7880350" y="3716338"/>
            <a:ext cx="0" cy="1079500"/>
          </a:xfrm>
          <a:prstGeom prst="line">
            <a:avLst/>
          </a:prstGeom>
          <a:noFill/>
          <a:ln w="28575">
            <a:solidFill>
              <a:schemeClr val="hlink"/>
            </a:solidFill>
            <a:prstDash val="dash"/>
            <a:round/>
            <a:headEnd/>
            <a:tailEnd/>
          </a:ln>
        </p:spPr>
        <p:txBody>
          <a:bodyPr/>
          <a:lstStyle/>
          <a:p>
            <a:endParaRPr lang="zh-CN"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2"/>
          <p:cNvSpPr txBox="1">
            <a:spLocks noChangeArrowheads="1"/>
          </p:cNvSpPr>
          <p:nvPr/>
        </p:nvSpPr>
        <p:spPr bwMode="auto">
          <a:xfrm flipH="1">
            <a:off x="6746875" y="3122613"/>
            <a:ext cx="2220913" cy="2898775"/>
          </a:xfrm>
          <a:prstGeom prst="rect">
            <a:avLst/>
          </a:prstGeom>
          <a:noFill/>
          <a:ln w="9525">
            <a:noFill/>
            <a:miter lim="800000"/>
            <a:headEnd/>
            <a:tailEnd/>
          </a:ln>
        </p:spPr>
        <p:txBody>
          <a:bodyPr wrap="none">
            <a:spAutoFit/>
          </a:bodyPr>
          <a:lstStyle/>
          <a:p>
            <a:pPr algn="l">
              <a:lnSpc>
                <a:spcPct val="115000"/>
              </a:lnSpc>
            </a:pPr>
            <a:r>
              <a:rPr kumimoji="1" lang="en-US" altLang="zh-CN" sz="2000">
                <a:solidFill>
                  <a:srgbClr val="333399"/>
                </a:solidFill>
                <a:latin typeface="Arial" pitchFamily="34" charset="0"/>
              </a:rPr>
              <a:t> 1550 nm           0 </a:t>
            </a:r>
          </a:p>
          <a:p>
            <a:pPr algn="l">
              <a:lnSpc>
                <a:spcPct val="115000"/>
              </a:lnSpc>
            </a:pPr>
            <a:r>
              <a:rPr kumimoji="1" lang="en-US" altLang="zh-CN" sz="2000">
                <a:solidFill>
                  <a:srgbClr val="333399"/>
                </a:solidFill>
                <a:latin typeface="Arial" pitchFamily="34" charset="0"/>
              </a:rPr>
              <a:t> 1551 nm           1</a:t>
            </a:r>
          </a:p>
          <a:p>
            <a:pPr algn="l">
              <a:lnSpc>
                <a:spcPct val="115000"/>
              </a:lnSpc>
            </a:pPr>
            <a:r>
              <a:rPr kumimoji="1" lang="en-US" altLang="zh-CN" sz="2000">
                <a:solidFill>
                  <a:srgbClr val="333399"/>
                </a:solidFill>
                <a:latin typeface="Arial" pitchFamily="34" charset="0"/>
              </a:rPr>
              <a:t> 1552 nm           2</a:t>
            </a:r>
          </a:p>
          <a:p>
            <a:pPr algn="l">
              <a:lnSpc>
                <a:spcPct val="115000"/>
              </a:lnSpc>
            </a:pPr>
            <a:r>
              <a:rPr kumimoji="1" lang="en-US" altLang="zh-CN" sz="2000">
                <a:solidFill>
                  <a:srgbClr val="333399"/>
                </a:solidFill>
                <a:latin typeface="Arial" pitchFamily="34" charset="0"/>
              </a:rPr>
              <a:t> 1553 nm           3</a:t>
            </a:r>
          </a:p>
          <a:p>
            <a:pPr algn="l">
              <a:lnSpc>
                <a:spcPct val="115000"/>
              </a:lnSpc>
            </a:pPr>
            <a:r>
              <a:rPr kumimoji="1" lang="en-US" altLang="zh-CN" sz="2000">
                <a:solidFill>
                  <a:srgbClr val="333399"/>
                </a:solidFill>
                <a:latin typeface="Arial" pitchFamily="34" charset="0"/>
              </a:rPr>
              <a:t> 1554 nm           4</a:t>
            </a:r>
          </a:p>
          <a:p>
            <a:pPr algn="l">
              <a:lnSpc>
                <a:spcPct val="115000"/>
              </a:lnSpc>
            </a:pPr>
            <a:r>
              <a:rPr kumimoji="1" lang="en-US" altLang="zh-CN" sz="2000">
                <a:solidFill>
                  <a:srgbClr val="333399"/>
                </a:solidFill>
                <a:latin typeface="Arial" pitchFamily="34" charset="0"/>
              </a:rPr>
              <a:t> 1555 nm           5</a:t>
            </a:r>
          </a:p>
          <a:p>
            <a:pPr algn="l">
              <a:lnSpc>
                <a:spcPct val="115000"/>
              </a:lnSpc>
            </a:pPr>
            <a:r>
              <a:rPr kumimoji="1" lang="en-US" altLang="zh-CN" sz="2000">
                <a:solidFill>
                  <a:srgbClr val="333399"/>
                </a:solidFill>
                <a:latin typeface="Arial" pitchFamily="34" charset="0"/>
              </a:rPr>
              <a:t> 1556 nm           6</a:t>
            </a:r>
          </a:p>
          <a:p>
            <a:pPr algn="l">
              <a:lnSpc>
                <a:spcPct val="115000"/>
              </a:lnSpc>
            </a:pPr>
            <a:r>
              <a:rPr kumimoji="1" lang="en-US" altLang="zh-CN" sz="2000">
                <a:solidFill>
                  <a:srgbClr val="333399"/>
                </a:solidFill>
                <a:latin typeface="Arial" pitchFamily="34" charset="0"/>
              </a:rPr>
              <a:t> 1557 nm           7</a:t>
            </a:r>
          </a:p>
        </p:txBody>
      </p:sp>
      <p:sp>
        <p:nvSpPr>
          <p:cNvPr id="54276" name="Text Box 3"/>
          <p:cNvSpPr txBox="1">
            <a:spLocks noChangeArrowheads="1"/>
          </p:cNvSpPr>
          <p:nvPr/>
        </p:nvSpPr>
        <p:spPr bwMode="auto">
          <a:xfrm>
            <a:off x="179388" y="3159125"/>
            <a:ext cx="2290762" cy="2898775"/>
          </a:xfrm>
          <a:prstGeom prst="rect">
            <a:avLst/>
          </a:prstGeom>
          <a:noFill/>
          <a:ln w="9525">
            <a:noFill/>
            <a:miter lim="800000"/>
            <a:headEnd/>
            <a:tailEnd/>
          </a:ln>
        </p:spPr>
        <p:txBody>
          <a:bodyPr wrap="none">
            <a:spAutoFit/>
          </a:bodyPr>
          <a:lstStyle/>
          <a:p>
            <a:pPr algn="l">
              <a:lnSpc>
                <a:spcPct val="115000"/>
              </a:lnSpc>
            </a:pPr>
            <a:r>
              <a:rPr kumimoji="1" lang="en-US" altLang="zh-CN" sz="2000">
                <a:solidFill>
                  <a:srgbClr val="333399"/>
                </a:solidFill>
                <a:latin typeface="Arial" pitchFamily="34" charset="0"/>
                <a:ea typeface="黑体" pitchFamily="49" charset="-122"/>
              </a:rPr>
              <a:t>0          1550 nm    </a:t>
            </a:r>
          </a:p>
          <a:p>
            <a:pPr algn="l">
              <a:lnSpc>
                <a:spcPct val="115000"/>
              </a:lnSpc>
            </a:pPr>
            <a:r>
              <a:rPr kumimoji="1" lang="en-US" altLang="zh-CN" sz="2000">
                <a:solidFill>
                  <a:srgbClr val="333399"/>
                </a:solidFill>
                <a:latin typeface="Arial" pitchFamily="34" charset="0"/>
                <a:ea typeface="黑体" pitchFamily="49" charset="-122"/>
              </a:rPr>
              <a:t>1          1551 nm  </a:t>
            </a:r>
          </a:p>
          <a:p>
            <a:pPr algn="l">
              <a:lnSpc>
                <a:spcPct val="115000"/>
              </a:lnSpc>
            </a:pPr>
            <a:r>
              <a:rPr kumimoji="1" lang="en-US" altLang="zh-CN" sz="2000">
                <a:solidFill>
                  <a:srgbClr val="333399"/>
                </a:solidFill>
                <a:latin typeface="Arial" pitchFamily="34" charset="0"/>
                <a:ea typeface="黑体" pitchFamily="49" charset="-122"/>
              </a:rPr>
              <a:t>2          1552 nm  </a:t>
            </a:r>
          </a:p>
          <a:p>
            <a:pPr algn="l">
              <a:lnSpc>
                <a:spcPct val="115000"/>
              </a:lnSpc>
            </a:pPr>
            <a:r>
              <a:rPr kumimoji="1" lang="en-US" altLang="zh-CN" sz="2000">
                <a:solidFill>
                  <a:srgbClr val="333399"/>
                </a:solidFill>
                <a:latin typeface="Arial" pitchFamily="34" charset="0"/>
                <a:ea typeface="黑体" pitchFamily="49" charset="-122"/>
              </a:rPr>
              <a:t>3          1553 nm  </a:t>
            </a:r>
          </a:p>
          <a:p>
            <a:pPr algn="l">
              <a:lnSpc>
                <a:spcPct val="115000"/>
              </a:lnSpc>
            </a:pPr>
            <a:r>
              <a:rPr kumimoji="1" lang="en-US" altLang="zh-CN" sz="2000">
                <a:solidFill>
                  <a:srgbClr val="333399"/>
                </a:solidFill>
                <a:latin typeface="Arial" pitchFamily="34" charset="0"/>
                <a:ea typeface="黑体" pitchFamily="49" charset="-122"/>
              </a:rPr>
              <a:t>4          1554 nm  </a:t>
            </a:r>
          </a:p>
          <a:p>
            <a:pPr algn="l">
              <a:lnSpc>
                <a:spcPct val="115000"/>
              </a:lnSpc>
            </a:pPr>
            <a:r>
              <a:rPr kumimoji="1" lang="en-US" altLang="zh-CN" sz="2000">
                <a:solidFill>
                  <a:srgbClr val="333399"/>
                </a:solidFill>
                <a:latin typeface="Arial" pitchFamily="34" charset="0"/>
                <a:ea typeface="黑体" pitchFamily="49" charset="-122"/>
              </a:rPr>
              <a:t>5          1555 nm  </a:t>
            </a:r>
          </a:p>
          <a:p>
            <a:pPr algn="l">
              <a:lnSpc>
                <a:spcPct val="115000"/>
              </a:lnSpc>
            </a:pPr>
            <a:r>
              <a:rPr kumimoji="1" lang="en-US" altLang="zh-CN" sz="2000">
                <a:solidFill>
                  <a:srgbClr val="333399"/>
                </a:solidFill>
                <a:latin typeface="Arial" pitchFamily="34" charset="0"/>
                <a:ea typeface="黑体" pitchFamily="49" charset="-122"/>
              </a:rPr>
              <a:t>6          1556 nm  </a:t>
            </a:r>
          </a:p>
          <a:p>
            <a:pPr algn="l">
              <a:lnSpc>
                <a:spcPct val="115000"/>
              </a:lnSpc>
            </a:pPr>
            <a:r>
              <a:rPr kumimoji="1" lang="en-US" altLang="zh-CN" sz="2000">
                <a:solidFill>
                  <a:srgbClr val="333399"/>
                </a:solidFill>
                <a:latin typeface="Arial" pitchFamily="34" charset="0"/>
                <a:ea typeface="黑体" pitchFamily="49" charset="-122"/>
              </a:rPr>
              <a:t>7          1557 nm  </a:t>
            </a:r>
          </a:p>
        </p:txBody>
      </p:sp>
      <p:sp>
        <p:nvSpPr>
          <p:cNvPr id="54277" name="Rectangle 4"/>
          <p:cNvSpPr>
            <a:spLocks noGrp="1" noChangeArrowheads="1"/>
          </p:cNvSpPr>
          <p:nvPr>
            <p:ph type="title"/>
          </p:nvPr>
        </p:nvSpPr>
        <p:spPr>
          <a:xfrm>
            <a:off x="539552" y="260350"/>
            <a:ext cx="8404423" cy="1462088"/>
          </a:xfrm>
        </p:spPr>
        <p:txBody>
          <a:bodyPr/>
          <a:lstStyle/>
          <a:p>
            <a:pPr algn="ctr" eaLnBrk="1" hangingPunct="1"/>
            <a:r>
              <a:rPr lang="en-US" altLang="zh-CN" sz="3200" dirty="0" smtClean="0"/>
              <a:t>(3) </a:t>
            </a:r>
            <a:r>
              <a:rPr lang="zh-CN" altLang="en-US" sz="3200" dirty="0" smtClean="0"/>
              <a:t>波分复用 </a:t>
            </a:r>
            <a:r>
              <a:rPr lang="en-US" altLang="zh-CN" sz="3200" dirty="0" smtClean="0"/>
              <a:t>WDM(Wavelength Division Multiplexing)</a:t>
            </a:r>
            <a:r>
              <a:rPr lang="en-US" altLang="zh-CN" sz="3600" dirty="0" smtClean="0"/>
              <a:t> </a:t>
            </a:r>
            <a:r>
              <a:rPr lang="en-US" altLang="zh-CN" sz="3200" dirty="0" smtClean="0"/>
              <a:t> </a:t>
            </a:r>
          </a:p>
        </p:txBody>
      </p:sp>
      <p:sp>
        <p:nvSpPr>
          <p:cNvPr id="150533" name="Rectangle 5"/>
          <p:cNvSpPr>
            <a:spLocks noGrp="1" noChangeArrowheads="1"/>
          </p:cNvSpPr>
          <p:nvPr>
            <p:ph type="body" idx="1"/>
          </p:nvPr>
        </p:nvSpPr>
        <p:spPr>
          <a:xfrm>
            <a:off x="684213" y="1917700"/>
            <a:ext cx="8280400" cy="4114800"/>
          </a:xfrm>
        </p:spPr>
        <p:txBody>
          <a:bodyPr/>
          <a:lstStyle/>
          <a:p>
            <a:pPr eaLnBrk="1" hangingPunct="1"/>
            <a:r>
              <a:rPr lang="zh-CN" altLang="en-US" smtClean="0"/>
              <a:t>波分复用就是光的频分复用。 </a:t>
            </a:r>
          </a:p>
        </p:txBody>
      </p:sp>
      <p:sp>
        <p:nvSpPr>
          <p:cNvPr id="54279" name="Text Box 6"/>
          <p:cNvSpPr txBox="1">
            <a:spLocks noChangeArrowheads="1"/>
          </p:cNvSpPr>
          <p:nvPr/>
        </p:nvSpPr>
        <p:spPr bwMode="auto">
          <a:xfrm>
            <a:off x="3360738" y="2493963"/>
            <a:ext cx="1571625" cy="711200"/>
          </a:xfrm>
          <a:prstGeom prst="rect">
            <a:avLst/>
          </a:prstGeom>
          <a:noFill/>
          <a:ln w="9525">
            <a:solidFill>
              <a:srgbClr val="333399"/>
            </a:solidFill>
            <a:miter lim="800000"/>
            <a:headEnd/>
            <a:tailEnd/>
          </a:ln>
        </p:spPr>
        <p:txBody>
          <a:bodyPr wrap="none">
            <a:spAutoFit/>
          </a:bodyPr>
          <a:lstStyle/>
          <a:p>
            <a:r>
              <a:rPr kumimoji="1" lang="en-US" altLang="zh-CN" sz="2000">
                <a:solidFill>
                  <a:srgbClr val="333399"/>
                </a:solidFill>
                <a:latin typeface="Arial" pitchFamily="34" charset="0"/>
              </a:rPr>
              <a:t>8 </a:t>
            </a:r>
            <a:r>
              <a:rPr kumimoji="1" lang="en-US" altLang="zh-CN" sz="2000">
                <a:solidFill>
                  <a:srgbClr val="333399"/>
                </a:solidFill>
                <a:latin typeface="Arial" pitchFamily="34" charset="0"/>
                <a:sym typeface="Symbol" pitchFamily="18" charset="2"/>
              </a:rPr>
              <a:t> </a:t>
            </a:r>
            <a:r>
              <a:rPr kumimoji="1" lang="en-US" altLang="zh-CN" sz="2000">
                <a:solidFill>
                  <a:srgbClr val="333399"/>
                </a:solidFill>
                <a:latin typeface="Arial" pitchFamily="34" charset="0"/>
              </a:rPr>
              <a:t>2.5 Gb/s</a:t>
            </a:r>
          </a:p>
          <a:p>
            <a:r>
              <a:rPr kumimoji="1" lang="en-US" altLang="zh-CN" sz="2000">
                <a:solidFill>
                  <a:srgbClr val="333399"/>
                </a:solidFill>
                <a:latin typeface="Arial" pitchFamily="34" charset="0"/>
              </a:rPr>
              <a:t>1310 nm</a:t>
            </a:r>
          </a:p>
        </p:txBody>
      </p:sp>
      <p:sp>
        <p:nvSpPr>
          <p:cNvPr id="54280" name="Line 7"/>
          <p:cNvSpPr>
            <a:spLocks noChangeShapeType="1"/>
          </p:cNvSpPr>
          <p:nvPr/>
        </p:nvSpPr>
        <p:spPr bwMode="auto">
          <a:xfrm>
            <a:off x="6873875" y="3533775"/>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1" name="Line 8"/>
          <p:cNvSpPr>
            <a:spLocks noChangeShapeType="1"/>
          </p:cNvSpPr>
          <p:nvPr/>
        </p:nvSpPr>
        <p:spPr bwMode="auto">
          <a:xfrm>
            <a:off x="6873875" y="3884613"/>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2" name="Line 9"/>
          <p:cNvSpPr>
            <a:spLocks noChangeShapeType="1"/>
          </p:cNvSpPr>
          <p:nvPr/>
        </p:nvSpPr>
        <p:spPr bwMode="auto">
          <a:xfrm>
            <a:off x="6873875" y="4233863"/>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3" name="Line 10"/>
          <p:cNvSpPr>
            <a:spLocks noChangeShapeType="1"/>
          </p:cNvSpPr>
          <p:nvPr/>
        </p:nvSpPr>
        <p:spPr bwMode="auto">
          <a:xfrm>
            <a:off x="6873875" y="4586288"/>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4" name="Line 11"/>
          <p:cNvSpPr>
            <a:spLocks noChangeShapeType="1"/>
          </p:cNvSpPr>
          <p:nvPr/>
        </p:nvSpPr>
        <p:spPr bwMode="auto">
          <a:xfrm>
            <a:off x="6873875" y="4935538"/>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5" name="Line 12"/>
          <p:cNvSpPr>
            <a:spLocks noChangeShapeType="1"/>
          </p:cNvSpPr>
          <p:nvPr/>
        </p:nvSpPr>
        <p:spPr bwMode="auto">
          <a:xfrm>
            <a:off x="6873875" y="5287963"/>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6" name="Line 13"/>
          <p:cNvSpPr>
            <a:spLocks noChangeShapeType="1"/>
          </p:cNvSpPr>
          <p:nvPr/>
        </p:nvSpPr>
        <p:spPr bwMode="auto">
          <a:xfrm>
            <a:off x="6873875" y="5637213"/>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7" name="Line 14"/>
          <p:cNvSpPr>
            <a:spLocks noChangeShapeType="1"/>
          </p:cNvSpPr>
          <p:nvPr/>
        </p:nvSpPr>
        <p:spPr bwMode="auto">
          <a:xfrm>
            <a:off x="6873875" y="5989638"/>
            <a:ext cx="2090738"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8" name="Line 15"/>
          <p:cNvSpPr>
            <a:spLocks noChangeShapeType="1"/>
          </p:cNvSpPr>
          <p:nvPr/>
        </p:nvSpPr>
        <p:spPr bwMode="auto">
          <a:xfrm>
            <a:off x="179388" y="3533775"/>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89" name="Line 16"/>
          <p:cNvSpPr>
            <a:spLocks noChangeShapeType="1"/>
          </p:cNvSpPr>
          <p:nvPr/>
        </p:nvSpPr>
        <p:spPr bwMode="auto">
          <a:xfrm>
            <a:off x="179388" y="3884613"/>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90" name="Line 17"/>
          <p:cNvSpPr>
            <a:spLocks noChangeShapeType="1"/>
          </p:cNvSpPr>
          <p:nvPr/>
        </p:nvSpPr>
        <p:spPr bwMode="auto">
          <a:xfrm>
            <a:off x="179388" y="4233863"/>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91" name="Line 18"/>
          <p:cNvSpPr>
            <a:spLocks noChangeShapeType="1"/>
          </p:cNvSpPr>
          <p:nvPr/>
        </p:nvSpPr>
        <p:spPr bwMode="auto">
          <a:xfrm>
            <a:off x="179388" y="4586288"/>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92" name="Line 19"/>
          <p:cNvSpPr>
            <a:spLocks noChangeShapeType="1"/>
          </p:cNvSpPr>
          <p:nvPr/>
        </p:nvSpPr>
        <p:spPr bwMode="auto">
          <a:xfrm>
            <a:off x="179388" y="4935538"/>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93" name="Line 20"/>
          <p:cNvSpPr>
            <a:spLocks noChangeShapeType="1"/>
          </p:cNvSpPr>
          <p:nvPr/>
        </p:nvSpPr>
        <p:spPr bwMode="auto">
          <a:xfrm>
            <a:off x="179388" y="5287963"/>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94" name="Line 21"/>
          <p:cNvSpPr>
            <a:spLocks noChangeShapeType="1"/>
          </p:cNvSpPr>
          <p:nvPr/>
        </p:nvSpPr>
        <p:spPr bwMode="auto">
          <a:xfrm>
            <a:off x="179388" y="5637213"/>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95" name="Line 22"/>
          <p:cNvSpPr>
            <a:spLocks noChangeShapeType="1"/>
          </p:cNvSpPr>
          <p:nvPr/>
        </p:nvSpPr>
        <p:spPr bwMode="auto">
          <a:xfrm>
            <a:off x="179388" y="5989638"/>
            <a:ext cx="2090737" cy="0"/>
          </a:xfrm>
          <a:prstGeom prst="line">
            <a:avLst/>
          </a:prstGeom>
          <a:noFill/>
          <a:ln w="28575">
            <a:solidFill>
              <a:srgbClr val="333399"/>
            </a:solidFill>
            <a:round/>
            <a:headEnd type="none" w="sm" len="med"/>
            <a:tailEnd type="none" w="sm" len="med"/>
          </a:ln>
        </p:spPr>
        <p:txBody>
          <a:bodyPr/>
          <a:lstStyle/>
          <a:p>
            <a:endParaRPr lang="zh-CN" altLang="en-US"/>
          </a:p>
        </p:txBody>
      </p:sp>
      <p:sp>
        <p:nvSpPr>
          <p:cNvPr id="54296" name="Line 23"/>
          <p:cNvSpPr>
            <a:spLocks noChangeShapeType="1"/>
          </p:cNvSpPr>
          <p:nvPr/>
        </p:nvSpPr>
        <p:spPr bwMode="auto">
          <a:xfrm>
            <a:off x="2319338" y="4756150"/>
            <a:ext cx="4498975" cy="0"/>
          </a:xfrm>
          <a:prstGeom prst="line">
            <a:avLst/>
          </a:prstGeom>
          <a:noFill/>
          <a:ln w="28575">
            <a:solidFill>
              <a:srgbClr val="333399"/>
            </a:solidFill>
            <a:round/>
            <a:headEnd/>
            <a:tailEnd/>
          </a:ln>
        </p:spPr>
        <p:txBody>
          <a:bodyPr wrap="none" anchor="ctr"/>
          <a:lstStyle/>
          <a:p>
            <a:endParaRPr lang="zh-CN" altLang="en-US"/>
          </a:p>
        </p:txBody>
      </p:sp>
      <p:sp>
        <p:nvSpPr>
          <p:cNvPr id="150552" name="AutoShape 24"/>
          <p:cNvSpPr>
            <a:spLocks noChangeArrowheads="1"/>
          </p:cNvSpPr>
          <p:nvPr/>
        </p:nvSpPr>
        <p:spPr bwMode="auto">
          <a:xfrm rot="5400000">
            <a:off x="3163887" y="4603751"/>
            <a:ext cx="354013" cy="296862"/>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53" name="Rectangle 25"/>
          <p:cNvSpPr>
            <a:spLocks noChangeArrowheads="1"/>
          </p:cNvSpPr>
          <p:nvPr/>
        </p:nvSpPr>
        <p:spPr bwMode="auto">
          <a:xfrm>
            <a:off x="633413" y="3436938"/>
            <a:ext cx="496887"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54" name="Rectangle 26"/>
          <p:cNvSpPr>
            <a:spLocks noChangeArrowheads="1"/>
          </p:cNvSpPr>
          <p:nvPr/>
        </p:nvSpPr>
        <p:spPr bwMode="auto">
          <a:xfrm>
            <a:off x="633413" y="3786188"/>
            <a:ext cx="496887"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55" name="Rectangle 27"/>
          <p:cNvSpPr>
            <a:spLocks noChangeArrowheads="1"/>
          </p:cNvSpPr>
          <p:nvPr/>
        </p:nvSpPr>
        <p:spPr bwMode="auto">
          <a:xfrm>
            <a:off x="633413" y="4137025"/>
            <a:ext cx="496887"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56" name="Rectangle 28"/>
          <p:cNvSpPr>
            <a:spLocks noChangeArrowheads="1"/>
          </p:cNvSpPr>
          <p:nvPr/>
        </p:nvSpPr>
        <p:spPr bwMode="auto">
          <a:xfrm>
            <a:off x="633413" y="4487863"/>
            <a:ext cx="496887"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57" name="Rectangle 29"/>
          <p:cNvSpPr>
            <a:spLocks noChangeArrowheads="1"/>
          </p:cNvSpPr>
          <p:nvPr/>
        </p:nvSpPr>
        <p:spPr bwMode="auto">
          <a:xfrm>
            <a:off x="633413" y="4838700"/>
            <a:ext cx="496887"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58" name="Rectangle 30"/>
          <p:cNvSpPr>
            <a:spLocks noChangeArrowheads="1"/>
          </p:cNvSpPr>
          <p:nvPr/>
        </p:nvSpPr>
        <p:spPr bwMode="auto">
          <a:xfrm>
            <a:off x="633413" y="5189538"/>
            <a:ext cx="496887"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59" name="Rectangle 31"/>
          <p:cNvSpPr>
            <a:spLocks noChangeArrowheads="1"/>
          </p:cNvSpPr>
          <p:nvPr/>
        </p:nvSpPr>
        <p:spPr bwMode="auto">
          <a:xfrm>
            <a:off x="633413" y="5540375"/>
            <a:ext cx="496887"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0" name="Rectangle 32"/>
          <p:cNvSpPr>
            <a:spLocks noChangeArrowheads="1"/>
          </p:cNvSpPr>
          <p:nvPr/>
        </p:nvSpPr>
        <p:spPr bwMode="auto">
          <a:xfrm>
            <a:off x="633413" y="5889625"/>
            <a:ext cx="496887"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54306" name="Text Box 33"/>
          <p:cNvSpPr txBox="1">
            <a:spLocks noChangeArrowheads="1"/>
          </p:cNvSpPr>
          <p:nvPr/>
        </p:nvSpPr>
        <p:spPr bwMode="auto">
          <a:xfrm>
            <a:off x="3406775" y="3709988"/>
            <a:ext cx="1071563"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rPr>
              <a:t>20 Gb/s</a:t>
            </a:r>
          </a:p>
        </p:txBody>
      </p:sp>
      <p:sp>
        <p:nvSpPr>
          <p:cNvPr id="150562" name="AutoShape 34"/>
          <p:cNvSpPr>
            <a:spLocks noChangeArrowheads="1"/>
          </p:cNvSpPr>
          <p:nvPr/>
        </p:nvSpPr>
        <p:spPr bwMode="auto">
          <a:xfrm rot="-5400000">
            <a:off x="799307" y="4512469"/>
            <a:ext cx="3240087" cy="498475"/>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3" name="AutoShape 35"/>
          <p:cNvSpPr>
            <a:spLocks noChangeArrowheads="1"/>
          </p:cNvSpPr>
          <p:nvPr/>
        </p:nvSpPr>
        <p:spPr bwMode="auto">
          <a:xfrm rot="5400000" flipH="1">
            <a:off x="5005388" y="4513263"/>
            <a:ext cx="3240087" cy="496887"/>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FF9999"/>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4" name="Rectangle 36"/>
          <p:cNvSpPr>
            <a:spLocks noChangeArrowheads="1"/>
          </p:cNvSpPr>
          <p:nvPr/>
        </p:nvSpPr>
        <p:spPr bwMode="auto">
          <a:xfrm>
            <a:off x="7985125" y="3436938"/>
            <a:ext cx="496888"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5" name="Rectangle 37"/>
          <p:cNvSpPr>
            <a:spLocks noChangeArrowheads="1"/>
          </p:cNvSpPr>
          <p:nvPr/>
        </p:nvSpPr>
        <p:spPr bwMode="auto">
          <a:xfrm>
            <a:off x="7985125" y="3786188"/>
            <a:ext cx="496888"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6" name="Rectangle 38"/>
          <p:cNvSpPr>
            <a:spLocks noChangeArrowheads="1"/>
          </p:cNvSpPr>
          <p:nvPr/>
        </p:nvSpPr>
        <p:spPr bwMode="auto">
          <a:xfrm>
            <a:off x="7985125" y="4137025"/>
            <a:ext cx="496888"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7" name="Rectangle 39"/>
          <p:cNvSpPr>
            <a:spLocks noChangeArrowheads="1"/>
          </p:cNvSpPr>
          <p:nvPr/>
        </p:nvSpPr>
        <p:spPr bwMode="auto">
          <a:xfrm>
            <a:off x="7985125" y="4487863"/>
            <a:ext cx="496888"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8" name="Rectangle 40"/>
          <p:cNvSpPr>
            <a:spLocks noChangeArrowheads="1"/>
          </p:cNvSpPr>
          <p:nvPr/>
        </p:nvSpPr>
        <p:spPr bwMode="auto">
          <a:xfrm>
            <a:off x="7985125" y="4838700"/>
            <a:ext cx="496888"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69" name="Rectangle 41"/>
          <p:cNvSpPr>
            <a:spLocks noChangeArrowheads="1"/>
          </p:cNvSpPr>
          <p:nvPr/>
        </p:nvSpPr>
        <p:spPr bwMode="auto">
          <a:xfrm>
            <a:off x="7985125" y="5189538"/>
            <a:ext cx="496888"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70" name="Rectangle 42"/>
          <p:cNvSpPr>
            <a:spLocks noChangeArrowheads="1"/>
          </p:cNvSpPr>
          <p:nvPr/>
        </p:nvSpPr>
        <p:spPr bwMode="auto">
          <a:xfrm>
            <a:off x="7985125" y="5540375"/>
            <a:ext cx="496888"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71" name="Rectangle 43"/>
          <p:cNvSpPr>
            <a:spLocks noChangeArrowheads="1"/>
          </p:cNvSpPr>
          <p:nvPr/>
        </p:nvSpPr>
        <p:spPr bwMode="auto">
          <a:xfrm>
            <a:off x="7985125" y="5889625"/>
            <a:ext cx="496888"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72" name="AutoShape 44"/>
          <p:cNvSpPr>
            <a:spLocks noChangeArrowheads="1"/>
          </p:cNvSpPr>
          <p:nvPr/>
        </p:nvSpPr>
        <p:spPr bwMode="auto">
          <a:xfrm rot="5400000">
            <a:off x="4339431" y="4604544"/>
            <a:ext cx="354013" cy="295275"/>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0573" name="AutoShape 45"/>
          <p:cNvSpPr>
            <a:spLocks noChangeArrowheads="1"/>
          </p:cNvSpPr>
          <p:nvPr/>
        </p:nvSpPr>
        <p:spPr bwMode="auto">
          <a:xfrm rot="5400000">
            <a:off x="5551487" y="4603751"/>
            <a:ext cx="354013" cy="296862"/>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54319" name="Line 46"/>
          <p:cNvSpPr>
            <a:spLocks noChangeShapeType="1"/>
          </p:cNvSpPr>
          <p:nvPr/>
        </p:nvSpPr>
        <p:spPr bwMode="auto">
          <a:xfrm flipH="1">
            <a:off x="3759200" y="4124325"/>
            <a:ext cx="128588" cy="622300"/>
          </a:xfrm>
          <a:prstGeom prst="line">
            <a:avLst/>
          </a:prstGeom>
          <a:noFill/>
          <a:ln w="28575">
            <a:solidFill>
              <a:srgbClr val="333399"/>
            </a:solidFill>
            <a:round/>
            <a:headEnd/>
            <a:tailEnd type="triangle" w="sm" len="med"/>
          </a:ln>
        </p:spPr>
        <p:txBody>
          <a:bodyPr wrap="none" anchor="ctr"/>
          <a:lstStyle/>
          <a:p>
            <a:endParaRPr lang="zh-CN" altLang="en-US"/>
          </a:p>
        </p:txBody>
      </p:sp>
      <p:sp>
        <p:nvSpPr>
          <p:cNvPr id="54320" name="Text Box 47"/>
          <p:cNvSpPr txBox="1">
            <a:spLocks noChangeArrowheads="1"/>
          </p:cNvSpPr>
          <p:nvPr/>
        </p:nvSpPr>
        <p:spPr bwMode="auto">
          <a:xfrm>
            <a:off x="2195513" y="4222750"/>
            <a:ext cx="438150" cy="10064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Times New Roman" pitchFamily="18" charset="0"/>
                <a:ea typeface="黑体" pitchFamily="49" charset="-122"/>
              </a:rPr>
              <a:t>复</a:t>
            </a:r>
          </a:p>
          <a:p>
            <a:pPr algn="l"/>
            <a:r>
              <a:rPr kumimoji="1" lang="zh-CN" altLang="en-US" sz="2000">
                <a:solidFill>
                  <a:srgbClr val="333399"/>
                </a:solidFill>
                <a:latin typeface="Times New Roman" pitchFamily="18" charset="0"/>
                <a:ea typeface="黑体" pitchFamily="49" charset="-122"/>
              </a:rPr>
              <a:t>用</a:t>
            </a:r>
          </a:p>
          <a:p>
            <a:pPr algn="l"/>
            <a:r>
              <a:rPr kumimoji="1" lang="zh-CN" altLang="en-US" sz="2000">
                <a:solidFill>
                  <a:srgbClr val="333399"/>
                </a:solidFill>
                <a:latin typeface="Times New Roman" pitchFamily="18" charset="0"/>
                <a:ea typeface="黑体" pitchFamily="49" charset="-122"/>
              </a:rPr>
              <a:t>器</a:t>
            </a:r>
          </a:p>
        </p:txBody>
      </p:sp>
      <p:sp>
        <p:nvSpPr>
          <p:cNvPr id="54321" name="Text Box 48"/>
          <p:cNvSpPr txBox="1">
            <a:spLocks noChangeArrowheads="1"/>
          </p:cNvSpPr>
          <p:nvPr/>
        </p:nvSpPr>
        <p:spPr bwMode="auto">
          <a:xfrm>
            <a:off x="6405563" y="4222750"/>
            <a:ext cx="438150" cy="10064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Times New Roman" pitchFamily="18" charset="0"/>
                <a:ea typeface="黑体" pitchFamily="49" charset="-122"/>
              </a:rPr>
              <a:t>分</a:t>
            </a:r>
          </a:p>
          <a:p>
            <a:pPr algn="l"/>
            <a:r>
              <a:rPr kumimoji="1" lang="zh-CN" altLang="en-US" sz="2000">
                <a:solidFill>
                  <a:srgbClr val="333399"/>
                </a:solidFill>
                <a:latin typeface="Times New Roman" pitchFamily="18" charset="0"/>
                <a:ea typeface="黑体" pitchFamily="49" charset="-122"/>
              </a:rPr>
              <a:t>用</a:t>
            </a:r>
          </a:p>
          <a:p>
            <a:pPr algn="l"/>
            <a:r>
              <a:rPr kumimoji="1" lang="zh-CN" altLang="en-US" sz="2000">
                <a:solidFill>
                  <a:srgbClr val="333399"/>
                </a:solidFill>
                <a:latin typeface="Times New Roman" pitchFamily="18" charset="0"/>
                <a:ea typeface="黑体" pitchFamily="49" charset="-122"/>
              </a:rPr>
              <a:t>器</a:t>
            </a:r>
          </a:p>
        </p:txBody>
      </p:sp>
      <p:sp>
        <p:nvSpPr>
          <p:cNvPr id="54322" name="Text Box 49"/>
          <p:cNvSpPr txBox="1">
            <a:spLocks noChangeArrowheads="1"/>
          </p:cNvSpPr>
          <p:nvPr/>
        </p:nvSpPr>
        <p:spPr bwMode="auto">
          <a:xfrm>
            <a:off x="4584700" y="3810000"/>
            <a:ext cx="8636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rPr>
              <a:t>EDFA</a:t>
            </a:r>
          </a:p>
        </p:txBody>
      </p:sp>
      <p:sp>
        <p:nvSpPr>
          <p:cNvPr id="54323" name="Line 50"/>
          <p:cNvSpPr>
            <a:spLocks noChangeShapeType="1"/>
          </p:cNvSpPr>
          <p:nvPr/>
        </p:nvSpPr>
        <p:spPr bwMode="auto">
          <a:xfrm flipH="1">
            <a:off x="4545013" y="4221163"/>
            <a:ext cx="438150" cy="431800"/>
          </a:xfrm>
          <a:prstGeom prst="line">
            <a:avLst/>
          </a:prstGeom>
          <a:noFill/>
          <a:ln w="28575">
            <a:solidFill>
              <a:srgbClr val="333399"/>
            </a:solidFill>
            <a:round/>
            <a:headEnd/>
            <a:tailEnd type="triangle" w="sm" len="med"/>
          </a:ln>
        </p:spPr>
        <p:txBody>
          <a:bodyPr wrap="none" anchor="ctr"/>
          <a:lstStyle/>
          <a:p>
            <a:endParaRPr lang="zh-CN" altLang="en-US"/>
          </a:p>
        </p:txBody>
      </p:sp>
      <p:sp>
        <p:nvSpPr>
          <p:cNvPr id="54324" name="Line 51"/>
          <p:cNvSpPr>
            <a:spLocks noChangeShapeType="1"/>
          </p:cNvSpPr>
          <p:nvPr/>
        </p:nvSpPr>
        <p:spPr bwMode="auto">
          <a:xfrm>
            <a:off x="3290888" y="5006975"/>
            <a:ext cx="0" cy="196850"/>
          </a:xfrm>
          <a:prstGeom prst="line">
            <a:avLst/>
          </a:prstGeom>
          <a:noFill/>
          <a:ln w="9525">
            <a:solidFill>
              <a:schemeClr val="tx1"/>
            </a:solidFill>
            <a:round/>
            <a:headEnd/>
            <a:tailEnd/>
          </a:ln>
        </p:spPr>
        <p:txBody>
          <a:bodyPr wrap="none" anchor="ctr"/>
          <a:lstStyle/>
          <a:p>
            <a:endParaRPr lang="zh-CN" altLang="en-US"/>
          </a:p>
        </p:txBody>
      </p:sp>
      <p:sp>
        <p:nvSpPr>
          <p:cNvPr id="54325" name="Line 52"/>
          <p:cNvSpPr>
            <a:spLocks noChangeShapeType="1"/>
          </p:cNvSpPr>
          <p:nvPr/>
        </p:nvSpPr>
        <p:spPr bwMode="auto">
          <a:xfrm>
            <a:off x="4484688" y="5006975"/>
            <a:ext cx="0" cy="196850"/>
          </a:xfrm>
          <a:prstGeom prst="line">
            <a:avLst/>
          </a:prstGeom>
          <a:noFill/>
          <a:ln w="9525">
            <a:solidFill>
              <a:schemeClr val="tx1"/>
            </a:solidFill>
            <a:round/>
            <a:headEnd/>
            <a:tailEnd/>
          </a:ln>
        </p:spPr>
        <p:txBody>
          <a:bodyPr wrap="none" anchor="ctr"/>
          <a:lstStyle/>
          <a:p>
            <a:endParaRPr lang="zh-CN" altLang="en-US"/>
          </a:p>
        </p:txBody>
      </p:sp>
      <p:sp>
        <p:nvSpPr>
          <p:cNvPr id="54326" name="Line 53"/>
          <p:cNvSpPr>
            <a:spLocks noChangeShapeType="1"/>
          </p:cNvSpPr>
          <p:nvPr/>
        </p:nvSpPr>
        <p:spPr bwMode="auto">
          <a:xfrm>
            <a:off x="3287713" y="5103813"/>
            <a:ext cx="1195387" cy="0"/>
          </a:xfrm>
          <a:prstGeom prst="line">
            <a:avLst/>
          </a:prstGeom>
          <a:noFill/>
          <a:ln w="28575">
            <a:solidFill>
              <a:srgbClr val="333399"/>
            </a:solidFill>
            <a:round/>
            <a:headEnd type="triangle" w="sm" len="med"/>
            <a:tailEnd type="triangle" w="sm" len="med"/>
          </a:ln>
        </p:spPr>
        <p:txBody>
          <a:bodyPr wrap="none" anchor="ctr"/>
          <a:lstStyle/>
          <a:p>
            <a:endParaRPr lang="zh-CN" altLang="en-US"/>
          </a:p>
        </p:txBody>
      </p:sp>
      <p:sp>
        <p:nvSpPr>
          <p:cNvPr id="54327" name="Text Box 54"/>
          <p:cNvSpPr txBox="1">
            <a:spLocks noChangeArrowheads="1"/>
          </p:cNvSpPr>
          <p:nvPr/>
        </p:nvSpPr>
        <p:spPr bwMode="auto">
          <a:xfrm>
            <a:off x="3306763" y="5087938"/>
            <a:ext cx="1016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120 km</a:t>
            </a:r>
          </a:p>
        </p:txBody>
      </p:sp>
      <p:sp>
        <p:nvSpPr>
          <p:cNvPr id="54328" name="Text Box 55"/>
          <p:cNvSpPr txBox="1">
            <a:spLocks noChangeArrowheads="1"/>
          </p:cNvSpPr>
          <p:nvPr/>
        </p:nvSpPr>
        <p:spPr bwMode="auto">
          <a:xfrm>
            <a:off x="250825" y="2492375"/>
            <a:ext cx="1403350" cy="457200"/>
          </a:xfrm>
          <a:prstGeom prst="rect">
            <a:avLst/>
          </a:prstGeom>
          <a:noFill/>
          <a:ln w="9525">
            <a:noFill/>
            <a:miter lim="800000"/>
            <a:headEnd/>
            <a:tailEnd/>
          </a:ln>
        </p:spPr>
        <p:txBody>
          <a:bodyPr wrap="none">
            <a:spAutoFit/>
          </a:bodyPr>
          <a:lstStyle/>
          <a:p>
            <a:pPr algn="l"/>
            <a:r>
              <a:rPr lang="zh-CN" altLang="en-US">
                <a:solidFill>
                  <a:srgbClr val="333399"/>
                </a:solidFill>
                <a:ea typeface="黑体" pitchFamily="49" charset="-122"/>
              </a:rPr>
              <a:t>光调制器</a:t>
            </a:r>
          </a:p>
        </p:txBody>
      </p:sp>
      <p:sp>
        <p:nvSpPr>
          <p:cNvPr id="54329" name="Line 56"/>
          <p:cNvSpPr>
            <a:spLocks noChangeShapeType="1"/>
          </p:cNvSpPr>
          <p:nvPr/>
        </p:nvSpPr>
        <p:spPr bwMode="auto">
          <a:xfrm>
            <a:off x="900113" y="2924175"/>
            <a:ext cx="0" cy="504825"/>
          </a:xfrm>
          <a:prstGeom prst="line">
            <a:avLst/>
          </a:prstGeom>
          <a:noFill/>
          <a:ln w="9525">
            <a:solidFill>
              <a:srgbClr val="333399"/>
            </a:solidFill>
            <a:round/>
            <a:headEnd/>
            <a:tailEnd type="triangle" w="med" len="med"/>
          </a:ln>
        </p:spPr>
        <p:txBody>
          <a:bodyPr/>
          <a:lstStyle/>
          <a:p>
            <a:endParaRPr lang="zh-CN" altLang="en-US"/>
          </a:p>
        </p:txBody>
      </p:sp>
      <p:sp>
        <p:nvSpPr>
          <p:cNvPr id="54330" name="Text Box 57"/>
          <p:cNvSpPr txBox="1">
            <a:spLocks noChangeArrowheads="1"/>
          </p:cNvSpPr>
          <p:nvPr/>
        </p:nvSpPr>
        <p:spPr bwMode="auto">
          <a:xfrm>
            <a:off x="7345363" y="2492375"/>
            <a:ext cx="1403350" cy="457200"/>
          </a:xfrm>
          <a:prstGeom prst="rect">
            <a:avLst/>
          </a:prstGeom>
          <a:noFill/>
          <a:ln w="9525">
            <a:noFill/>
            <a:miter lim="800000"/>
            <a:headEnd/>
            <a:tailEnd/>
          </a:ln>
        </p:spPr>
        <p:txBody>
          <a:bodyPr wrap="none">
            <a:spAutoFit/>
          </a:bodyPr>
          <a:lstStyle/>
          <a:p>
            <a:pPr algn="l"/>
            <a:r>
              <a:rPr lang="zh-CN" altLang="en-US">
                <a:solidFill>
                  <a:srgbClr val="333399"/>
                </a:solidFill>
                <a:ea typeface="黑体" pitchFamily="49" charset="-122"/>
              </a:rPr>
              <a:t>光解调器</a:t>
            </a:r>
          </a:p>
        </p:txBody>
      </p:sp>
      <p:sp>
        <p:nvSpPr>
          <p:cNvPr id="54331" name="Line 58"/>
          <p:cNvSpPr>
            <a:spLocks noChangeShapeType="1"/>
          </p:cNvSpPr>
          <p:nvPr/>
        </p:nvSpPr>
        <p:spPr bwMode="auto">
          <a:xfrm>
            <a:off x="8243888" y="2924175"/>
            <a:ext cx="0" cy="504825"/>
          </a:xfrm>
          <a:prstGeom prst="line">
            <a:avLst/>
          </a:prstGeom>
          <a:noFill/>
          <a:ln w="9525">
            <a:solidFill>
              <a:srgbClr val="333399"/>
            </a:solidFill>
            <a:round/>
            <a:headEn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323528" y="260350"/>
            <a:ext cx="8620447" cy="1462088"/>
          </a:xfrm>
        </p:spPr>
        <p:txBody>
          <a:bodyPr/>
          <a:lstStyle/>
          <a:p>
            <a:pPr algn="ctr" eaLnBrk="1" hangingPunct="1"/>
            <a:r>
              <a:rPr lang="en-US" altLang="zh-CN" sz="4000" dirty="0" smtClean="0"/>
              <a:t>(4) </a:t>
            </a:r>
            <a:r>
              <a:rPr lang="zh-CN" altLang="en-US" sz="4000" dirty="0" smtClean="0"/>
              <a:t>码分复用 </a:t>
            </a:r>
            <a:r>
              <a:rPr lang="en-US" altLang="zh-CN" sz="4000" dirty="0" smtClean="0"/>
              <a:t>CDM</a:t>
            </a:r>
            <a:r>
              <a:rPr lang="en-US" altLang="zh-CN" sz="3600" dirty="0" smtClean="0"/>
              <a:t>(Code Division Multiplexing)</a:t>
            </a:r>
            <a:r>
              <a:rPr lang="en-US" altLang="zh-CN" dirty="0" smtClean="0"/>
              <a:t>  </a:t>
            </a:r>
          </a:p>
        </p:txBody>
      </p:sp>
      <p:sp>
        <p:nvSpPr>
          <p:cNvPr id="142339" name="Rectangle 3"/>
          <p:cNvSpPr>
            <a:spLocks noGrp="1" noChangeArrowheads="1"/>
          </p:cNvSpPr>
          <p:nvPr>
            <p:ph type="body" idx="1"/>
          </p:nvPr>
        </p:nvSpPr>
        <p:spPr>
          <a:xfrm>
            <a:off x="684213" y="1917701"/>
            <a:ext cx="8280400" cy="4391620"/>
          </a:xfrm>
        </p:spPr>
        <p:txBody>
          <a:bodyPr/>
          <a:lstStyle/>
          <a:p>
            <a:pPr eaLnBrk="1" hangingPunct="1"/>
            <a:r>
              <a:rPr lang="zh-CN" altLang="en-US" dirty="0" smtClean="0"/>
              <a:t>常用的名词是</a:t>
            </a:r>
            <a:r>
              <a:rPr lang="zh-CN" altLang="en-US" dirty="0" smtClean="0">
                <a:solidFill>
                  <a:schemeClr val="hlink"/>
                </a:solidFill>
              </a:rPr>
              <a:t>码分多址</a:t>
            </a:r>
            <a:r>
              <a:rPr lang="zh-CN" altLang="en-US" dirty="0" smtClean="0"/>
              <a:t> </a:t>
            </a:r>
            <a:r>
              <a:rPr lang="en-US" altLang="zh-CN" dirty="0" smtClean="0"/>
              <a:t>CDMA </a:t>
            </a:r>
          </a:p>
          <a:p>
            <a:pPr eaLnBrk="1" hangingPunct="1">
              <a:buFont typeface="Wingdings" pitchFamily="2" charset="2"/>
              <a:buNone/>
            </a:pPr>
            <a:r>
              <a:rPr lang="en-US" altLang="zh-CN" dirty="0" smtClean="0"/>
              <a:t>    (Code Division Multiple Access)</a:t>
            </a:r>
            <a:r>
              <a:rPr lang="zh-CN" altLang="en-US" dirty="0" smtClean="0"/>
              <a:t>。</a:t>
            </a:r>
          </a:p>
          <a:p>
            <a:pPr eaLnBrk="1" hangingPunct="1"/>
            <a:r>
              <a:rPr lang="zh-CN" altLang="en-US" dirty="0" smtClean="0"/>
              <a:t>各用户使用经过特殊挑选的不同码型，因此彼此不会造成干扰。</a:t>
            </a:r>
          </a:p>
          <a:p>
            <a:pPr eaLnBrk="1" hangingPunct="1"/>
            <a:r>
              <a:rPr lang="zh-CN" altLang="en-US" dirty="0" smtClean="0"/>
              <a:t>这种系统发送的信号有很强的抗干扰能力，其频谱类似于白噪声，不易被敌人发现。 </a:t>
            </a:r>
          </a:p>
          <a:p>
            <a:pPr eaLnBrk="1" hangingPunct="1"/>
            <a:r>
              <a:rPr lang="zh-CN" altLang="en-US" dirty="0" smtClean="0"/>
              <a:t>每一个比特时间划分为 </a:t>
            </a:r>
            <a:r>
              <a:rPr lang="en-US" altLang="zh-CN" i="1" dirty="0" smtClean="0"/>
              <a:t>m </a:t>
            </a:r>
            <a:r>
              <a:rPr lang="zh-CN" altLang="en-US" dirty="0" smtClean="0"/>
              <a:t>个短的间隔，称为</a:t>
            </a:r>
            <a:r>
              <a:rPr lang="zh-CN" altLang="en-US" dirty="0" smtClean="0">
                <a:solidFill>
                  <a:schemeClr val="hlink"/>
                </a:solidFill>
              </a:rPr>
              <a:t>码片</a:t>
            </a:r>
            <a:r>
              <a:rPr lang="en-US" altLang="zh-CN" dirty="0" smtClean="0"/>
              <a:t>(chip)</a:t>
            </a:r>
            <a:r>
              <a:rPr lang="zh-CN" altLang="en-US"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码片序列</a:t>
            </a:r>
            <a:r>
              <a:rPr lang="en-US" altLang="zh-CN" smtClean="0"/>
              <a:t>(chip sequence) </a:t>
            </a:r>
          </a:p>
        </p:txBody>
      </p:sp>
      <p:sp>
        <p:nvSpPr>
          <p:cNvPr id="151555" name="Rectangle 3"/>
          <p:cNvSpPr>
            <a:spLocks noGrp="1" noChangeArrowheads="1"/>
          </p:cNvSpPr>
          <p:nvPr>
            <p:ph type="body" idx="1"/>
          </p:nvPr>
        </p:nvSpPr>
        <p:spPr>
          <a:xfrm>
            <a:off x="539750" y="1917700"/>
            <a:ext cx="8459788" cy="4114800"/>
          </a:xfrm>
        </p:spPr>
        <p:txBody>
          <a:bodyPr/>
          <a:lstStyle/>
          <a:p>
            <a:pPr eaLnBrk="1" hangingPunct="1">
              <a:lnSpc>
                <a:spcPct val="90000"/>
              </a:lnSpc>
            </a:pPr>
            <a:r>
              <a:rPr lang="zh-CN" altLang="en-US" smtClean="0"/>
              <a:t>每个站被指派一个唯一的 </a:t>
            </a:r>
            <a:r>
              <a:rPr lang="en-US" altLang="zh-CN" i="1" smtClean="0"/>
              <a:t>m</a:t>
            </a:r>
            <a:r>
              <a:rPr lang="en-US" altLang="zh-CN" smtClean="0"/>
              <a:t> bit </a:t>
            </a:r>
            <a:r>
              <a:rPr lang="zh-CN" altLang="en-US" smtClean="0"/>
              <a:t>码片序列。</a:t>
            </a:r>
          </a:p>
          <a:p>
            <a:pPr lvl="1" eaLnBrk="1" hangingPunct="1">
              <a:lnSpc>
                <a:spcPct val="90000"/>
              </a:lnSpc>
            </a:pPr>
            <a:r>
              <a:rPr lang="zh-CN" altLang="en-US" smtClean="0">
                <a:solidFill>
                  <a:schemeClr val="hlink"/>
                </a:solidFill>
                <a:latin typeface="Arial" pitchFamily="34" charset="0"/>
                <a:ea typeface="黑体" pitchFamily="49" charset="-122"/>
              </a:rPr>
              <a:t>如发送比特 </a:t>
            </a:r>
            <a:r>
              <a:rPr lang="en-US" altLang="zh-CN" smtClean="0">
                <a:solidFill>
                  <a:schemeClr val="hlink"/>
                </a:solidFill>
                <a:latin typeface="Arial" pitchFamily="34" charset="0"/>
                <a:ea typeface="黑体" pitchFamily="49" charset="-122"/>
              </a:rPr>
              <a:t>1</a:t>
            </a:r>
            <a:r>
              <a:rPr lang="zh-CN" altLang="en-US" smtClean="0">
                <a:solidFill>
                  <a:schemeClr val="hlink"/>
                </a:solidFill>
                <a:latin typeface="Arial" pitchFamily="34" charset="0"/>
                <a:ea typeface="黑体" pitchFamily="49" charset="-122"/>
              </a:rPr>
              <a:t>，则发送自己的 </a:t>
            </a:r>
            <a:r>
              <a:rPr lang="en-US" altLang="zh-CN" i="1" smtClean="0">
                <a:solidFill>
                  <a:schemeClr val="hlink"/>
                </a:solidFill>
                <a:latin typeface="Arial" pitchFamily="34" charset="0"/>
                <a:ea typeface="黑体" pitchFamily="49" charset="-122"/>
              </a:rPr>
              <a:t>m</a:t>
            </a:r>
            <a:r>
              <a:rPr lang="en-US" altLang="zh-CN" smtClean="0">
                <a:solidFill>
                  <a:schemeClr val="hlink"/>
                </a:solidFill>
                <a:latin typeface="Arial" pitchFamily="34" charset="0"/>
                <a:ea typeface="黑体" pitchFamily="49" charset="-122"/>
              </a:rPr>
              <a:t> bit </a:t>
            </a:r>
            <a:r>
              <a:rPr lang="zh-CN" altLang="en-US" smtClean="0">
                <a:solidFill>
                  <a:schemeClr val="hlink"/>
                </a:solidFill>
                <a:latin typeface="Arial" pitchFamily="34" charset="0"/>
                <a:ea typeface="黑体" pitchFamily="49" charset="-122"/>
              </a:rPr>
              <a:t>码片序列。</a:t>
            </a:r>
          </a:p>
          <a:p>
            <a:pPr lvl="1" eaLnBrk="1" hangingPunct="1">
              <a:lnSpc>
                <a:spcPct val="90000"/>
              </a:lnSpc>
            </a:pPr>
            <a:r>
              <a:rPr lang="zh-CN" altLang="en-US" smtClean="0">
                <a:solidFill>
                  <a:schemeClr val="hlink"/>
                </a:solidFill>
                <a:latin typeface="Arial" pitchFamily="34" charset="0"/>
                <a:ea typeface="黑体" pitchFamily="49" charset="-122"/>
              </a:rPr>
              <a:t>如发送比特 </a:t>
            </a:r>
            <a:r>
              <a:rPr lang="en-US" altLang="zh-CN" smtClean="0">
                <a:solidFill>
                  <a:schemeClr val="hlink"/>
                </a:solidFill>
                <a:latin typeface="Arial" pitchFamily="34" charset="0"/>
                <a:ea typeface="黑体" pitchFamily="49" charset="-122"/>
              </a:rPr>
              <a:t>0</a:t>
            </a:r>
            <a:r>
              <a:rPr lang="zh-CN" altLang="en-US" smtClean="0">
                <a:solidFill>
                  <a:schemeClr val="hlink"/>
                </a:solidFill>
                <a:latin typeface="Arial" pitchFamily="34" charset="0"/>
                <a:ea typeface="黑体" pitchFamily="49" charset="-122"/>
              </a:rPr>
              <a:t>，则发送该码片序列的二进制反码。</a:t>
            </a:r>
            <a:r>
              <a:rPr lang="zh-CN" altLang="en-US" smtClean="0"/>
              <a:t> </a:t>
            </a:r>
          </a:p>
          <a:p>
            <a:pPr eaLnBrk="1" hangingPunct="1">
              <a:lnSpc>
                <a:spcPct val="90000"/>
              </a:lnSpc>
            </a:pPr>
            <a:r>
              <a:rPr lang="zh-CN" altLang="en-US" smtClean="0"/>
              <a:t>例如，</a:t>
            </a:r>
            <a:r>
              <a:rPr lang="en-US" altLang="zh-CN" smtClean="0"/>
              <a:t>S </a:t>
            </a:r>
            <a:r>
              <a:rPr lang="zh-CN" altLang="en-US" smtClean="0"/>
              <a:t>站的 </a:t>
            </a:r>
            <a:r>
              <a:rPr lang="en-US" altLang="zh-CN" smtClean="0"/>
              <a:t>8 bit </a:t>
            </a:r>
            <a:r>
              <a:rPr lang="zh-CN" altLang="en-US" smtClean="0"/>
              <a:t>码片序列是 </a:t>
            </a:r>
            <a:r>
              <a:rPr lang="en-US" altLang="zh-CN" smtClean="0"/>
              <a:t>00011011</a:t>
            </a:r>
            <a:r>
              <a:rPr lang="zh-CN" altLang="en-US" smtClean="0"/>
              <a:t>。</a:t>
            </a:r>
          </a:p>
          <a:p>
            <a:pPr lvl="1" eaLnBrk="1" hangingPunct="1">
              <a:lnSpc>
                <a:spcPct val="90000"/>
              </a:lnSpc>
            </a:pPr>
            <a:r>
              <a:rPr lang="zh-CN" altLang="en-US" smtClean="0">
                <a:solidFill>
                  <a:schemeClr val="hlink"/>
                </a:solidFill>
                <a:latin typeface="Arial" pitchFamily="34" charset="0"/>
                <a:ea typeface="黑体" pitchFamily="49" charset="-122"/>
              </a:rPr>
              <a:t>发送比特 </a:t>
            </a:r>
            <a:r>
              <a:rPr lang="en-US" altLang="zh-CN" smtClean="0">
                <a:solidFill>
                  <a:schemeClr val="hlink"/>
                </a:solidFill>
                <a:latin typeface="Arial" pitchFamily="34" charset="0"/>
                <a:ea typeface="黑体" pitchFamily="49" charset="-122"/>
              </a:rPr>
              <a:t>1 </a:t>
            </a:r>
            <a:r>
              <a:rPr lang="zh-CN" altLang="en-US" smtClean="0">
                <a:solidFill>
                  <a:schemeClr val="hlink"/>
                </a:solidFill>
                <a:latin typeface="Arial" pitchFamily="34" charset="0"/>
                <a:ea typeface="黑体" pitchFamily="49" charset="-122"/>
              </a:rPr>
              <a:t>时，就发送序列 </a:t>
            </a:r>
            <a:r>
              <a:rPr lang="en-US" altLang="zh-CN" smtClean="0">
                <a:solidFill>
                  <a:schemeClr val="hlink"/>
                </a:solidFill>
                <a:latin typeface="Arial" pitchFamily="34" charset="0"/>
                <a:ea typeface="黑体" pitchFamily="49" charset="-122"/>
              </a:rPr>
              <a:t>00011011</a:t>
            </a:r>
            <a:r>
              <a:rPr lang="zh-CN" altLang="en-US" smtClean="0">
                <a:solidFill>
                  <a:schemeClr val="hlink"/>
                </a:solidFill>
                <a:latin typeface="Arial" pitchFamily="34" charset="0"/>
                <a:ea typeface="黑体" pitchFamily="49" charset="-122"/>
              </a:rPr>
              <a:t>，</a:t>
            </a:r>
          </a:p>
          <a:p>
            <a:pPr lvl="1" eaLnBrk="1" hangingPunct="1">
              <a:lnSpc>
                <a:spcPct val="90000"/>
              </a:lnSpc>
            </a:pPr>
            <a:r>
              <a:rPr lang="zh-CN" altLang="en-US" smtClean="0">
                <a:solidFill>
                  <a:schemeClr val="hlink"/>
                </a:solidFill>
                <a:latin typeface="Arial" pitchFamily="34" charset="0"/>
                <a:ea typeface="黑体" pitchFamily="49" charset="-122"/>
              </a:rPr>
              <a:t>发送比特 </a:t>
            </a:r>
            <a:r>
              <a:rPr lang="en-US" altLang="zh-CN" smtClean="0">
                <a:solidFill>
                  <a:schemeClr val="hlink"/>
                </a:solidFill>
                <a:latin typeface="Arial" pitchFamily="34" charset="0"/>
                <a:ea typeface="黑体" pitchFamily="49" charset="-122"/>
              </a:rPr>
              <a:t>0 </a:t>
            </a:r>
            <a:r>
              <a:rPr lang="zh-CN" altLang="en-US" smtClean="0">
                <a:solidFill>
                  <a:schemeClr val="hlink"/>
                </a:solidFill>
                <a:latin typeface="Arial" pitchFamily="34" charset="0"/>
                <a:ea typeface="黑体" pitchFamily="49" charset="-122"/>
              </a:rPr>
              <a:t>时，就发送序列 </a:t>
            </a:r>
            <a:r>
              <a:rPr lang="en-US" altLang="zh-CN" smtClean="0">
                <a:solidFill>
                  <a:schemeClr val="hlink"/>
                </a:solidFill>
                <a:latin typeface="Arial" pitchFamily="34" charset="0"/>
                <a:ea typeface="黑体" pitchFamily="49" charset="-122"/>
              </a:rPr>
              <a:t>11100100</a:t>
            </a:r>
            <a:r>
              <a:rPr lang="zh-CN" altLang="en-US" smtClean="0">
                <a:solidFill>
                  <a:schemeClr val="hlink"/>
                </a:solidFill>
                <a:latin typeface="Arial" pitchFamily="34" charset="0"/>
                <a:ea typeface="黑体" pitchFamily="49" charset="-122"/>
              </a:rPr>
              <a:t>。</a:t>
            </a:r>
          </a:p>
          <a:p>
            <a:pPr eaLnBrk="1" hangingPunct="1">
              <a:lnSpc>
                <a:spcPct val="90000"/>
              </a:lnSpc>
            </a:pPr>
            <a:r>
              <a:rPr lang="en-US" altLang="zh-CN" smtClean="0"/>
              <a:t>S </a:t>
            </a:r>
            <a:r>
              <a:rPr lang="zh-CN" altLang="en-US" smtClean="0"/>
              <a:t>站的码片序列：</a:t>
            </a:r>
            <a:r>
              <a:rPr lang="en-US" altLang="zh-CN" smtClean="0"/>
              <a:t>(–1 –1 –1 +1 +1 –1 +1 +1)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55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55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1150938" y="260350"/>
            <a:ext cx="7793037" cy="1462088"/>
          </a:xfrm>
        </p:spPr>
        <p:txBody>
          <a:bodyPr/>
          <a:lstStyle/>
          <a:p>
            <a:pPr algn="ctr" eaLnBrk="1" hangingPunct="1"/>
            <a:r>
              <a:rPr lang="en-US" altLang="zh-CN" smtClean="0"/>
              <a:t>CDMA </a:t>
            </a:r>
            <a:r>
              <a:rPr lang="zh-CN" altLang="en-US" smtClean="0"/>
              <a:t>的重要特点</a:t>
            </a:r>
          </a:p>
        </p:txBody>
      </p:sp>
      <p:sp>
        <p:nvSpPr>
          <p:cNvPr id="152579" name="Rectangle 3"/>
          <p:cNvSpPr>
            <a:spLocks noGrp="1" noChangeArrowheads="1"/>
          </p:cNvSpPr>
          <p:nvPr>
            <p:ph type="body" idx="1"/>
          </p:nvPr>
        </p:nvSpPr>
        <p:spPr>
          <a:xfrm>
            <a:off x="539750" y="1917700"/>
            <a:ext cx="8459788" cy="4114800"/>
          </a:xfrm>
        </p:spPr>
        <p:txBody>
          <a:bodyPr/>
          <a:lstStyle/>
          <a:p>
            <a:pPr eaLnBrk="1" hangingPunct="1"/>
            <a:r>
              <a:rPr lang="zh-CN" altLang="en-US" sz="2800" dirty="0" smtClean="0"/>
              <a:t>每个站分配的码片序列不仅必须各不相同，并且还必须互相</a:t>
            </a:r>
            <a:r>
              <a:rPr lang="zh-CN" altLang="en-US" sz="2800" dirty="0" smtClean="0">
                <a:solidFill>
                  <a:schemeClr val="hlink"/>
                </a:solidFill>
              </a:rPr>
              <a:t>正交</a:t>
            </a:r>
            <a:r>
              <a:rPr lang="en-US" altLang="zh-CN" sz="2800" dirty="0" smtClean="0"/>
              <a:t>(orthogonal)</a:t>
            </a:r>
          </a:p>
          <a:p>
            <a:pPr eaLnBrk="1" hangingPunct="1"/>
            <a:r>
              <a:rPr lang="zh-CN" altLang="en-US" sz="2800" dirty="0" smtClean="0"/>
              <a:t>令向量 </a:t>
            </a:r>
            <a:r>
              <a:rPr lang="en-US" altLang="zh-CN" sz="2800" b="1" dirty="0" smtClean="0"/>
              <a:t>S </a:t>
            </a:r>
            <a:r>
              <a:rPr lang="zh-CN" altLang="en-US" sz="2800" dirty="0" smtClean="0"/>
              <a:t>表示站 </a:t>
            </a:r>
            <a:r>
              <a:rPr lang="en-US" altLang="zh-CN" sz="2800" dirty="0" smtClean="0"/>
              <a:t>S </a:t>
            </a:r>
            <a:r>
              <a:rPr lang="zh-CN" altLang="en-US" sz="2800" dirty="0" smtClean="0"/>
              <a:t>的码片向量，令 </a:t>
            </a:r>
            <a:r>
              <a:rPr lang="en-US" altLang="zh-CN" sz="2800" b="1" dirty="0" smtClean="0"/>
              <a:t>T </a:t>
            </a:r>
            <a:r>
              <a:rPr lang="zh-CN" altLang="en-US" sz="2800" dirty="0" smtClean="0"/>
              <a:t>表示其他任何站的码片向量。 </a:t>
            </a:r>
          </a:p>
          <a:p>
            <a:pPr eaLnBrk="1" hangingPunct="1"/>
            <a:r>
              <a:rPr lang="zh-CN" altLang="en-US" sz="2800" dirty="0" smtClean="0"/>
              <a:t>两个不同站的码片序列正交，就是向量 </a:t>
            </a:r>
            <a:r>
              <a:rPr lang="en-US" altLang="zh-CN" sz="2800" b="1" dirty="0" smtClean="0"/>
              <a:t>S </a:t>
            </a:r>
            <a:r>
              <a:rPr lang="zh-CN" altLang="en-US" sz="2800" dirty="0" smtClean="0"/>
              <a:t>和</a:t>
            </a:r>
            <a:r>
              <a:rPr lang="en-US" altLang="zh-CN" sz="2800" b="1" dirty="0" smtClean="0"/>
              <a:t>T </a:t>
            </a:r>
            <a:r>
              <a:rPr lang="zh-CN" altLang="en-US" sz="2800" dirty="0" smtClean="0"/>
              <a:t>的规格化</a:t>
            </a:r>
            <a:r>
              <a:rPr lang="zh-CN" altLang="en-US" sz="2800" dirty="0" smtClean="0">
                <a:solidFill>
                  <a:schemeClr val="hlink"/>
                </a:solidFill>
              </a:rPr>
              <a:t>内积</a:t>
            </a:r>
            <a:r>
              <a:rPr lang="en-US" altLang="zh-CN" sz="2800" dirty="0" smtClean="0"/>
              <a:t>(inner product)</a:t>
            </a:r>
            <a:r>
              <a:rPr lang="zh-CN" altLang="en-US" sz="2800" dirty="0" smtClean="0"/>
              <a:t>都是 </a:t>
            </a:r>
            <a:r>
              <a:rPr lang="en-US" altLang="zh-CN" sz="2800" dirty="0" smtClean="0"/>
              <a:t>0</a:t>
            </a:r>
            <a:r>
              <a:rPr lang="zh-CN" altLang="en-US" sz="2800" dirty="0" smtClean="0"/>
              <a:t>： </a:t>
            </a:r>
          </a:p>
          <a:p>
            <a:pPr eaLnBrk="1" hangingPunct="1"/>
            <a:endParaRPr lang="zh-CN" altLang="en-US" dirty="0" smtClean="0"/>
          </a:p>
          <a:p>
            <a:pPr eaLnBrk="1" hangingPunct="1"/>
            <a:endParaRPr lang="en-US" altLang="zh-CN" sz="2800" dirty="0" smtClean="0"/>
          </a:p>
          <a:p>
            <a:pPr eaLnBrk="1" hangingPunct="1"/>
            <a:r>
              <a:rPr lang="zh-CN" altLang="en-US" sz="2800" dirty="0" smtClean="0"/>
              <a:t>在实用的系统中是使用</a:t>
            </a:r>
            <a:r>
              <a:rPr lang="zh-CN" altLang="en-US" sz="2800" dirty="0" smtClean="0">
                <a:solidFill>
                  <a:schemeClr val="hlink"/>
                </a:solidFill>
              </a:rPr>
              <a:t>伪随机码序列</a:t>
            </a:r>
            <a:endParaRPr lang="zh-CN" altLang="en-US" sz="2800" dirty="0" smtClean="0"/>
          </a:p>
        </p:txBody>
      </p:sp>
      <p:graphicFrame>
        <p:nvGraphicFramePr>
          <p:cNvPr id="3073" name="Object 7"/>
          <p:cNvGraphicFramePr>
            <a:graphicFrameLocks noChangeAspect="1"/>
          </p:cNvGraphicFramePr>
          <p:nvPr/>
        </p:nvGraphicFramePr>
        <p:xfrm>
          <a:off x="2987824" y="4725144"/>
          <a:ext cx="2916238" cy="979488"/>
        </p:xfrm>
        <a:graphic>
          <a:graphicData uri="http://schemas.openxmlformats.org/presentationml/2006/ole">
            <p:oleObj spid="_x0000_s3073" name="公式" r:id="rId4" imgW="1282700" imgH="431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码片序列的正交关系举例 </a:t>
            </a:r>
          </a:p>
        </p:txBody>
      </p:sp>
      <p:sp>
        <p:nvSpPr>
          <p:cNvPr id="153603" name="Rectangle 3"/>
          <p:cNvSpPr>
            <a:spLocks noGrp="1" noChangeArrowheads="1"/>
          </p:cNvSpPr>
          <p:nvPr>
            <p:ph type="body" idx="1"/>
          </p:nvPr>
        </p:nvSpPr>
        <p:spPr>
          <a:xfrm>
            <a:off x="539750" y="1917700"/>
            <a:ext cx="8459788" cy="2374900"/>
          </a:xfrm>
        </p:spPr>
        <p:txBody>
          <a:bodyPr/>
          <a:lstStyle/>
          <a:p>
            <a:pPr eaLnBrk="1" hangingPunct="1"/>
            <a:r>
              <a:rPr lang="zh-CN" altLang="en-US" dirty="0" smtClean="0"/>
              <a:t>令向量 </a:t>
            </a:r>
            <a:r>
              <a:rPr lang="en-US" altLang="zh-CN" b="1" dirty="0" smtClean="0"/>
              <a:t>S </a:t>
            </a:r>
            <a:r>
              <a:rPr lang="zh-CN" altLang="en-US" dirty="0" smtClean="0"/>
              <a:t>为</a:t>
            </a:r>
            <a:r>
              <a:rPr lang="en-US" altLang="zh-CN" dirty="0" smtClean="0"/>
              <a:t>(–1 –1 –1 +1 +1 –1 +1 +1)</a:t>
            </a:r>
            <a:r>
              <a:rPr lang="zh-CN" altLang="en-US" dirty="0" smtClean="0"/>
              <a:t>，向量 </a:t>
            </a:r>
            <a:r>
              <a:rPr lang="en-US" altLang="zh-CN" b="1" dirty="0" smtClean="0"/>
              <a:t>T </a:t>
            </a:r>
            <a:r>
              <a:rPr lang="zh-CN" altLang="en-US" dirty="0" smtClean="0"/>
              <a:t>为</a:t>
            </a:r>
            <a:r>
              <a:rPr lang="en-US" altLang="zh-CN" dirty="0" smtClean="0"/>
              <a:t>(–1 –1 +1 –1 +1 +1 +1 –1)</a:t>
            </a:r>
            <a:r>
              <a:rPr lang="zh-CN" altLang="en-US" dirty="0" smtClean="0"/>
              <a:t>。 </a:t>
            </a:r>
          </a:p>
          <a:p>
            <a:pPr eaLnBrk="1" hangingPunct="1"/>
            <a:r>
              <a:rPr lang="zh-CN" altLang="en-US" dirty="0" smtClean="0"/>
              <a:t>把向量 </a:t>
            </a:r>
            <a:r>
              <a:rPr lang="en-US" altLang="zh-CN" b="1" dirty="0" smtClean="0"/>
              <a:t>S </a:t>
            </a:r>
            <a:r>
              <a:rPr lang="zh-CN" altLang="en-US" dirty="0" smtClean="0"/>
              <a:t>和 </a:t>
            </a:r>
            <a:r>
              <a:rPr lang="en-US" altLang="zh-CN" b="1" dirty="0" smtClean="0"/>
              <a:t>T </a:t>
            </a:r>
            <a:r>
              <a:rPr lang="zh-CN" altLang="en-US" dirty="0" smtClean="0"/>
              <a:t>的各分量值代入上式就可看出这两个码片序列是正交的。 </a:t>
            </a:r>
          </a:p>
        </p:txBody>
      </p:sp>
      <p:sp>
        <p:nvSpPr>
          <p:cNvPr id="58373"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58374" name="Rectangle 16"/>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3"/>
          <p:cNvSpPr>
            <a:spLocks noGrp="1" noChangeArrowheads="1"/>
          </p:cNvSpPr>
          <p:nvPr>
            <p:ph type="body" idx="1"/>
          </p:nvPr>
        </p:nvSpPr>
        <p:spPr>
          <a:xfrm>
            <a:off x="539750" y="1917700"/>
            <a:ext cx="8459788" cy="3816350"/>
          </a:xfrm>
        </p:spPr>
        <p:txBody>
          <a:bodyPr/>
          <a:lstStyle/>
          <a:p>
            <a:pPr eaLnBrk="1" hangingPunct="1">
              <a:lnSpc>
                <a:spcPct val="90000"/>
              </a:lnSpc>
            </a:pPr>
            <a:r>
              <a:rPr lang="zh-CN" altLang="en-US" smtClean="0"/>
              <a:t>任何一个码片向量和该码片向量自己的规格化内积都是</a:t>
            </a:r>
            <a:r>
              <a:rPr lang="en-US" altLang="zh-CN" smtClean="0"/>
              <a:t>1 </a:t>
            </a:r>
            <a:r>
              <a:rPr lang="zh-CN" altLang="en-US" smtClean="0"/>
              <a:t>。</a:t>
            </a:r>
          </a:p>
          <a:p>
            <a:pPr eaLnBrk="1" hangingPunct="1">
              <a:lnSpc>
                <a:spcPct val="90000"/>
              </a:lnSpc>
            </a:pPr>
            <a:endParaRPr lang="zh-CN" altLang="en-US" smtClean="0"/>
          </a:p>
          <a:p>
            <a:pPr eaLnBrk="1" hangingPunct="1">
              <a:lnSpc>
                <a:spcPct val="90000"/>
              </a:lnSpc>
            </a:pPr>
            <a:endParaRPr lang="zh-CN" altLang="en-US" smtClean="0"/>
          </a:p>
          <a:p>
            <a:pPr eaLnBrk="1" hangingPunct="1">
              <a:lnSpc>
                <a:spcPct val="90000"/>
              </a:lnSpc>
            </a:pPr>
            <a:endParaRPr lang="zh-CN" altLang="en-US" smtClean="0"/>
          </a:p>
          <a:p>
            <a:pPr eaLnBrk="1" hangingPunct="1">
              <a:lnSpc>
                <a:spcPct val="90000"/>
              </a:lnSpc>
            </a:pPr>
            <a:r>
              <a:rPr lang="zh-CN" altLang="en-US" smtClean="0"/>
              <a:t>一个码片向量和该码片反码的向量的规格化内积值是 </a:t>
            </a:r>
            <a:r>
              <a:rPr lang="en-US" altLang="zh-CN" smtClean="0"/>
              <a:t>–1</a:t>
            </a:r>
            <a:r>
              <a:rPr lang="zh-CN" altLang="en-US" smtClean="0"/>
              <a:t>。 </a:t>
            </a:r>
          </a:p>
        </p:txBody>
      </p:sp>
      <p:sp>
        <p:nvSpPr>
          <p:cNvPr id="2053"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正交关系的另一个重要特性 </a:t>
            </a:r>
          </a:p>
        </p:txBody>
      </p:sp>
      <p:sp>
        <p:nvSpPr>
          <p:cNvPr id="205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2055" name="Rectangle 6"/>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50" name="Object 7"/>
          <p:cNvGraphicFramePr>
            <a:graphicFrameLocks noChangeAspect="1"/>
          </p:cNvGraphicFramePr>
          <p:nvPr/>
        </p:nvGraphicFramePr>
        <p:xfrm>
          <a:off x="1008063" y="2997200"/>
          <a:ext cx="7380287" cy="1139825"/>
        </p:xfrm>
        <a:graphic>
          <a:graphicData uri="http://schemas.openxmlformats.org/presentationml/2006/ole">
            <p:oleObj spid="_x0000_s2050" name="公式" r:id="rId4" imgW="2781300" imgH="431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title"/>
          </p:nvPr>
        </p:nvSpPr>
        <p:spPr>
          <a:xfrm>
            <a:off x="1150938" y="260350"/>
            <a:ext cx="7793037" cy="1462088"/>
          </a:xfrm>
        </p:spPr>
        <p:txBody>
          <a:bodyPr/>
          <a:lstStyle/>
          <a:p>
            <a:pPr algn="ctr" eaLnBrk="1" hangingPunct="1"/>
            <a:r>
              <a:rPr lang="en-US" altLang="zh-CN" smtClean="0"/>
              <a:t>CDMA </a:t>
            </a:r>
            <a:r>
              <a:rPr lang="zh-CN" altLang="en-US" smtClean="0"/>
              <a:t>的工作原理 </a:t>
            </a:r>
          </a:p>
        </p:txBody>
      </p:sp>
      <p:sp>
        <p:nvSpPr>
          <p:cNvPr id="5939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59397" name="Rectangle 6"/>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59398"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59399" name="Line 10"/>
          <p:cNvSpPr>
            <a:spLocks noChangeShapeType="1"/>
          </p:cNvSpPr>
          <p:nvPr/>
        </p:nvSpPr>
        <p:spPr bwMode="auto">
          <a:xfrm>
            <a:off x="3338513" y="2643188"/>
            <a:ext cx="1566862" cy="0"/>
          </a:xfrm>
          <a:prstGeom prst="line">
            <a:avLst/>
          </a:prstGeom>
          <a:noFill/>
          <a:ln w="9525">
            <a:solidFill>
              <a:schemeClr val="tx1"/>
            </a:solidFill>
            <a:round/>
            <a:headEnd type="triangle" w="sm" len="med"/>
            <a:tailEnd type="triangle" w="sm" len="med"/>
          </a:ln>
        </p:spPr>
        <p:txBody>
          <a:bodyPr/>
          <a:lstStyle/>
          <a:p>
            <a:endParaRPr lang="zh-CN" altLang="en-US"/>
          </a:p>
        </p:txBody>
      </p:sp>
      <p:sp>
        <p:nvSpPr>
          <p:cNvPr id="59400" name="Text Box 11"/>
          <p:cNvSpPr txBox="1">
            <a:spLocks noChangeArrowheads="1"/>
          </p:cNvSpPr>
          <p:nvPr/>
        </p:nvSpPr>
        <p:spPr bwMode="auto">
          <a:xfrm>
            <a:off x="971550" y="2830513"/>
            <a:ext cx="2187575" cy="352425"/>
          </a:xfrm>
          <a:prstGeom prst="rect">
            <a:avLst/>
          </a:prstGeom>
          <a:noFill/>
          <a:ln w="9525">
            <a:noFill/>
            <a:miter lim="800000"/>
            <a:headEnd/>
            <a:tailEnd/>
          </a:ln>
        </p:spPr>
        <p:txBody>
          <a:bodyPr wrap="none">
            <a:spAutoFit/>
          </a:bodyPr>
          <a:lstStyle/>
          <a:p>
            <a:pPr algn="l">
              <a:lnSpc>
                <a:spcPct val="85000"/>
              </a:lnSpc>
            </a:pPr>
            <a:r>
              <a:rPr kumimoji="1" lang="en-US" altLang="zh-CN" sz="2000">
                <a:solidFill>
                  <a:srgbClr val="333399"/>
                </a:solidFill>
                <a:latin typeface="Arial" pitchFamily="34" charset="0"/>
                <a:ea typeface="黑体" pitchFamily="49" charset="-122"/>
              </a:rPr>
              <a:t>S </a:t>
            </a:r>
            <a:r>
              <a:rPr kumimoji="1" lang="zh-CN" altLang="en-US" sz="2000">
                <a:solidFill>
                  <a:srgbClr val="333399"/>
                </a:solidFill>
                <a:latin typeface="Arial" pitchFamily="34" charset="0"/>
                <a:ea typeface="黑体" pitchFamily="49" charset="-122"/>
              </a:rPr>
              <a:t>站的码片序列 </a:t>
            </a:r>
            <a:r>
              <a:rPr kumimoji="1" lang="en-US" altLang="zh-CN" sz="2000" b="1">
                <a:solidFill>
                  <a:srgbClr val="333399"/>
                </a:solidFill>
                <a:latin typeface="Arial" pitchFamily="34" charset="0"/>
                <a:ea typeface="黑体" pitchFamily="49" charset="-122"/>
              </a:rPr>
              <a:t>S</a:t>
            </a:r>
          </a:p>
        </p:txBody>
      </p:sp>
      <p:sp>
        <p:nvSpPr>
          <p:cNvPr id="59401" name="Line 12"/>
          <p:cNvSpPr>
            <a:spLocks noChangeShapeType="1"/>
          </p:cNvSpPr>
          <p:nvPr/>
        </p:nvSpPr>
        <p:spPr bwMode="auto">
          <a:xfrm>
            <a:off x="3340100" y="1943100"/>
            <a:ext cx="0" cy="3802063"/>
          </a:xfrm>
          <a:prstGeom prst="line">
            <a:avLst/>
          </a:prstGeom>
          <a:noFill/>
          <a:ln w="9525">
            <a:solidFill>
              <a:schemeClr val="tx1"/>
            </a:solidFill>
            <a:prstDash val="dash"/>
            <a:round/>
            <a:headEnd/>
            <a:tailEnd/>
          </a:ln>
        </p:spPr>
        <p:txBody>
          <a:bodyPr/>
          <a:lstStyle/>
          <a:p>
            <a:endParaRPr lang="zh-CN" altLang="en-US"/>
          </a:p>
        </p:txBody>
      </p:sp>
      <p:sp>
        <p:nvSpPr>
          <p:cNvPr id="59402" name="Line 13"/>
          <p:cNvSpPr>
            <a:spLocks noChangeShapeType="1"/>
          </p:cNvSpPr>
          <p:nvPr/>
        </p:nvSpPr>
        <p:spPr bwMode="auto">
          <a:xfrm>
            <a:off x="4918075" y="1943100"/>
            <a:ext cx="0" cy="3781425"/>
          </a:xfrm>
          <a:prstGeom prst="line">
            <a:avLst/>
          </a:prstGeom>
          <a:noFill/>
          <a:ln w="9525">
            <a:solidFill>
              <a:schemeClr val="tx1"/>
            </a:solidFill>
            <a:prstDash val="dash"/>
            <a:round/>
            <a:headEnd/>
            <a:tailEnd/>
          </a:ln>
        </p:spPr>
        <p:txBody>
          <a:bodyPr/>
          <a:lstStyle/>
          <a:p>
            <a:endParaRPr lang="zh-CN" altLang="en-US"/>
          </a:p>
        </p:txBody>
      </p:sp>
      <p:sp>
        <p:nvSpPr>
          <p:cNvPr id="59403" name="Line 14"/>
          <p:cNvSpPr>
            <a:spLocks noChangeShapeType="1"/>
          </p:cNvSpPr>
          <p:nvPr/>
        </p:nvSpPr>
        <p:spPr bwMode="auto">
          <a:xfrm>
            <a:off x="6496050" y="1943100"/>
            <a:ext cx="0" cy="3929063"/>
          </a:xfrm>
          <a:prstGeom prst="line">
            <a:avLst/>
          </a:prstGeom>
          <a:noFill/>
          <a:ln w="9525">
            <a:solidFill>
              <a:schemeClr val="tx1"/>
            </a:solidFill>
            <a:prstDash val="dash"/>
            <a:round/>
            <a:headEnd/>
            <a:tailEnd/>
          </a:ln>
        </p:spPr>
        <p:txBody>
          <a:bodyPr/>
          <a:lstStyle/>
          <a:p>
            <a:endParaRPr lang="zh-CN" altLang="en-US"/>
          </a:p>
        </p:txBody>
      </p:sp>
      <p:sp>
        <p:nvSpPr>
          <p:cNvPr id="59404" name="Line 15"/>
          <p:cNvSpPr>
            <a:spLocks noChangeShapeType="1"/>
          </p:cNvSpPr>
          <p:nvPr/>
        </p:nvSpPr>
        <p:spPr bwMode="auto">
          <a:xfrm>
            <a:off x="8074025" y="1943100"/>
            <a:ext cx="0" cy="3790950"/>
          </a:xfrm>
          <a:prstGeom prst="line">
            <a:avLst/>
          </a:prstGeom>
          <a:noFill/>
          <a:ln w="9525">
            <a:solidFill>
              <a:schemeClr val="tx1"/>
            </a:solidFill>
            <a:prstDash val="dash"/>
            <a:round/>
            <a:headEnd/>
            <a:tailEnd/>
          </a:ln>
        </p:spPr>
        <p:txBody>
          <a:bodyPr/>
          <a:lstStyle/>
          <a:p>
            <a:endParaRPr lang="zh-CN" altLang="en-US"/>
          </a:p>
        </p:txBody>
      </p:sp>
      <p:sp>
        <p:nvSpPr>
          <p:cNvPr id="59405" name="Freeform 16"/>
          <p:cNvSpPr>
            <a:spLocks/>
          </p:cNvSpPr>
          <p:nvPr/>
        </p:nvSpPr>
        <p:spPr bwMode="auto">
          <a:xfrm>
            <a:off x="3340100" y="2874963"/>
            <a:ext cx="1577975" cy="319087"/>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8"/>
              <a:gd name="T31" fmla="*/ 0 h 196"/>
              <a:gd name="T32" fmla="*/ 768 w 768"/>
              <a:gd name="T33" fmla="*/ 196 h 1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59406" name="Freeform 17"/>
          <p:cNvSpPr>
            <a:spLocks/>
          </p:cNvSpPr>
          <p:nvPr/>
        </p:nvSpPr>
        <p:spPr bwMode="auto">
          <a:xfrm>
            <a:off x="4918075" y="2874963"/>
            <a:ext cx="1577975" cy="319087"/>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8"/>
              <a:gd name="T31" fmla="*/ 0 h 196"/>
              <a:gd name="T32" fmla="*/ 768 w 768"/>
              <a:gd name="T33" fmla="*/ 196 h 1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59407" name="Freeform 18"/>
          <p:cNvSpPr>
            <a:spLocks/>
          </p:cNvSpPr>
          <p:nvPr/>
        </p:nvSpPr>
        <p:spPr bwMode="auto">
          <a:xfrm>
            <a:off x="3340100" y="3965575"/>
            <a:ext cx="1577975" cy="311150"/>
          </a:xfrm>
          <a:custGeom>
            <a:avLst/>
            <a:gdLst>
              <a:gd name="T0" fmla="*/ 0 w 768"/>
              <a:gd name="T1" fmla="*/ 2147483647 h 192"/>
              <a:gd name="T2" fmla="*/ 0 w 768"/>
              <a:gd name="T3" fmla="*/ 2147483647 h 192"/>
              <a:gd name="T4" fmla="*/ 2147483647 w 768"/>
              <a:gd name="T5" fmla="*/ 2147483647 h 192"/>
              <a:gd name="T6" fmla="*/ 2147483647 w 768"/>
              <a:gd name="T7" fmla="*/ 0 h 192"/>
              <a:gd name="T8" fmla="*/ 2147483647 w 768"/>
              <a:gd name="T9" fmla="*/ 0 h 192"/>
              <a:gd name="T10" fmla="*/ 2147483647 w 768"/>
              <a:gd name="T11" fmla="*/ 2147483647 h 192"/>
              <a:gd name="T12" fmla="*/ 2147483647 w 768"/>
              <a:gd name="T13" fmla="*/ 2147483647 h 192"/>
              <a:gd name="T14" fmla="*/ 2147483647 w 768"/>
              <a:gd name="T15" fmla="*/ 0 h 192"/>
              <a:gd name="T16" fmla="*/ 2147483647 w 768"/>
              <a:gd name="T17" fmla="*/ 0 h 192"/>
              <a:gd name="T18" fmla="*/ 2147483647 w 768"/>
              <a:gd name="T19" fmla="*/ 2147483647 h 192"/>
              <a:gd name="T20" fmla="*/ 2147483647 w 768"/>
              <a:gd name="T21" fmla="*/ 2147483647 h 192"/>
              <a:gd name="T22" fmla="*/ 2147483647 w 768"/>
              <a:gd name="T23" fmla="*/ 2147483647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8"/>
              <a:gd name="T37" fmla="*/ 0 h 192"/>
              <a:gd name="T38" fmla="*/ 768 w 768"/>
              <a:gd name="T39" fmla="*/ 192 h 1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a:solidFill>
              <a:schemeClr val="tx1"/>
            </a:solidFill>
            <a:round/>
            <a:headEnd/>
            <a:tailEnd/>
          </a:ln>
        </p:spPr>
        <p:txBody>
          <a:bodyPr/>
          <a:lstStyle/>
          <a:p>
            <a:endParaRPr lang="zh-CN" altLang="en-US"/>
          </a:p>
        </p:txBody>
      </p:sp>
      <p:sp>
        <p:nvSpPr>
          <p:cNvPr id="59408" name="Freeform 19"/>
          <p:cNvSpPr>
            <a:spLocks/>
          </p:cNvSpPr>
          <p:nvPr/>
        </p:nvSpPr>
        <p:spPr bwMode="auto">
          <a:xfrm>
            <a:off x="4918075" y="3965575"/>
            <a:ext cx="1577975" cy="311150"/>
          </a:xfrm>
          <a:custGeom>
            <a:avLst/>
            <a:gdLst>
              <a:gd name="T0" fmla="*/ 0 w 768"/>
              <a:gd name="T1" fmla="*/ 2147483647 h 192"/>
              <a:gd name="T2" fmla="*/ 0 w 768"/>
              <a:gd name="T3" fmla="*/ 2147483647 h 192"/>
              <a:gd name="T4" fmla="*/ 2147483647 w 768"/>
              <a:gd name="T5" fmla="*/ 2147483647 h 192"/>
              <a:gd name="T6" fmla="*/ 2147483647 w 768"/>
              <a:gd name="T7" fmla="*/ 0 h 192"/>
              <a:gd name="T8" fmla="*/ 2147483647 w 768"/>
              <a:gd name="T9" fmla="*/ 0 h 192"/>
              <a:gd name="T10" fmla="*/ 2147483647 w 768"/>
              <a:gd name="T11" fmla="*/ 2147483647 h 192"/>
              <a:gd name="T12" fmla="*/ 2147483647 w 768"/>
              <a:gd name="T13" fmla="*/ 2147483647 h 192"/>
              <a:gd name="T14" fmla="*/ 2147483647 w 768"/>
              <a:gd name="T15" fmla="*/ 0 h 192"/>
              <a:gd name="T16" fmla="*/ 2147483647 w 768"/>
              <a:gd name="T17" fmla="*/ 0 h 192"/>
              <a:gd name="T18" fmla="*/ 2147483647 w 768"/>
              <a:gd name="T19" fmla="*/ 2147483647 h 192"/>
              <a:gd name="T20" fmla="*/ 2147483647 w 768"/>
              <a:gd name="T21" fmla="*/ 2147483647 h 192"/>
              <a:gd name="T22" fmla="*/ 2147483647 w 768"/>
              <a:gd name="T23" fmla="*/ 2147483647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8"/>
              <a:gd name="T37" fmla="*/ 0 h 192"/>
              <a:gd name="T38" fmla="*/ 768 w 768"/>
              <a:gd name="T39" fmla="*/ 192 h 1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a:solidFill>
              <a:schemeClr val="tx1"/>
            </a:solidFill>
            <a:round/>
            <a:headEnd/>
            <a:tailEnd/>
          </a:ln>
        </p:spPr>
        <p:txBody>
          <a:bodyPr/>
          <a:lstStyle/>
          <a:p>
            <a:endParaRPr lang="zh-CN" altLang="en-US"/>
          </a:p>
        </p:txBody>
      </p:sp>
      <p:sp>
        <p:nvSpPr>
          <p:cNvPr id="59409" name="Freeform 20"/>
          <p:cNvSpPr>
            <a:spLocks/>
          </p:cNvSpPr>
          <p:nvPr/>
        </p:nvSpPr>
        <p:spPr bwMode="auto">
          <a:xfrm flipV="1">
            <a:off x="6496050" y="3965575"/>
            <a:ext cx="1577975" cy="311150"/>
          </a:xfrm>
          <a:custGeom>
            <a:avLst/>
            <a:gdLst>
              <a:gd name="T0" fmla="*/ 0 w 768"/>
              <a:gd name="T1" fmla="*/ 2147483647 h 192"/>
              <a:gd name="T2" fmla="*/ 0 w 768"/>
              <a:gd name="T3" fmla="*/ 2147483647 h 192"/>
              <a:gd name="T4" fmla="*/ 2147483647 w 768"/>
              <a:gd name="T5" fmla="*/ 2147483647 h 192"/>
              <a:gd name="T6" fmla="*/ 2147483647 w 768"/>
              <a:gd name="T7" fmla="*/ 0 h 192"/>
              <a:gd name="T8" fmla="*/ 2147483647 w 768"/>
              <a:gd name="T9" fmla="*/ 0 h 192"/>
              <a:gd name="T10" fmla="*/ 2147483647 w 768"/>
              <a:gd name="T11" fmla="*/ 2147483647 h 192"/>
              <a:gd name="T12" fmla="*/ 2147483647 w 768"/>
              <a:gd name="T13" fmla="*/ 2147483647 h 192"/>
              <a:gd name="T14" fmla="*/ 2147483647 w 768"/>
              <a:gd name="T15" fmla="*/ 0 h 192"/>
              <a:gd name="T16" fmla="*/ 2147483647 w 768"/>
              <a:gd name="T17" fmla="*/ 0 h 192"/>
              <a:gd name="T18" fmla="*/ 2147483647 w 768"/>
              <a:gd name="T19" fmla="*/ 2147483647 h 192"/>
              <a:gd name="T20" fmla="*/ 2147483647 w 768"/>
              <a:gd name="T21" fmla="*/ 2147483647 h 192"/>
              <a:gd name="T22" fmla="*/ 2147483647 w 768"/>
              <a:gd name="T23" fmla="*/ 2147483647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8"/>
              <a:gd name="T37" fmla="*/ 0 h 192"/>
              <a:gd name="T38" fmla="*/ 768 w 768"/>
              <a:gd name="T39" fmla="*/ 192 h 1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CCECFF"/>
          </a:solidFill>
          <a:ln w="19050">
            <a:solidFill>
              <a:schemeClr val="tx1"/>
            </a:solidFill>
            <a:round/>
            <a:headEnd/>
            <a:tailEnd/>
          </a:ln>
        </p:spPr>
        <p:txBody>
          <a:bodyPr/>
          <a:lstStyle/>
          <a:p>
            <a:endParaRPr lang="zh-CN" altLang="en-US"/>
          </a:p>
        </p:txBody>
      </p:sp>
      <p:sp>
        <p:nvSpPr>
          <p:cNvPr id="59410" name="Freeform 21"/>
          <p:cNvSpPr>
            <a:spLocks/>
          </p:cNvSpPr>
          <p:nvPr/>
        </p:nvSpPr>
        <p:spPr bwMode="auto">
          <a:xfrm>
            <a:off x="3340100" y="5738813"/>
            <a:ext cx="1577975" cy="312737"/>
          </a:xfrm>
          <a:custGeom>
            <a:avLst/>
            <a:gdLst>
              <a:gd name="T0" fmla="*/ 0 w 768"/>
              <a:gd name="T1" fmla="*/ 2147483647 h 192"/>
              <a:gd name="T2" fmla="*/ 0 w 768"/>
              <a:gd name="T3" fmla="*/ 0 h 192"/>
              <a:gd name="T4" fmla="*/ 2147483647 w 768"/>
              <a:gd name="T5" fmla="*/ 0 h 192"/>
              <a:gd name="T6" fmla="*/ 2147483647 w 768"/>
              <a:gd name="T7" fmla="*/ 2147483647 h 192"/>
              <a:gd name="T8" fmla="*/ 2147483647 w 768"/>
              <a:gd name="T9" fmla="*/ 2147483647 h 192"/>
              <a:gd name="T10" fmla="*/ 2147483647 w 768"/>
              <a:gd name="T11" fmla="*/ 0 h 192"/>
              <a:gd name="T12" fmla="*/ 2147483647 w 768"/>
              <a:gd name="T13" fmla="*/ 0 h 192"/>
              <a:gd name="T14" fmla="*/ 2147483647 w 768"/>
              <a:gd name="T15" fmla="*/ 2147483647 h 192"/>
              <a:gd name="T16" fmla="*/ 2147483647 w 768"/>
              <a:gd name="T17" fmla="*/ 2147483647 h 192"/>
              <a:gd name="T18" fmla="*/ 2147483647 w 768"/>
              <a:gd name="T19" fmla="*/ 0 h 192"/>
              <a:gd name="T20" fmla="*/ 2147483647 w 768"/>
              <a:gd name="T21" fmla="*/ 0 h 192"/>
              <a:gd name="T22" fmla="*/ 2147483647 w 768"/>
              <a:gd name="T23" fmla="*/ 2147483647 h 192"/>
              <a:gd name="T24" fmla="*/ 2147483647 w 768"/>
              <a:gd name="T25" fmla="*/ 2147483647 h 192"/>
              <a:gd name="T26" fmla="*/ 2147483647 w 768"/>
              <a:gd name="T27" fmla="*/ 2147483647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68"/>
              <a:gd name="T43" fmla="*/ 0 h 192"/>
              <a:gd name="T44" fmla="*/ 768 w 768"/>
              <a:gd name="T45" fmla="*/ 192 h 1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808000"/>
          </a:solidFill>
          <a:ln w="19050">
            <a:solidFill>
              <a:schemeClr val="tx1"/>
            </a:solidFill>
            <a:round/>
            <a:headEnd/>
            <a:tailEnd/>
          </a:ln>
        </p:spPr>
        <p:txBody>
          <a:bodyPr/>
          <a:lstStyle/>
          <a:p>
            <a:endParaRPr lang="zh-CN" altLang="en-US"/>
          </a:p>
        </p:txBody>
      </p:sp>
      <p:sp>
        <p:nvSpPr>
          <p:cNvPr id="59411" name="Freeform 22"/>
          <p:cNvSpPr>
            <a:spLocks/>
          </p:cNvSpPr>
          <p:nvPr/>
        </p:nvSpPr>
        <p:spPr bwMode="auto">
          <a:xfrm>
            <a:off x="4918075" y="5738813"/>
            <a:ext cx="1577975" cy="312737"/>
          </a:xfrm>
          <a:custGeom>
            <a:avLst/>
            <a:gdLst>
              <a:gd name="T0" fmla="*/ 0 w 768"/>
              <a:gd name="T1" fmla="*/ 2147483647 h 192"/>
              <a:gd name="T2" fmla="*/ 0 w 768"/>
              <a:gd name="T3" fmla="*/ 0 h 192"/>
              <a:gd name="T4" fmla="*/ 2147483647 w 768"/>
              <a:gd name="T5" fmla="*/ 0 h 192"/>
              <a:gd name="T6" fmla="*/ 2147483647 w 768"/>
              <a:gd name="T7" fmla="*/ 2147483647 h 192"/>
              <a:gd name="T8" fmla="*/ 2147483647 w 768"/>
              <a:gd name="T9" fmla="*/ 2147483647 h 192"/>
              <a:gd name="T10" fmla="*/ 2147483647 w 768"/>
              <a:gd name="T11" fmla="*/ 0 h 192"/>
              <a:gd name="T12" fmla="*/ 2147483647 w 768"/>
              <a:gd name="T13" fmla="*/ 0 h 192"/>
              <a:gd name="T14" fmla="*/ 2147483647 w 768"/>
              <a:gd name="T15" fmla="*/ 2147483647 h 192"/>
              <a:gd name="T16" fmla="*/ 2147483647 w 768"/>
              <a:gd name="T17" fmla="*/ 2147483647 h 192"/>
              <a:gd name="T18" fmla="*/ 2147483647 w 768"/>
              <a:gd name="T19" fmla="*/ 0 h 192"/>
              <a:gd name="T20" fmla="*/ 2147483647 w 768"/>
              <a:gd name="T21" fmla="*/ 0 h 192"/>
              <a:gd name="T22" fmla="*/ 2147483647 w 768"/>
              <a:gd name="T23" fmla="*/ 2147483647 h 192"/>
              <a:gd name="T24" fmla="*/ 2147483647 w 768"/>
              <a:gd name="T25" fmla="*/ 2147483647 h 192"/>
              <a:gd name="T26" fmla="*/ 2147483647 w 768"/>
              <a:gd name="T27" fmla="*/ 2147483647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68"/>
              <a:gd name="T43" fmla="*/ 0 h 192"/>
              <a:gd name="T44" fmla="*/ 768 w 768"/>
              <a:gd name="T45" fmla="*/ 192 h 1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808000"/>
          </a:solidFill>
          <a:ln w="19050">
            <a:solidFill>
              <a:schemeClr val="tx1"/>
            </a:solidFill>
            <a:round/>
            <a:headEnd/>
            <a:tailEnd/>
          </a:ln>
        </p:spPr>
        <p:txBody>
          <a:bodyPr/>
          <a:lstStyle/>
          <a:p>
            <a:endParaRPr lang="zh-CN" altLang="en-US"/>
          </a:p>
        </p:txBody>
      </p:sp>
      <p:sp>
        <p:nvSpPr>
          <p:cNvPr id="59412" name="Freeform 23"/>
          <p:cNvSpPr>
            <a:spLocks/>
          </p:cNvSpPr>
          <p:nvPr/>
        </p:nvSpPr>
        <p:spPr bwMode="auto">
          <a:xfrm flipV="1">
            <a:off x="6496050" y="5738813"/>
            <a:ext cx="1577975" cy="312737"/>
          </a:xfrm>
          <a:custGeom>
            <a:avLst/>
            <a:gdLst>
              <a:gd name="T0" fmla="*/ 0 w 768"/>
              <a:gd name="T1" fmla="*/ 2147483647 h 192"/>
              <a:gd name="T2" fmla="*/ 0 w 768"/>
              <a:gd name="T3" fmla="*/ 0 h 192"/>
              <a:gd name="T4" fmla="*/ 2147483647 w 768"/>
              <a:gd name="T5" fmla="*/ 0 h 192"/>
              <a:gd name="T6" fmla="*/ 2147483647 w 768"/>
              <a:gd name="T7" fmla="*/ 2147483647 h 192"/>
              <a:gd name="T8" fmla="*/ 2147483647 w 768"/>
              <a:gd name="T9" fmla="*/ 2147483647 h 192"/>
              <a:gd name="T10" fmla="*/ 2147483647 w 768"/>
              <a:gd name="T11" fmla="*/ 0 h 192"/>
              <a:gd name="T12" fmla="*/ 2147483647 w 768"/>
              <a:gd name="T13" fmla="*/ 0 h 192"/>
              <a:gd name="T14" fmla="*/ 2147483647 w 768"/>
              <a:gd name="T15" fmla="*/ 2147483647 h 192"/>
              <a:gd name="T16" fmla="*/ 2147483647 w 768"/>
              <a:gd name="T17" fmla="*/ 2147483647 h 192"/>
              <a:gd name="T18" fmla="*/ 2147483647 w 768"/>
              <a:gd name="T19" fmla="*/ 0 h 192"/>
              <a:gd name="T20" fmla="*/ 2147483647 w 768"/>
              <a:gd name="T21" fmla="*/ 0 h 192"/>
              <a:gd name="T22" fmla="*/ 2147483647 w 768"/>
              <a:gd name="T23" fmla="*/ 2147483647 h 192"/>
              <a:gd name="T24" fmla="*/ 2147483647 w 768"/>
              <a:gd name="T25" fmla="*/ 2147483647 h 192"/>
              <a:gd name="T26" fmla="*/ 2147483647 w 768"/>
              <a:gd name="T27" fmla="*/ 2147483647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68"/>
              <a:gd name="T43" fmla="*/ 0 h 192"/>
              <a:gd name="T44" fmla="*/ 768 w 768"/>
              <a:gd name="T45" fmla="*/ 192 h 1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FF9900"/>
          </a:solidFill>
          <a:ln w="19050">
            <a:solidFill>
              <a:schemeClr val="tx1"/>
            </a:solidFill>
            <a:round/>
            <a:headEnd/>
            <a:tailEnd/>
          </a:ln>
        </p:spPr>
        <p:txBody>
          <a:bodyPr/>
          <a:lstStyle/>
          <a:p>
            <a:endParaRPr lang="zh-CN" altLang="en-US"/>
          </a:p>
        </p:txBody>
      </p:sp>
      <p:sp>
        <p:nvSpPr>
          <p:cNvPr id="59413" name="Freeform 24"/>
          <p:cNvSpPr>
            <a:spLocks/>
          </p:cNvSpPr>
          <p:nvPr/>
        </p:nvSpPr>
        <p:spPr bwMode="auto">
          <a:xfrm>
            <a:off x="3340100" y="5210175"/>
            <a:ext cx="4733925" cy="314325"/>
          </a:xfrm>
          <a:custGeom>
            <a:avLst/>
            <a:gdLst>
              <a:gd name="T0" fmla="*/ 0 w 2827"/>
              <a:gd name="T1" fmla="*/ 2147483647 h 194"/>
              <a:gd name="T2" fmla="*/ 0 w 2827"/>
              <a:gd name="T3" fmla="*/ 0 h 194"/>
              <a:gd name="T4" fmla="*/ 2147483647 w 2827"/>
              <a:gd name="T5" fmla="*/ 2147483647 h 194"/>
              <a:gd name="T6" fmla="*/ 2147483647 w 2827"/>
              <a:gd name="T7" fmla="*/ 2147483647 h 194"/>
              <a:gd name="T8" fmla="*/ 2147483647 w 2827"/>
              <a:gd name="T9" fmla="*/ 2147483647 h 194"/>
              <a:gd name="T10" fmla="*/ 2147483647 w 2827"/>
              <a:gd name="T11" fmla="*/ 2147483647 h 194"/>
              <a:gd name="T12" fmla="*/ 0 60000 65536"/>
              <a:gd name="T13" fmla="*/ 0 60000 65536"/>
              <a:gd name="T14" fmla="*/ 0 60000 65536"/>
              <a:gd name="T15" fmla="*/ 0 60000 65536"/>
              <a:gd name="T16" fmla="*/ 0 60000 65536"/>
              <a:gd name="T17" fmla="*/ 0 60000 65536"/>
              <a:gd name="T18" fmla="*/ 0 w 2827"/>
              <a:gd name="T19" fmla="*/ 0 h 194"/>
              <a:gd name="T20" fmla="*/ 2827 w 2827"/>
              <a:gd name="T21" fmla="*/ 194 h 194"/>
            </a:gdLst>
            <a:ahLst/>
            <a:cxnLst>
              <a:cxn ang="T12">
                <a:pos x="T0" y="T1"/>
              </a:cxn>
              <a:cxn ang="T13">
                <a:pos x="T2" y="T3"/>
              </a:cxn>
              <a:cxn ang="T14">
                <a:pos x="T4" y="T5"/>
              </a:cxn>
              <a:cxn ang="T15">
                <a:pos x="T6" y="T7"/>
              </a:cxn>
              <a:cxn ang="T16">
                <a:pos x="T8" y="T9"/>
              </a:cxn>
              <a:cxn ang="T17">
                <a:pos x="T10" y="T11"/>
              </a:cxn>
            </a:cxnLst>
            <a:rect l="T18" t="T19" r="T20" b="T21"/>
            <a:pathLst>
              <a:path w="2827" h="194">
                <a:moveTo>
                  <a:pt x="0" y="96"/>
                </a:moveTo>
                <a:lnTo>
                  <a:pt x="0" y="0"/>
                </a:lnTo>
                <a:lnTo>
                  <a:pt x="1886" y="2"/>
                </a:lnTo>
                <a:lnTo>
                  <a:pt x="1886" y="194"/>
                </a:lnTo>
                <a:lnTo>
                  <a:pt x="2826" y="192"/>
                </a:lnTo>
                <a:lnTo>
                  <a:pt x="2827" y="96"/>
                </a:lnTo>
              </a:path>
            </a:pathLst>
          </a:custGeom>
          <a:solidFill>
            <a:srgbClr val="FFFF66"/>
          </a:solidFill>
          <a:ln w="19050">
            <a:solidFill>
              <a:schemeClr val="tx1"/>
            </a:solidFill>
            <a:round/>
            <a:headEnd/>
            <a:tailEnd/>
          </a:ln>
        </p:spPr>
        <p:txBody>
          <a:bodyPr/>
          <a:lstStyle/>
          <a:p>
            <a:endParaRPr lang="zh-CN" altLang="en-US"/>
          </a:p>
        </p:txBody>
      </p:sp>
      <p:sp>
        <p:nvSpPr>
          <p:cNvPr id="59414" name="Freeform 25"/>
          <p:cNvSpPr>
            <a:spLocks/>
          </p:cNvSpPr>
          <p:nvPr/>
        </p:nvSpPr>
        <p:spPr bwMode="auto">
          <a:xfrm>
            <a:off x="3340100" y="2174875"/>
            <a:ext cx="4733925" cy="312738"/>
          </a:xfrm>
          <a:custGeom>
            <a:avLst/>
            <a:gdLst>
              <a:gd name="T0" fmla="*/ 0 w 2304"/>
              <a:gd name="T1" fmla="*/ 2147483647 h 192"/>
              <a:gd name="T2" fmla="*/ 0 w 2304"/>
              <a:gd name="T3" fmla="*/ 0 h 192"/>
              <a:gd name="T4" fmla="*/ 2147483647 w 2304"/>
              <a:gd name="T5" fmla="*/ 0 h 192"/>
              <a:gd name="T6" fmla="*/ 2147483647 w 2304"/>
              <a:gd name="T7" fmla="*/ 2147483647 h 192"/>
              <a:gd name="T8" fmla="*/ 2147483647 w 2304"/>
              <a:gd name="T9" fmla="*/ 2147483647 h 192"/>
              <a:gd name="T10" fmla="*/ 2147483647 w 2304"/>
              <a:gd name="T11" fmla="*/ 2147483647 h 192"/>
              <a:gd name="T12" fmla="*/ 0 60000 65536"/>
              <a:gd name="T13" fmla="*/ 0 60000 65536"/>
              <a:gd name="T14" fmla="*/ 0 60000 65536"/>
              <a:gd name="T15" fmla="*/ 0 60000 65536"/>
              <a:gd name="T16" fmla="*/ 0 60000 65536"/>
              <a:gd name="T17" fmla="*/ 0 60000 65536"/>
              <a:gd name="T18" fmla="*/ 0 w 2304"/>
              <a:gd name="T19" fmla="*/ 0 h 192"/>
              <a:gd name="T20" fmla="*/ 2304 w 2304"/>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2304" h="192">
                <a:moveTo>
                  <a:pt x="0" y="96"/>
                </a:moveTo>
                <a:lnTo>
                  <a:pt x="0" y="0"/>
                </a:lnTo>
                <a:lnTo>
                  <a:pt x="1536" y="0"/>
                </a:lnTo>
                <a:lnTo>
                  <a:pt x="1536" y="192"/>
                </a:lnTo>
                <a:lnTo>
                  <a:pt x="2304" y="192"/>
                </a:lnTo>
                <a:lnTo>
                  <a:pt x="2304" y="96"/>
                </a:lnTo>
              </a:path>
            </a:pathLst>
          </a:custGeom>
          <a:solidFill>
            <a:srgbClr val="FFFF66"/>
          </a:solidFill>
          <a:ln w="19050">
            <a:solidFill>
              <a:schemeClr val="tx1"/>
            </a:solidFill>
            <a:round/>
            <a:headEnd/>
            <a:tailEnd/>
          </a:ln>
        </p:spPr>
        <p:txBody>
          <a:bodyPr/>
          <a:lstStyle/>
          <a:p>
            <a:endParaRPr lang="zh-CN" altLang="en-US"/>
          </a:p>
        </p:txBody>
      </p:sp>
      <p:sp>
        <p:nvSpPr>
          <p:cNvPr id="59415" name="Line 26"/>
          <p:cNvSpPr>
            <a:spLocks noChangeShapeType="1"/>
          </p:cNvSpPr>
          <p:nvPr/>
        </p:nvSpPr>
        <p:spPr bwMode="auto">
          <a:xfrm>
            <a:off x="4918075" y="2058988"/>
            <a:ext cx="0" cy="155575"/>
          </a:xfrm>
          <a:prstGeom prst="line">
            <a:avLst/>
          </a:prstGeom>
          <a:noFill/>
          <a:ln w="9525">
            <a:solidFill>
              <a:schemeClr val="tx1"/>
            </a:solidFill>
            <a:round/>
            <a:headEnd/>
            <a:tailEnd/>
          </a:ln>
        </p:spPr>
        <p:txBody>
          <a:bodyPr/>
          <a:lstStyle/>
          <a:p>
            <a:endParaRPr lang="zh-CN" altLang="en-US"/>
          </a:p>
        </p:txBody>
      </p:sp>
      <p:sp>
        <p:nvSpPr>
          <p:cNvPr id="59416" name="Text Box 27"/>
          <p:cNvSpPr txBox="1">
            <a:spLocks noChangeArrowheads="1"/>
          </p:cNvSpPr>
          <p:nvPr/>
        </p:nvSpPr>
        <p:spPr bwMode="auto">
          <a:xfrm>
            <a:off x="3933825" y="1844675"/>
            <a:ext cx="325438" cy="395288"/>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1</a:t>
            </a:r>
          </a:p>
        </p:txBody>
      </p:sp>
      <p:sp>
        <p:nvSpPr>
          <p:cNvPr id="59417" name="Line 28"/>
          <p:cNvSpPr>
            <a:spLocks noChangeShapeType="1"/>
          </p:cNvSpPr>
          <p:nvPr/>
        </p:nvSpPr>
        <p:spPr bwMode="auto">
          <a:xfrm>
            <a:off x="3184525" y="4119563"/>
            <a:ext cx="5284788" cy="0"/>
          </a:xfrm>
          <a:prstGeom prst="line">
            <a:avLst/>
          </a:prstGeom>
          <a:noFill/>
          <a:ln w="28575">
            <a:solidFill>
              <a:srgbClr val="333399"/>
            </a:solidFill>
            <a:round/>
            <a:headEnd/>
            <a:tailEnd type="triangle" w="sm" len="med"/>
          </a:ln>
        </p:spPr>
        <p:txBody>
          <a:bodyPr/>
          <a:lstStyle/>
          <a:p>
            <a:endParaRPr lang="zh-CN" altLang="en-US"/>
          </a:p>
        </p:txBody>
      </p:sp>
      <p:sp>
        <p:nvSpPr>
          <p:cNvPr id="59418" name="Line 29"/>
          <p:cNvSpPr>
            <a:spLocks noChangeShapeType="1"/>
          </p:cNvSpPr>
          <p:nvPr/>
        </p:nvSpPr>
        <p:spPr bwMode="auto">
          <a:xfrm>
            <a:off x="3184525" y="5365750"/>
            <a:ext cx="5284788" cy="0"/>
          </a:xfrm>
          <a:prstGeom prst="line">
            <a:avLst/>
          </a:prstGeom>
          <a:noFill/>
          <a:ln w="9525">
            <a:solidFill>
              <a:schemeClr val="tx1"/>
            </a:solidFill>
            <a:round/>
            <a:headEnd/>
            <a:tailEnd type="triangle" w="sm" len="med"/>
          </a:ln>
        </p:spPr>
        <p:txBody>
          <a:bodyPr/>
          <a:lstStyle/>
          <a:p>
            <a:endParaRPr lang="zh-CN" altLang="en-US"/>
          </a:p>
        </p:txBody>
      </p:sp>
      <p:sp>
        <p:nvSpPr>
          <p:cNvPr id="59419" name="Line 30"/>
          <p:cNvSpPr>
            <a:spLocks noChangeShapeType="1"/>
          </p:cNvSpPr>
          <p:nvPr/>
        </p:nvSpPr>
        <p:spPr bwMode="auto">
          <a:xfrm flipV="1">
            <a:off x="3184525" y="5895975"/>
            <a:ext cx="5284788" cy="14288"/>
          </a:xfrm>
          <a:prstGeom prst="line">
            <a:avLst/>
          </a:prstGeom>
          <a:noFill/>
          <a:ln w="28575">
            <a:solidFill>
              <a:srgbClr val="333399"/>
            </a:solidFill>
            <a:round/>
            <a:headEnd/>
            <a:tailEnd type="triangle" w="sm" len="med"/>
          </a:ln>
        </p:spPr>
        <p:txBody>
          <a:bodyPr/>
          <a:lstStyle/>
          <a:p>
            <a:endParaRPr lang="zh-CN" altLang="en-US"/>
          </a:p>
        </p:txBody>
      </p:sp>
      <p:sp>
        <p:nvSpPr>
          <p:cNvPr id="59420" name="Freeform 31"/>
          <p:cNvSpPr>
            <a:spLocks/>
          </p:cNvSpPr>
          <p:nvPr/>
        </p:nvSpPr>
        <p:spPr bwMode="auto">
          <a:xfrm>
            <a:off x="3340100" y="4432300"/>
            <a:ext cx="1577975" cy="622300"/>
          </a:xfrm>
          <a:custGeom>
            <a:avLst/>
            <a:gdLst>
              <a:gd name="T0" fmla="*/ 0 w 768"/>
              <a:gd name="T1" fmla="*/ 2147483647 h 384"/>
              <a:gd name="T2" fmla="*/ 0 w 768"/>
              <a:gd name="T3" fmla="*/ 2147483647 h 384"/>
              <a:gd name="T4" fmla="*/ 2147483647 w 768"/>
              <a:gd name="T5" fmla="*/ 2147483647 h 384"/>
              <a:gd name="T6" fmla="*/ 2147483647 w 768"/>
              <a:gd name="T7" fmla="*/ 2147483647 h 384"/>
              <a:gd name="T8" fmla="*/ 2147483647 w 768"/>
              <a:gd name="T9" fmla="*/ 2147483647 h 384"/>
              <a:gd name="T10" fmla="*/ 2147483647 w 768"/>
              <a:gd name="T11" fmla="*/ 0 h 384"/>
              <a:gd name="T12" fmla="*/ 2147483647 w 768"/>
              <a:gd name="T13" fmla="*/ 0 h 384"/>
              <a:gd name="T14" fmla="*/ 2147483647 w 768"/>
              <a:gd name="T15" fmla="*/ 2147483647 h 384"/>
              <a:gd name="T16" fmla="*/ 2147483647 w 768"/>
              <a:gd name="T17" fmla="*/ 2147483647 h 384"/>
              <a:gd name="T18" fmla="*/ 2147483647 w 768"/>
              <a:gd name="T19" fmla="*/ 0 h 384"/>
              <a:gd name="T20" fmla="*/ 2147483647 w 768"/>
              <a:gd name="T21" fmla="*/ 0 h 384"/>
              <a:gd name="T22" fmla="*/ 2147483647 w 768"/>
              <a:gd name="T23" fmla="*/ 2147483647 h 384"/>
              <a:gd name="T24" fmla="*/ 2147483647 w 768"/>
              <a:gd name="T25" fmla="*/ 2147483647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68"/>
              <a:gd name="T40" fmla="*/ 0 h 384"/>
              <a:gd name="T41" fmla="*/ 768 w 768"/>
              <a:gd name="T42" fmla="*/ 384 h 38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a:solidFill>
              <a:schemeClr val="tx1"/>
            </a:solidFill>
            <a:round/>
            <a:headEnd/>
            <a:tailEnd/>
          </a:ln>
        </p:spPr>
        <p:txBody>
          <a:bodyPr/>
          <a:lstStyle/>
          <a:p>
            <a:endParaRPr lang="zh-CN" altLang="en-US"/>
          </a:p>
        </p:txBody>
      </p:sp>
      <p:sp>
        <p:nvSpPr>
          <p:cNvPr id="59421" name="Freeform 32"/>
          <p:cNvSpPr>
            <a:spLocks/>
          </p:cNvSpPr>
          <p:nvPr/>
        </p:nvSpPr>
        <p:spPr bwMode="auto">
          <a:xfrm>
            <a:off x="4918075" y="4432300"/>
            <a:ext cx="1577975" cy="622300"/>
          </a:xfrm>
          <a:custGeom>
            <a:avLst/>
            <a:gdLst>
              <a:gd name="T0" fmla="*/ 0 w 768"/>
              <a:gd name="T1" fmla="*/ 2147483647 h 384"/>
              <a:gd name="T2" fmla="*/ 0 w 768"/>
              <a:gd name="T3" fmla="*/ 2147483647 h 384"/>
              <a:gd name="T4" fmla="*/ 2147483647 w 768"/>
              <a:gd name="T5" fmla="*/ 2147483647 h 384"/>
              <a:gd name="T6" fmla="*/ 2147483647 w 768"/>
              <a:gd name="T7" fmla="*/ 2147483647 h 384"/>
              <a:gd name="T8" fmla="*/ 2147483647 w 768"/>
              <a:gd name="T9" fmla="*/ 2147483647 h 384"/>
              <a:gd name="T10" fmla="*/ 2147483647 w 768"/>
              <a:gd name="T11" fmla="*/ 0 h 384"/>
              <a:gd name="T12" fmla="*/ 2147483647 w 768"/>
              <a:gd name="T13" fmla="*/ 0 h 384"/>
              <a:gd name="T14" fmla="*/ 2147483647 w 768"/>
              <a:gd name="T15" fmla="*/ 2147483647 h 384"/>
              <a:gd name="T16" fmla="*/ 2147483647 w 768"/>
              <a:gd name="T17" fmla="*/ 2147483647 h 384"/>
              <a:gd name="T18" fmla="*/ 2147483647 w 768"/>
              <a:gd name="T19" fmla="*/ 0 h 384"/>
              <a:gd name="T20" fmla="*/ 2147483647 w 768"/>
              <a:gd name="T21" fmla="*/ 0 h 384"/>
              <a:gd name="T22" fmla="*/ 2147483647 w 768"/>
              <a:gd name="T23" fmla="*/ 2147483647 h 384"/>
              <a:gd name="T24" fmla="*/ 2147483647 w 768"/>
              <a:gd name="T25" fmla="*/ 2147483647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68"/>
              <a:gd name="T40" fmla="*/ 0 h 384"/>
              <a:gd name="T41" fmla="*/ 768 w 768"/>
              <a:gd name="T42" fmla="*/ 384 h 38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a:solidFill>
              <a:schemeClr val="tx1"/>
            </a:solidFill>
            <a:round/>
            <a:headEnd/>
            <a:tailEnd/>
          </a:ln>
        </p:spPr>
        <p:txBody>
          <a:bodyPr/>
          <a:lstStyle/>
          <a:p>
            <a:endParaRPr lang="zh-CN" altLang="en-US"/>
          </a:p>
        </p:txBody>
      </p:sp>
      <p:sp>
        <p:nvSpPr>
          <p:cNvPr id="59422" name="Freeform 33"/>
          <p:cNvSpPr>
            <a:spLocks/>
          </p:cNvSpPr>
          <p:nvPr/>
        </p:nvSpPr>
        <p:spPr bwMode="auto">
          <a:xfrm flipV="1">
            <a:off x="6496050" y="4432300"/>
            <a:ext cx="1577975" cy="622300"/>
          </a:xfrm>
          <a:custGeom>
            <a:avLst/>
            <a:gdLst>
              <a:gd name="T0" fmla="*/ 0 w 768"/>
              <a:gd name="T1" fmla="*/ 2147483647 h 384"/>
              <a:gd name="T2" fmla="*/ 0 w 768"/>
              <a:gd name="T3" fmla="*/ 2147483647 h 384"/>
              <a:gd name="T4" fmla="*/ 2147483647 w 768"/>
              <a:gd name="T5" fmla="*/ 2147483647 h 384"/>
              <a:gd name="T6" fmla="*/ 2147483647 w 768"/>
              <a:gd name="T7" fmla="*/ 2147483647 h 384"/>
              <a:gd name="T8" fmla="*/ 2147483647 w 768"/>
              <a:gd name="T9" fmla="*/ 2147483647 h 384"/>
              <a:gd name="T10" fmla="*/ 2147483647 w 768"/>
              <a:gd name="T11" fmla="*/ 0 h 384"/>
              <a:gd name="T12" fmla="*/ 2147483647 w 768"/>
              <a:gd name="T13" fmla="*/ 0 h 384"/>
              <a:gd name="T14" fmla="*/ 2147483647 w 768"/>
              <a:gd name="T15" fmla="*/ 2147483647 h 384"/>
              <a:gd name="T16" fmla="*/ 2147483647 w 768"/>
              <a:gd name="T17" fmla="*/ 2147483647 h 384"/>
              <a:gd name="T18" fmla="*/ 2147483647 w 768"/>
              <a:gd name="T19" fmla="*/ 0 h 384"/>
              <a:gd name="T20" fmla="*/ 2147483647 w 768"/>
              <a:gd name="T21" fmla="*/ 0 h 384"/>
              <a:gd name="T22" fmla="*/ 2147483647 w 768"/>
              <a:gd name="T23" fmla="*/ 2147483647 h 384"/>
              <a:gd name="T24" fmla="*/ 2147483647 w 768"/>
              <a:gd name="T25" fmla="*/ 2147483647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68"/>
              <a:gd name="T40" fmla="*/ 0 h 384"/>
              <a:gd name="T41" fmla="*/ 768 w 768"/>
              <a:gd name="T42" fmla="*/ 384 h 38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CC00FF"/>
          </a:solidFill>
          <a:ln w="19050">
            <a:solidFill>
              <a:schemeClr val="tx1"/>
            </a:solidFill>
            <a:round/>
            <a:headEnd/>
            <a:tailEnd/>
          </a:ln>
        </p:spPr>
        <p:txBody>
          <a:bodyPr/>
          <a:lstStyle/>
          <a:p>
            <a:endParaRPr lang="zh-CN" altLang="en-US"/>
          </a:p>
        </p:txBody>
      </p:sp>
      <p:sp>
        <p:nvSpPr>
          <p:cNvPr id="59423" name="Line 34"/>
          <p:cNvSpPr>
            <a:spLocks noChangeShapeType="1"/>
          </p:cNvSpPr>
          <p:nvPr/>
        </p:nvSpPr>
        <p:spPr bwMode="auto">
          <a:xfrm>
            <a:off x="3184525" y="4741863"/>
            <a:ext cx="5284788" cy="0"/>
          </a:xfrm>
          <a:prstGeom prst="line">
            <a:avLst/>
          </a:prstGeom>
          <a:noFill/>
          <a:ln w="28575">
            <a:solidFill>
              <a:srgbClr val="333399"/>
            </a:solidFill>
            <a:round/>
            <a:headEnd/>
            <a:tailEnd type="triangle" w="sm" len="med"/>
          </a:ln>
        </p:spPr>
        <p:txBody>
          <a:bodyPr/>
          <a:lstStyle/>
          <a:p>
            <a:endParaRPr lang="zh-CN" altLang="en-US"/>
          </a:p>
        </p:txBody>
      </p:sp>
      <p:sp>
        <p:nvSpPr>
          <p:cNvPr id="59424" name="Line 35"/>
          <p:cNvSpPr>
            <a:spLocks noChangeShapeType="1"/>
          </p:cNvSpPr>
          <p:nvPr/>
        </p:nvSpPr>
        <p:spPr bwMode="auto">
          <a:xfrm>
            <a:off x="3205163" y="2332038"/>
            <a:ext cx="5264150" cy="0"/>
          </a:xfrm>
          <a:prstGeom prst="line">
            <a:avLst/>
          </a:prstGeom>
          <a:noFill/>
          <a:ln w="28575">
            <a:solidFill>
              <a:srgbClr val="333399"/>
            </a:solidFill>
            <a:round/>
            <a:headEnd/>
            <a:tailEnd type="triangle" w="sm" len="med"/>
          </a:ln>
        </p:spPr>
        <p:txBody>
          <a:bodyPr/>
          <a:lstStyle/>
          <a:p>
            <a:endParaRPr lang="zh-CN" altLang="en-US"/>
          </a:p>
        </p:txBody>
      </p:sp>
      <p:sp>
        <p:nvSpPr>
          <p:cNvPr id="59425" name="Text Box 36"/>
          <p:cNvSpPr txBox="1">
            <a:spLocks noChangeArrowheads="1"/>
          </p:cNvSpPr>
          <p:nvPr/>
        </p:nvSpPr>
        <p:spPr bwMode="auto">
          <a:xfrm>
            <a:off x="5521325" y="1844675"/>
            <a:ext cx="325438" cy="395288"/>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1</a:t>
            </a:r>
          </a:p>
        </p:txBody>
      </p:sp>
      <p:sp>
        <p:nvSpPr>
          <p:cNvPr id="59426" name="Text Box 37"/>
          <p:cNvSpPr txBox="1">
            <a:spLocks noChangeArrowheads="1"/>
          </p:cNvSpPr>
          <p:nvPr/>
        </p:nvSpPr>
        <p:spPr bwMode="auto">
          <a:xfrm>
            <a:off x="7104063" y="1844675"/>
            <a:ext cx="325437" cy="395288"/>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0</a:t>
            </a:r>
          </a:p>
        </p:txBody>
      </p:sp>
      <p:sp>
        <p:nvSpPr>
          <p:cNvPr id="59427" name="Text Box 38"/>
          <p:cNvSpPr txBox="1">
            <a:spLocks noChangeArrowheads="1"/>
          </p:cNvSpPr>
          <p:nvPr/>
        </p:nvSpPr>
        <p:spPr bwMode="auto">
          <a:xfrm>
            <a:off x="8470900" y="2073275"/>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9428" name="Text Box 39"/>
          <p:cNvSpPr txBox="1">
            <a:spLocks noChangeArrowheads="1"/>
          </p:cNvSpPr>
          <p:nvPr/>
        </p:nvSpPr>
        <p:spPr bwMode="auto">
          <a:xfrm>
            <a:off x="8470900" y="2786063"/>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9429" name="Text Box 40"/>
          <p:cNvSpPr txBox="1">
            <a:spLocks noChangeArrowheads="1"/>
          </p:cNvSpPr>
          <p:nvPr/>
        </p:nvSpPr>
        <p:spPr bwMode="auto">
          <a:xfrm>
            <a:off x="8470900" y="3890963"/>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9430" name="Text Box 41"/>
          <p:cNvSpPr txBox="1">
            <a:spLocks noChangeArrowheads="1"/>
          </p:cNvSpPr>
          <p:nvPr/>
        </p:nvSpPr>
        <p:spPr bwMode="auto">
          <a:xfrm>
            <a:off x="8470900" y="4498975"/>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9431" name="Text Box 42"/>
          <p:cNvSpPr txBox="1">
            <a:spLocks noChangeArrowheads="1"/>
          </p:cNvSpPr>
          <p:nvPr/>
        </p:nvSpPr>
        <p:spPr bwMode="auto">
          <a:xfrm>
            <a:off x="8470900" y="5121275"/>
            <a:ext cx="254000"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9432" name="Text Box 43"/>
          <p:cNvSpPr txBox="1">
            <a:spLocks noChangeArrowheads="1"/>
          </p:cNvSpPr>
          <p:nvPr/>
        </p:nvSpPr>
        <p:spPr bwMode="auto">
          <a:xfrm>
            <a:off x="8470900" y="5649913"/>
            <a:ext cx="254000" cy="395287"/>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9433" name="Rectangle 44"/>
          <p:cNvSpPr>
            <a:spLocks noChangeArrowheads="1"/>
          </p:cNvSpPr>
          <p:nvPr/>
        </p:nvSpPr>
        <p:spPr bwMode="auto">
          <a:xfrm>
            <a:off x="3606800" y="2487613"/>
            <a:ext cx="1057275" cy="273050"/>
          </a:xfrm>
          <a:prstGeom prst="rect">
            <a:avLst/>
          </a:prstGeom>
          <a:solidFill>
            <a:schemeClr val="bg1"/>
          </a:solidFill>
          <a:ln w="9525">
            <a:noFill/>
            <a:miter lim="800000"/>
            <a:headEnd/>
            <a:tailEnd/>
          </a:ln>
        </p:spPr>
        <p:txBody>
          <a:bodyPr wrap="none" anchor="ctr"/>
          <a:lstStyle/>
          <a:p>
            <a:endParaRPr lang="zh-CN" altLang="en-US"/>
          </a:p>
        </p:txBody>
      </p:sp>
      <p:sp>
        <p:nvSpPr>
          <p:cNvPr id="59434" name="Text Box 45"/>
          <p:cNvSpPr txBox="1">
            <a:spLocks noChangeArrowheads="1"/>
          </p:cNvSpPr>
          <p:nvPr/>
        </p:nvSpPr>
        <p:spPr bwMode="auto">
          <a:xfrm>
            <a:off x="3595688" y="2390775"/>
            <a:ext cx="1225550" cy="398463"/>
          </a:xfrm>
          <a:prstGeom prst="rect">
            <a:avLst/>
          </a:prstGeom>
          <a:noFill/>
          <a:ln w="9525">
            <a:noFill/>
            <a:miter lim="800000"/>
            <a:headEnd/>
            <a:tailEnd/>
          </a:ln>
        </p:spPr>
        <p:txBody>
          <a:bodyPr wrap="none">
            <a:spAutoFit/>
          </a:bodyPr>
          <a:lstStyle/>
          <a:p>
            <a:pPr algn="l"/>
            <a:r>
              <a:rPr kumimoji="1" lang="en-US" altLang="zh-CN" sz="2000" i="1">
                <a:solidFill>
                  <a:srgbClr val="333399"/>
                </a:solidFill>
                <a:latin typeface="Arial" pitchFamily="34" charset="0"/>
                <a:ea typeface="黑体" pitchFamily="49" charset="-122"/>
              </a:rPr>
              <a:t>m</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个码片</a:t>
            </a:r>
          </a:p>
        </p:txBody>
      </p:sp>
      <p:sp>
        <p:nvSpPr>
          <p:cNvPr id="59435" name="Freeform 46"/>
          <p:cNvSpPr>
            <a:spLocks/>
          </p:cNvSpPr>
          <p:nvPr/>
        </p:nvSpPr>
        <p:spPr bwMode="auto">
          <a:xfrm>
            <a:off x="3340100" y="3414713"/>
            <a:ext cx="1577975" cy="317500"/>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8"/>
              <a:gd name="T31" fmla="*/ 0 h 196"/>
              <a:gd name="T32" fmla="*/ 768 w 768"/>
              <a:gd name="T33" fmla="*/ 196 h 1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59436" name="Freeform 47"/>
          <p:cNvSpPr>
            <a:spLocks/>
          </p:cNvSpPr>
          <p:nvPr/>
        </p:nvSpPr>
        <p:spPr bwMode="auto">
          <a:xfrm>
            <a:off x="4918075" y="3414713"/>
            <a:ext cx="1577975" cy="317500"/>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8"/>
              <a:gd name="T31" fmla="*/ 0 h 196"/>
              <a:gd name="T32" fmla="*/ 768 w 768"/>
              <a:gd name="T33" fmla="*/ 196 h 1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59437" name="Freeform 48"/>
          <p:cNvSpPr>
            <a:spLocks/>
          </p:cNvSpPr>
          <p:nvPr/>
        </p:nvSpPr>
        <p:spPr bwMode="auto">
          <a:xfrm flipV="1">
            <a:off x="6496050" y="3414713"/>
            <a:ext cx="1577975" cy="317500"/>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8"/>
              <a:gd name="T31" fmla="*/ 0 h 196"/>
              <a:gd name="T32" fmla="*/ 768 w 768"/>
              <a:gd name="T33" fmla="*/ 196 h 1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rgbClr val="FF9999"/>
          </a:solidFill>
          <a:ln w="19050">
            <a:solidFill>
              <a:schemeClr val="tx1"/>
            </a:solidFill>
            <a:round/>
            <a:headEnd/>
            <a:tailEnd/>
          </a:ln>
        </p:spPr>
        <p:txBody>
          <a:bodyPr/>
          <a:lstStyle/>
          <a:p>
            <a:endParaRPr lang="zh-CN" altLang="en-US"/>
          </a:p>
        </p:txBody>
      </p:sp>
      <p:sp>
        <p:nvSpPr>
          <p:cNvPr id="59438" name="Line 49"/>
          <p:cNvSpPr>
            <a:spLocks noChangeShapeType="1"/>
          </p:cNvSpPr>
          <p:nvPr/>
        </p:nvSpPr>
        <p:spPr bwMode="auto">
          <a:xfrm flipV="1">
            <a:off x="3184525" y="3570288"/>
            <a:ext cx="5284788" cy="6350"/>
          </a:xfrm>
          <a:prstGeom prst="line">
            <a:avLst/>
          </a:prstGeom>
          <a:noFill/>
          <a:ln w="28575">
            <a:solidFill>
              <a:srgbClr val="333399"/>
            </a:solidFill>
            <a:round/>
            <a:headEnd/>
            <a:tailEnd type="triangle" w="sm" len="med"/>
          </a:ln>
        </p:spPr>
        <p:txBody>
          <a:bodyPr/>
          <a:lstStyle/>
          <a:p>
            <a:endParaRPr lang="zh-CN" altLang="en-US"/>
          </a:p>
        </p:txBody>
      </p:sp>
      <p:sp>
        <p:nvSpPr>
          <p:cNvPr id="59439" name="Text Box 50"/>
          <p:cNvSpPr txBox="1">
            <a:spLocks noChangeArrowheads="1"/>
          </p:cNvSpPr>
          <p:nvPr/>
        </p:nvSpPr>
        <p:spPr bwMode="auto">
          <a:xfrm>
            <a:off x="8470900" y="3322638"/>
            <a:ext cx="254000" cy="398462"/>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a:t>
            </a:r>
          </a:p>
        </p:txBody>
      </p:sp>
      <p:sp>
        <p:nvSpPr>
          <p:cNvPr id="59440" name="Freeform 51"/>
          <p:cNvSpPr>
            <a:spLocks/>
          </p:cNvSpPr>
          <p:nvPr/>
        </p:nvSpPr>
        <p:spPr bwMode="auto">
          <a:xfrm>
            <a:off x="6500813" y="2874963"/>
            <a:ext cx="1577975" cy="319087"/>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8"/>
              <a:gd name="T31" fmla="*/ 0 h 196"/>
              <a:gd name="T32" fmla="*/ 768 w 768"/>
              <a:gd name="T33" fmla="*/ 196 h 1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59441" name="Line 52"/>
          <p:cNvSpPr>
            <a:spLocks noChangeShapeType="1"/>
          </p:cNvSpPr>
          <p:nvPr/>
        </p:nvSpPr>
        <p:spPr bwMode="auto">
          <a:xfrm>
            <a:off x="3205163" y="3032125"/>
            <a:ext cx="5264150" cy="0"/>
          </a:xfrm>
          <a:prstGeom prst="line">
            <a:avLst/>
          </a:prstGeom>
          <a:noFill/>
          <a:ln w="28575">
            <a:solidFill>
              <a:srgbClr val="333399"/>
            </a:solidFill>
            <a:round/>
            <a:headEnd/>
            <a:tailEnd type="triangle" w="sm" len="med"/>
          </a:ln>
        </p:spPr>
        <p:txBody>
          <a:bodyPr/>
          <a:lstStyle/>
          <a:p>
            <a:endParaRPr lang="zh-CN" altLang="en-US"/>
          </a:p>
        </p:txBody>
      </p:sp>
      <p:sp>
        <p:nvSpPr>
          <p:cNvPr id="59442" name="Text Box 53"/>
          <p:cNvSpPr txBox="1">
            <a:spLocks noChangeArrowheads="1"/>
          </p:cNvSpPr>
          <p:nvPr/>
        </p:nvSpPr>
        <p:spPr bwMode="auto">
          <a:xfrm>
            <a:off x="971550" y="3309938"/>
            <a:ext cx="2279650" cy="395287"/>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S </a:t>
            </a:r>
            <a:r>
              <a:rPr kumimoji="1" lang="zh-CN" altLang="en-US" sz="2000">
                <a:solidFill>
                  <a:srgbClr val="333399"/>
                </a:solidFill>
                <a:latin typeface="Arial" pitchFamily="34" charset="0"/>
                <a:ea typeface="黑体" pitchFamily="49" charset="-122"/>
              </a:rPr>
              <a:t>站发送的信号 </a:t>
            </a:r>
            <a:r>
              <a:rPr kumimoji="1" lang="en-US" altLang="zh-CN" sz="2000" b="1">
                <a:solidFill>
                  <a:srgbClr val="333399"/>
                </a:solidFill>
                <a:latin typeface="Arial" pitchFamily="34" charset="0"/>
                <a:ea typeface="黑体" pitchFamily="49" charset="-122"/>
              </a:rPr>
              <a:t>S</a:t>
            </a:r>
            <a:r>
              <a:rPr kumimoji="1" lang="en-US" altLang="zh-CN" sz="2000" b="1" baseline="-25000">
                <a:solidFill>
                  <a:srgbClr val="333399"/>
                </a:solidFill>
                <a:latin typeface="Arial" pitchFamily="34" charset="0"/>
                <a:ea typeface="黑体" pitchFamily="49" charset="-122"/>
              </a:rPr>
              <a:t>x</a:t>
            </a:r>
          </a:p>
        </p:txBody>
      </p:sp>
      <p:sp>
        <p:nvSpPr>
          <p:cNvPr id="59443" name="Text Box 54"/>
          <p:cNvSpPr txBox="1">
            <a:spLocks noChangeArrowheads="1"/>
          </p:cNvSpPr>
          <p:nvPr/>
        </p:nvSpPr>
        <p:spPr bwMode="auto">
          <a:xfrm>
            <a:off x="971550" y="3860800"/>
            <a:ext cx="225107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T </a:t>
            </a:r>
            <a:r>
              <a:rPr kumimoji="1" lang="zh-CN" altLang="en-US" sz="2000">
                <a:solidFill>
                  <a:srgbClr val="333399"/>
                </a:solidFill>
                <a:latin typeface="Arial" pitchFamily="34" charset="0"/>
                <a:ea typeface="黑体" pitchFamily="49" charset="-122"/>
              </a:rPr>
              <a:t>站发送的信号 </a:t>
            </a:r>
            <a:r>
              <a:rPr kumimoji="1" lang="en-US" altLang="zh-CN" sz="2000" b="1">
                <a:solidFill>
                  <a:srgbClr val="333399"/>
                </a:solidFill>
                <a:latin typeface="Arial" pitchFamily="34" charset="0"/>
                <a:ea typeface="黑体" pitchFamily="49" charset="-122"/>
              </a:rPr>
              <a:t>T</a:t>
            </a:r>
            <a:r>
              <a:rPr kumimoji="1" lang="en-US" altLang="zh-CN" sz="2000" b="1" baseline="-25000">
                <a:solidFill>
                  <a:srgbClr val="333399"/>
                </a:solidFill>
                <a:latin typeface="Arial" pitchFamily="34" charset="0"/>
                <a:ea typeface="黑体" pitchFamily="49" charset="-122"/>
              </a:rPr>
              <a:t>x</a:t>
            </a:r>
          </a:p>
        </p:txBody>
      </p:sp>
      <p:sp>
        <p:nvSpPr>
          <p:cNvPr id="59444" name="Text Box 55"/>
          <p:cNvSpPr txBox="1">
            <a:spLocks noChangeArrowheads="1"/>
          </p:cNvSpPr>
          <p:nvPr/>
        </p:nvSpPr>
        <p:spPr bwMode="auto">
          <a:xfrm>
            <a:off x="684213" y="4498975"/>
            <a:ext cx="2574925"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总的发送信号 </a:t>
            </a:r>
            <a:r>
              <a:rPr kumimoji="1" lang="en-US" altLang="zh-CN" sz="2000" b="1">
                <a:solidFill>
                  <a:srgbClr val="333399"/>
                </a:solidFill>
                <a:latin typeface="Arial" pitchFamily="34" charset="0"/>
                <a:ea typeface="黑体" pitchFamily="49" charset="-122"/>
              </a:rPr>
              <a:t>S</a:t>
            </a:r>
            <a:r>
              <a:rPr kumimoji="1" lang="en-US" altLang="zh-CN" sz="2000" b="1" baseline="-25000">
                <a:solidFill>
                  <a:srgbClr val="333399"/>
                </a:solidFill>
                <a:latin typeface="Arial" pitchFamily="34" charset="0"/>
                <a:ea typeface="黑体" pitchFamily="49" charset="-122"/>
              </a:rPr>
              <a:t>x</a:t>
            </a:r>
            <a:r>
              <a:rPr kumimoji="1" lang="en-US" altLang="zh-CN" sz="2000">
                <a:solidFill>
                  <a:srgbClr val="333399"/>
                </a:solidFill>
                <a:latin typeface="Arial" pitchFamily="34" charset="0"/>
                <a:ea typeface="黑体" pitchFamily="49" charset="-122"/>
              </a:rPr>
              <a:t> + </a:t>
            </a:r>
            <a:r>
              <a:rPr kumimoji="1" lang="en-US" altLang="zh-CN" sz="2000" b="1">
                <a:solidFill>
                  <a:srgbClr val="333399"/>
                </a:solidFill>
                <a:latin typeface="Arial" pitchFamily="34" charset="0"/>
                <a:ea typeface="黑体" pitchFamily="49" charset="-122"/>
              </a:rPr>
              <a:t>T</a:t>
            </a:r>
            <a:r>
              <a:rPr kumimoji="1" lang="en-US" altLang="zh-CN" sz="2000" b="1" baseline="-25000">
                <a:solidFill>
                  <a:srgbClr val="333399"/>
                </a:solidFill>
                <a:latin typeface="Arial" pitchFamily="34" charset="0"/>
                <a:ea typeface="黑体" pitchFamily="49" charset="-122"/>
              </a:rPr>
              <a:t>x</a:t>
            </a:r>
          </a:p>
        </p:txBody>
      </p:sp>
      <p:sp>
        <p:nvSpPr>
          <p:cNvPr id="59445" name="Text Box 56"/>
          <p:cNvSpPr txBox="1">
            <a:spLocks noChangeArrowheads="1"/>
          </p:cNvSpPr>
          <p:nvPr/>
        </p:nvSpPr>
        <p:spPr bwMode="auto">
          <a:xfrm>
            <a:off x="1042988" y="5119688"/>
            <a:ext cx="2211387"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规格化内积 </a:t>
            </a:r>
            <a:r>
              <a:rPr kumimoji="1" lang="en-US" altLang="zh-CN" sz="2000" b="1">
                <a:solidFill>
                  <a:srgbClr val="333399"/>
                </a:solidFill>
                <a:latin typeface="Arial" pitchFamily="34" charset="0"/>
                <a:ea typeface="黑体" pitchFamily="49" charset="-122"/>
              </a:rPr>
              <a:t>S</a:t>
            </a:r>
            <a:r>
              <a:rPr kumimoji="1" lang="en-US" altLang="zh-CN" sz="2000">
                <a:solidFill>
                  <a:srgbClr val="333399"/>
                </a:solidFill>
                <a:latin typeface="Arial" pitchFamily="34" charset="0"/>
                <a:ea typeface="黑体" pitchFamily="49" charset="-122"/>
                <a:sym typeface="Symbol" pitchFamily="18" charset="2"/>
              </a:rPr>
              <a:t> </a:t>
            </a:r>
            <a:r>
              <a:rPr kumimoji="1" lang="en-US" altLang="zh-CN" sz="2000">
                <a:solidFill>
                  <a:srgbClr val="333399"/>
                </a:solidFill>
                <a:latin typeface="Arial" pitchFamily="34" charset="0"/>
                <a:ea typeface="黑体" pitchFamily="49" charset="-122"/>
                <a:sym typeface="Wingdings" pitchFamily="2" charset="2"/>
              </a:rPr>
              <a:t> </a:t>
            </a:r>
            <a:r>
              <a:rPr kumimoji="1" lang="en-US" altLang="zh-CN" sz="2000" b="1">
                <a:solidFill>
                  <a:srgbClr val="333399"/>
                </a:solidFill>
                <a:latin typeface="Arial" pitchFamily="34" charset="0"/>
                <a:ea typeface="黑体" pitchFamily="49" charset="-122"/>
              </a:rPr>
              <a:t>S</a:t>
            </a:r>
            <a:r>
              <a:rPr kumimoji="1" lang="en-US" altLang="zh-CN" sz="2000" b="1" baseline="-25000">
                <a:solidFill>
                  <a:srgbClr val="333399"/>
                </a:solidFill>
                <a:latin typeface="Arial" pitchFamily="34" charset="0"/>
                <a:ea typeface="黑体" pitchFamily="49" charset="-122"/>
              </a:rPr>
              <a:t>x</a:t>
            </a:r>
          </a:p>
        </p:txBody>
      </p:sp>
      <p:sp>
        <p:nvSpPr>
          <p:cNvPr id="59446" name="Text Box 57"/>
          <p:cNvSpPr txBox="1">
            <a:spLocks noChangeArrowheads="1"/>
          </p:cNvSpPr>
          <p:nvPr/>
        </p:nvSpPr>
        <p:spPr bwMode="auto">
          <a:xfrm>
            <a:off x="1042988" y="5651500"/>
            <a:ext cx="219710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规格化内积 </a:t>
            </a:r>
            <a:r>
              <a:rPr kumimoji="1" lang="en-US" altLang="zh-CN" sz="2000" b="1">
                <a:solidFill>
                  <a:srgbClr val="333399"/>
                </a:solidFill>
                <a:latin typeface="Arial" pitchFamily="34" charset="0"/>
                <a:ea typeface="黑体" pitchFamily="49" charset="-122"/>
              </a:rPr>
              <a:t>S</a:t>
            </a:r>
            <a:r>
              <a:rPr kumimoji="1" lang="en-US" altLang="zh-CN" sz="2000">
                <a:solidFill>
                  <a:srgbClr val="333399"/>
                </a:solidFill>
                <a:latin typeface="Arial" pitchFamily="34" charset="0"/>
                <a:ea typeface="黑体" pitchFamily="49" charset="-122"/>
                <a:sym typeface="Symbol" pitchFamily="18" charset="2"/>
              </a:rPr>
              <a:t> </a:t>
            </a:r>
            <a:r>
              <a:rPr kumimoji="1" lang="en-US" altLang="zh-CN" sz="2000">
                <a:solidFill>
                  <a:srgbClr val="333399"/>
                </a:solidFill>
                <a:latin typeface="Arial" pitchFamily="34" charset="0"/>
                <a:ea typeface="黑体" pitchFamily="49" charset="-122"/>
                <a:sym typeface="Wingdings" pitchFamily="2" charset="2"/>
              </a:rPr>
              <a:t> </a:t>
            </a:r>
            <a:r>
              <a:rPr kumimoji="1" lang="en-US" altLang="zh-CN" sz="2000" b="1">
                <a:solidFill>
                  <a:srgbClr val="333399"/>
                </a:solidFill>
                <a:latin typeface="Arial" pitchFamily="34" charset="0"/>
                <a:ea typeface="黑体" pitchFamily="49" charset="-122"/>
              </a:rPr>
              <a:t>T</a:t>
            </a:r>
            <a:r>
              <a:rPr kumimoji="1" lang="en-US" altLang="zh-CN" sz="2000" b="1" baseline="-25000">
                <a:solidFill>
                  <a:srgbClr val="333399"/>
                </a:solidFill>
                <a:latin typeface="Arial" pitchFamily="34" charset="0"/>
                <a:ea typeface="黑体" pitchFamily="49" charset="-122"/>
              </a:rPr>
              <a:t>x</a:t>
            </a:r>
          </a:p>
        </p:txBody>
      </p:sp>
      <p:sp>
        <p:nvSpPr>
          <p:cNvPr id="59447" name="Line 58"/>
          <p:cNvSpPr>
            <a:spLocks noChangeShapeType="1"/>
          </p:cNvSpPr>
          <p:nvPr/>
        </p:nvSpPr>
        <p:spPr bwMode="auto">
          <a:xfrm>
            <a:off x="6259513" y="5365750"/>
            <a:ext cx="2170112" cy="0"/>
          </a:xfrm>
          <a:prstGeom prst="line">
            <a:avLst/>
          </a:prstGeom>
          <a:noFill/>
          <a:ln w="28575">
            <a:solidFill>
              <a:srgbClr val="333399"/>
            </a:solidFill>
            <a:round/>
            <a:headEnd/>
            <a:tailEnd/>
          </a:ln>
        </p:spPr>
        <p:txBody>
          <a:bodyPr/>
          <a:lstStyle/>
          <a:p>
            <a:endParaRPr lang="zh-CN" altLang="en-US"/>
          </a:p>
        </p:txBody>
      </p:sp>
      <p:sp>
        <p:nvSpPr>
          <p:cNvPr id="59448" name="Text Box 59"/>
          <p:cNvSpPr txBox="1">
            <a:spLocks noChangeArrowheads="1"/>
          </p:cNvSpPr>
          <p:nvPr/>
        </p:nvSpPr>
        <p:spPr bwMode="auto">
          <a:xfrm>
            <a:off x="1409700" y="1981200"/>
            <a:ext cx="1708150" cy="395288"/>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数据码元比特</a:t>
            </a:r>
          </a:p>
        </p:txBody>
      </p:sp>
      <p:sp>
        <p:nvSpPr>
          <p:cNvPr id="59449" name="Text Box 60"/>
          <p:cNvSpPr txBox="1">
            <a:spLocks noChangeArrowheads="1"/>
          </p:cNvSpPr>
          <p:nvPr/>
        </p:nvSpPr>
        <p:spPr bwMode="auto">
          <a:xfrm>
            <a:off x="246063" y="3068638"/>
            <a:ext cx="438150" cy="10064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发</a:t>
            </a:r>
          </a:p>
          <a:p>
            <a:pPr algn="l"/>
            <a:r>
              <a:rPr kumimoji="1" lang="zh-CN" altLang="en-US" sz="2000">
                <a:solidFill>
                  <a:srgbClr val="333399"/>
                </a:solidFill>
                <a:latin typeface="Arial" pitchFamily="34" charset="0"/>
                <a:ea typeface="黑体" pitchFamily="49" charset="-122"/>
              </a:rPr>
              <a:t>送</a:t>
            </a:r>
          </a:p>
          <a:p>
            <a:pPr algn="l"/>
            <a:r>
              <a:rPr kumimoji="1" lang="zh-CN" altLang="en-US" sz="2000">
                <a:solidFill>
                  <a:srgbClr val="333399"/>
                </a:solidFill>
                <a:latin typeface="Arial" pitchFamily="34" charset="0"/>
                <a:ea typeface="黑体" pitchFamily="49" charset="-122"/>
              </a:rPr>
              <a:t>端</a:t>
            </a:r>
          </a:p>
        </p:txBody>
      </p:sp>
      <p:sp>
        <p:nvSpPr>
          <p:cNvPr id="59450" name="Text Box 61"/>
          <p:cNvSpPr txBox="1">
            <a:spLocks noChangeArrowheads="1"/>
          </p:cNvSpPr>
          <p:nvPr/>
        </p:nvSpPr>
        <p:spPr bwMode="auto">
          <a:xfrm>
            <a:off x="388938" y="5084763"/>
            <a:ext cx="438150" cy="1006475"/>
          </a:xfrm>
          <a:prstGeom prst="rect">
            <a:avLst/>
          </a:prstGeom>
          <a:noFill/>
          <a:ln w="9525">
            <a:noFill/>
            <a:miter lim="800000"/>
            <a:headEnd/>
            <a:tailEnd/>
          </a:ln>
        </p:spPr>
        <p:txBody>
          <a:bodyPr wrap="none">
            <a:spAutoFit/>
          </a:bodyPr>
          <a:lstStyle/>
          <a:p>
            <a:pPr algn="l" eaLnBrk="0" hangingPunct="0"/>
            <a:r>
              <a:rPr kumimoji="1" lang="zh-CN" altLang="en-US" sz="2000">
                <a:solidFill>
                  <a:srgbClr val="333399"/>
                </a:solidFill>
                <a:latin typeface="Arial" pitchFamily="34" charset="0"/>
                <a:ea typeface="黑体" pitchFamily="49" charset="-122"/>
              </a:rPr>
              <a:t>接</a:t>
            </a:r>
          </a:p>
          <a:p>
            <a:pPr algn="l" eaLnBrk="0" hangingPunct="0"/>
            <a:r>
              <a:rPr kumimoji="1" lang="zh-CN" altLang="en-US" sz="2000">
                <a:solidFill>
                  <a:srgbClr val="333399"/>
                </a:solidFill>
                <a:latin typeface="Arial" pitchFamily="34" charset="0"/>
                <a:ea typeface="黑体" pitchFamily="49" charset="-122"/>
              </a:rPr>
              <a:t>收</a:t>
            </a:r>
          </a:p>
          <a:p>
            <a:pPr algn="l" eaLnBrk="0" hangingPunct="0"/>
            <a:r>
              <a:rPr kumimoji="1" lang="zh-CN" altLang="en-US" sz="2000">
                <a:solidFill>
                  <a:srgbClr val="333399"/>
                </a:solidFill>
                <a:latin typeface="Arial" pitchFamily="34" charset="0"/>
                <a:ea typeface="黑体" pitchFamily="49" charset="-122"/>
              </a:rPr>
              <a:t>端</a:t>
            </a:r>
          </a:p>
        </p:txBody>
      </p:sp>
      <p:sp>
        <p:nvSpPr>
          <p:cNvPr id="59451" name="AutoShape 62"/>
          <p:cNvSpPr>
            <a:spLocks/>
          </p:cNvSpPr>
          <p:nvPr/>
        </p:nvSpPr>
        <p:spPr bwMode="auto">
          <a:xfrm>
            <a:off x="684213" y="2060575"/>
            <a:ext cx="144462" cy="3024188"/>
          </a:xfrm>
          <a:prstGeom prst="leftBracket">
            <a:avLst>
              <a:gd name="adj" fmla="val 174451"/>
            </a:avLst>
          </a:prstGeom>
          <a:noFill/>
          <a:ln w="9525">
            <a:solidFill>
              <a:schemeClr val="tx1"/>
            </a:solidFill>
            <a:round/>
            <a:headEnd/>
            <a:tailEnd/>
          </a:ln>
        </p:spPr>
        <p:txBody>
          <a:bodyPr wrap="none" anchor="ctr"/>
          <a:lstStyle/>
          <a:p>
            <a:endParaRPr lang="zh-CN" altLang="en-US"/>
          </a:p>
        </p:txBody>
      </p:sp>
      <p:sp>
        <p:nvSpPr>
          <p:cNvPr id="59452" name="AutoShape 63"/>
          <p:cNvSpPr>
            <a:spLocks/>
          </p:cNvSpPr>
          <p:nvPr/>
        </p:nvSpPr>
        <p:spPr bwMode="auto">
          <a:xfrm>
            <a:off x="900113" y="5229225"/>
            <a:ext cx="77787" cy="792163"/>
          </a:xfrm>
          <a:prstGeom prst="leftBracket">
            <a:avLst>
              <a:gd name="adj" fmla="val 84865"/>
            </a:avLst>
          </a:prstGeom>
          <a:noFill/>
          <a:ln w="9525">
            <a:solidFill>
              <a:schemeClr val="tx1"/>
            </a:solidFill>
            <a:round/>
            <a:headEnd/>
            <a:tailE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50938" y="214313"/>
            <a:ext cx="7597775" cy="1462087"/>
          </a:xfrm>
        </p:spPr>
        <p:txBody>
          <a:bodyPr/>
          <a:lstStyle/>
          <a:p>
            <a:pPr algn="ctr" eaLnBrk="1" hangingPunct="1"/>
            <a:r>
              <a:rPr lang="en-US" altLang="zh-CN" sz="4000" dirty="0" smtClean="0"/>
              <a:t>5. </a:t>
            </a:r>
            <a:r>
              <a:rPr lang="zh-CN" altLang="en-US" sz="4000" dirty="0" smtClean="0"/>
              <a:t>数字传输系统</a:t>
            </a:r>
            <a:r>
              <a:rPr lang="en-US" altLang="zh-CN" sz="4000" dirty="0" smtClean="0"/>
              <a:t/>
            </a:r>
            <a:br>
              <a:rPr lang="en-US" altLang="zh-CN" sz="4000" dirty="0" smtClean="0"/>
            </a:br>
            <a:r>
              <a:rPr lang="en-US" altLang="zh-CN" sz="4000" dirty="0" smtClean="0"/>
              <a:t>(</a:t>
            </a:r>
            <a:r>
              <a:rPr lang="en-US" altLang="zh-CN" sz="3600" dirty="0" smtClean="0"/>
              <a:t>1)  </a:t>
            </a:r>
            <a:r>
              <a:rPr lang="zh-CN" altLang="en-US" sz="3600" dirty="0" smtClean="0"/>
              <a:t>脉码调制 </a:t>
            </a:r>
            <a:r>
              <a:rPr lang="en-US" altLang="zh-CN" sz="3600" dirty="0" smtClean="0"/>
              <a:t>PCM </a:t>
            </a:r>
            <a:r>
              <a:rPr lang="zh-CN" altLang="en-US" sz="3600" dirty="0" smtClean="0"/>
              <a:t>体制</a:t>
            </a:r>
            <a:r>
              <a:rPr lang="zh-CN" altLang="en-US" dirty="0" smtClean="0"/>
              <a:t> </a:t>
            </a:r>
          </a:p>
        </p:txBody>
      </p:sp>
      <p:sp>
        <p:nvSpPr>
          <p:cNvPr id="60419" name="Rectangle 3"/>
          <p:cNvSpPr>
            <a:spLocks noGrp="1" noChangeArrowheads="1"/>
          </p:cNvSpPr>
          <p:nvPr>
            <p:ph type="body" idx="1"/>
          </p:nvPr>
        </p:nvSpPr>
        <p:spPr>
          <a:xfrm>
            <a:off x="539750" y="1773238"/>
            <a:ext cx="8388350" cy="4536082"/>
          </a:xfrm>
        </p:spPr>
        <p:txBody>
          <a:bodyPr/>
          <a:lstStyle/>
          <a:p>
            <a:pPr eaLnBrk="1" hangingPunct="1"/>
            <a:r>
              <a:rPr lang="zh-CN" altLang="en-US" sz="2800" dirty="0" smtClean="0"/>
              <a:t>脉码调制 </a:t>
            </a:r>
            <a:r>
              <a:rPr lang="en-US" altLang="zh-CN" sz="2800" dirty="0" smtClean="0"/>
              <a:t>PCM </a:t>
            </a:r>
            <a:r>
              <a:rPr lang="zh-CN" altLang="en-US" sz="2800" dirty="0" smtClean="0"/>
              <a:t>体制最初是为了在电话局之间的中继线上传送多路的电话。</a:t>
            </a:r>
          </a:p>
          <a:p>
            <a:pPr eaLnBrk="1" hangingPunct="1"/>
            <a:r>
              <a:rPr lang="zh-CN" altLang="en-US" sz="2800" dirty="0" smtClean="0"/>
              <a:t>由于历史上的原因，</a:t>
            </a:r>
            <a:r>
              <a:rPr lang="en-US" altLang="zh-CN" sz="2800" dirty="0" smtClean="0"/>
              <a:t>PCM </a:t>
            </a:r>
            <a:r>
              <a:rPr lang="zh-CN" altLang="en-US" sz="2800" dirty="0" smtClean="0"/>
              <a:t>有两个互不兼容的国际标准</a:t>
            </a:r>
            <a:endParaRPr lang="en-US" altLang="zh-CN" sz="2800" dirty="0" smtClean="0"/>
          </a:p>
          <a:p>
            <a:pPr lvl="1" eaLnBrk="1" hangingPunct="1"/>
            <a:r>
              <a:rPr lang="zh-CN" altLang="en-US" sz="2400" dirty="0" smtClean="0"/>
              <a:t>北美的 </a:t>
            </a:r>
            <a:r>
              <a:rPr lang="en-US" altLang="zh-CN" sz="2400" dirty="0" smtClean="0"/>
              <a:t>24 </a:t>
            </a:r>
            <a:r>
              <a:rPr lang="zh-CN" altLang="en-US" sz="2400" dirty="0" smtClean="0"/>
              <a:t>路 </a:t>
            </a:r>
            <a:r>
              <a:rPr lang="en-US" altLang="zh-CN" sz="2400" dirty="0" smtClean="0"/>
              <a:t>PCM</a:t>
            </a:r>
            <a:r>
              <a:rPr lang="zh-CN" altLang="en-US" sz="2400" dirty="0" smtClean="0"/>
              <a:t>（简称为 </a:t>
            </a:r>
            <a:r>
              <a:rPr lang="en-US" altLang="zh-CN" sz="2400" dirty="0" smtClean="0"/>
              <a:t>T1</a:t>
            </a:r>
            <a:r>
              <a:rPr lang="zh-CN" altLang="en-US" sz="2400" dirty="0" smtClean="0"/>
              <a:t>）</a:t>
            </a:r>
            <a:endParaRPr lang="en-US" altLang="zh-CN" sz="2400" dirty="0" smtClean="0"/>
          </a:p>
          <a:p>
            <a:pPr lvl="1" eaLnBrk="1" hangingPunct="1"/>
            <a:r>
              <a:rPr lang="zh-CN" altLang="en-US" sz="2400" dirty="0" smtClean="0"/>
              <a:t>欧洲的 </a:t>
            </a:r>
            <a:r>
              <a:rPr lang="en-US" altLang="zh-CN" sz="2400" dirty="0" smtClean="0"/>
              <a:t>30 </a:t>
            </a:r>
            <a:r>
              <a:rPr lang="zh-CN" altLang="en-US" sz="2400" dirty="0" smtClean="0"/>
              <a:t>路 </a:t>
            </a:r>
            <a:r>
              <a:rPr lang="en-US" altLang="zh-CN" sz="2400" dirty="0" smtClean="0"/>
              <a:t>PCM</a:t>
            </a:r>
            <a:r>
              <a:rPr lang="zh-CN" altLang="en-US" sz="2400" dirty="0" smtClean="0"/>
              <a:t>（简称为 </a:t>
            </a:r>
            <a:r>
              <a:rPr lang="en-US" altLang="zh-CN" sz="2400" dirty="0" smtClean="0"/>
              <a:t>E1</a:t>
            </a:r>
            <a:r>
              <a:rPr lang="zh-CN" altLang="en-US" sz="2400" dirty="0" smtClean="0"/>
              <a:t>）。我国采用 </a:t>
            </a:r>
            <a:r>
              <a:rPr lang="en-US" altLang="zh-CN" sz="2400" dirty="0" smtClean="0"/>
              <a:t>E1 </a:t>
            </a:r>
            <a:r>
              <a:rPr lang="zh-CN" altLang="en-US" sz="2400" dirty="0" smtClean="0"/>
              <a:t>标准。</a:t>
            </a:r>
          </a:p>
          <a:p>
            <a:pPr eaLnBrk="1" hangingPunct="1"/>
            <a:r>
              <a:rPr lang="en-US" altLang="zh-CN" sz="2800" dirty="0" smtClean="0"/>
              <a:t>E1 </a:t>
            </a:r>
            <a:r>
              <a:rPr lang="zh-CN" altLang="en-US" sz="2800" dirty="0" smtClean="0"/>
              <a:t>的速率是 </a:t>
            </a:r>
            <a:r>
              <a:rPr lang="en-US" altLang="zh-CN" sz="2800" dirty="0" smtClean="0"/>
              <a:t>2.048 Mb/s</a:t>
            </a:r>
            <a:r>
              <a:rPr lang="zh-CN" altLang="en-US" sz="2800" dirty="0" smtClean="0"/>
              <a:t>，而 </a:t>
            </a:r>
            <a:r>
              <a:rPr lang="en-US" altLang="zh-CN" sz="2800" dirty="0" smtClean="0"/>
              <a:t>T1 </a:t>
            </a:r>
            <a:r>
              <a:rPr lang="zh-CN" altLang="en-US" sz="2800" dirty="0" smtClean="0"/>
              <a:t>的速率是 </a:t>
            </a:r>
            <a:r>
              <a:rPr lang="en-US" altLang="zh-CN" sz="2800" dirty="0" smtClean="0"/>
              <a:t>1.544 Mb/s</a:t>
            </a:r>
            <a:r>
              <a:rPr lang="zh-CN" altLang="en-US" sz="2800" dirty="0" smtClean="0"/>
              <a:t>。</a:t>
            </a:r>
          </a:p>
          <a:p>
            <a:pPr eaLnBrk="1" hangingPunct="1"/>
            <a:r>
              <a:rPr lang="zh-CN" altLang="en-US" sz="2800" dirty="0" smtClean="0"/>
              <a:t>当需要有更高的数据率时，可采用复用的方法。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50938" y="260350"/>
            <a:ext cx="7793037" cy="1462088"/>
          </a:xfrm>
        </p:spPr>
        <p:txBody>
          <a:bodyPr/>
          <a:lstStyle/>
          <a:p>
            <a:pPr algn="ctr" eaLnBrk="1" hangingPunct="1"/>
            <a:r>
              <a:rPr lang="en-US" altLang="zh-CN" sz="3600" dirty="0" smtClean="0"/>
              <a:t>(2) </a:t>
            </a:r>
            <a:r>
              <a:rPr lang="zh-CN" altLang="en-US" sz="3600" dirty="0" smtClean="0"/>
              <a:t>同步光纤网 </a:t>
            </a:r>
            <a:r>
              <a:rPr lang="en-US" altLang="zh-CN" sz="3600" dirty="0" smtClean="0"/>
              <a:t>SONET </a:t>
            </a:r>
            <a:r>
              <a:rPr lang="zh-CN" altLang="en-US" sz="3600" dirty="0" smtClean="0"/>
              <a:t>和</a:t>
            </a:r>
            <a:br>
              <a:rPr lang="zh-CN" altLang="en-US" sz="3600" dirty="0" smtClean="0"/>
            </a:br>
            <a:r>
              <a:rPr lang="zh-CN" altLang="en-US" sz="3600" dirty="0" smtClean="0"/>
              <a:t>同步数字系列 </a:t>
            </a:r>
            <a:r>
              <a:rPr lang="en-US" altLang="zh-CN" sz="3600" dirty="0" smtClean="0"/>
              <a:t>SDH </a:t>
            </a:r>
          </a:p>
        </p:txBody>
      </p:sp>
      <p:sp>
        <p:nvSpPr>
          <p:cNvPr id="161795" name="Rectangle 3"/>
          <p:cNvSpPr>
            <a:spLocks noGrp="1" noChangeArrowheads="1"/>
          </p:cNvSpPr>
          <p:nvPr>
            <p:ph type="body" idx="1"/>
          </p:nvPr>
        </p:nvSpPr>
        <p:spPr>
          <a:xfrm>
            <a:off x="539750" y="1917700"/>
            <a:ext cx="8459788" cy="4535488"/>
          </a:xfrm>
        </p:spPr>
        <p:txBody>
          <a:bodyPr/>
          <a:lstStyle/>
          <a:p>
            <a:pPr eaLnBrk="1" hangingPunct="1"/>
            <a:r>
              <a:rPr lang="zh-CN" altLang="en-US" smtClean="0"/>
              <a:t>旧的数字传输系统存在着许多缺点。其中最主要的是以下两个方面： </a:t>
            </a:r>
          </a:p>
          <a:p>
            <a:pPr eaLnBrk="1" hangingPunct="1"/>
            <a:r>
              <a:rPr lang="zh-CN" altLang="en-US" smtClean="0"/>
              <a:t>速率标准不统一。</a:t>
            </a:r>
          </a:p>
          <a:p>
            <a:pPr lvl="1" eaLnBrk="1" hangingPunct="1"/>
            <a:r>
              <a:rPr lang="zh-CN" altLang="en-US" smtClean="0">
                <a:solidFill>
                  <a:srgbClr val="333399"/>
                </a:solidFill>
                <a:ea typeface="黑体" pitchFamily="49" charset="-122"/>
              </a:rPr>
              <a:t>如果不对高次群的数字传输速率进行标准化，国际范围的高速数据传输就很难实现。</a:t>
            </a:r>
            <a:r>
              <a:rPr lang="zh-CN" altLang="en-US" smtClean="0"/>
              <a:t> </a:t>
            </a:r>
          </a:p>
          <a:p>
            <a:pPr eaLnBrk="1" hangingPunct="1"/>
            <a:r>
              <a:rPr lang="zh-CN" altLang="en-US" smtClean="0"/>
              <a:t>不是同步传输。</a:t>
            </a:r>
          </a:p>
          <a:p>
            <a:pPr lvl="1" eaLnBrk="1" hangingPunct="1"/>
            <a:r>
              <a:rPr lang="zh-CN" altLang="en-US" smtClean="0">
                <a:solidFill>
                  <a:srgbClr val="333399"/>
                </a:solidFill>
                <a:ea typeface="黑体" pitchFamily="49" charset="-122"/>
              </a:rPr>
              <a:t>在过去相当长的时间，为了节约经费，各国的数字网主要是采用</a:t>
            </a:r>
            <a:r>
              <a:rPr lang="zh-CN" altLang="en-US" smtClean="0">
                <a:solidFill>
                  <a:schemeClr val="hlink"/>
                </a:solidFill>
                <a:ea typeface="黑体" pitchFamily="49" charset="-122"/>
              </a:rPr>
              <a:t>准同步方式</a:t>
            </a:r>
            <a:r>
              <a:rPr lang="zh-CN" altLang="en-US" smtClean="0">
                <a:solidFill>
                  <a:srgbClr val="333399"/>
                </a:solidFill>
                <a:ea typeface="黑体" pitchFamily="49" charset="-122"/>
              </a:rPr>
              <a:t>。</a:t>
            </a:r>
            <a:r>
              <a:rPr lang="zh-CN" altLang="en-US" smtClean="0"/>
              <a:t>   </a:t>
            </a:r>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1445" name="Rectangle 6"/>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179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17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1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同步光纤网 </a:t>
            </a:r>
            <a:r>
              <a:rPr lang="en-US" altLang="zh-CN" smtClean="0"/>
              <a:t>SONET</a:t>
            </a:r>
          </a:p>
        </p:txBody>
      </p:sp>
      <p:sp>
        <p:nvSpPr>
          <p:cNvPr id="160771" name="Rectangle 3"/>
          <p:cNvSpPr>
            <a:spLocks noGrp="1" noChangeArrowheads="1"/>
          </p:cNvSpPr>
          <p:nvPr>
            <p:ph type="body" idx="1"/>
          </p:nvPr>
        </p:nvSpPr>
        <p:spPr>
          <a:xfrm>
            <a:off x="395288" y="1917700"/>
            <a:ext cx="8604250" cy="4535488"/>
          </a:xfrm>
        </p:spPr>
        <p:txBody>
          <a:bodyPr/>
          <a:lstStyle/>
          <a:p>
            <a:pPr eaLnBrk="1" hangingPunct="1"/>
            <a:r>
              <a:rPr lang="zh-CN" altLang="en-US" smtClean="0">
                <a:solidFill>
                  <a:schemeClr val="hlink"/>
                </a:solidFill>
              </a:rPr>
              <a:t>同步光纤网</a:t>
            </a:r>
            <a:r>
              <a:rPr lang="zh-CN" altLang="en-US" smtClean="0"/>
              <a:t> </a:t>
            </a:r>
            <a:r>
              <a:rPr lang="en-US" altLang="zh-CN" smtClean="0"/>
              <a:t>SONET (Synchronous Optical Network) </a:t>
            </a:r>
            <a:r>
              <a:rPr lang="zh-CN" altLang="en-US" smtClean="0"/>
              <a:t>的各级时钟都来自一个非常精确的主时钟。 </a:t>
            </a:r>
          </a:p>
          <a:p>
            <a:pPr eaLnBrk="1" hangingPunct="1"/>
            <a:r>
              <a:rPr lang="zh-CN" altLang="en-US" smtClean="0"/>
              <a:t>第 </a:t>
            </a:r>
            <a:r>
              <a:rPr lang="en-US" altLang="zh-CN" smtClean="0"/>
              <a:t>1 </a:t>
            </a:r>
            <a:r>
              <a:rPr lang="zh-CN" altLang="en-US" smtClean="0"/>
              <a:t>级</a:t>
            </a:r>
            <a:r>
              <a:rPr lang="zh-CN" altLang="en-US" smtClean="0">
                <a:solidFill>
                  <a:schemeClr val="hlink"/>
                </a:solidFill>
              </a:rPr>
              <a:t>同步传送信号</a:t>
            </a:r>
            <a:r>
              <a:rPr lang="zh-CN" altLang="en-US" smtClean="0"/>
              <a:t> </a:t>
            </a:r>
            <a:r>
              <a:rPr lang="en-US" altLang="zh-CN" smtClean="0"/>
              <a:t>STS-1 (Synchronous Transport Signal)</a:t>
            </a:r>
            <a:r>
              <a:rPr lang="zh-CN" altLang="en-US" smtClean="0"/>
              <a:t>的传输速率是 </a:t>
            </a:r>
            <a:r>
              <a:rPr lang="en-US" altLang="zh-CN" smtClean="0"/>
              <a:t>51.84 Mb/s</a:t>
            </a:r>
            <a:r>
              <a:rPr lang="zh-CN" altLang="en-US" smtClean="0"/>
              <a:t>。</a:t>
            </a:r>
          </a:p>
          <a:p>
            <a:pPr eaLnBrk="1" hangingPunct="1"/>
            <a:r>
              <a:rPr lang="zh-CN" altLang="en-US" smtClean="0"/>
              <a:t>光信号则称为第 </a:t>
            </a:r>
            <a:r>
              <a:rPr lang="en-US" altLang="zh-CN" smtClean="0"/>
              <a:t>1 </a:t>
            </a:r>
            <a:r>
              <a:rPr lang="zh-CN" altLang="en-US" smtClean="0"/>
              <a:t>级</a:t>
            </a:r>
            <a:r>
              <a:rPr lang="zh-CN" altLang="en-US" smtClean="0">
                <a:solidFill>
                  <a:schemeClr val="hlink"/>
                </a:solidFill>
              </a:rPr>
              <a:t>光载波</a:t>
            </a:r>
            <a:r>
              <a:rPr lang="zh-CN" altLang="en-US" smtClean="0"/>
              <a:t> </a:t>
            </a:r>
            <a:r>
              <a:rPr lang="en-US" altLang="zh-CN" smtClean="0"/>
              <a:t>OC-1</a:t>
            </a:r>
            <a:r>
              <a:rPr lang="zh-CN" altLang="en-US" smtClean="0"/>
              <a:t>，</a:t>
            </a:r>
            <a:r>
              <a:rPr lang="en-US" altLang="zh-CN" smtClean="0"/>
              <a:t>OC </a:t>
            </a:r>
            <a:r>
              <a:rPr lang="zh-CN" altLang="en-US" smtClean="0"/>
              <a:t>表示</a:t>
            </a:r>
            <a:r>
              <a:rPr lang="en-US" altLang="zh-CN" smtClean="0"/>
              <a:t>Optical Carrier</a:t>
            </a:r>
            <a:r>
              <a:rPr lang="zh-CN" altLang="en-US" smtClean="0"/>
              <a:t>。  </a:t>
            </a:r>
          </a:p>
        </p:txBody>
      </p:sp>
      <p:sp>
        <p:nvSpPr>
          <p:cNvPr id="6246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2469" name="Rectangle 6"/>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150938" y="260350"/>
            <a:ext cx="7793037" cy="1462088"/>
          </a:xfrm>
        </p:spPr>
        <p:txBody>
          <a:bodyPr/>
          <a:lstStyle/>
          <a:p>
            <a:pPr algn="ctr" eaLnBrk="1" hangingPunct="1"/>
            <a:r>
              <a:rPr lang="en-US" altLang="zh-CN" smtClean="0"/>
              <a:t/>
            </a:r>
            <a:br>
              <a:rPr lang="en-US" altLang="zh-CN" smtClean="0"/>
            </a:br>
            <a:r>
              <a:rPr lang="zh-CN" altLang="en-US" smtClean="0"/>
              <a:t>同步数字系列 </a:t>
            </a:r>
            <a:r>
              <a:rPr lang="en-US" altLang="zh-CN" b="1" smtClean="0"/>
              <a:t>SDH</a:t>
            </a:r>
            <a:r>
              <a:rPr lang="en-US" altLang="zh-CN" smtClean="0"/>
              <a:t> </a:t>
            </a:r>
          </a:p>
        </p:txBody>
      </p:sp>
      <p:sp>
        <p:nvSpPr>
          <p:cNvPr id="164867" name="Rectangle 3"/>
          <p:cNvSpPr>
            <a:spLocks noGrp="1" noChangeArrowheads="1"/>
          </p:cNvSpPr>
          <p:nvPr>
            <p:ph type="body" idx="1"/>
          </p:nvPr>
        </p:nvSpPr>
        <p:spPr>
          <a:xfrm>
            <a:off x="539750" y="1917700"/>
            <a:ext cx="8459788" cy="4535488"/>
          </a:xfrm>
        </p:spPr>
        <p:txBody>
          <a:bodyPr/>
          <a:lstStyle/>
          <a:p>
            <a:pPr eaLnBrk="1" hangingPunct="1"/>
            <a:r>
              <a:rPr lang="en-US" altLang="zh-CN" smtClean="0"/>
              <a:t>ITU-T </a:t>
            </a:r>
            <a:r>
              <a:rPr lang="zh-CN" altLang="en-US" smtClean="0"/>
              <a:t>以美国标准 </a:t>
            </a:r>
            <a:r>
              <a:rPr lang="en-US" altLang="zh-CN" smtClean="0"/>
              <a:t>SONET </a:t>
            </a:r>
            <a:r>
              <a:rPr lang="zh-CN" altLang="en-US" smtClean="0"/>
              <a:t>为基础，制订出国际标准</a:t>
            </a:r>
            <a:r>
              <a:rPr lang="zh-CN" altLang="en-US" smtClean="0">
                <a:solidFill>
                  <a:schemeClr val="hlink"/>
                </a:solidFill>
              </a:rPr>
              <a:t>同步数字系列</a:t>
            </a:r>
            <a:r>
              <a:rPr lang="zh-CN" altLang="en-US" smtClean="0"/>
              <a:t> </a:t>
            </a:r>
            <a:r>
              <a:rPr lang="en-US" altLang="zh-CN" smtClean="0"/>
              <a:t>SDH (Synchronous Digital Hierarchy)</a:t>
            </a:r>
            <a:r>
              <a:rPr lang="zh-CN" altLang="en-US" smtClean="0"/>
              <a:t>。</a:t>
            </a:r>
          </a:p>
          <a:p>
            <a:pPr eaLnBrk="1" hangingPunct="1"/>
            <a:r>
              <a:rPr lang="zh-CN" altLang="en-US" smtClean="0"/>
              <a:t>一般可认为 </a:t>
            </a:r>
            <a:r>
              <a:rPr lang="en-US" altLang="zh-CN" smtClean="0"/>
              <a:t>SDH </a:t>
            </a:r>
            <a:r>
              <a:rPr lang="zh-CN" altLang="en-US" smtClean="0"/>
              <a:t>与 </a:t>
            </a:r>
            <a:r>
              <a:rPr lang="en-US" altLang="zh-CN" smtClean="0"/>
              <a:t>SONET </a:t>
            </a:r>
            <a:r>
              <a:rPr lang="zh-CN" altLang="en-US" smtClean="0"/>
              <a:t>是同义词。</a:t>
            </a:r>
          </a:p>
          <a:p>
            <a:pPr eaLnBrk="1" hangingPunct="1"/>
            <a:r>
              <a:rPr lang="en-US" altLang="zh-CN" smtClean="0"/>
              <a:t>SDH </a:t>
            </a:r>
            <a:r>
              <a:rPr lang="zh-CN" altLang="en-US" smtClean="0"/>
              <a:t>的基本速率为 </a:t>
            </a:r>
            <a:r>
              <a:rPr lang="en-US" altLang="zh-CN" smtClean="0"/>
              <a:t>155.52 Mb/s</a:t>
            </a:r>
            <a:r>
              <a:rPr lang="zh-CN" altLang="en-US" smtClean="0"/>
              <a:t>，称为第 </a:t>
            </a:r>
            <a:r>
              <a:rPr lang="en-US" altLang="zh-CN" b="1" smtClean="0"/>
              <a:t>1 </a:t>
            </a:r>
            <a:r>
              <a:rPr lang="zh-CN" altLang="en-US" smtClean="0"/>
              <a:t>级</a:t>
            </a:r>
            <a:r>
              <a:rPr lang="zh-CN" altLang="en-US" smtClean="0">
                <a:solidFill>
                  <a:schemeClr val="hlink"/>
                </a:solidFill>
              </a:rPr>
              <a:t>同步传递模块</a:t>
            </a:r>
            <a:r>
              <a:rPr lang="zh-CN" altLang="en-US" smtClean="0"/>
              <a:t> </a:t>
            </a:r>
            <a:r>
              <a:rPr lang="en-US" altLang="zh-CN" smtClean="0"/>
              <a:t>(Synchronous Transfer Module)</a:t>
            </a:r>
            <a:r>
              <a:rPr lang="zh-CN" altLang="en-US" smtClean="0"/>
              <a:t>，即 </a:t>
            </a:r>
            <a:r>
              <a:rPr lang="en-US" altLang="zh-CN" smtClean="0"/>
              <a:t>STM-1</a:t>
            </a:r>
            <a:r>
              <a:rPr lang="zh-CN" altLang="en-US" smtClean="0"/>
              <a:t>，相当于 </a:t>
            </a:r>
            <a:r>
              <a:rPr lang="en-US" altLang="zh-CN" smtClean="0"/>
              <a:t>SONET </a:t>
            </a:r>
            <a:r>
              <a:rPr lang="zh-CN" altLang="en-US" smtClean="0"/>
              <a:t>体系中的 </a:t>
            </a:r>
            <a:r>
              <a:rPr lang="en-US" altLang="zh-CN" smtClean="0"/>
              <a:t>OC-3 </a:t>
            </a:r>
            <a:r>
              <a:rPr lang="zh-CN" altLang="en-US" smtClean="0"/>
              <a:t>速率。   </a:t>
            </a:r>
          </a:p>
        </p:txBody>
      </p:sp>
      <p:sp>
        <p:nvSpPr>
          <p:cNvPr id="6349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3493" name="Rectangle 6"/>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8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66305" name="Group 417"/>
          <p:cNvGraphicFramePr>
            <a:graphicFrameLocks noGrp="1"/>
          </p:cNvGraphicFramePr>
          <p:nvPr/>
        </p:nvGraphicFramePr>
        <p:xfrm>
          <a:off x="144463" y="1060450"/>
          <a:ext cx="8820150" cy="5601018"/>
        </p:xfrm>
        <a:graphic>
          <a:graphicData uri="http://schemas.openxmlformats.org/drawingml/2006/table">
            <a:tbl>
              <a:tblPr/>
              <a:tblGrid>
                <a:gridCol w="1690687"/>
                <a:gridCol w="2628900"/>
                <a:gridCol w="1800225"/>
                <a:gridCol w="2700338"/>
              </a:tblGrid>
              <a:tr h="571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线路速率</a:t>
                      </a:r>
                      <a:endParaRPr kumimoji="0" lang="zh-CN" altLang="en-US"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(Mb/s)</a:t>
                      </a:r>
                      <a:endParaRPr kumimoji="0" lang="en-US" altLang="zh-CN" sz="44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SONET</a:t>
                      </a:r>
                      <a:endParaRPr kumimoji="0" lang="en-US" altLang="zh-CN"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符号</a:t>
                      </a:r>
                      <a:endParaRPr kumimoji="0" lang="zh-CN" altLang="en-US" sz="44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ITU-T</a:t>
                      </a:r>
                      <a:endParaRPr kumimoji="0" lang="en-US" altLang="zh-CN"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符号</a:t>
                      </a:r>
                      <a:endParaRPr kumimoji="0" lang="zh-CN" altLang="en-US" sz="44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表示线路速率</a:t>
                      </a:r>
                      <a:endParaRPr kumimoji="0" lang="zh-CN" altLang="en-US"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的常用近似值</a:t>
                      </a:r>
                      <a:endParaRPr kumimoji="0" lang="zh-CN" altLang="en-US" sz="44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401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51.840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OC-1/STS-1</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sym typeface="Symbol"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155.520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OC-3/STS-3</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STM-1</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155 Mb/s</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4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466.560</a:t>
                      </a:r>
                      <a:endParaRPr kumimoji="0" lang="en-US" altLang="zh-CN" sz="32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OC-9/STS-9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3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622.080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OC-12/STS-12</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STM-4</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622 Mb/s</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43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933.120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OC-18/STS-18</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1244.160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OC-24/STS-24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STM-8</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smtClean="0">
                        <a:ln>
                          <a:noFill/>
                        </a:ln>
                        <a:solidFill>
                          <a:srgbClr val="333399"/>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2488.320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OC-48/STS-48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STM-16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2.5 Gb/s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3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4976.640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OC-96/STS-96</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STM-32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1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9953.280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OC-192/STS-192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STM-64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10 Gb/s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1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39813.120</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OC-768/STS-768</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STM-256</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40 Gb/s</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4577" name="Text Box 321"/>
          <p:cNvSpPr txBox="1">
            <a:spLocks noChangeArrowheads="1"/>
          </p:cNvSpPr>
          <p:nvPr/>
        </p:nvSpPr>
        <p:spPr bwMode="auto">
          <a:xfrm>
            <a:off x="34925" y="157163"/>
            <a:ext cx="9029700" cy="519112"/>
          </a:xfrm>
          <a:prstGeom prst="rect">
            <a:avLst/>
          </a:prstGeom>
          <a:noFill/>
          <a:ln w="9525">
            <a:noFill/>
            <a:miter lim="800000"/>
            <a:headEnd/>
            <a:tailEnd/>
          </a:ln>
        </p:spPr>
        <p:txBody>
          <a:bodyPr wrap="none">
            <a:spAutoFit/>
          </a:bodyPr>
          <a:lstStyle/>
          <a:p>
            <a:pPr algn="l"/>
            <a:r>
              <a:rPr lang="en-US" altLang="zh-CN" sz="2800">
                <a:solidFill>
                  <a:srgbClr val="333399"/>
                </a:solidFill>
                <a:latin typeface="Arial" pitchFamily="34" charset="0"/>
                <a:ea typeface="黑体" pitchFamily="49" charset="-122"/>
              </a:rPr>
              <a:t>SONET </a:t>
            </a:r>
            <a:r>
              <a:rPr lang="zh-CN" altLang="en-US" sz="2800">
                <a:solidFill>
                  <a:srgbClr val="333399"/>
                </a:solidFill>
                <a:latin typeface="Arial" pitchFamily="34" charset="0"/>
                <a:ea typeface="黑体" pitchFamily="49" charset="-122"/>
              </a:rPr>
              <a:t>的 </a:t>
            </a:r>
            <a:r>
              <a:rPr lang="en-US" altLang="zh-CN" sz="2800">
                <a:solidFill>
                  <a:srgbClr val="333399"/>
                </a:solidFill>
                <a:latin typeface="Arial" pitchFamily="34" charset="0"/>
                <a:ea typeface="黑体" pitchFamily="49" charset="-122"/>
              </a:rPr>
              <a:t>OC </a:t>
            </a:r>
            <a:r>
              <a:rPr lang="zh-CN" altLang="en-US" sz="2800">
                <a:solidFill>
                  <a:srgbClr val="333399"/>
                </a:solidFill>
                <a:latin typeface="Arial" pitchFamily="34" charset="0"/>
                <a:ea typeface="黑体" pitchFamily="49" charset="-122"/>
              </a:rPr>
              <a:t>级</a:t>
            </a:r>
            <a:r>
              <a:rPr lang="en-US" altLang="zh-CN" sz="2800">
                <a:solidFill>
                  <a:srgbClr val="333399"/>
                </a:solidFill>
                <a:latin typeface="Arial" pitchFamily="34" charset="0"/>
                <a:ea typeface="黑体" pitchFamily="49" charset="-122"/>
              </a:rPr>
              <a:t>/STS </a:t>
            </a:r>
            <a:r>
              <a:rPr lang="zh-CN" altLang="en-US" sz="2800">
                <a:solidFill>
                  <a:srgbClr val="333399"/>
                </a:solidFill>
                <a:latin typeface="Arial" pitchFamily="34" charset="0"/>
                <a:ea typeface="黑体" pitchFamily="49" charset="-122"/>
              </a:rPr>
              <a:t>级与 </a:t>
            </a:r>
            <a:r>
              <a:rPr lang="en-US" altLang="zh-CN" sz="2800">
                <a:solidFill>
                  <a:srgbClr val="333399"/>
                </a:solidFill>
                <a:latin typeface="Arial" pitchFamily="34" charset="0"/>
                <a:ea typeface="黑体" pitchFamily="49" charset="-122"/>
              </a:rPr>
              <a:t>SDH </a:t>
            </a:r>
            <a:r>
              <a:rPr lang="zh-CN" altLang="en-US" sz="2800">
                <a:solidFill>
                  <a:srgbClr val="333399"/>
                </a:solidFill>
                <a:latin typeface="Arial" pitchFamily="34" charset="0"/>
                <a:ea typeface="黑体" pitchFamily="49" charset="-122"/>
              </a:rPr>
              <a:t>的 </a:t>
            </a:r>
            <a:r>
              <a:rPr lang="en-US" altLang="zh-CN" sz="2800">
                <a:solidFill>
                  <a:srgbClr val="333399"/>
                </a:solidFill>
                <a:latin typeface="Arial" pitchFamily="34" charset="0"/>
                <a:ea typeface="黑体" pitchFamily="49" charset="-122"/>
              </a:rPr>
              <a:t>STM </a:t>
            </a:r>
            <a:r>
              <a:rPr lang="zh-CN" altLang="en-US" sz="2800">
                <a:solidFill>
                  <a:srgbClr val="333399"/>
                </a:solidFill>
                <a:latin typeface="Arial" pitchFamily="34" charset="0"/>
                <a:ea typeface="黑体" pitchFamily="49" charset="-122"/>
              </a:rPr>
              <a:t>级的对应关系 </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827584" y="188640"/>
            <a:ext cx="7793037" cy="1462087"/>
          </a:xfrm>
        </p:spPr>
        <p:txBody>
          <a:bodyPr/>
          <a:lstStyle/>
          <a:p>
            <a:pPr algn="ctr" eaLnBrk="1" hangingPunct="1"/>
            <a:r>
              <a:rPr lang="en-US" altLang="zh-CN" dirty="0" smtClean="0"/>
              <a:t> 6. </a:t>
            </a:r>
            <a:r>
              <a:rPr lang="zh-CN" altLang="en-US" dirty="0" smtClean="0"/>
              <a:t>宽带接入技术</a:t>
            </a:r>
            <a:br>
              <a:rPr lang="zh-CN" altLang="en-US" dirty="0" smtClean="0"/>
            </a:br>
            <a:r>
              <a:rPr lang="en-US" altLang="zh-CN" dirty="0" smtClean="0"/>
              <a:t>(1)</a:t>
            </a:r>
            <a:r>
              <a:rPr lang="en-US" altLang="zh-CN" sz="4000" dirty="0" smtClean="0"/>
              <a:t> </a:t>
            </a:r>
            <a:r>
              <a:rPr lang="en-US" altLang="zh-CN" sz="4000" dirty="0" err="1" smtClean="0"/>
              <a:t>xDSL</a:t>
            </a:r>
            <a:r>
              <a:rPr lang="zh-CN" altLang="en-US" sz="4000" dirty="0" smtClean="0"/>
              <a:t>技术</a:t>
            </a:r>
          </a:p>
        </p:txBody>
      </p:sp>
      <p:sp>
        <p:nvSpPr>
          <p:cNvPr id="67587" name="Rectangle 3"/>
          <p:cNvSpPr>
            <a:spLocks noGrp="1" noChangeArrowheads="1"/>
          </p:cNvSpPr>
          <p:nvPr>
            <p:ph type="body" idx="1"/>
          </p:nvPr>
        </p:nvSpPr>
        <p:spPr>
          <a:xfrm>
            <a:off x="827088" y="1773238"/>
            <a:ext cx="7988300" cy="4751387"/>
          </a:xfrm>
        </p:spPr>
        <p:txBody>
          <a:bodyPr/>
          <a:lstStyle/>
          <a:p>
            <a:pPr eaLnBrk="1" hangingPunct="1"/>
            <a:r>
              <a:rPr lang="en-US" altLang="zh-CN" sz="2600" dirty="0" err="1" smtClean="0"/>
              <a:t>xDSL</a:t>
            </a:r>
            <a:r>
              <a:rPr lang="en-US" altLang="zh-CN" sz="2600" dirty="0" smtClean="0"/>
              <a:t> </a:t>
            </a:r>
            <a:r>
              <a:rPr lang="zh-CN" altLang="en-US" sz="2600" dirty="0" smtClean="0"/>
              <a:t>技术就是用数字技术对现有的模拟电话用户线进行改造，使它能够承载宽带业务。</a:t>
            </a:r>
          </a:p>
          <a:p>
            <a:pPr eaLnBrk="1" hangingPunct="1"/>
            <a:r>
              <a:rPr lang="zh-CN" altLang="en-US" sz="2600" dirty="0" smtClean="0"/>
              <a:t>虽然标准模拟电话信号的频带被限制在 </a:t>
            </a:r>
            <a:r>
              <a:rPr lang="en-US" altLang="zh-CN" sz="2600" dirty="0" smtClean="0"/>
              <a:t>300~3400 Hz </a:t>
            </a:r>
            <a:r>
              <a:rPr lang="zh-CN" altLang="en-US" sz="2600" dirty="0" smtClean="0"/>
              <a:t>的范围内，但用户线本身实际可通过的信号频率仍然超过 </a:t>
            </a:r>
            <a:r>
              <a:rPr lang="en-US" altLang="zh-CN" sz="2600" dirty="0" smtClean="0"/>
              <a:t>1 MHz</a:t>
            </a:r>
            <a:r>
              <a:rPr lang="zh-CN" altLang="en-US" sz="2600" dirty="0" smtClean="0"/>
              <a:t>。</a:t>
            </a:r>
          </a:p>
          <a:p>
            <a:pPr eaLnBrk="1" hangingPunct="1"/>
            <a:r>
              <a:rPr lang="en-US" altLang="zh-CN" sz="2600" dirty="0" err="1" smtClean="0"/>
              <a:t>xDSL</a:t>
            </a:r>
            <a:r>
              <a:rPr lang="en-US" altLang="zh-CN" sz="2600" dirty="0" smtClean="0"/>
              <a:t> </a:t>
            </a:r>
            <a:r>
              <a:rPr lang="zh-CN" altLang="en-US" sz="2600" dirty="0" smtClean="0"/>
              <a:t>技术就把 </a:t>
            </a:r>
            <a:r>
              <a:rPr lang="en-US" altLang="zh-CN" sz="2600" dirty="0" smtClean="0"/>
              <a:t>0~4 kHz </a:t>
            </a:r>
            <a:r>
              <a:rPr lang="zh-CN" altLang="en-US" sz="2600" dirty="0" smtClean="0"/>
              <a:t>低端频谱留给传统电话使用，而</a:t>
            </a:r>
            <a:r>
              <a:rPr lang="zh-CN" altLang="en-US" sz="2600" dirty="0" smtClean="0">
                <a:solidFill>
                  <a:schemeClr val="hlink"/>
                </a:solidFill>
              </a:rPr>
              <a:t>把原来没有被利用的高端频谱留给用户上网使用</a:t>
            </a:r>
            <a:r>
              <a:rPr lang="zh-CN" altLang="en-US" sz="2600" dirty="0" smtClean="0"/>
              <a:t>。</a:t>
            </a:r>
          </a:p>
          <a:p>
            <a:pPr eaLnBrk="1" hangingPunct="1"/>
            <a:r>
              <a:rPr lang="en-US" altLang="zh-CN" sz="2600" dirty="0" smtClean="0"/>
              <a:t>DSL </a:t>
            </a:r>
            <a:r>
              <a:rPr lang="zh-CN" altLang="en-US" sz="2600" dirty="0" smtClean="0"/>
              <a:t>就是</a:t>
            </a:r>
            <a:r>
              <a:rPr lang="zh-CN" altLang="en-US" sz="2600" dirty="0" smtClean="0">
                <a:solidFill>
                  <a:schemeClr val="hlink"/>
                </a:solidFill>
              </a:rPr>
              <a:t>数字用户线</a:t>
            </a:r>
            <a:r>
              <a:rPr lang="en-US" altLang="zh-CN" sz="2600" dirty="0" smtClean="0"/>
              <a:t>(Digital Subscriber Line)</a:t>
            </a:r>
            <a:r>
              <a:rPr lang="zh-CN" altLang="en-US" sz="2600" dirty="0" smtClean="0"/>
              <a:t>的缩写。而 </a:t>
            </a:r>
            <a:r>
              <a:rPr lang="en-US" altLang="zh-CN" sz="2600" dirty="0" smtClean="0"/>
              <a:t>DSL </a:t>
            </a:r>
            <a:r>
              <a:rPr lang="zh-CN" altLang="en-US" sz="2600" dirty="0" smtClean="0"/>
              <a:t>的前缀 </a:t>
            </a:r>
            <a:r>
              <a:rPr lang="en-US" altLang="zh-CN" sz="2600" dirty="0" smtClean="0"/>
              <a:t>x </a:t>
            </a:r>
            <a:r>
              <a:rPr lang="zh-CN" altLang="en-US" sz="2600" dirty="0" smtClean="0"/>
              <a:t>则表示在数字用户线上实现的不同宽带方案。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150938" y="214313"/>
            <a:ext cx="7381875" cy="1462087"/>
          </a:xfrm>
        </p:spPr>
        <p:txBody>
          <a:bodyPr/>
          <a:lstStyle/>
          <a:p>
            <a:pPr algn="ctr" eaLnBrk="1" hangingPunct="1"/>
            <a:r>
              <a:rPr lang="en-US" altLang="zh-CN" smtClean="0"/>
              <a:t>xDSL </a:t>
            </a:r>
            <a:r>
              <a:rPr lang="zh-CN" altLang="en-US" smtClean="0"/>
              <a:t>的几种类型 </a:t>
            </a:r>
          </a:p>
        </p:txBody>
      </p:sp>
      <p:sp>
        <p:nvSpPr>
          <p:cNvPr id="277507" name="Rectangle 3"/>
          <p:cNvSpPr>
            <a:spLocks noGrp="1" noChangeArrowheads="1"/>
          </p:cNvSpPr>
          <p:nvPr>
            <p:ph type="body" idx="1"/>
          </p:nvPr>
        </p:nvSpPr>
        <p:spPr>
          <a:xfrm>
            <a:off x="755650" y="1844675"/>
            <a:ext cx="8059738" cy="4775200"/>
          </a:xfrm>
        </p:spPr>
        <p:txBody>
          <a:bodyPr/>
          <a:lstStyle/>
          <a:p>
            <a:pPr eaLnBrk="1" hangingPunct="1">
              <a:lnSpc>
                <a:spcPct val="90000"/>
              </a:lnSpc>
            </a:pPr>
            <a:r>
              <a:rPr lang="en-US" altLang="zh-CN" sz="2800" smtClean="0"/>
              <a:t>ADSL (Asymmetric Digital Subscriber Line)</a:t>
            </a:r>
            <a:r>
              <a:rPr lang="zh-CN" altLang="en-US" sz="2800" smtClean="0"/>
              <a:t>：非对称数字用户线</a:t>
            </a:r>
          </a:p>
          <a:p>
            <a:pPr eaLnBrk="1" hangingPunct="1">
              <a:lnSpc>
                <a:spcPct val="90000"/>
              </a:lnSpc>
            </a:pPr>
            <a:r>
              <a:rPr lang="en-US" altLang="zh-CN" sz="2800" smtClean="0"/>
              <a:t>HDSL (High speed DSL)</a:t>
            </a:r>
            <a:r>
              <a:rPr lang="zh-CN" altLang="en-US" sz="2800" smtClean="0"/>
              <a:t>：高速数字用户线</a:t>
            </a:r>
          </a:p>
          <a:p>
            <a:pPr eaLnBrk="1" hangingPunct="1">
              <a:lnSpc>
                <a:spcPct val="90000"/>
              </a:lnSpc>
            </a:pPr>
            <a:r>
              <a:rPr lang="en-US" altLang="zh-CN" sz="2800" smtClean="0"/>
              <a:t>SDSL (Single-line DSL)</a:t>
            </a:r>
            <a:r>
              <a:rPr lang="zh-CN" altLang="en-US" sz="2800" smtClean="0"/>
              <a:t>：</a:t>
            </a:r>
            <a:r>
              <a:rPr lang="en-US" altLang="zh-CN" sz="2800" smtClean="0"/>
              <a:t>1 </a:t>
            </a:r>
            <a:r>
              <a:rPr lang="zh-CN" altLang="en-US" sz="2800" smtClean="0"/>
              <a:t>对线的数字用户线</a:t>
            </a:r>
          </a:p>
          <a:p>
            <a:pPr eaLnBrk="1" hangingPunct="1">
              <a:lnSpc>
                <a:spcPct val="90000"/>
              </a:lnSpc>
            </a:pPr>
            <a:r>
              <a:rPr lang="en-US" altLang="zh-CN" sz="2800" smtClean="0"/>
              <a:t>VDSL (Very high speed DSL)</a:t>
            </a:r>
            <a:r>
              <a:rPr lang="zh-CN" altLang="en-US" sz="2800" smtClean="0"/>
              <a:t>：甚高速数字用户线</a:t>
            </a:r>
          </a:p>
          <a:p>
            <a:pPr eaLnBrk="1" hangingPunct="1">
              <a:lnSpc>
                <a:spcPct val="90000"/>
              </a:lnSpc>
            </a:pPr>
            <a:r>
              <a:rPr lang="en-US" altLang="zh-CN" sz="2800" smtClean="0"/>
              <a:t>DSL </a:t>
            </a:r>
            <a:r>
              <a:rPr lang="zh-CN" altLang="en-US" sz="2800" smtClean="0"/>
              <a:t>：</a:t>
            </a:r>
            <a:r>
              <a:rPr lang="en-US" altLang="zh-CN" sz="2800" smtClean="0"/>
              <a:t>ISDN </a:t>
            </a:r>
            <a:r>
              <a:rPr lang="zh-CN" altLang="en-US" sz="2800" smtClean="0"/>
              <a:t>用户线。</a:t>
            </a:r>
          </a:p>
          <a:p>
            <a:pPr eaLnBrk="1" hangingPunct="1">
              <a:lnSpc>
                <a:spcPct val="90000"/>
              </a:lnSpc>
            </a:pPr>
            <a:r>
              <a:rPr lang="en-US" altLang="zh-CN" sz="2800" smtClean="0"/>
              <a:t>RADSL (Rate-Adaptive DSL)</a:t>
            </a:r>
            <a:r>
              <a:rPr lang="zh-CN" altLang="en-US" sz="2800" smtClean="0"/>
              <a:t>：速率自适应  </a:t>
            </a:r>
            <a:r>
              <a:rPr lang="en-US" altLang="zh-CN" sz="2800" smtClean="0"/>
              <a:t>DSL</a:t>
            </a:r>
            <a:r>
              <a:rPr lang="zh-CN" altLang="en-US" sz="2800" smtClean="0"/>
              <a:t>，是 </a:t>
            </a:r>
            <a:r>
              <a:rPr lang="en-US" altLang="zh-CN" sz="2800" smtClean="0"/>
              <a:t>ADSL </a:t>
            </a:r>
            <a:r>
              <a:rPr lang="zh-CN" altLang="en-US" sz="2800" smtClean="0"/>
              <a:t>的一个子集，可自动调节线路速率）。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5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75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750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7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eaLnBrk="1" hangingPunct="1"/>
            <a:r>
              <a:rPr lang="en-US" altLang="zh-CN" sz="4000" smtClean="0"/>
              <a:t>ADSL </a:t>
            </a:r>
            <a:r>
              <a:rPr lang="zh-CN" altLang="en-US" sz="4000" smtClean="0"/>
              <a:t>的极限传输距离</a:t>
            </a:r>
          </a:p>
        </p:txBody>
      </p:sp>
      <p:sp>
        <p:nvSpPr>
          <p:cNvPr id="69635" name="Rectangle 3"/>
          <p:cNvSpPr>
            <a:spLocks noGrp="1" noChangeArrowheads="1"/>
          </p:cNvSpPr>
          <p:nvPr>
            <p:ph type="body" idx="1"/>
          </p:nvPr>
        </p:nvSpPr>
        <p:spPr>
          <a:xfrm>
            <a:off x="1042988" y="1844675"/>
            <a:ext cx="7772400" cy="4692650"/>
          </a:xfrm>
        </p:spPr>
        <p:txBody>
          <a:bodyPr/>
          <a:lstStyle/>
          <a:p>
            <a:pPr eaLnBrk="1" hangingPunct="1"/>
            <a:r>
              <a:rPr lang="en-US" altLang="zh-CN" sz="2800" smtClean="0"/>
              <a:t>ADSL </a:t>
            </a:r>
            <a:r>
              <a:rPr lang="zh-CN" altLang="en-US" sz="2800" smtClean="0"/>
              <a:t>的极限传输距离与数据率以及用户线的线径都有很大的关系（用户线越细，信号传输时的衰减就越大），而所能得到的最高数据传输速率与实际的用户线上的信噪比密切相关。</a:t>
            </a:r>
          </a:p>
          <a:p>
            <a:pPr eaLnBrk="1" hangingPunct="1"/>
            <a:r>
              <a:rPr lang="zh-CN" altLang="en-US" sz="2800" smtClean="0"/>
              <a:t>例如，</a:t>
            </a:r>
            <a:r>
              <a:rPr lang="en-US" altLang="zh-CN" sz="2800" smtClean="0"/>
              <a:t>0.5 </a:t>
            </a:r>
            <a:r>
              <a:rPr lang="zh-CN" altLang="en-US" sz="2800" smtClean="0"/>
              <a:t>毫米线径的用户线，传输速率为 </a:t>
            </a:r>
            <a:r>
              <a:rPr lang="en-US" altLang="zh-CN" sz="2800" smtClean="0"/>
              <a:t>1.5 ~ 2.0 Mb/s </a:t>
            </a:r>
            <a:r>
              <a:rPr lang="zh-CN" altLang="en-US" sz="2800" smtClean="0"/>
              <a:t>时可传送 </a:t>
            </a:r>
            <a:r>
              <a:rPr lang="en-US" altLang="zh-CN" sz="2800" smtClean="0"/>
              <a:t>5.5 </a:t>
            </a:r>
            <a:r>
              <a:rPr lang="zh-CN" altLang="en-US" sz="2800" smtClean="0"/>
              <a:t>公里，但当传输速率提高到 </a:t>
            </a:r>
            <a:r>
              <a:rPr lang="en-US" altLang="zh-CN" sz="2800" smtClean="0"/>
              <a:t>6.1 Mb/s </a:t>
            </a:r>
            <a:r>
              <a:rPr lang="zh-CN" altLang="en-US" sz="2800" smtClean="0"/>
              <a:t>时，传输距离就缩短为 </a:t>
            </a:r>
            <a:r>
              <a:rPr lang="en-US" altLang="zh-CN" sz="2800" smtClean="0"/>
              <a:t>3.7 </a:t>
            </a:r>
            <a:r>
              <a:rPr lang="zh-CN" altLang="en-US" sz="2800" smtClean="0"/>
              <a:t>公里。</a:t>
            </a:r>
          </a:p>
          <a:p>
            <a:pPr eaLnBrk="1" hangingPunct="1"/>
            <a:r>
              <a:rPr lang="zh-CN" altLang="en-US" sz="2800" smtClean="0"/>
              <a:t>如果把用户线的线径减小到</a:t>
            </a:r>
            <a:r>
              <a:rPr lang="en-US" altLang="zh-CN" sz="2800" smtClean="0"/>
              <a:t>0.4</a:t>
            </a:r>
            <a:r>
              <a:rPr lang="zh-CN" altLang="en-US" sz="2800" smtClean="0"/>
              <a:t>毫米，那么在</a:t>
            </a:r>
            <a:r>
              <a:rPr lang="en-US" altLang="zh-CN" sz="2800" smtClean="0"/>
              <a:t>6.1 Mb/s</a:t>
            </a:r>
            <a:r>
              <a:rPr lang="zh-CN" altLang="en-US" sz="2800" smtClean="0"/>
              <a:t>的传输速率下就只能传送</a:t>
            </a:r>
            <a:r>
              <a:rPr lang="en-US" altLang="zh-CN" sz="2800" smtClean="0"/>
              <a:t>2.7</a:t>
            </a:r>
            <a:r>
              <a:rPr lang="zh-CN" altLang="en-US" sz="2800" smtClean="0"/>
              <a:t>公里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lgn="ctr" eaLnBrk="1" hangingPunct="1"/>
            <a:r>
              <a:rPr lang="en-US" altLang="zh-CN" smtClean="0"/>
              <a:t>ADSL </a:t>
            </a:r>
            <a:r>
              <a:rPr lang="zh-CN" altLang="en-US" smtClean="0"/>
              <a:t>的特点</a:t>
            </a:r>
          </a:p>
        </p:txBody>
      </p:sp>
      <p:sp>
        <p:nvSpPr>
          <p:cNvPr id="70659" name="Rectangle 3"/>
          <p:cNvSpPr>
            <a:spLocks noGrp="1" noChangeArrowheads="1"/>
          </p:cNvSpPr>
          <p:nvPr>
            <p:ph type="body" idx="1"/>
          </p:nvPr>
        </p:nvSpPr>
        <p:spPr>
          <a:xfrm>
            <a:off x="1042988" y="1978025"/>
            <a:ext cx="7772400" cy="4114800"/>
          </a:xfrm>
        </p:spPr>
        <p:txBody>
          <a:bodyPr/>
          <a:lstStyle/>
          <a:p>
            <a:pPr eaLnBrk="1" hangingPunct="1"/>
            <a:r>
              <a:rPr lang="zh-CN" altLang="en-US" sz="2800" smtClean="0"/>
              <a:t>上行和下行带宽做成不对称的。</a:t>
            </a:r>
          </a:p>
          <a:p>
            <a:pPr eaLnBrk="1" hangingPunct="1"/>
            <a:r>
              <a:rPr lang="zh-CN" altLang="en-US" sz="2800" smtClean="0"/>
              <a:t>上行指从用户到 </a:t>
            </a:r>
            <a:r>
              <a:rPr lang="en-US" altLang="zh-CN" sz="2800" smtClean="0"/>
              <a:t>ISP</a:t>
            </a:r>
            <a:r>
              <a:rPr lang="zh-CN" altLang="en-US" sz="2800" smtClean="0"/>
              <a:t>，而下行指从 </a:t>
            </a:r>
            <a:r>
              <a:rPr lang="en-US" altLang="zh-CN" sz="2800" smtClean="0"/>
              <a:t>ISP </a:t>
            </a:r>
            <a:r>
              <a:rPr lang="zh-CN" altLang="en-US" sz="2800" smtClean="0"/>
              <a:t>到用户。</a:t>
            </a:r>
          </a:p>
          <a:p>
            <a:pPr eaLnBrk="1" hangingPunct="1"/>
            <a:r>
              <a:rPr lang="en-US" altLang="zh-CN" sz="2800" smtClean="0"/>
              <a:t>ADSL </a:t>
            </a:r>
            <a:r>
              <a:rPr lang="zh-CN" altLang="en-US" sz="2800" smtClean="0"/>
              <a:t>在用户线（铜线）的两端各安装一个 </a:t>
            </a:r>
            <a:r>
              <a:rPr lang="en-US" altLang="zh-CN" sz="2800" smtClean="0"/>
              <a:t>ADSL </a:t>
            </a:r>
            <a:r>
              <a:rPr lang="zh-CN" altLang="en-US" sz="2800" smtClean="0"/>
              <a:t>调制解调器。</a:t>
            </a:r>
          </a:p>
          <a:p>
            <a:pPr eaLnBrk="1" hangingPunct="1"/>
            <a:r>
              <a:rPr lang="zh-CN" altLang="en-US" sz="2800" smtClean="0"/>
              <a:t>我国目前采用的方案是</a:t>
            </a:r>
            <a:r>
              <a:rPr lang="zh-CN" altLang="en-US" sz="2800" smtClean="0">
                <a:solidFill>
                  <a:schemeClr val="hlink"/>
                </a:solidFill>
              </a:rPr>
              <a:t>离散多音调 </a:t>
            </a:r>
            <a:r>
              <a:rPr lang="en-US" altLang="zh-CN" sz="2800" b="1" smtClean="0"/>
              <a:t>DMT</a:t>
            </a:r>
            <a:r>
              <a:rPr lang="en-US" altLang="zh-CN" sz="2800" smtClean="0"/>
              <a:t> (Discrete Multi-Tone)</a:t>
            </a:r>
            <a:r>
              <a:rPr lang="zh-CN" altLang="en-US" sz="2800" smtClean="0"/>
              <a:t>调制技术。这里的“多音调”就是“</a:t>
            </a:r>
            <a:r>
              <a:rPr lang="zh-CN" altLang="en-US" sz="2800" smtClean="0">
                <a:solidFill>
                  <a:schemeClr val="hlink"/>
                </a:solidFill>
              </a:rPr>
              <a:t>多载波</a:t>
            </a:r>
            <a:r>
              <a:rPr lang="zh-CN" altLang="en-US" sz="2800" smtClean="0"/>
              <a:t>”或“</a:t>
            </a:r>
            <a:r>
              <a:rPr lang="zh-CN" altLang="en-US" sz="2800" smtClean="0">
                <a:solidFill>
                  <a:schemeClr val="hlink"/>
                </a:solidFill>
              </a:rPr>
              <a:t>多子信道</a:t>
            </a:r>
            <a:r>
              <a:rPr lang="zh-CN" altLang="en-US" sz="2800" smtClean="0"/>
              <a:t>”的意思。</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150938" y="214313"/>
            <a:ext cx="7165975" cy="1462087"/>
          </a:xfrm>
        </p:spPr>
        <p:txBody>
          <a:bodyPr/>
          <a:lstStyle/>
          <a:p>
            <a:pPr algn="ctr" eaLnBrk="1" hangingPunct="1"/>
            <a:r>
              <a:rPr lang="en-US" altLang="zh-CN" smtClean="0"/>
              <a:t>DMT </a:t>
            </a:r>
            <a:r>
              <a:rPr lang="zh-CN" altLang="en-US" smtClean="0"/>
              <a:t>技术</a:t>
            </a:r>
          </a:p>
        </p:txBody>
      </p:sp>
      <p:sp>
        <p:nvSpPr>
          <p:cNvPr id="71683" name="Rectangle 3"/>
          <p:cNvSpPr>
            <a:spLocks noGrp="1" noChangeArrowheads="1"/>
          </p:cNvSpPr>
          <p:nvPr>
            <p:ph type="body" idx="1"/>
          </p:nvPr>
        </p:nvSpPr>
        <p:spPr>
          <a:xfrm>
            <a:off x="1042988" y="1906588"/>
            <a:ext cx="7772400" cy="4114800"/>
          </a:xfrm>
        </p:spPr>
        <p:txBody>
          <a:bodyPr/>
          <a:lstStyle/>
          <a:p>
            <a:pPr eaLnBrk="1" hangingPunct="1"/>
            <a:r>
              <a:rPr lang="en-US" altLang="zh-CN" sz="2800" smtClean="0"/>
              <a:t>DMT </a:t>
            </a:r>
            <a:r>
              <a:rPr lang="zh-CN" altLang="en-US" sz="2800" smtClean="0"/>
              <a:t>调制技术采用频分复用的方法，把 </a:t>
            </a:r>
            <a:r>
              <a:rPr lang="en-US" altLang="zh-CN" sz="2800" smtClean="0"/>
              <a:t>40 kHz </a:t>
            </a:r>
            <a:r>
              <a:rPr lang="zh-CN" altLang="en-US" sz="2800" smtClean="0"/>
              <a:t>以上一直到 </a:t>
            </a:r>
            <a:r>
              <a:rPr lang="en-US" altLang="zh-CN" sz="2800" smtClean="0"/>
              <a:t>1.1 MHz </a:t>
            </a:r>
            <a:r>
              <a:rPr lang="zh-CN" altLang="en-US" sz="2800" smtClean="0"/>
              <a:t>的高端频谱划分为许多的子信道，其中 </a:t>
            </a:r>
            <a:r>
              <a:rPr lang="en-US" altLang="zh-CN" sz="2800" smtClean="0"/>
              <a:t>25 </a:t>
            </a:r>
            <a:r>
              <a:rPr lang="zh-CN" altLang="en-US" sz="2800" smtClean="0"/>
              <a:t>个子信道用于上行信道，而 </a:t>
            </a:r>
            <a:r>
              <a:rPr lang="en-US" altLang="zh-CN" sz="2800" smtClean="0"/>
              <a:t>249 </a:t>
            </a:r>
            <a:r>
              <a:rPr lang="zh-CN" altLang="en-US" sz="2800" smtClean="0"/>
              <a:t>个子信道用于下行信道。</a:t>
            </a:r>
          </a:p>
          <a:p>
            <a:pPr eaLnBrk="1" hangingPunct="1"/>
            <a:r>
              <a:rPr lang="zh-CN" altLang="en-US" sz="2800" smtClean="0"/>
              <a:t>每个子信道占据 </a:t>
            </a:r>
            <a:r>
              <a:rPr lang="en-US" altLang="zh-CN" sz="2800" smtClean="0"/>
              <a:t>4 kHz </a:t>
            </a:r>
            <a:r>
              <a:rPr lang="zh-CN" altLang="en-US" sz="2800" smtClean="0"/>
              <a:t>带宽（严格讲是 </a:t>
            </a:r>
            <a:r>
              <a:rPr lang="en-US" altLang="zh-CN" sz="2800" smtClean="0"/>
              <a:t>4.3125 kHz</a:t>
            </a:r>
            <a:r>
              <a:rPr lang="zh-CN" altLang="en-US" sz="2800" smtClean="0"/>
              <a:t>），并使用不同的载波（即不同的音调）进行数字调制。这种做法相当于在一对用户线上使用许多小的调制解调器</a:t>
            </a:r>
            <a:r>
              <a:rPr lang="zh-CN" altLang="en-US" sz="2800" smtClean="0">
                <a:solidFill>
                  <a:schemeClr val="hlink"/>
                </a:solidFill>
              </a:rPr>
              <a:t>并行地</a:t>
            </a:r>
            <a:r>
              <a:rPr lang="zh-CN" altLang="en-US" sz="2800" smtClean="0"/>
              <a:t>传送数据。</a:t>
            </a:r>
          </a:p>
          <a:p>
            <a:pPr eaLnBrk="1" hangingPunct="1"/>
            <a:endParaRPr lang="en-US" altLang="zh-CN" sz="2400" smtClean="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3"/>
          <p:cNvSpPr>
            <a:spLocks noChangeArrowheads="1"/>
          </p:cNvSpPr>
          <p:nvPr/>
        </p:nvSpPr>
        <p:spPr bwMode="auto">
          <a:xfrm>
            <a:off x="2744788" y="3068638"/>
            <a:ext cx="1395412" cy="1928812"/>
          </a:xfrm>
          <a:prstGeom prst="rect">
            <a:avLst/>
          </a:prstGeom>
          <a:solidFill>
            <a:srgbClr val="CCECFF"/>
          </a:solidFill>
          <a:ln w="9525">
            <a:noFill/>
            <a:miter lim="800000"/>
            <a:headEnd/>
            <a:tailEnd/>
          </a:ln>
        </p:spPr>
        <p:txBody>
          <a:bodyPr wrap="none" anchor="ctr"/>
          <a:lstStyle/>
          <a:p>
            <a:endParaRPr lang="zh-CN" altLang="en-US"/>
          </a:p>
        </p:txBody>
      </p:sp>
      <p:sp>
        <p:nvSpPr>
          <p:cNvPr id="72707" name="Rectangle 2"/>
          <p:cNvSpPr>
            <a:spLocks noGrp="1" noChangeArrowheads="1"/>
          </p:cNvSpPr>
          <p:nvPr>
            <p:ph type="title"/>
          </p:nvPr>
        </p:nvSpPr>
        <p:spPr/>
        <p:txBody>
          <a:bodyPr/>
          <a:lstStyle/>
          <a:p>
            <a:pPr algn="ctr" eaLnBrk="1" hangingPunct="1"/>
            <a:r>
              <a:rPr lang="en-US" altLang="zh-CN" smtClean="0"/>
              <a:t>DMT </a:t>
            </a:r>
            <a:r>
              <a:rPr lang="zh-CN" altLang="en-US" smtClean="0"/>
              <a:t>技术的频谱分布 </a:t>
            </a:r>
          </a:p>
        </p:txBody>
      </p:sp>
      <p:sp>
        <p:nvSpPr>
          <p:cNvPr id="72708" name="Rectangle 30"/>
          <p:cNvSpPr>
            <a:spLocks noChangeArrowheads="1"/>
          </p:cNvSpPr>
          <p:nvPr/>
        </p:nvSpPr>
        <p:spPr bwMode="auto">
          <a:xfrm>
            <a:off x="4103688" y="3051175"/>
            <a:ext cx="3267075" cy="1928813"/>
          </a:xfrm>
          <a:prstGeom prst="rect">
            <a:avLst/>
          </a:prstGeom>
          <a:solidFill>
            <a:srgbClr val="FF9999"/>
          </a:solidFill>
          <a:ln w="9525">
            <a:noFill/>
            <a:miter lim="800000"/>
            <a:headEnd/>
            <a:tailEnd/>
          </a:ln>
        </p:spPr>
        <p:txBody>
          <a:bodyPr wrap="none" anchor="ctr"/>
          <a:lstStyle/>
          <a:p>
            <a:endParaRPr lang="zh-CN" altLang="en-US"/>
          </a:p>
        </p:txBody>
      </p:sp>
      <p:sp>
        <p:nvSpPr>
          <p:cNvPr id="72709" name="Text Box 31"/>
          <p:cNvSpPr txBox="1">
            <a:spLocks noChangeArrowheads="1"/>
          </p:cNvSpPr>
          <p:nvPr/>
        </p:nvSpPr>
        <p:spPr bwMode="auto">
          <a:xfrm>
            <a:off x="3182938" y="3306763"/>
            <a:ext cx="438150" cy="396875"/>
          </a:xfrm>
          <a:prstGeom prst="rect">
            <a:avLst/>
          </a:prstGeom>
          <a:noFill/>
          <a:ln w="9525">
            <a:noFill/>
            <a:miter lim="800000"/>
            <a:headEnd/>
            <a:tailEnd/>
          </a:ln>
        </p:spPr>
        <p:txBody>
          <a:bodyPr wrap="none">
            <a:spAutoFit/>
          </a:bodyPr>
          <a:lstStyle/>
          <a:p>
            <a:pPr algn="l"/>
            <a:r>
              <a:rPr kumimoji="1" lang="en-US" altLang="zh-CN" sz="2000" b="1">
                <a:solidFill>
                  <a:schemeClr val="folHlink"/>
                </a:solidFill>
                <a:latin typeface="Arial" pitchFamily="34" charset="0"/>
                <a:ea typeface="黑体" pitchFamily="49" charset="-122"/>
              </a:rPr>
              <a:t>…</a:t>
            </a:r>
          </a:p>
        </p:txBody>
      </p:sp>
      <p:sp>
        <p:nvSpPr>
          <p:cNvPr id="72710" name="Text Box 32"/>
          <p:cNvSpPr txBox="1">
            <a:spLocks noChangeArrowheads="1"/>
          </p:cNvSpPr>
          <p:nvPr/>
        </p:nvSpPr>
        <p:spPr bwMode="auto">
          <a:xfrm>
            <a:off x="468313" y="2205038"/>
            <a:ext cx="692150" cy="396875"/>
          </a:xfrm>
          <a:prstGeom prst="rect">
            <a:avLst/>
          </a:prstGeom>
          <a:noFill/>
          <a:ln w="9525">
            <a:noFill/>
            <a:miter lim="800000"/>
            <a:headEnd/>
            <a:tailEnd/>
          </a:ln>
        </p:spPr>
        <p:txBody>
          <a:bodyPr wrap="none">
            <a:spAutoFit/>
          </a:bodyPr>
          <a:lstStyle/>
          <a:p>
            <a:pPr algn="l"/>
            <a:r>
              <a:rPr kumimoji="1" lang="zh-CN" altLang="en-US" sz="2000">
                <a:solidFill>
                  <a:schemeClr val="folHlink"/>
                </a:solidFill>
                <a:latin typeface="Arial" pitchFamily="34" charset="0"/>
                <a:ea typeface="黑体" pitchFamily="49" charset="-122"/>
              </a:rPr>
              <a:t>频谱</a:t>
            </a:r>
          </a:p>
        </p:txBody>
      </p:sp>
      <p:sp>
        <p:nvSpPr>
          <p:cNvPr id="72711" name="Line 33"/>
          <p:cNvSpPr>
            <a:spLocks noChangeShapeType="1"/>
          </p:cNvSpPr>
          <p:nvPr/>
        </p:nvSpPr>
        <p:spPr bwMode="auto">
          <a:xfrm rot="-5400000">
            <a:off x="-161925" y="3670300"/>
            <a:ext cx="2705100" cy="0"/>
          </a:xfrm>
          <a:prstGeom prst="line">
            <a:avLst/>
          </a:prstGeom>
          <a:noFill/>
          <a:ln w="28575">
            <a:solidFill>
              <a:schemeClr val="folHlink"/>
            </a:solidFill>
            <a:round/>
            <a:headEnd/>
            <a:tailEnd type="triangle" w="med" len="lg"/>
          </a:ln>
        </p:spPr>
        <p:txBody>
          <a:bodyPr wrap="none" anchor="ctr"/>
          <a:lstStyle/>
          <a:p>
            <a:endParaRPr lang="zh-CN" altLang="en-US"/>
          </a:p>
        </p:txBody>
      </p:sp>
      <p:sp>
        <p:nvSpPr>
          <p:cNvPr id="72712" name="Text Box 34"/>
          <p:cNvSpPr txBox="1">
            <a:spLocks noChangeArrowheads="1"/>
          </p:cNvSpPr>
          <p:nvPr/>
        </p:nvSpPr>
        <p:spPr bwMode="auto">
          <a:xfrm>
            <a:off x="7742238" y="4687888"/>
            <a:ext cx="692150" cy="396875"/>
          </a:xfrm>
          <a:prstGeom prst="rect">
            <a:avLst/>
          </a:prstGeom>
          <a:noFill/>
          <a:ln w="9525">
            <a:noFill/>
            <a:miter lim="800000"/>
            <a:headEnd/>
            <a:tailEnd/>
          </a:ln>
        </p:spPr>
        <p:txBody>
          <a:bodyPr wrap="none">
            <a:spAutoFit/>
          </a:bodyPr>
          <a:lstStyle/>
          <a:p>
            <a:pPr algn="l"/>
            <a:r>
              <a:rPr kumimoji="1" lang="zh-CN" altLang="en-US" sz="2000">
                <a:solidFill>
                  <a:schemeClr val="folHlink"/>
                </a:solidFill>
                <a:latin typeface="Arial" pitchFamily="34" charset="0"/>
                <a:ea typeface="黑体" pitchFamily="49" charset="-122"/>
              </a:rPr>
              <a:t>频率</a:t>
            </a:r>
          </a:p>
        </p:txBody>
      </p:sp>
      <p:sp>
        <p:nvSpPr>
          <p:cNvPr id="72713" name="Freeform 36"/>
          <p:cNvSpPr>
            <a:spLocks/>
          </p:cNvSpPr>
          <p:nvPr/>
        </p:nvSpPr>
        <p:spPr bwMode="auto">
          <a:xfrm>
            <a:off x="1190625" y="3014663"/>
            <a:ext cx="341313" cy="1981200"/>
          </a:xfrm>
          <a:custGeom>
            <a:avLst/>
            <a:gdLst>
              <a:gd name="T0" fmla="*/ 0 w 208"/>
              <a:gd name="T1" fmla="*/ 0 h 1248"/>
              <a:gd name="T2" fmla="*/ 2147483647 w 208"/>
              <a:gd name="T3" fmla="*/ 2147483647 h 1248"/>
              <a:gd name="T4" fmla="*/ 2147483647 w 208"/>
              <a:gd name="T5" fmla="*/ 2147483647 h 1248"/>
              <a:gd name="T6" fmla="*/ 2147483647 w 208"/>
              <a:gd name="T7" fmla="*/ 2147483647 h 1248"/>
              <a:gd name="T8" fmla="*/ 0 60000 65536"/>
              <a:gd name="T9" fmla="*/ 0 60000 65536"/>
              <a:gd name="T10" fmla="*/ 0 60000 65536"/>
              <a:gd name="T11" fmla="*/ 0 60000 65536"/>
              <a:gd name="T12" fmla="*/ 0 w 208"/>
              <a:gd name="T13" fmla="*/ 0 h 1248"/>
              <a:gd name="T14" fmla="*/ 208 w 208"/>
              <a:gd name="T15" fmla="*/ 1248 h 1248"/>
            </a:gdLst>
            <a:ahLst/>
            <a:cxnLst>
              <a:cxn ang="T8">
                <a:pos x="T0" y="T1"/>
              </a:cxn>
              <a:cxn ang="T9">
                <a:pos x="T2" y="T3"/>
              </a:cxn>
              <a:cxn ang="T10">
                <a:pos x="T4" y="T5"/>
              </a:cxn>
              <a:cxn ang="T11">
                <a:pos x="T6" y="T7"/>
              </a:cxn>
            </a:cxnLst>
            <a:rect l="T12" t="T13" r="T14" b="T15"/>
            <a:pathLst>
              <a:path w="208" h="1248">
                <a:moveTo>
                  <a:pt x="0" y="0"/>
                </a:moveTo>
                <a:cubicBezTo>
                  <a:pt x="19" y="24"/>
                  <a:pt x="80" y="31"/>
                  <a:pt x="112" y="144"/>
                </a:cubicBezTo>
                <a:cubicBezTo>
                  <a:pt x="144" y="257"/>
                  <a:pt x="176" y="496"/>
                  <a:pt x="192" y="680"/>
                </a:cubicBezTo>
                <a:cubicBezTo>
                  <a:pt x="208" y="864"/>
                  <a:pt x="205" y="1130"/>
                  <a:pt x="208" y="1248"/>
                </a:cubicBezTo>
              </a:path>
            </a:pathLst>
          </a:custGeom>
          <a:noFill/>
          <a:ln w="9525">
            <a:solidFill>
              <a:schemeClr val="tx1"/>
            </a:solidFill>
            <a:round/>
            <a:headEnd/>
            <a:tailEnd/>
          </a:ln>
        </p:spPr>
        <p:txBody>
          <a:bodyPr wrap="none" anchor="ctr"/>
          <a:lstStyle/>
          <a:p>
            <a:endParaRPr lang="zh-CN" altLang="en-US"/>
          </a:p>
        </p:txBody>
      </p:sp>
      <p:sp>
        <p:nvSpPr>
          <p:cNvPr id="72714" name="Text Box 37"/>
          <p:cNvSpPr txBox="1">
            <a:spLocks noChangeArrowheads="1"/>
          </p:cNvSpPr>
          <p:nvPr/>
        </p:nvSpPr>
        <p:spPr bwMode="auto">
          <a:xfrm>
            <a:off x="2801938" y="2311400"/>
            <a:ext cx="1200150" cy="396875"/>
          </a:xfrm>
          <a:prstGeom prst="rect">
            <a:avLst/>
          </a:prstGeom>
          <a:noFill/>
          <a:ln w="9525">
            <a:noFill/>
            <a:miter lim="800000"/>
            <a:headEnd/>
            <a:tailEnd/>
          </a:ln>
        </p:spPr>
        <p:txBody>
          <a:bodyPr wrap="none">
            <a:spAutoFit/>
          </a:bodyPr>
          <a:lstStyle/>
          <a:p>
            <a:r>
              <a:rPr kumimoji="1" lang="zh-CN" altLang="en-US" sz="2000">
                <a:solidFill>
                  <a:schemeClr val="folHlink"/>
                </a:solidFill>
                <a:latin typeface="Arial" pitchFamily="34" charset="0"/>
                <a:ea typeface="黑体" pitchFamily="49" charset="-122"/>
              </a:rPr>
              <a:t>上行信道</a:t>
            </a:r>
          </a:p>
        </p:txBody>
      </p:sp>
      <p:sp>
        <p:nvSpPr>
          <p:cNvPr id="72715" name="Text Box 38"/>
          <p:cNvSpPr txBox="1">
            <a:spLocks noChangeArrowheads="1"/>
          </p:cNvSpPr>
          <p:nvPr/>
        </p:nvSpPr>
        <p:spPr bwMode="auto">
          <a:xfrm>
            <a:off x="1393825" y="2455863"/>
            <a:ext cx="1200150" cy="396875"/>
          </a:xfrm>
          <a:prstGeom prst="rect">
            <a:avLst/>
          </a:prstGeom>
          <a:noFill/>
          <a:ln w="9525">
            <a:noFill/>
            <a:miter lim="800000"/>
            <a:headEnd/>
            <a:tailEnd/>
          </a:ln>
        </p:spPr>
        <p:txBody>
          <a:bodyPr wrap="none">
            <a:spAutoFit/>
          </a:bodyPr>
          <a:lstStyle/>
          <a:p>
            <a:pPr algn="l"/>
            <a:r>
              <a:rPr kumimoji="1" lang="zh-CN" altLang="en-US" sz="2000">
                <a:solidFill>
                  <a:schemeClr val="folHlink"/>
                </a:solidFill>
                <a:latin typeface="Arial" pitchFamily="34" charset="0"/>
                <a:ea typeface="黑体" pitchFamily="49" charset="-122"/>
              </a:rPr>
              <a:t>传统电话</a:t>
            </a:r>
          </a:p>
        </p:txBody>
      </p:sp>
      <p:sp>
        <p:nvSpPr>
          <p:cNvPr id="72716" name="Line 39"/>
          <p:cNvSpPr>
            <a:spLocks noChangeShapeType="1"/>
          </p:cNvSpPr>
          <p:nvPr/>
        </p:nvSpPr>
        <p:spPr bwMode="auto">
          <a:xfrm flipH="1">
            <a:off x="1411288" y="2860675"/>
            <a:ext cx="361950" cy="450850"/>
          </a:xfrm>
          <a:prstGeom prst="line">
            <a:avLst/>
          </a:prstGeom>
          <a:noFill/>
          <a:ln w="9525">
            <a:solidFill>
              <a:schemeClr val="tx1"/>
            </a:solidFill>
            <a:round/>
            <a:headEnd/>
            <a:tailEnd type="triangle" w="sm" len="lg"/>
          </a:ln>
        </p:spPr>
        <p:txBody>
          <a:bodyPr wrap="none" anchor="ctr"/>
          <a:lstStyle/>
          <a:p>
            <a:endParaRPr lang="zh-CN" altLang="en-US"/>
          </a:p>
        </p:txBody>
      </p:sp>
      <p:sp>
        <p:nvSpPr>
          <p:cNvPr id="72717" name="Line 40"/>
          <p:cNvSpPr>
            <a:spLocks noChangeShapeType="1"/>
          </p:cNvSpPr>
          <p:nvPr/>
        </p:nvSpPr>
        <p:spPr bwMode="auto">
          <a:xfrm flipV="1">
            <a:off x="1190625" y="5002213"/>
            <a:ext cx="6640513" cy="0"/>
          </a:xfrm>
          <a:prstGeom prst="line">
            <a:avLst/>
          </a:prstGeom>
          <a:noFill/>
          <a:ln w="28575">
            <a:solidFill>
              <a:schemeClr val="folHlink"/>
            </a:solidFill>
            <a:round/>
            <a:headEnd/>
            <a:tailEnd type="triangle" w="med" len="lg"/>
          </a:ln>
        </p:spPr>
        <p:txBody>
          <a:bodyPr wrap="none" anchor="ctr"/>
          <a:lstStyle/>
          <a:p>
            <a:endParaRPr lang="zh-CN" altLang="en-US"/>
          </a:p>
        </p:txBody>
      </p:sp>
      <p:sp>
        <p:nvSpPr>
          <p:cNvPr id="72718" name="Text Box 41"/>
          <p:cNvSpPr txBox="1">
            <a:spLocks noChangeArrowheads="1"/>
          </p:cNvSpPr>
          <p:nvPr/>
        </p:nvSpPr>
        <p:spPr bwMode="auto">
          <a:xfrm>
            <a:off x="909638" y="4957763"/>
            <a:ext cx="325437" cy="396875"/>
          </a:xfrm>
          <a:prstGeom prst="rect">
            <a:avLst/>
          </a:prstGeom>
          <a:noFill/>
          <a:ln w="9525">
            <a:noFill/>
            <a:miter lim="800000"/>
            <a:headEnd/>
            <a:tailEnd/>
          </a:ln>
        </p:spPr>
        <p:txBody>
          <a:bodyPr wrap="none">
            <a:spAutoFit/>
          </a:bodyPr>
          <a:lstStyle/>
          <a:p>
            <a:pPr algn="l"/>
            <a:r>
              <a:rPr kumimoji="1" lang="en-US" altLang="zh-CN" sz="2000">
                <a:solidFill>
                  <a:schemeClr val="folHlink"/>
                </a:solidFill>
                <a:latin typeface="Arial" pitchFamily="34" charset="0"/>
                <a:ea typeface="黑体" pitchFamily="49" charset="-122"/>
              </a:rPr>
              <a:t>0</a:t>
            </a:r>
          </a:p>
        </p:txBody>
      </p:sp>
      <p:sp>
        <p:nvSpPr>
          <p:cNvPr id="72719" name="Text Box 42"/>
          <p:cNvSpPr txBox="1">
            <a:spLocks noChangeArrowheads="1"/>
          </p:cNvSpPr>
          <p:nvPr/>
        </p:nvSpPr>
        <p:spPr bwMode="auto">
          <a:xfrm>
            <a:off x="1358900" y="4957763"/>
            <a:ext cx="325438" cy="396875"/>
          </a:xfrm>
          <a:prstGeom prst="rect">
            <a:avLst/>
          </a:prstGeom>
          <a:noFill/>
          <a:ln w="9525">
            <a:noFill/>
            <a:miter lim="800000"/>
            <a:headEnd/>
            <a:tailEnd/>
          </a:ln>
        </p:spPr>
        <p:txBody>
          <a:bodyPr wrap="none">
            <a:spAutoFit/>
          </a:bodyPr>
          <a:lstStyle/>
          <a:p>
            <a:pPr algn="l"/>
            <a:r>
              <a:rPr kumimoji="1" lang="en-US" altLang="zh-CN" sz="2000">
                <a:solidFill>
                  <a:schemeClr val="folHlink"/>
                </a:solidFill>
                <a:latin typeface="Arial" pitchFamily="34" charset="0"/>
                <a:ea typeface="黑体" pitchFamily="49" charset="-122"/>
              </a:rPr>
              <a:t>4</a:t>
            </a:r>
          </a:p>
        </p:txBody>
      </p:sp>
      <p:sp>
        <p:nvSpPr>
          <p:cNvPr id="72720" name="AutoShape 43"/>
          <p:cNvSpPr>
            <a:spLocks/>
          </p:cNvSpPr>
          <p:nvPr/>
        </p:nvSpPr>
        <p:spPr bwMode="auto">
          <a:xfrm rot="5400000" flipV="1">
            <a:off x="3241675" y="2171700"/>
            <a:ext cx="307975" cy="1241425"/>
          </a:xfrm>
          <a:prstGeom prst="leftBrace">
            <a:avLst>
              <a:gd name="adj1" fmla="val 33591"/>
              <a:gd name="adj2" fmla="val 50000"/>
            </a:avLst>
          </a:prstGeom>
          <a:noFill/>
          <a:ln w="9525">
            <a:solidFill>
              <a:schemeClr val="tx1"/>
            </a:solidFill>
            <a:round/>
            <a:headEnd/>
            <a:tailEnd/>
          </a:ln>
        </p:spPr>
        <p:txBody>
          <a:bodyPr wrap="none" anchor="ctr"/>
          <a:lstStyle/>
          <a:p>
            <a:endParaRPr lang="zh-CN" altLang="en-US"/>
          </a:p>
        </p:txBody>
      </p:sp>
      <p:sp>
        <p:nvSpPr>
          <p:cNvPr id="72721" name="AutoShape 44"/>
          <p:cNvSpPr>
            <a:spLocks/>
          </p:cNvSpPr>
          <p:nvPr/>
        </p:nvSpPr>
        <p:spPr bwMode="auto">
          <a:xfrm rot="5400000" flipV="1">
            <a:off x="5593556" y="1239044"/>
            <a:ext cx="307975" cy="3106738"/>
          </a:xfrm>
          <a:prstGeom prst="leftBrace">
            <a:avLst>
              <a:gd name="adj1" fmla="val 84064"/>
              <a:gd name="adj2" fmla="val 50000"/>
            </a:avLst>
          </a:prstGeom>
          <a:noFill/>
          <a:ln w="9525">
            <a:solidFill>
              <a:schemeClr val="tx1"/>
            </a:solidFill>
            <a:round/>
            <a:headEnd/>
            <a:tailEnd/>
          </a:ln>
        </p:spPr>
        <p:txBody>
          <a:bodyPr wrap="none" anchor="ctr"/>
          <a:lstStyle/>
          <a:p>
            <a:endParaRPr lang="zh-CN" altLang="en-US"/>
          </a:p>
        </p:txBody>
      </p:sp>
      <p:sp>
        <p:nvSpPr>
          <p:cNvPr id="72722" name="Text Box 45"/>
          <p:cNvSpPr txBox="1">
            <a:spLocks noChangeArrowheads="1"/>
          </p:cNvSpPr>
          <p:nvPr/>
        </p:nvSpPr>
        <p:spPr bwMode="auto">
          <a:xfrm>
            <a:off x="5172075" y="2311400"/>
            <a:ext cx="1200150" cy="396875"/>
          </a:xfrm>
          <a:prstGeom prst="rect">
            <a:avLst/>
          </a:prstGeom>
          <a:noFill/>
          <a:ln w="9525">
            <a:noFill/>
            <a:miter lim="800000"/>
            <a:headEnd/>
            <a:tailEnd/>
          </a:ln>
        </p:spPr>
        <p:txBody>
          <a:bodyPr wrap="none">
            <a:spAutoFit/>
          </a:bodyPr>
          <a:lstStyle/>
          <a:p>
            <a:r>
              <a:rPr kumimoji="1" lang="zh-CN" altLang="en-US" sz="2000">
                <a:solidFill>
                  <a:schemeClr val="folHlink"/>
                </a:solidFill>
                <a:latin typeface="Arial" pitchFamily="34" charset="0"/>
                <a:ea typeface="黑体" pitchFamily="49" charset="-122"/>
              </a:rPr>
              <a:t>下行信道</a:t>
            </a:r>
          </a:p>
        </p:txBody>
      </p:sp>
      <p:sp>
        <p:nvSpPr>
          <p:cNvPr id="72723" name="Text Box 46"/>
          <p:cNvSpPr txBox="1">
            <a:spLocks noChangeArrowheads="1"/>
          </p:cNvSpPr>
          <p:nvPr/>
        </p:nvSpPr>
        <p:spPr bwMode="auto">
          <a:xfrm>
            <a:off x="5346700" y="3306763"/>
            <a:ext cx="438150" cy="396875"/>
          </a:xfrm>
          <a:prstGeom prst="rect">
            <a:avLst/>
          </a:prstGeom>
          <a:noFill/>
          <a:ln w="9525">
            <a:noFill/>
            <a:miter lim="800000"/>
            <a:headEnd/>
            <a:tailEnd/>
          </a:ln>
        </p:spPr>
        <p:txBody>
          <a:bodyPr wrap="none">
            <a:spAutoFit/>
          </a:bodyPr>
          <a:lstStyle/>
          <a:p>
            <a:pPr algn="l"/>
            <a:r>
              <a:rPr kumimoji="1" lang="en-US" altLang="zh-CN" sz="2000" b="1">
                <a:solidFill>
                  <a:schemeClr val="folHlink"/>
                </a:solidFill>
                <a:latin typeface="Arial" pitchFamily="34" charset="0"/>
                <a:ea typeface="黑体" pitchFamily="49" charset="-122"/>
              </a:rPr>
              <a:t>…</a:t>
            </a:r>
          </a:p>
        </p:txBody>
      </p:sp>
      <p:sp>
        <p:nvSpPr>
          <p:cNvPr id="72724" name="Freeform 47"/>
          <p:cNvSpPr>
            <a:spLocks/>
          </p:cNvSpPr>
          <p:nvPr/>
        </p:nvSpPr>
        <p:spPr bwMode="auto">
          <a:xfrm>
            <a:off x="7119938" y="3048000"/>
            <a:ext cx="173037"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25" name="Freeform 48"/>
          <p:cNvSpPr>
            <a:spLocks/>
          </p:cNvSpPr>
          <p:nvPr/>
        </p:nvSpPr>
        <p:spPr bwMode="auto">
          <a:xfrm>
            <a:off x="6943725" y="3051175"/>
            <a:ext cx="173038"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26" name="Freeform 49"/>
          <p:cNvSpPr>
            <a:spLocks/>
          </p:cNvSpPr>
          <p:nvPr/>
        </p:nvSpPr>
        <p:spPr bwMode="auto">
          <a:xfrm>
            <a:off x="6769100" y="3052763"/>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27" name="Freeform 50"/>
          <p:cNvSpPr>
            <a:spLocks/>
          </p:cNvSpPr>
          <p:nvPr/>
        </p:nvSpPr>
        <p:spPr bwMode="auto">
          <a:xfrm>
            <a:off x="6592888" y="3054350"/>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28" name="Freeform 51"/>
          <p:cNvSpPr>
            <a:spLocks/>
          </p:cNvSpPr>
          <p:nvPr/>
        </p:nvSpPr>
        <p:spPr bwMode="auto">
          <a:xfrm>
            <a:off x="6416675" y="3057525"/>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29" name="Freeform 52"/>
          <p:cNvSpPr>
            <a:spLocks/>
          </p:cNvSpPr>
          <p:nvPr/>
        </p:nvSpPr>
        <p:spPr bwMode="auto">
          <a:xfrm>
            <a:off x="6240463" y="3059113"/>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0" name="Freeform 53"/>
          <p:cNvSpPr>
            <a:spLocks/>
          </p:cNvSpPr>
          <p:nvPr/>
        </p:nvSpPr>
        <p:spPr bwMode="auto">
          <a:xfrm>
            <a:off x="6064250" y="3062288"/>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1" name="Freeform 54"/>
          <p:cNvSpPr>
            <a:spLocks/>
          </p:cNvSpPr>
          <p:nvPr/>
        </p:nvSpPr>
        <p:spPr bwMode="auto">
          <a:xfrm>
            <a:off x="5888038" y="3063875"/>
            <a:ext cx="173037"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2" name="Freeform 55"/>
          <p:cNvSpPr>
            <a:spLocks/>
          </p:cNvSpPr>
          <p:nvPr/>
        </p:nvSpPr>
        <p:spPr bwMode="auto">
          <a:xfrm>
            <a:off x="5257800" y="3051175"/>
            <a:ext cx="173038"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3" name="Freeform 56"/>
          <p:cNvSpPr>
            <a:spLocks/>
          </p:cNvSpPr>
          <p:nvPr/>
        </p:nvSpPr>
        <p:spPr bwMode="auto">
          <a:xfrm>
            <a:off x="5086350" y="3052763"/>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4" name="Freeform 57"/>
          <p:cNvSpPr>
            <a:spLocks/>
          </p:cNvSpPr>
          <p:nvPr/>
        </p:nvSpPr>
        <p:spPr bwMode="auto">
          <a:xfrm>
            <a:off x="4914900" y="3054350"/>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5" name="Freeform 58"/>
          <p:cNvSpPr>
            <a:spLocks/>
          </p:cNvSpPr>
          <p:nvPr/>
        </p:nvSpPr>
        <p:spPr bwMode="auto">
          <a:xfrm>
            <a:off x="4741863" y="3057525"/>
            <a:ext cx="173037"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6" name="Freeform 59"/>
          <p:cNvSpPr>
            <a:spLocks/>
          </p:cNvSpPr>
          <p:nvPr/>
        </p:nvSpPr>
        <p:spPr bwMode="auto">
          <a:xfrm>
            <a:off x="4570413" y="3059113"/>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7" name="Freeform 60"/>
          <p:cNvSpPr>
            <a:spLocks/>
          </p:cNvSpPr>
          <p:nvPr/>
        </p:nvSpPr>
        <p:spPr bwMode="auto">
          <a:xfrm>
            <a:off x="4397375" y="3062288"/>
            <a:ext cx="173038"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8" name="Freeform 61"/>
          <p:cNvSpPr>
            <a:spLocks/>
          </p:cNvSpPr>
          <p:nvPr/>
        </p:nvSpPr>
        <p:spPr bwMode="auto">
          <a:xfrm>
            <a:off x="4225925" y="3063875"/>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39" name="Freeform 62"/>
          <p:cNvSpPr>
            <a:spLocks/>
          </p:cNvSpPr>
          <p:nvPr/>
        </p:nvSpPr>
        <p:spPr bwMode="auto">
          <a:xfrm>
            <a:off x="3881438" y="3068638"/>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40" name="Freeform 63"/>
          <p:cNvSpPr>
            <a:spLocks/>
          </p:cNvSpPr>
          <p:nvPr/>
        </p:nvSpPr>
        <p:spPr bwMode="auto">
          <a:xfrm>
            <a:off x="3709988" y="3070225"/>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41" name="Freeform 64"/>
          <p:cNvSpPr>
            <a:spLocks/>
          </p:cNvSpPr>
          <p:nvPr/>
        </p:nvSpPr>
        <p:spPr bwMode="auto">
          <a:xfrm>
            <a:off x="3536950" y="3073400"/>
            <a:ext cx="173038"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42" name="Freeform 65"/>
          <p:cNvSpPr>
            <a:spLocks/>
          </p:cNvSpPr>
          <p:nvPr/>
        </p:nvSpPr>
        <p:spPr bwMode="auto">
          <a:xfrm>
            <a:off x="3117850" y="3078163"/>
            <a:ext cx="173038"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43" name="Freeform 66"/>
          <p:cNvSpPr>
            <a:spLocks/>
          </p:cNvSpPr>
          <p:nvPr/>
        </p:nvSpPr>
        <p:spPr bwMode="auto">
          <a:xfrm>
            <a:off x="2946400" y="3079750"/>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44" name="Freeform 67"/>
          <p:cNvSpPr>
            <a:spLocks/>
          </p:cNvSpPr>
          <p:nvPr/>
        </p:nvSpPr>
        <p:spPr bwMode="auto">
          <a:xfrm>
            <a:off x="2774950" y="3082925"/>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862"/>
              <a:gd name="T35" fmla="*/ 190 w 190"/>
              <a:gd name="T36" fmla="*/ 862 h 8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p:spPr>
        <p:txBody>
          <a:bodyPr/>
          <a:lstStyle/>
          <a:p>
            <a:endParaRPr lang="zh-CN" altLang="en-US"/>
          </a:p>
        </p:txBody>
      </p:sp>
      <p:sp>
        <p:nvSpPr>
          <p:cNvPr id="72745" name="Text Box 68"/>
          <p:cNvSpPr txBox="1">
            <a:spLocks noChangeArrowheads="1"/>
          </p:cNvSpPr>
          <p:nvPr/>
        </p:nvSpPr>
        <p:spPr bwMode="auto">
          <a:xfrm>
            <a:off x="8332788" y="4687888"/>
            <a:ext cx="790575" cy="396875"/>
          </a:xfrm>
          <a:prstGeom prst="rect">
            <a:avLst/>
          </a:prstGeom>
          <a:noFill/>
          <a:ln w="9525">
            <a:noFill/>
            <a:miter lim="800000"/>
            <a:headEnd/>
            <a:tailEnd/>
          </a:ln>
        </p:spPr>
        <p:txBody>
          <a:bodyPr wrap="none">
            <a:spAutoFit/>
          </a:bodyPr>
          <a:lstStyle/>
          <a:p>
            <a:pPr algn="l"/>
            <a:r>
              <a:rPr kumimoji="1" lang="en-US" altLang="zh-CN" sz="2000">
                <a:solidFill>
                  <a:schemeClr val="folHlink"/>
                </a:solidFill>
                <a:latin typeface="Arial" pitchFamily="34" charset="0"/>
                <a:ea typeface="黑体" pitchFamily="49" charset="-122"/>
              </a:rPr>
              <a:t>(kHz)</a:t>
            </a:r>
          </a:p>
        </p:txBody>
      </p:sp>
      <p:sp>
        <p:nvSpPr>
          <p:cNvPr id="72746" name="Text Box 69"/>
          <p:cNvSpPr txBox="1">
            <a:spLocks noChangeArrowheads="1"/>
          </p:cNvSpPr>
          <p:nvPr/>
        </p:nvSpPr>
        <p:spPr bwMode="auto">
          <a:xfrm>
            <a:off x="2428875" y="4984750"/>
            <a:ext cx="612775" cy="396875"/>
          </a:xfrm>
          <a:prstGeom prst="rect">
            <a:avLst/>
          </a:prstGeom>
          <a:noFill/>
          <a:ln w="9525">
            <a:noFill/>
            <a:miter lim="800000"/>
            <a:headEnd/>
            <a:tailEnd/>
          </a:ln>
        </p:spPr>
        <p:txBody>
          <a:bodyPr wrap="none">
            <a:spAutoFit/>
          </a:bodyPr>
          <a:lstStyle/>
          <a:p>
            <a:pPr algn="l"/>
            <a:r>
              <a:rPr kumimoji="1" lang="en-US" altLang="zh-CN" sz="2000">
                <a:solidFill>
                  <a:schemeClr val="folHlink"/>
                </a:solidFill>
                <a:latin typeface="Arial" pitchFamily="34" charset="0"/>
                <a:ea typeface="黑体" pitchFamily="49" charset="-122"/>
              </a:rPr>
              <a:t>~40</a:t>
            </a:r>
          </a:p>
        </p:txBody>
      </p:sp>
      <p:sp>
        <p:nvSpPr>
          <p:cNvPr id="72747" name="Text Box 70"/>
          <p:cNvSpPr txBox="1">
            <a:spLocks noChangeArrowheads="1"/>
          </p:cNvSpPr>
          <p:nvPr/>
        </p:nvSpPr>
        <p:spPr bwMode="auto">
          <a:xfrm>
            <a:off x="3749675" y="4984750"/>
            <a:ext cx="755650" cy="396875"/>
          </a:xfrm>
          <a:prstGeom prst="rect">
            <a:avLst/>
          </a:prstGeom>
          <a:noFill/>
          <a:ln w="9525">
            <a:noFill/>
            <a:miter lim="800000"/>
            <a:headEnd/>
            <a:tailEnd/>
          </a:ln>
        </p:spPr>
        <p:txBody>
          <a:bodyPr wrap="none">
            <a:spAutoFit/>
          </a:bodyPr>
          <a:lstStyle/>
          <a:p>
            <a:pPr algn="l"/>
            <a:r>
              <a:rPr kumimoji="1" lang="en-US" altLang="zh-CN" sz="2000">
                <a:solidFill>
                  <a:schemeClr val="folHlink"/>
                </a:solidFill>
                <a:latin typeface="Arial" pitchFamily="34" charset="0"/>
                <a:ea typeface="黑体" pitchFamily="49" charset="-122"/>
              </a:rPr>
              <a:t>~138</a:t>
            </a:r>
          </a:p>
        </p:txBody>
      </p:sp>
      <p:sp>
        <p:nvSpPr>
          <p:cNvPr id="72748" name="Text Box 71"/>
          <p:cNvSpPr txBox="1">
            <a:spLocks noChangeArrowheads="1"/>
          </p:cNvSpPr>
          <p:nvPr/>
        </p:nvSpPr>
        <p:spPr bwMode="auto">
          <a:xfrm>
            <a:off x="6916738" y="4984750"/>
            <a:ext cx="895350" cy="396875"/>
          </a:xfrm>
          <a:prstGeom prst="rect">
            <a:avLst/>
          </a:prstGeom>
          <a:noFill/>
          <a:ln w="9525">
            <a:noFill/>
            <a:miter lim="800000"/>
            <a:headEnd/>
            <a:tailEnd/>
          </a:ln>
        </p:spPr>
        <p:txBody>
          <a:bodyPr wrap="none">
            <a:spAutoFit/>
          </a:bodyPr>
          <a:lstStyle/>
          <a:p>
            <a:pPr algn="l"/>
            <a:r>
              <a:rPr kumimoji="1" lang="en-US" altLang="zh-CN" sz="2000">
                <a:solidFill>
                  <a:schemeClr val="folHlink"/>
                </a:solidFill>
                <a:latin typeface="Arial" pitchFamily="34" charset="0"/>
                <a:ea typeface="黑体" pitchFamily="49" charset="-122"/>
              </a:rPr>
              <a:t>~1100</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150938" y="214313"/>
            <a:ext cx="7165975" cy="1462087"/>
          </a:xfrm>
        </p:spPr>
        <p:txBody>
          <a:bodyPr/>
          <a:lstStyle/>
          <a:p>
            <a:pPr algn="ctr" eaLnBrk="1" hangingPunct="1"/>
            <a:r>
              <a:rPr lang="en-US" altLang="zh-CN" smtClean="0"/>
              <a:t>ADSL </a:t>
            </a:r>
            <a:r>
              <a:rPr lang="zh-CN" altLang="en-US" smtClean="0"/>
              <a:t>的数据率</a:t>
            </a:r>
          </a:p>
        </p:txBody>
      </p:sp>
      <p:sp>
        <p:nvSpPr>
          <p:cNvPr id="73731" name="Rectangle 3"/>
          <p:cNvSpPr>
            <a:spLocks noGrp="1" noChangeArrowheads="1"/>
          </p:cNvSpPr>
          <p:nvPr>
            <p:ph type="body" idx="1"/>
          </p:nvPr>
        </p:nvSpPr>
        <p:spPr>
          <a:xfrm>
            <a:off x="1042988" y="1773238"/>
            <a:ext cx="7772400" cy="4824412"/>
          </a:xfrm>
        </p:spPr>
        <p:txBody>
          <a:bodyPr/>
          <a:lstStyle/>
          <a:p>
            <a:pPr eaLnBrk="1" hangingPunct="1"/>
            <a:r>
              <a:rPr lang="zh-CN" altLang="en-US" sz="2400" smtClean="0"/>
              <a:t>由于用户线的具体条件往往相差很大（距离、线径、受到相邻用户线的干扰程度等都不同），因此 </a:t>
            </a:r>
            <a:r>
              <a:rPr lang="en-US" altLang="zh-CN" sz="2400" smtClean="0"/>
              <a:t>ADSL </a:t>
            </a:r>
            <a:r>
              <a:rPr lang="zh-CN" altLang="en-US" sz="2400" smtClean="0"/>
              <a:t>采用自适应调制技术使用户线能够传送尽可能高的数据率。</a:t>
            </a:r>
          </a:p>
          <a:p>
            <a:pPr eaLnBrk="1" hangingPunct="1"/>
            <a:r>
              <a:rPr lang="zh-CN" altLang="en-US" sz="2400" smtClean="0"/>
              <a:t>当 </a:t>
            </a:r>
            <a:r>
              <a:rPr lang="en-US" altLang="zh-CN" sz="2400" smtClean="0"/>
              <a:t>ADSL </a:t>
            </a:r>
            <a:r>
              <a:rPr lang="zh-CN" altLang="en-US" sz="2400" smtClean="0"/>
              <a:t>启动时，用户线两端的 </a:t>
            </a:r>
            <a:r>
              <a:rPr lang="en-US" altLang="zh-CN" sz="2400" smtClean="0"/>
              <a:t>ADSL </a:t>
            </a:r>
            <a:r>
              <a:rPr lang="zh-CN" altLang="en-US" sz="2400" smtClean="0"/>
              <a:t>调制解调器就测试可用的频率、各子信道受到的干扰情况，以及在每一个频率上测试信号的传输质量。</a:t>
            </a:r>
          </a:p>
          <a:p>
            <a:pPr eaLnBrk="1" hangingPunct="1"/>
            <a:r>
              <a:rPr lang="en-US" altLang="zh-CN" sz="2400" smtClean="0"/>
              <a:t>ADSL </a:t>
            </a:r>
            <a:r>
              <a:rPr lang="zh-CN" altLang="en-US" sz="2400" smtClean="0"/>
              <a:t>不能保证固定的数据率。对于质量很差的用户线甚至无法开通 </a:t>
            </a:r>
            <a:r>
              <a:rPr lang="en-US" altLang="zh-CN" sz="2400" smtClean="0"/>
              <a:t>ADSL</a:t>
            </a:r>
            <a:r>
              <a:rPr lang="zh-CN" altLang="en-US" sz="2400" smtClean="0"/>
              <a:t>。</a:t>
            </a:r>
          </a:p>
          <a:p>
            <a:pPr eaLnBrk="1" hangingPunct="1"/>
            <a:r>
              <a:rPr lang="zh-CN" altLang="en-US" sz="2400" smtClean="0"/>
              <a:t>通常下行数据率在 </a:t>
            </a:r>
            <a:r>
              <a:rPr lang="en-US" altLang="zh-CN" sz="2400" smtClean="0"/>
              <a:t>32 kb/s </a:t>
            </a:r>
            <a:r>
              <a:rPr lang="zh-CN" altLang="en-US" sz="2400" smtClean="0"/>
              <a:t>到 </a:t>
            </a:r>
            <a:r>
              <a:rPr lang="en-US" altLang="zh-CN" sz="2400" smtClean="0"/>
              <a:t>6.4 Mb/s </a:t>
            </a:r>
            <a:r>
              <a:rPr lang="zh-CN" altLang="en-US" sz="2400" smtClean="0"/>
              <a:t>之间，而上行数据率在 </a:t>
            </a:r>
            <a:r>
              <a:rPr lang="en-US" altLang="zh-CN" sz="2400" smtClean="0"/>
              <a:t>32 kb/s </a:t>
            </a:r>
            <a:r>
              <a:rPr lang="zh-CN" altLang="en-US" sz="2400" smtClean="0"/>
              <a:t>到 </a:t>
            </a:r>
            <a:r>
              <a:rPr lang="en-US" altLang="zh-CN" sz="2400" smtClean="0"/>
              <a:t>640 kb/s </a:t>
            </a:r>
            <a:r>
              <a:rPr lang="zh-CN" altLang="en-US" sz="2400" smtClean="0"/>
              <a:t>之间。</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4"/>
          <p:cNvSpPr>
            <a:spLocks noGrp="1"/>
          </p:cNvSpPr>
          <p:nvPr>
            <p:ph type="ftr" sz="quarter" idx="11"/>
          </p:nvPr>
        </p:nvSpPr>
        <p:spPr>
          <a:noFill/>
        </p:spPr>
        <p:txBody>
          <a:bodyPr/>
          <a:lstStyle/>
          <a:p>
            <a:r>
              <a:rPr lang="zh-CN" altLang="en-US" smtClean="0"/>
              <a:t>课件制作人：谢希仁</a:t>
            </a:r>
          </a:p>
        </p:txBody>
      </p:sp>
      <p:sp>
        <p:nvSpPr>
          <p:cNvPr id="74755" name="Rectangle 2"/>
          <p:cNvSpPr>
            <a:spLocks noGrp="1" noChangeArrowheads="1"/>
          </p:cNvSpPr>
          <p:nvPr>
            <p:ph type="title"/>
          </p:nvPr>
        </p:nvSpPr>
        <p:spPr>
          <a:xfrm>
            <a:off x="1150938" y="-26988"/>
            <a:ext cx="7793037" cy="695326"/>
          </a:xfrm>
        </p:spPr>
        <p:txBody>
          <a:bodyPr/>
          <a:lstStyle/>
          <a:p>
            <a:pPr algn="ctr" eaLnBrk="1" hangingPunct="1"/>
            <a:r>
              <a:rPr lang="en-US" altLang="zh-CN" sz="3600" smtClean="0"/>
              <a:t>ADSL </a:t>
            </a:r>
            <a:r>
              <a:rPr lang="zh-CN" altLang="en-US" sz="3600" smtClean="0"/>
              <a:t>的组成 </a:t>
            </a:r>
          </a:p>
        </p:txBody>
      </p:sp>
      <p:sp>
        <p:nvSpPr>
          <p:cNvPr id="74756" name="AutoShape 3"/>
          <p:cNvSpPr>
            <a:spLocks noChangeArrowheads="1"/>
          </p:cNvSpPr>
          <p:nvPr/>
        </p:nvSpPr>
        <p:spPr bwMode="auto">
          <a:xfrm>
            <a:off x="2463800" y="1585913"/>
            <a:ext cx="2087563" cy="2816225"/>
          </a:xfrm>
          <a:prstGeom prst="roundRect">
            <a:avLst>
              <a:gd name="adj" fmla="val 16667"/>
            </a:avLst>
          </a:prstGeom>
          <a:solidFill>
            <a:srgbClr val="CCECFF"/>
          </a:solidFill>
          <a:ln w="9525">
            <a:solidFill>
              <a:schemeClr val="tx1"/>
            </a:solidFill>
            <a:prstDash val="dash"/>
            <a:round/>
            <a:headEnd/>
            <a:tailEnd/>
          </a:ln>
        </p:spPr>
        <p:txBody>
          <a:bodyPr wrap="none" anchor="ctr"/>
          <a:lstStyle/>
          <a:p>
            <a:endParaRPr lang="zh-CN" altLang="en-US"/>
          </a:p>
        </p:txBody>
      </p:sp>
      <p:sp>
        <p:nvSpPr>
          <p:cNvPr id="74757" name="Freeform 4"/>
          <p:cNvSpPr>
            <a:spLocks/>
          </p:cNvSpPr>
          <p:nvPr/>
        </p:nvSpPr>
        <p:spPr bwMode="auto">
          <a:xfrm>
            <a:off x="993775" y="1128713"/>
            <a:ext cx="428625" cy="1420812"/>
          </a:xfrm>
          <a:custGeom>
            <a:avLst/>
            <a:gdLst>
              <a:gd name="T0" fmla="*/ 2147483647 w 280"/>
              <a:gd name="T1" fmla="*/ 2147483647 h 600"/>
              <a:gd name="T2" fmla="*/ 2147483647 w 280"/>
              <a:gd name="T3" fmla="*/ 2147483647 h 600"/>
              <a:gd name="T4" fmla="*/ 2147483647 w 280"/>
              <a:gd name="T5" fmla="*/ 2147483647 h 600"/>
              <a:gd name="T6" fmla="*/ 0 w 280"/>
              <a:gd name="T7" fmla="*/ 0 h 600"/>
              <a:gd name="T8" fmla="*/ 0 60000 65536"/>
              <a:gd name="T9" fmla="*/ 0 60000 65536"/>
              <a:gd name="T10" fmla="*/ 0 60000 65536"/>
              <a:gd name="T11" fmla="*/ 0 60000 65536"/>
              <a:gd name="T12" fmla="*/ 0 w 280"/>
              <a:gd name="T13" fmla="*/ 0 h 600"/>
              <a:gd name="T14" fmla="*/ 280 w 280"/>
              <a:gd name="T15" fmla="*/ 600 h 600"/>
            </a:gdLst>
            <a:ahLst/>
            <a:cxnLst>
              <a:cxn ang="T8">
                <a:pos x="T0" y="T1"/>
              </a:cxn>
              <a:cxn ang="T9">
                <a:pos x="T2" y="T3"/>
              </a:cxn>
              <a:cxn ang="T10">
                <a:pos x="T4" y="T5"/>
              </a:cxn>
              <a:cxn ang="T11">
                <a:pos x="T6" y="T7"/>
              </a:cxn>
            </a:cxnLst>
            <a:rect l="T12" t="T13" r="T14" b="T15"/>
            <a:pathLst>
              <a:path w="280" h="600">
                <a:moveTo>
                  <a:pt x="280" y="600"/>
                </a:moveTo>
                <a:lnTo>
                  <a:pt x="144" y="200"/>
                </a:lnTo>
                <a:lnTo>
                  <a:pt x="112" y="280"/>
                </a:lnTo>
                <a:lnTo>
                  <a:pt x="0" y="0"/>
                </a:lnTo>
              </a:path>
            </a:pathLst>
          </a:custGeom>
          <a:noFill/>
          <a:ln w="28575">
            <a:solidFill>
              <a:schemeClr val="tx1"/>
            </a:solidFill>
            <a:round/>
            <a:headEnd/>
            <a:tailEnd type="triangle" w="sm" len="lg"/>
          </a:ln>
        </p:spPr>
        <p:txBody>
          <a:bodyPr wrap="none" anchor="ctr"/>
          <a:lstStyle/>
          <a:p>
            <a:endParaRPr lang="zh-CN" altLang="en-US"/>
          </a:p>
        </p:txBody>
      </p:sp>
      <p:sp>
        <p:nvSpPr>
          <p:cNvPr id="74758" name="Line 5"/>
          <p:cNvSpPr>
            <a:spLocks noChangeShapeType="1"/>
          </p:cNvSpPr>
          <p:nvPr/>
        </p:nvSpPr>
        <p:spPr bwMode="auto">
          <a:xfrm rot="-5400000">
            <a:off x="2574925" y="2582863"/>
            <a:ext cx="0" cy="660400"/>
          </a:xfrm>
          <a:prstGeom prst="line">
            <a:avLst/>
          </a:prstGeom>
          <a:noFill/>
          <a:ln w="38100">
            <a:solidFill>
              <a:schemeClr val="tx1"/>
            </a:solidFill>
            <a:round/>
            <a:headEnd/>
            <a:tailEnd/>
          </a:ln>
        </p:spPr>
        <p:txBody>
          <a:bodyPr wrap="none" anchor="ctr"/>
          <a:lstStyle/>
          <a:p>
            <a:endParaRPr lang="zh-CN" altLang="en-US"/>
          </a:p>
        </p:txBody>
      </p:sp>
      <p:sp>
        <p:nvSpPr>
          <p:cNvPr id="74759" name="Freeform 6"/>
          <p:cNvSpPr>
            <a:spLocks/>
          </p:cNvSpPr>
          <p:nvPr/>
        </p:nvSpPr>
        <p:spPr bwMode="auto">
          <a:xfrm rot="-989619">
            <a:off x="4830763" y="2673350"/>
            <a:ext cx="560387" cy="1387475"/>
          </a:xfrm>
          <a:custGeom>
            <a:avLst/>
            <a:gdLst>
              <a:gd name="T0" fmla="*/ 0 w 366"/>
              <a:gd name="T1" fmla="*/ 0 h 702"/>
              <a:gd name="T2" fmla="*/ 2147483647 w 366"/>
              <a:gd name="T3" fmla="*/ 2147483647 h 702"/>
              <a:gd name="T4" fmla="*/ 2147483647 w 366"/>
              <a:gd name="T5" fmla="*/ 2147483647 h 702"/>
              <a:gd name="T6" fmla="*/ 2147483647 w 366"/>
              <a:gd name="T7" fmla="*/ 2147483647 h 702"/>
              <a:gd name="T8" fmla="*/ 0 60000 65536"/>
              <a:gd name="T9" fmla="*/ 0 60000 65536"/>
              <a:gd name="T10" fmla="*/ 0 60000 65536"/>
              <a:gd name="T11" fmla="*/ 0 60000 65536"/>
              <a:gd name="T12" fmla="*/ 0 w 366"/>
              <a:gd name="T13" fmla="*/ 0 h 702"/>
              <a:gd name="T14" fmla="*/ 366 w 366"/>
              <a:gd name="T15" fmla="*/ 702 h 702"/>
            </a:gdLst>
            <a:ahLst/>
            <a:cxnLst>
              <a:cxn ang="T8">
                <a:pos x="T0" y="T1"/>
              </a:cxn>
              <a:cxn ang="T9">
                <a:pos x="T2" y="T3"/>
              </a:cxn>
              <a:cxn ang="T10">
                <a:pos x="T4" y="T5"/>
              </a:cxn>
              <a:cxn ang="T11">
                <a:pos x="T6" y="T7"/>
              </a:cxn>
            </a:cxnLst>
            <a:rect l="T12" t="T13" r="T14" b="T15"/>
            <a:pathLst>
              <a:path w="366" h="702">
                <a:moveTo>
                  <a:pt x="0" y="0"/>
                </a:moveTo>
                <a:lnTo>
                  <a:pt x="138" y="343"/>
                </a:lnTo>
                <a:lnTo>
                  <a:pt x="168" y="252"/>
                </a:lnTo>
                <a:lnTo>
                  <a:pt x="366" y="702"/>
                </a:lnTo>
              </a:path>
            </a:pathLst>
          </a:custGeom>
          <a:noFill/>
          <a:ln w="28575">
            <a:solidFill>
              <a:srgbClr val="333399"/>
            </a:solidFill>
            <a:round/>
            <a:headEnd/>
            <a:tailEnd type="triangle" w="sm" len="lg"/>
          </a:ln>
        </p:spPr>
        <p:txBody>
          <a:bodyPr wrap="none" anchor="ctr"/>
          <a:lstStyle/>
          <a:p>
            <a:endParaRPr lang="zh-CN" altLang="en-US"/>
          </a:p>
        </p:txBody>
      </p:sp>
      <p:pic>
        <p:nvPicPr>
          <p:cNvPr id="74760" name="Picture 7"/>
          <p:cNvPicPr>
            <a:picLocks noChangeArrowheads="1"/>
          </p:cNvPicPr>
          <p:nvPr/>
        </p:nvPicPr>
        <p:blipFill>
          <a:blip r:embed="rId3" cstate="print"/>
          <a:srcRect/>
          <a:stretch>
            <a:fillRect/>
          </a:stretch>
        </p:blipFill>
        <p:spPr bwMode="auto">
          <a:xfrm>
            <a:off x="2732088" y="1585913"/>
            <a:ext cx="1050925" cy="2430462"/>
          </a:xfrm>
          <a:prstGeom prst="rect">
            <a:avLst/>
          </a:prstGeom>
          <a:noFill/>
          <a:ln w="9525">
            <a:noFill/>
            <a:miter lim="800000"/>
            <a:headEnd/>
            <a:tailEnd/>
          </a:ln>
        </p:spPr>
      </p:pic>
      <p:sp>
        <p:nvSpPr>
          <p:cNvPr id="74761" name="AutoShape 8"/>
          <p:cNvSpPr>
            <a:spLocks noChangeArrowheads="1"/>
          </p:cNvSpPr>
          <p:nvPr/>
        </p:nvSpPr>
        <p:spPr bwMode="auto">
          <a:xfrm>
            <a:off x="3482975" y="2879725"/>
            <a:ext cx="950913" cy="569913"/>
          </a:xfrm>
          <a:prstGeom prst="cube">
            <a:avLst>
              <a:gd name="adj" fmla="val 25000"/>
            </a:avLst>
          </a:prstGeom>
          <a:solidFill>
            <a:srgbClr val="FFFF99"/>
          </a:solidFill>
          <a:ln w="9525">
            <a:solidFill>
              <a:schemeClr val="tx1"/>
            </a:solidFill>
            <a:miter lim="800000"/>
            <a:headEnd/>
            <a:tailEnd/>
          </a:ln>
        </p:spPr>
        <p:txBody>
          <a:bodyPr wrap="none" anchor="ctr"/>
          <a:lstStyle/>
          <a:p>
            <a:endParaRPr lang="zh-CN" altLang="en-US"/>
          </a:p>
        </p:txBody>
      </p:sp>
      <p:sp>
        <p:nvSpPr>
          <p:cNvPr id="74762" name="Text Box 9"/>
          <p:cNvSpPr txBox="1">
            <a:spLocks noChangeArrowheads="1"/>
          </p:cNvSpPr>
          <p:nvPr/>
        </p:nvSpPr>
        <p:spPr bwMode="auto">
          <a:xfrm>
            <a:off x="3425825" y="3022600"/>
            <a:ext cx="963613"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ATU-C</a:t>
            </a:r>
          </a:p>
        </p:txBody>
      </p:sp>
      <p:sp>
        <p:nvSpPr>
          <p:cNvPr id="74763" name="AutoShape 10"/>
          <p:cNvSpPr>
            <a:spLocks noChangeArrowheads="1"/>
          </p:cNvSpPr>
          <p:nvPr/>
        </p:nvSpPr>
        <p:spPr bwMode="auto">
          <a:xfrm>
            <a:off x="3482975" y="2376488"/>
            <a:ext cx="950913" cy="571500"/>
          </a:xfrm>
          <a:prstGeom prst="cube">
            <a:avLst>
              <a:gd name="adj" fmla="val 25000"/>
            </a:avLst>
          </a:prstGeom>
          <a:solidFill>
            <a:srgbClr val="FFFF99"/>
          </a:solidFill>
          <a:ln w="9525">
            <a:solidFill>
              <a:schemeClr val="tx1"/>
            </a:solidFill>
            <a:miter lim="800000"/>
            <a:headEnd/>
            <a:tailEnd/>
          </a:ln>
        </p:spPr>
        <p:txBody>
          <a:bodyPr wrap="none" anchor="ctr"/>
          <a:lstStyle/>
          <a:p>
            <a:endParaRPr lang="zh-CN" altLang="en-US"/>
          </a:p>
        </p:txBody>
      </p:sp>
      <p:sp>
        <p:nvSpPr>
          <p:cNvPr id="74764" name="Text Box 11"/>
          <p:cNvSpPr txBox="1">
            <a:spLocks noChangeArrowheads="1"/>
          </p:cNvSpPr>
          <p:nvPr/>
        </p:nvSpPr>
        <p:spPr bwMode="auto">
          <a:xfrm>
            <a:off x="3425825" y="2501900"/>
            <a:ext cx="963613" cy="395288"/>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ATU-C</a:t>
            </a:r>
          </a:p>
        </p:txBody>
      </p:sp>
      <p:pic>
        <p:nvPicPr>
          <p:cNvPr id="74765" name="Picture 12"/>
          <p:cNvPicPr>
            <a:picLocks noChangeArrowheads="1"/>
          </p:cNvPicPr>
          <p:nvPr/>
        </p:nvPicPr>
        <p:blipFill>
          <a:blip r:embed="rId4" cstate="print"/>
          <a:srcRect/>
          <a:stretch>
            <a:fillRect/>
          </a:stretch>
        </p:blipFill>
        <p:spPr bwMode="auto">
          <a:xfrm>
            <a:off x="5981700" y="1204913"/>
            <a:ext cx="2857500" cy="2457450"/>
          </a:xfrm>
          <a:prstGeom prst="rect">
            <a:avLst/>
          </a:prstGeom>
          <a:noFill/>
          <a:ln w="12699">
            <a:noFill/>
            <a:miter lim="800000"/>
            <a:headEnd/>
            <a:tailEnd/>
          </a:ln>
        </p:spPr>
      </p:pic>
      <p:sp>
        <p:nvSpPr>
          <p:cNvPr id="74766" name="Line 13"/>
          <p:cNvSpPr>
            <a:spLocks noChangeShapeType="1"/>
          </p:cNvSpPr>
          <p:nvPr/>
        </p:nvSpPr>
        <p:spPr bwMode="auto">
          <a:xfrm>
            <a:off x="6496050" y="2722563"/>
            <a:ext cx="0" cy="568325"/>
          </a:xfrm>
          <a:prstGeom prst="line">
            <a:avLst/>
          </a:prstGeom>
          <a:noFill/>
          <a:ln w="28575">
            <a:solidFill>
              <a:schemeClr val="tx1"/>
            </a:solidFill>
            <a:round/>
            <a:headEnd/>
            <a:tailEnd/>
          </a:ln>
        </p:spPr>
        <p:txBody>
          <a:bodyPr wrap="none" anchor="ctr"/>
          <a:lstStyle/>
          <a:p>
            <a:endParaRPr lang="zh-CN" altLang="en-US"/>
          </a:p>
        </p:txBody>
      </p:sp>
      <p:pic>
        <p:nvPicPr>
          <p:cNvPr id="74767" name="Picture 14"/>
          <p:cNvPicPr>
            <a:picLocks noChangeArrowheads="1"/>
          </p:cNvPicPr>
          <p:nvPr/>
        </p:nvPicPr>
        <p:blipFill>
          <a:blip r:embed="rId5" cstate="print"/>
          <a:srcRect/>
          <a:stretch>
            <a:fillRect/>
          </a:stretch>
        </p:blipFill>
        <p:spPr bwMode="auto">
          <a:xfrm>
            <a:off x="6210300" y="3125788"/>
            <a:ext cx="566738" cy="506412"/>
          </a:xfrm>
          <a:prstGeom prst="rect">
            <a:avLst/>
          </a:prstGeom>
          <a:noFill/>
          <a:ln w="9525">
            <a:noFill/>
            <a:miter lim="800000"/>
            <a:headEnd/>
            <a:tailEnd/>
          </a:ln>
        </p:spPr>
      </p:pic>
      <p:sp>
        <p:nvSpPr>
          <p:cNvPr id="74768" name="AutoShape 15"/>
          <p:cNvSpPr>
            <a:spLocks noChangeArrowheads="1"/>
          </p:cNvSpPr>
          <p:nvPr/>
        </p:nvSpPr>
        <p:spPr bwMode="auto">
          <a:xfrm>
            <a:off x="6808788" y="2427288"/>
            <a:ext cx="950912" cy="569912"/>
          </a:xfrm>
          <a:prstGeom prst="cube">
            <a:avLst>
              <a:gd name="adj" fmla="val 25000"/>
            </a:avLst>
          </a:prstGeom>
          <a:solidFill>
            <a:srgbClr val="FFFF99"/>
          </a:solidFill>
          <a:ln w="9525">
            <a:solidFill>
              <a:schemeClr val="tx1"/>
            </a:solidFill>
            <a:miter lim="800000"/>
            <a:headEnd/>
            <a:tailEnd/>
          </a:ln>
        </p:spPr>
        <p:txBody>
          <a:bodyPr wrap="none" anchor="ctr"/>
          <a:lstStyle/>
          <a:p>
            <a:endParaRPr lang="zh-CN" altLang="en-US"/>
          </a:p>
        </p:txBody>
      </p:sp>
      <p:sp>
        <p:nvSpPr>
          <p:cNvPr id="74769" name="Text Box 16"/>
          <p:cNvSpPr txBox="1">
            <a:spLocks noChangeArrowheads="1"/>
          </p:cNvSpPr>
          <p:nvPr/>
        </p:nvSpPr>
        <p:spPr bwMode="auto">
          <a:xfrm>
            <a:off x="6740525" y="2566988"/>
            <a:ext cx="962025" cy="395287"/>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ATU-R</a:t>
            </a:r>
          </a:p>
        </p:txBody>
      </p:sp>
      <p:pic>
        <p:nvPicPr>
          <p:cNvPr id="285713" name="Picture 17"/>
          <p:cNvPicPr>
            <a:picLocks noChangeArrowheads="1"/>
          </p:cNvPicPr>
          <p:nvPr/>
        </p:nvPicPr>
        <p:blipFill>
          <a:blip r:embed="rId6" cstate="print"/>
          <a:srcRect/>
          <a:stretch>
            <a:fillRect/>
          </a:stretch>
        </p:blipFill>
        <p:spPr bwMode="auto">
          <a:xfrm>
            <a:off x="250825" y="2063750"/>
            <a:ext cx="2141538" cy="1893888"/>
          </a:xfrm>
          <a:prstGeom prst="rect">
            <a:avLst/>
          </a:prstGeom>
          <a:noFill/>
          <a:ln w="9525">
            <a:noFill/>
            <a:miter lim="800000"/>
            <a:headEnd/>
            <a:tailEnd/>
          </a:ln>
          <a:effectLst>
            <a:outerShdw dist="28398" dir="3806097" algn="ctr" rotWithShape="0">
              <a:schemeClr val="tx1"/>
            </a:outerShdw>
          </a:effectLst>
        </p:spPr>
      </p:pic>
      <p:sp>
        <p:nvSpPr>
          <p:cNvPr id="74771" name="Freeform 18"/>
          <p:cNvSpPr>
            <a:spLocks/>
          </p:cNvSpPr>
          <p:nvPr/>
        </p:nvSpPr>
        <p:spPr bwMode="auto">
          <a:xfrm>
            <a:off x="4360863" y="2673350"/>
            <a:ext cx="2454275" cy="96838"/>
          </a:xfrm>
          <a:custGeom>
            <a:avLst/>
            <a:gdLst>
              <a:gd name="T0" fmla="*/ 2147483647 w 1608"/>
              <a:gd name="T1" fmla="*/ 2147483647 h 48"/>
              <a:gd name="T2" fmla="*/ 2147483647 w 1608"/>
              <a:gd name="T3" fmla="*/ 2147483647 h 48"/>
              <a:gd name="T4" fmla="*/ 2147483647 w 1608"/>
              <a:gd name="T5" fmla="*/ 2147483647 h 48"/>
              <a:gd name="T6" fmla="*/ 0 w 1608"/>
              <a:gd name="T7" fmla="*/ 0 h 48"/>
              <a:gd name="T8" fmla="*/ 0 60000 65536"/>
              <a:gd name="T9" fmla="*/ 0 60000 65536"/>
              <a:gd name="T10" fmla="*/ 0 60000 65536"/>
              <a:gd name="T11" fmla="*/ 0 60000 65536"/>
              <a:gd name="T12" fmla="*/ 0 w 1608"/>
              <a:gd name="T13" fmla="*/ 0 h 48"/>
              <a:gd name="T14" fmla="*/ 1608 w 1608"/>
              <a:gd name="T15" fmla="*/ 48 h 48"/>
            </a:gdLst>
            <a:ahLst/>
            <a:cxnLst>
              <a:cxn ang="T8">
                <a:pos x="T0" y="T1"/>
              </a:cxn>
              <a:cxn ang="T9">
                <a:pos x="T2" y="T3"/>
              </a:cxn>
              <a:cxn ang="T10">
                <a:pos x="T4" y="T5"/>
              </a:cxn>
              <a:cxn ang="T11">
                <a:pos x="T6" y="T7"/>
              </a:cxn>
            </a:cxnLst>
            <a:rect l="T12" t="T13" r="T14" b="T15"/>
            <a:pathLst>
              <a:path w="1608" h="48">
                <a:moveTo>
                  <a:pt x="1608" y="48"/>
                </a:moveTo>
                <a:lnTo>
                  <a:pt x="790" y="48"/>
                </a:lnTo>
                <a:lnTo>
                  <a:pt x="844" y="1"/>
                </a:lnTo>
                <a:lnTo>
                  <a:pt x="0" y="0"/>
                </a:lnTo>
              </a:path>
            </a:pathLst>
          </a:custGeom>
          <a:noFill/>
          <a:ln w="38100">
            <a:solidFill>
              <a:srgbClr val="333399"/>
            </a:solidFill>
            <a:round/>
            <a:headEnd/>
            <a:tailEnd/>
          </a:ln>
        </p:spPr>
        <p:txBody>
          <a:bodyPr wrap="none" anchor="ctr"/>
          <a:lstStyle/>
          <a:p>
            <a:endParaRPr lang="zh-CN" altLang="en-US"/>
          </a:p>
        </p:txBody>
      </p:sp>
      <p:sp>
        <p:nvSpPr>
          <p:cNvPr id="74772" name="AutoShape 19"/>
          <p:cNvSpPr>
            <a:spLocks noChangeArrowheads="1"/>
          </p:cNvSpPr>
          <p:nvPr/>
        </p:nvSpPr>
        <p:spPr bwMode="auto">
          <a:xfrm>
            <a:off x="6421438" y="2608263"/>
            <a:ext cx="219075" cy="284162"/>
          </a:xfrm>
          <a:prstGeom prst="cube">
            <a:avLst>
              <a:gd name="adj" fmla="val 25000"/>
            </a:avLst>
          </a:prstGeom>
          <a:solidFill>
            <a:srgbClr val="969696"/>
          </a:solidFill>
          <a:ln w="9525">
            <a:solidFill>
              <a:srgbClr val="333333"/>
            </a:solidFill>
            <a:miter lim="800000"/>
            <a:headEnd/>
            <a:tailEnd/>
          </a:ln>
        </p:spPr>
        <p:txBody>
          <a:bodyPr wrap="none" anchor="ctr"/>
          <a:lstStyle/>
          <a:p>
            <a:endParaRPr lang="zh-CN" altLang="en-US"/>
          </a:p>
        </p:txBody>
      </p:sp>
      <p:sp>
        <p:nvSpPr>
          <p:cNvPr id="74773" name="AutoShape 20"/>
          <p:cNvSpPr>
            <a:spLocks noChangeArrowheads="1"/>
          </p:cNvSpPr>
          <p:nvPr/>
        </p:nvSpPr>
        <p:spPr bwMode="auto">
          <a:xfrm>
            <a:off x="4589463" y="2533650"/>
            <a:ext cx="220662" cy="282575"/>
          </a:xfrm>
          <a:prstGeom prst="cube">
            <a:avLst>
              <a:gd name="adj" fmla="val 25000"/>
            </a:avLst>
          </a:prstGeom>
          <a:solidFill>
            <a:srgbClr val="969696"/>
          </a:solidFill>
          <a:ln w="9525">
            <a:solidFill>
              <a:srgbClr val="333333"/>
            </a:solidFill>
            <a:miter lim="800000"/>
            <a:headEnd/>
            <a:tailEnd/>
          </a:ln>
        </p:spPr>
        <p:txBody>
          <a:bodyPr wrap="none" anchor="ctr"/>
          <a:lstStyle/>
          <a:p>
            <a:endParaRPr lang="zh-CN" altLang="en-US"/>
          </a:p>
        </p:txBody>
      </p:sp>
      <p:sp>
        <p:nvSpPr>
          <p:cNvPr id="74774" name="AutoShape 21"/>
          <p:cNvSpPr>
            <a:spLocks noChangeArrowheads="1"/>
          </p:cNvSpPr>
          <p:nvPr/>
        </p:nvSpPr>
        <p:spPr bwMode="auto">
          <a:xfrm>
            <a:off x="3482975" y="1887538"/>
            <a:ext cx="950913" cy="569912"/>
          </a:xfrm>
          <a:prstGeom prst="cube">
            <a:avLst>
              <a:gd name="adj" fmla="val 25000"/>
            </a:avLst>
          </a:prstGeom>
          <a:solidFill>
            <a:srgbClr val="FFFF99"/>
          </a:solidFill>
          <a:ln w="9525">
            <a:solidFill>
              <a:schemeClr val="tx1"/>
            </a:solidFill>
            <a:miter lim="800000"/>
            <a:headEnd/>
            <a:tailEnd/>
          </a:ln>
        </p:spPr>
        <p:txBody>
          <a:bodyPr wrap="none" anchor="ctr"/>
          <a:lstStyle/>
          <a:p>
            <a:endParaRPr lang="zh-CN" altLang="en-US"/>
          </a:p>
        </p:txBody>
      </p:sp>
      <p:sp>
        <p:nvSpPr>
          <p:cNvPr id="74775" name="Text Box 22"/>
          <p:cNvSpPr txBox="1">
            <a:spLocks noChangeArrowheads="1"/>
          </p:cNvSpPr>
          <p:nvPr/>
        </p:nvSpPr>
        <p:spPr bwMode="auto">
          <a:xfrm>
            <a:off x="3425825" y="2055813"/>
            <a:ext cx="96202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ATU-C</a:t>
            </a:r>
          </a:p>
        </p:txBody>
      </p:sp>
      <p:sp>
        <p:nvSpPr>
          <p:cNvPr id="74776" name="Freeform 23"/>
          <p:cNvSpPr>
            <a:spLocks/>
          </p:cNvSpPr>
          <p:nvPr/>
        </p:nvSpPr>
        <p:spPr bwMode="auto">
          <a:xfrm>
            <a:off x="7704138" y="2722563"/>
            <a:ext cx="292100" cy="307975"/>
          </a:xfrm>
          <a:custGeom>
            <a:avLst/>
            <a:gdLst>
              <a:gd name="T0" fmla="*/ 0 w 192"/>
              <a:gd name="T1" fmla="*/ 2147483647 h 156"/>
              <a:gd name="T2" fmla="*/ 2147483647 w 192"/>
              <a:gd name="T3" fmla="*/ 0 h 156"/>
              <a:gd name="T4" fmla="*/ 2147483647 w 192"/>
              <a:gd name="T5" fmla="*/ 2147483647 h 156"/>
              <a:gd name="T6" fmla="*/ 0 60000 65536"/>
              <a:gd name="T7" fmla="*/ 0 60000 65536"/>
              <a:gd name="T8" fmla="*/ 0 60000 65536"/>
              <a:gd name="T9" fmla="*/ 0 w 192"/>
              <a:gd name="T10" fmla="*/ 0 h 156"/>
              <a:gd name="T11" fmla="*/ 192 w 192"/>
              <a:gd name="T12" fmla="*/ 156 h 156"/>
            </a:gdLst>
            <a:ahLst/>
            <a:cxnLst>
              <a:cxn ang="T6">
                <a:pos x="T0" y="T1"/>
              </a:cxn>
              <a:cxn ang="T7">
                <a:pos x="T2" y="T3"/>
              </a:cxn>
              <a:cxn ang="T8">
                <a:pos x="T4" y="T5"/>
              </a:cxn>
            </a:cxnLst>
            <a:rect l="T9" t="T10" r="T11" b="T12"/>
            <a:pathLst>
              <a:path w="192" h="156">
                <a:moveTo>
                  <a:pt x="0" y="6"/>
                </a:moveTo>
                <a:lnTo>
                  <a:pt x="192" y="0"/>
                </a:lnTo>
                <a:lnTo>
                  <a:pt x="192" y="156"/>
                </a:lnTo>
              </a:path>
            </a:pathLst>
          </a:custGeom>
          <a:noFill/>
          <a:ln w="38100">
            <a:solidFill>
              <a:srgbClr val="333399"/>
            </a:solidFill>
            <a:round/>
            <a:headEnd/>
            <a:tailEnd/>
          </a:ln>
        </p:spPr>
        <p:txBody>
          <a:bodyPr wrap="none" anchor="ctr"/>
          <a:lstStyle/>
          <a:p>
            <a:endParaRPr lang="zh-CN" altLang="en-US"/>
          </a:p>
        </p:txBody>
      </p:sp>
      <p:pic>
        <p:nvPicPr>
          <p:cNvPr id="74777" name="Picture 24"/>
          <p:cNvPicPr>
            <a:picLocks noChangeArrowheads="1"/>
          </p:cNvPicPr>
          <p:nvPr/>
        </p:nvPicPr>
        <p:blipFill>
          <a:blip r:embed="rId7" cstate="print"/>
          <a:srcRect/>
          <a:stretch>
            <a:fillRect/>
          </a:stretch>
        </p:blipFill>
        <p:spPr bwMode="auto">
          <a:xfrm>
            <a:off x="7739063" y="2913063"/>
            <a:ext cx="566737" cy="736600"/>
          </a:xfrm>
          <a:prstGeom prst="rect">
            <a:avLst/>
          </a:prstGeom>
          <a:noFill/>
          <a:ln w="9525">
            <a:noFill/>
            <a:miter lim="800000"/>
            <a:headEnd/>
            <a:tailEnd/>
          </a:ln>
        </p:spPr>
      </p:pic>
      <p:sp>
        <p:nvSpPr>
          <p:cNvPr id="74778" name="Text Box 25"/>
          <p:cNvSpPr txBox="1">
            <a:spLocks noChangeArrowheads="1"/>
          </p:cNvSpPr>
          <p:nvPr/>
        </p:nvSpPr>
        <p:spPr bwMode="auto">
          <a:xfrm>
            <a:off x="5080000" y="2276475"/>
            <a:ext cx="946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用户线</a:t>
            </a:r>
          </a:p>
        </p:txBody>
      </p:sp>
      <p:sp>
        <p:nvSpPr>
          <p:cNvPr id="74779" name="Text Box 26"/>
          <p:cNvSpPr txBox="1">
            <a:spLocks noChangeArrowheads="1"/>
          </p:cNvSpPr>
          <p:nvPr/>
        </p:nvSpPr>
        <p:spPr bwMode="auto">
          <a:xfrm>
            <a:off x="5126038" y="1344613"/>
            <a:ext cx="946150" cy="609600"/>
          </a:xfrm>
          <a:prstGeom prst="rect">
            <a:avLst/>
          </a:prstGeom>
          <a:noFill/>
          <a:ln w="9525">
            <a:noFill/>
            <a:miter lim="800000"/>
            <a:headEnd/>
            <a:tailEnd/>
          </a:ln>
        </p:spPr>
        <p:txBody>
          <a:bodyPr wrap="none">
            <a:spAutoFit/>
          </a:bodyPr>
          <a:lstStyle/>
          <a:p>
            <a:pPr algn="l">
              <a:lnSpc>
                <a:spcPct val="85000"/>
              </a:lnSpc>
            </a:pP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电话</a:t>
            </a:r>
          </a:p>
          <a:p>
            <a:pPr algn="l">
              <a:lnSpc>
                <a:spcPct val="85000"/>
              </a:lnSpc>
            </a:pPr>
            <a:r>
              <a:rPr kumimoji="1" lang="zh-CN" altLang="en-US" sz="2000">
                <a:solidFill>
                  <a:srgbClr val="333399"/>
                </a:solidFill>
                <a:latin typeface="Arial" pitchFamily="34" charset="0"/>
                <a:ea typeface="黑体" pitchFamily="49" charset="-122"/>
              </a:rPr>
              <a:t>分离器</a:t>
            </a:r>
          </a:p>
        </p:txBody>
      </p:sp>
      <p:sp>
        <p:nvSpPr>
          <p:cNvPr id="74780" name="Line 27"/>
          <p:cNvSpPr>
            <a:spLocks noChangeShapeType="1"/>
          </p:cNvSpPr>
          <p:nvPr/>
        </p:nvSpPr>
        <p:spPr bwMode="auto">
          <a:xfrm flipH="1">
            <a:off x="4810125" y="1962150"/>
            <a:ext cx="438150" cy="666750"/>
          </a:xfrm>
          <a:prstGeom prst="line">
            <a:avLst/>
          </a:prstGeom>
          <a:noFill/>
          <a:ln w="28575">
            <a:solidFill>
              <a:srgbClr val="333399"/>
            </a:solidFill>
            <a:round/>
            <a:headEnd/>
            <a:tailEnd type="triangle" w="sm" len="lg"/>
          </a:ln>
        </p:spPr>
        <p:txBody>
          <a:bodyPr wrap="none" anchor="ctr"/>
          <a:lstStyle/>
          <a:p>
            <a:endParaRPr lang="zh-CN" altLang="en-US"/>
          </a:p>
        </p:txBody>
      </p:sp>
      <p:sp>
        <p:nvSpPr>
          <p:cNvPr id="74781" name="Line 28"/>
          <p:cNvSpPr>
            <a:spLocks noChangeShapeType="1"/>
          </p:cNvSpPr>
          <p:nvPr/>
        </p:nvSpPr>
        <p:spPr bwMode="auto">
          <a:xfrm rot="16200000" flipH="1">
            <a:off x="5795169" y="2002631"/>
            <a:ext cx="666750" cy="585788"/>
          </a:xfrm>
          <a:prstGeom prst="line">
            <a:avLst/>
          </a:prstGeom>
          <a:noFill/>
          <a:ln w="28575">
            <a:solidFill>
              <a:srgbClr val="333399"/>
            </a:solidFill>
            <a:round/>
            <a:headEnd/>
            <a:tailEnd type="triangle" w="sm" len="lg"/>
          </a:ln>
        </p:spPr>
        <p:txBody>
          <a:bodyPr wrap="none" anchor="ctr"/>
          <a:lstStyle/>
          <a:p>
            <a:endParaRPr lang="zh-CN" altLang="en-US"/>
          </a:p>
        </p:txBody>
      </p:sp>
      <p:sp>
        <p:nvSpPr>
          <p:cNvPr id="74782" name="Text Box 29"/>
          <p:cNvSpPr txBox="1">
            <a:spLocks noChangeArrowheads="1"/>
          </p:cNvSpPr>
          <p:nvPr/>
        </p:nvSpPr>
        <p:spPr bwMode="auto">
          <a:xfrm>
            <a:off x="550863" y="2781300"/>
            <a:ext cx="1525587" cy="396875"/>
          </a:xfrm>
          <a:prstGeom prst="rect">
            <a:avLst/>
          </a:prstGeom>
          <a:solidFill>
            <a:schemeClr val="bg1"/>
          </a:solid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区域宽带网</a:t>
            </a:r>
          </a:p>
        </p:txBody>
      </p:sp>
      <p:sp>
        <p:nvSpPr>
          <p:cNvPr id="74783" name="Text Box 30"/>
          <p:cNvSpPr txBox="1">
            <a:spLocks noChangeArrowheads="1"/>
          </p:cNvSpPr>
          <p:nvPr/>
        </p:nvSpPr>
        <p:spPr bwMode="auto">
          <a:xfrm>
            <a:off x="574675" y="766763"/>
            <a:ext cx="915988" cy="395287"/>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至 </a:t>
            </a:r>
            <a:r>
              <a:rPr kumimoji="1" lang="en-US" altLang="zh-CN" sz="2000">
                <a:solidFill>
                  <a:srgbClr val="333399"/>
                </a:solidFill>
                <a:latin typeface="Arial" pitchFamily="34" charset="0"/>
                <a:ea typeface="黑体" pitchFamily="49" charset="-122"/>
              </a:rPr>
              <a:t>ISP</a:t>
            </a:r>
          </a:p>
        </p:txBody>
      </p:sp>
      <p:sp>
        <p:nvSpPr>
          <p:cNvPr id="74784" name="Text Box 31"/>
          <p:cNvSpPr txBox="1">
            <a:spLocks noChangeArrowheads="1"/>
          </p:cNvSpPr>
          <p:nvPr/>
        </p:nvSpPr>
        <p:spPr bwMode="auto">
          <a:xfrm>
            <a:off x="6861175" y="3590925"/>
            <a:ext cx="1200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居民家庭</a:t>
            </a:r>
          </a:p>
        </p:txBody>
      </p:sp>
      <p:sp>
        <p:nvSpPr>
          <p:cNvPr id="74785" name="Line 32"/>
          <p:cNvSpPr>
            <a:spLocks noChangeShapeType="1"/>
          </p:cNvSpPr>
          <p:nvPr/>
        </p:nvSpPr>
        <p:spPr bwMode="auto">
          <a:xfrm>
            <a:off x="2427288" y="946150"/>
            <a:ext cx="5934075" cy="0"/>
          </a:xfrm>
          <a:prstGeom prst="line">
            <a:avLst/>
          </a:prstGeom>
          <a:noFill/>
          <a:ln w="28575">
            <a:solidFill>
              <a:srgbClr val="333399"/>
            </a:solidFill>
            <a:round/>
            <a:headEnd type="triangle" w="med" len="lg"/>
            <a:tailEnd type="triangle" w="med" len="lg"/>
          </a:ln>
        </p:spPr>
        <p:txBody>
          <a:bodyPr wrap="none" anchor="ctr"/>
          <a:lstStyle/>
          <a:p>
            <a:endParaRPr lang="zh-CN" altLang="en-US"/>
          </a:p>
        </p:txBody>
      </p:sp>
      <p:sp>
        <p:nvSpPr>
          <p:cNvPr id="74786" name="Text Box 33"/>
          <p:cNvSpPr txBox="1">
            <a:spLocks noChangeArrowheads="1"/>
          </p:cNvSpPr>
          <p:nvPr/>
        </p:nvSpPr>
        <p:spPr bwMode="auto">
          <a:xfrm>
            <a:off x="4200525" y="749300"/>
            <a:ext cx="2513013" cy="396875"/>
          </a:xfrm>
          <a:prstGeom prst="rect">
            <a:avLst/>
          </a:prstGeom>
          <a:solidFill>
            <a:schemeClr val="bg1"/>
          </a:solid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基于 </a:t>
            </a:r>
            <a:r>
              <a:rPr kumimoji="1" lang="en-US" altLang="zh-CN" sz="2000">
                <a:solidFill>
                  <a:srgbClr val="333399"/>
                </a:solidFill>
                <a:latin typeface="Arial" pitchFamily="34" charset="0"/>
                <a:ea typeface="黑体" pitchFamily="49" charset="-122"/>
              </a:rPr>
              <a:t>ADSL </a:t>
            </a:r>
            <a:r>
              <a:rPr kumimoji="1" lang="zh-CN" altLang="en-US" sz="2000">
                <a:solidFill>
                  <a:srgbClr val="333399"/>
                </a:solidFill>
                <a:latin typeface="Arial" pitchFamily="34" charset="0"/>
                <a:ea typeface="黑体" pitchFamily="49" charset="-122"/>
              </a:rPr>
              <a:t>的接入网</a:t>
            </a:r>
          </a:p>
        </p:txBody>
      </p:sp>
      <p:sp>
        <p:nvSpPr>
          <p:cNvPr id="74787" name="Text Box 34"/>
          <p:cNvSpPr txBox="1">
            <a:spLocks noChangeArrowheads="1"/>
          </p:cNvSpPr>
          <p:nvPr/>
        </p:nvSpPr>
        <p:spPr bwMode="auto">
          <a:xfrm>
            <a:off x="2667000" y="1125538"/>
            <a:ext cx="1709738"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端局或远端站</a:t>
            </a:r>
          </a:p>
        </p:txBody>
      </p:sp>
      <p:sp>
        <p:nvSpPr>
          <p:cNvPr id="74788" name="Line 35"/>
          <p:cNvSpPr>
            <a:spLocks noChangeShapeType="1"/>
          </p:cNvSpPr>
          <p:nvPr/>
        </p:nvSpPr>
        <p:spPr bwMode="auto">
          <a:xfrm>
            <a:off x="2465388" y="4098925"/>
            <a:ext cx="2073275" cy="15875"/>
          </a:xfrm>
          <a:prstGeom prst="line">
            <a:avLst/>
          </a:prstGeom>
          <a:noFill/>
          <a:ln w="9525">
            <a:solidFill>
              <a:schemeClr val="tx1"/>
            </a:solidFill>
            <a:round/>
            <a:headEnd type="triangle" w="sm" len="lg"/>
            <a:tailEnd type="triangle" w="sm" len="lg"/>
          </a:ln>
        </p:spPr>
        <p:txBody>
          <a:bodyPr wrap="none" anchor="ctr"/>
          <a:lstStyle/>
          <a:p>
            <a:endParaRPr lang="zh-CN" altLang="en-US"/>
          </a:p>
        </p:txBody>
      </p:sp>
      <p:sp>
        <p:nvSpPr>
          <p:cNvPr id="74789" name="Text Box 36"/>
          <p:cNvSpPr txBox="1">
            <a:spLocks noChangeArrowheads="1"/>
          </p:cNvSpPr>
          <p:nvPr/>
        </p:nvSpPr>
        <p:spPr bwMode="auto">
          <a:xfrm>
            <a:off x="2959100" y="3906838"/>
            <a:ext cx="1060450" cy="350837"/>
          </a:xfrm>
          <a:prstGeom prst="rect">
            <a:avLst/>
          </a:prstGeom>
          <a:solidFill>
            <a:srgbClr val="CCECFF"/>
          </a:solidFill>
          <a:ln w="9525">
            <a:noFill/>
            <a:miter lim="800000"/>
            <a:headEnd/>
            <a:tailEnd/>
          </a:ln>
        </p:spPr>
        <p:txBody>
          <a:bodyPr wrap="none">
            <a:spAutoFit/>
          </a:bodyPr>
          <a:lstStyle/>
          <a:p>
            <a:pPr algn="l">
              <a:lnSpc>
                <a:spcPct val="85000"/>
              </a:lnSpc>
            </a:pPr>
            <a:r>
              <a:rPr kumimoji="1" lang="en-US" altLang="zh-CN" sz="2000">
                <a:solidFill>
                  <a:srgbClr val="333399"/>
                </a:solidFill>
                <a:latin typeface="Arial" pitchFamily="34" charset="0"/>
                <a:ea typeface="黑体" pitchFamily="49" charset="-122"/>
              </a:rPr>
              <a:t>DSLAM</a:t>
            </a:r>
          </a:p>
        </p:txBody>
      </p:sp>
      <p:sp>
        <p:nvSpPr>
          <p:cNvPr id="74790" name="Text Box 37"/>
          <p:cNvSpPr txBox="1">
            <a:spLocks noChangeArrowheads="1"/>
          </p:cNvSpPr>
          <p:nvPr/>
        </p:nvSpPr>
        <p:spPr bwMode="auto">
          <a:xfrm>
            <a:off x="4854575" y="3860800"/>
            <a:ext cx="1708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至本地电话局</a:t>
            </a:r>
          </a:p>
        </p:txBody>
      </p:sp>
      <p:sp>
        <p:nvSpPr>
          <p:cNvPr id="74791" name="Text Box 38"/>
          <p:cNvSpPr txBox="1">
            <a:spLocks noChangeArrowheads="1"/>
          </p:cNvSpPr>
          <p:nvPr/>
        </p:nvSpPr>
        <p:spPr bwMode="auto">
          <a:xfrm>
            <a:off x="4503738" y="1809750"/>
            <a:ext cx="52387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PS</a:t>
            </a:r>
          </a:p>
        </p:txBody>
      </p:sp>
      <p:sp>
        <p:nvSpPr>
          <p:cNvPr id="74792" name="Text Box 39"/>
          <p:cNvSpPr txBox="1">
            <a:spLocks noChangeArrowheads="1"/>
          </p:cNvSpPr>
          <p:nvPr/>
        </p:nvSpPr>
        <p:spPr bwMode="auto">
          <a:xfrm>
            <a:off x="6389688" y="2276475"/>
            <a:ext cx="523875"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PS</a:t>
            </a:r>
          </a:p>
        </p:txBody>
      </p:sp>
      <p:sp>
        <p:nvSpPr>
          <p:cNvPr id="74793" name="Freeform 40"/>
          <p:cNvSpPr>
            <a:spLocks/>
          </p:cNvSpPr>
          <p:nvPr/>
        </p:nvSpPr>
        <p:spPr bwMode="auto">
          <a:xfrm>
            <a:off x="4381500" y="3149600"/>
            <a:ext cx="298450" cy="1588"/>
          </a:xfrm>
          <a:custGeom>
            <a:avLst/>
            <a:gdLst>
              <a:gd name="T0" fmla="*/ 0 w 196"/>
              <a:gd name="T1" fmla="*/ 0 h 1"/>
              <a:gd name="T2" fmla="*/ 2147483647 w 196"/>
              <a:gd name="T3" fmla="*/ 0 h 1"/>
              <a:gd name="T4" fmla="*/ 0 60000 65536"/>
              <a:gd name="T5" fmla="*/ 0 60000 65536"/>
              <a:gd name="T6" fmla="*/ 0 w 196"/>
              <a:gd name="T7" fmla="*/ 0 h 1"/>
              <a:gd name="T8" fmla="*/ 196 w 196"/>
              <a:gd name="T9" fmla="*/ 1 h 1"/>
            </a:gdLst>
            <a:ahLst/>
            <a:cxnLst>
              <a:cxn ang="T4">
                <a:pos x="T0" y="T1"/>
              </a:cxn>
              <a:cxn ang="T5">
                <a:pos x="T2" y="T3"/>
              </a:cxn>
            </a:cxnLst>
            <a:rect l="T6" t="T7" r="T8" b="T9"/>
            <a:pathLst>
              <a:path w="196" h="1">
                <a:moveTo>
                  <a:pt x="0" y="0"/>
                </a:moveTo>
                <a:lnTo>
                  <a:pt x="196" y="0"/>
                </a:lnTo>
              </a:path>
            </a:pathLst>
          </a:custGeom>
          <a:noFill/>
          <a:ln w="28575">
            <a:solidFill>
              <a:srgbClr val="333399"/>
            </a:solidFill>
            <a:round/>
            <a:headEnd/>
            <a:tailEnd/>
          </a:ln>
        </p:spPr>
        <p:txBody>
          <a:bodyPr wrap="none" anchor="ctr"/>
          <a:lstStyle/>
          <a:p>
            <a:endParaRPr lang="zh-CN" altLang="en-US"/>
          </a:p>
        </p:txBody>
      </p:sp>
      <p:sp>
        <p:nvSpPr>
          <p:cNvPr id="74794" name="Freeform 41"/>
          <p:cNvSpPr>
            <a:spLocks/>
          </p:cNvSpPr>
          <p:nvPr/>
        </p:nvSpPr>
        <p:spPr bwMode="auto">
          <a:xfrm>
            <a:off x="4381500" y="2152650"/>
            <a:ext cx="298450" cy="0"/>
          </a:xfrm>
          <a:custGeom>
            <a:avLst/>
            <a:gdLst>
              <a:gd name="T0" fmla="*/ 0 w 196"/>
              <a:gd name="T1" fmla="*/ 0 h 1"/>
              <a:gd name="T2" fmla="*/ 2147483647 w 196"/>
              <a:gd name="T3" fmla="*/ 0 h 1"/>
              <a:gd name="T4" fmla="*/ 0 60000 65536"/>
              <a:gd name="T5" fmla="*/ 0 60000 65536"/>
              <a:gd name="T6" fmla="*/ 0 w 196"/>
              <a:gd name="T7" fmla="*/ 0 h 1"/>
              <a:gd name="T8" fmla="*/ 196 w 196"/>
              <a:gd name="T9" fmla="*/ 0 h 1"/>
            </a:gdLst>
            <a:ahLst/>
            <a:cxnLst>
              <a:cxn ang="T4">
                <a:pos x="T0" y="T1"/>
              </a:cxn>
              <a:cxn ang="T5">
                <a:pos x="T2" y="T3"/>
              </a:cxn>
            </a:cxnLst>
            <a:rect l="T6" t="T7" r="T8" b="T9"/>
            <a:pathLst>
              <a:path w="196" h="1">
                <a:moveTo>
                  <a:pt x="0" y="0"/>
                </a:moveTo>
                <a:lnTo>
                  <a:pt x="196" y="0"/>
                </a:lnTo>
              </a:path>
            </a:pathLst>
          </a:custGeom>
          <a:noFill/>
          <a:ln w="28575">
            <a:solidFill>
              <a:srgbClr val="333399"/>
            </a:solidFill>
            <a:round/>
            <a:headEnd/>
            <a:tailEnd/>
          </a:ln>
        </p:spPr>
        <p:txBody>
          <a:bodyPr wrap="none" anchor="ctr"/>
          <a:lstStyle/>
          <a:p>
            <a:endParaRPr lang="zh-CN" altLang="en-US"/>
          </a:p>
        </p:txBody>
      </p:sp>
      <p:sp>
        <p:nvSpPr>
          <p:cNvPr id="74795" name="Text Box 42"/>
          <p:cNvSpPr txBox="1">
            <a:spLocks noChangeArrowheads="1"/>
          </p:cNvSpPr>
          <p:nvPr/>
        </p:nvSpPr>
        <p:spPr bwMode="auto">
          <a:xfrm>
            <a:off x="592138" y="4600575"/>
            <a:ext cx="7875587" cy="1989138"/>
          </a:xfrm>
          <a:prstGeom prst="rect">
            <a:avLst/>
          </a:prstGeom>
          <a:solidFill>
            <a:srgbClr val="FFFF99"/>
          </a:solidFill>
          <a:ln w="9525">
            <a:solidFill>
              <a:srgbClr val="333399"/>
            </a:solidFill>
            <a:miter lim="800000"/>
            <a:headEnd/>
            <a:tailEnd/>
          </a:ln>
        </p:spPr>
        <p:txBody>
          <a:bodyPr>
            <a:spAutoFit/>
          </a:bodyPr>
          <a:lstStyle/>
          <a:p>
            <a:pPr algn="l"/>
            <a:r>
              <a:rPr lang="zh-CN" altLang="en-US">
                <a:solidFill>
                  <a:srgbClr val="333399"/>
                </a:solidFill>
                <a:latin typeface="Arial" pitchFamily="34" charset="0"/>
                <a:ea typeface="黑体" pitchFamily="49" charset="-122"/>
              </a:rPr>
              <a:t>数字用户线接入复用器 </a:t>
            </a:r>
            <a:r>
              <a:rPr lang="en-US" altLang="zh-CN">
                <a:solidFill>
                  <a:srgbClr val="333399"/>
                </a:solidFill>
                <a:latin typeface="Arial" pitchFamily="34" charset="0"/>
                <a:ea typeface="黑体" pitchFamily="49" charset="-122"/>
              </a:rPr>
              <a:t>DSLAM (DSL Access Multiplexer)</a:t>
            </a:r>
          </a:p>
          <a:p>
            <a:pPr algn="l"/>
            <a:r>
              <a:rPr lang="zh-CN" altLang="en-US">
                <a:solidFill>
                  <a:srgbClr val="333399"/>
                </a:solidFill>
                <a:latin typeface="Arial" pitchFamily="34" charset="0"/>
                <a:ea typeface="黑体" pitchFamily="49" charset="-122"/>
              </a:rPr>
              <a:t>接入端接单元 </a:t>
            </a:r>
            <a:r>
              <a:rPr lang="en-US" altLang="zh-CN">
                <a:solidFill>
                  <a:srgbClr val="333399"/>
                </a:solidFill>
                <a:latin typeface="Arial" pitchFamily="34" charset="0"/>
                <a:ea typeface="黑体" pitchFamily="49" charset="-122"/>
              </a:rPr>
              <a:t>ATU (Access Termination Unit)</a:t>
            </a:r>
          </a:p>
          <a:p>
            <a:pPr algn="l"/>
            <a:r>
              <a:rPr lang="en-US" altLang="zh-CN">
                <a:solidFill>
                  <a:srgbClr val="333399"/>
                </a:solidFill>
                <a:latin typeface="Arial" pitchFamily="34" charset="0"/>
                <a:ea typeface="黑体" pitchFamily="49" charset="-122"/>
              </a:rPr>
              <a:t>ATU-C</a:t>
            </a:r>
            <a:r>
              <a:rPr lang="zh-CN" altLang="en-US">
                <a:solidFill>
                  <a:srgbClr val="333399"/>
                </a:solidFill>
                <a:latin typeface="Arial" pitchFamily="34" charset="0"/>
                <a:ea typeface="黑体" pitchFamily="49" charset="-122"/>
              </a:rPr>
              <a:t>（</a:t>
            </a:r>
            <a:r>
              <a:rPr lang="en-US" altLang="zh-CN">
                <a:solidFill>
                  <a:srgbClr val="333399"/>
                </a:solidFill>
                <a:latin typeface="Arial" pitchFamily="34" charset="0"/>
                <a:ea typeface="黑体" pitchFamily="49" charset="-122"/>
              </a:rPr>
              <a:t>C </a:t>
            </a:r>
            <a:r>
              <a:rPr lang="zh-CN" altLang="en-US">
                <a:solidFill>
                  <a:srgbClr val="333399"/>
                </a:solidFill>
                <a:latin typeface="Arial" pitchFamily="34" charset="0"/>
                <a:ea typeface="黑体" pitchFamily="49" charset="-122"/>
              </a:rPr>
              <a:t>代表端局 </a:t>
            </a:r>
            <a:r>
              <a:rPr lang="en-US" altLang="zh-CN">
                <a:solidFill>
                  <a:srgbClr val="333399"/>
                </a:solidFill>
                <a:latin typeface="Arial" pitchFamily="34" charset="0"/>
                <a:ea typeface="黑体" pitchFamily="49" charset="-122"/>
              </a:rPr>
              <a:t>Central Office</a:t>
            </a:r>
            <a:r>
              <a:rPr lang="zh-CN" altLang="en-US">
                <a:solidFill>
                  <a:srgbClr val="333399"/>
                </a:solidFill>
                <a:latin typeface="Arial" pitchFamily="34" charset="0"/>
                <a:ea typeface="黑体" pitchFamily="49" charset="-122"/>
              </a:rPr>
              <a:t>）</a:t>
            </a:r>
          </a:p>
          <a:p>
            <a:pPr algn="l"/>
            <a:r>
              <a:rPr lang="en-US" altLang="zh-CN">
                <a:solidFill>
                  <a:srgbClr val="333399"/>
                </a:solidFill>
                <a:latin typeface="Arial" pitchFamily="34" charset="0"/>
                <a:ea typeface="黑体" pitchFamily="49" charset="-122"/>
              </a:rPr>
              <a:t>ATU-R</a:t>
            </a:r>
            <a:r>
              <a:rPr lang="zh-CN" altLang="en-US">
                <a:solidFill>
                  <a:srgbClr val="333399"/>
                </a:solidFill>
                <a:latin typeface="Arial" pitchFamily="34" charset="0"/>
                <a:ea typeface="黑体" pitchFamily="49" charset="-122"/>
              </a:rPr>
              <a:t>（</a:t>
            </a:r>
            <a:r>
              <a:rPr lang="en-US" altLang="zh-CN">
                <a:solidFill>
                  <a:srgbClr val="333399"/>
                </a:solidFill>
                <a:latin typeface="Arial" pitchFamily="34" charset="0"/>
                <a:ea typeface="黑体" pitchFamily="49" charset="-122"/>
              </a:rPr>
              <a:t>R </a:t>
            </a:r>
            <a:r>
              <a:rPr lang="zh-CN" altLang="en-US">
                <a:solidFill>
                  <a:srgbClr val="333399"/>
                </a:solidFill>
                <a:latin typeface="Arial" pitchFamily="34" charset="0"/>
                <a:ea typeface="黑体" pitchFamily="49" charset="-122"/>
              </a:rPr>
              <a:t>代表远端 </a:t>
            </a:r>
            <a:r>
              <a:rPr lang="en-US" altLang="zh-CN">
                <a:solidFill>
                  <a:srgbClr val="333399"/>
                </a:solidFill>
                <a:latin typeface="Arial" pitchFamily="34" charset="0"/>
                <a:ea typeface="黑体" pitchFamily="49" charset="-122"/>
              </a:rPr>
              <a:t>Remote</a:t>
            </a:r>
            <a:r>
              <a:rPr lang="zh-CN" altLang="en-US">
                <a:solidFill>
                  <a:srgbClr val="333399"/>
                </a:solidFill>
                <a:latin typeface="Arial" pitchFamily="34" charset="0"/>
                <a:ea typeface="黑体" pitchFamily="49" charset="-122"/>
              </a:rPr>
              <a:t>）</a:t>
            </a:r>
          </a:p>
          <a:p>
            <a:pPr algn="l"/>
            <a:r>
              <a:rPr lang="zh-CN" altLang="en-US">
                <a:solidFill>
                  <a:srgbClr val="333399"/>
                </a:solidFill>
                <a:latin typeface="Arial" pitchFamily="34" charset="0"/>
                <a:ea typeface="黑体" pitchFamily="49" charset="-122"/>
              </a:rPr>
              <a:t>电话分离器 </a:t>
            </a:r>
            <a:r>
              <a:rPr lang="en-US" altLang="zh-CN">
                <a:solidFill>
                  <a:srgbClr val="333399"/>
                </a:solidFill>
                <a:latin typeface="Arial" pitchFamily="34" charset="0"/>
                <a:ea typeface="黑体" pitchFamily="49" charset="-122"/>
              </a:rPr>
              <a:t>PS (POTS Splitter)</a:t>
            </a:r>
            <a:r>
              <a:rPr lang="en-US" altLang="zh-CN" sz="2800"/>
              <a:t> </a:t>
            </a:r>
            <a:r>
              <a:rPr lang="en-US" altLang="zh-CN">
                <a:solidFill>
                  <a:srgbClr val="333399"/>
                </a:solidFill>
                <a:latin typeface="Arial" pitchFamily="34" charset="0"/>
                <a:ea typeface="黑体" pitchFamily="49" charset="-122"/>
              </a:rPr>
              <a:t> </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150938" y="311150"/>
            <a:ext cx="7793037" cy="1462088"/>
          </a:xfrm>
        </p:spPr>
        <p:txBody>
          <a:bodyPr/>
          <a:lstStyle/>
          <a:p>
            <a:pPr algn="ctr" eaLnBrk="1" hangingPunct="1"/>
            <a:r>
              <a:rPr lang="zh-CN" altLang="en-US" sz="4000" smtClean="0"/>
              <a:t>第二代 </a:t>
            </a:r>
            <a:r>
              <a:rPr lang="en-US" altLang="zh-CN" sz="4000" smtClean="0"/>
              <a:t>ADSL </a:t>
            </a:r>
            <a:br>
              <a:rPr lang="en-US" altLang="zh-CN" sz="4000" smtClean="0"/>
            </a:br>
            <a:r>
              <a:rPr lang="en-US" altLang="zh-CN" sz="4000" smtClean="0"/>
              <a:t> </a:t>
            </a:r>
            <a:r>
              <a:rPr lang="en-US" altLang="zh-CN" sz="2800" smtClean="0"/>
              <a:t>ADSL2</a:t>
            </a:r>
            <a:r>
              <a:rPr lang="zh-CN" altLang="en-US" sz="2800" smtClean="0"/>
              <a:t>（</a:t>
            </a:r>
            <a:r>
              <a:rPr lang="en-US" altLang="zh-CN" sz="2800" smtClean="0"/>
              <a:t>G.992.3 </a:t>
            </a:r>
            <a:r>
              <a:rPr lang="zh-CN" altLang="en-US" sz="2800" smtClean="0"/>
              <a:t>和 </a:t>
            </a:r>
            <a:r>
              <a:rPr lang="en-US" altLang="zh-CN" sz="2800" smtClean="0"/>
              <a:t>G.992.4</a:t>
            </a:r>
            <a:r>
              <a:rPr lang="zh-CN" altLang="en-US" sz="2800" smtClean="0"/>
              <a:t>）</a:t>
            </a:r>
            <a:br>
              <a:rPr lang="zh-CN" altLang="en-US" sz="2800" smtClean="0"/>
            </a:br>
            <a:r>
              <a:rPr lang="en-US" altLang="zh-CN" sz="2800" smtClean="0"/>
              <a:t>ADSL2+</a:t>
            </a:r>
            <a:r>
              <a:rPr lang="zh-CN" altLang="en-US" sz="2800" smtClean="0"/>
              <a:t>（</a:t>
            </a:r>
            <a:r>
              <a:rPr lang="en-US" altLang="zh-CN" sz="2800" smtClean="0"/>
              <a:t>G.992.5</a:t>
            </a:r>
            <a:r>
              <a:rPr lang="zh-CN" altLang="en-US" sz="2800" smtClean="0"/>
              <a:t>）</a:t>
            </a:r>
          </a:p>
        </p:txBody>
      </p:sp>
      <p:sp>
        <p:nvSpPr>
          <p:cNvPr id="75779" name="Rectangle 3"/>
          <p:cNvSpPr>
            <a:spLocks noGrp="1" noChangeArrowheads="1"/>
          </p:cNvSpPr>
          <p:nvPr>
            <p:ph type="body" idx="1"/>
          </p:nvPr>
        </p:nvSpPr>
        <p:spPr>
          <a:xfrm>
            <a:off x="1042988" y="1773238"/>
            <a:ext cx="7772400" cy="4824412"/>
          </a:xfrm>
        </p:spPr>
        <p:txBody>
          <a:bodyPr/>
          <a:lstStyle/>
          <a:p>
            <a:pPr eaLnBrk="1" hangingPunct="1"/>
            <a:r>
              <a:rPr lang="zh-CN" altLang="en-US" sz="2600" smtClean="0"/>
              <a:t>通过提高调制效率得到了</a:t>
            </a:r>
            <a:r>
              <a:rPr lang="zh-CN" altLang="en-US" sz="2600" smtClean="0">
                <a:solidFill>
                  <a:schemeClr val="hlink"/>
                </a:solidFill>
              </a:rPr>
              <a:t>更高的数据率</a:t>
            </a:r>
            <a:r>
              <a:rPr lang="zh-CN" altLang="en-US" sz="2600" smtClean="0"/>
              <a:t>。例如，</a:t>
            </a:r>
            <a:r>
              <a:rPr lang="en-US" altLang="zh-CN" sz="2600" smtClean="0"/>
              <a:t>ADSL2 </a:t>
            </a:r>
            <a:r>
              <a:rPr lang="zh-CN" altLang="en-US" sz="2600" smtClean="0"/>
              <a:t>要求至少应支持下行 </a:t>
            </a:r>
            <a:r>
              <a:rPr lang="en-US" altLang="zh-CN" sz="2600" smtClean="0"/>
              <a:t>8 Mb/s</a:t>
            </a:r>
            <a:r>
              <a:rPr lang="zh-CN" altLang="en-US" sz="2600" smtClean="0"/>
              <a:t>、上行 </a:t>
            </a:r>
            <a:r>
              <a:rPr lang="en-US" altLang="zh-CN" sz="2600" smtClean="0"/>
              <a:t>800 kb/s</a:t>
            </a:r>
            <a:r>
              <a:rPr lang="zh-CN" altLang="en-US" sz="2600" smtClean="0"/>
              <a:t>的速率。而 </a:t>
            </a:r>
            <a:r>
              <a:rPr lang="en-US" altLang="zh-CN" sz="2600" smtClean="0"/>
              <a:t>ADSL2+ </a:t>
            </a:r>
            <a:r>
              <a:rPr lang="zh-CN" altLang="en-US" sz="2600" smtClean="0"/>
              <a:t>则将频谱范围从 </a:t>
            </a:r>
            <a:r>
              <a:rPr lang="en-US" altLang="zh-CN" sz="2600" smtClean="0"/>
              <a:t>1.1 MHz </a:t>
            </a:r>
            <a:r>
              <a:rPr lang="zh-CN" altLang="en-US" sz="2600" smtClean="0"/>
              <a:t>扩展至</a:t>
            </a:r>
            <a:r>
              <a:rPr lang="en-US" altLang="zh-CN" sz="2600" smtClean="0"/>
              <a:t>2.2 MHz</a:t>
            </a:r>
            <a:r>
              <a:rPr lang="zh-CN" altLang="en-US" sz="2600" smtClean="0"/>
              <a:t>，下行速率可达 </a:t>
            </a:r>
            <a:r>
              <a:rPr lang="en-US" altLang="zh-CN" sz="2600" smtClean="0"/>
              <a:t>16 Mb/s</a:t>
            </a:r>
            <a:r>
              <a:rPr lang="zh-CN" altLang="en-US" sz="2600" smtClean="0"/>
              <a:t>（最大传输速率可达</a:t>
            </a:r>
            <a:r>
              <a:rPr lang="en-US" altLang="zh-CN" sz="2600" smtClean="0"/>
              <a:t>25 Mb/s</a:t>
            </a:r>
            <a:r>
              <a:rPr lang="zh-CN" altLang="en-US" sz="2600" smtClean="0"/>
              <a:t>），而上行速率可达 </a:t>
            </a:r>
            <a:r>
              <a:rPr lang="en-US" altLang="zh-CN" sz="2600" smtClean="0"/>
              <a:t>800 kb/s</a:t>
            </a:r>
            <a:r>
              <a:rPr lang="zh-CN" altLang="en-US" sz="2600" smtClean="0"/>
              <a:t>。</a:t>
            </a:r>
          </a:p>
          <a:p>
            <a:pPr eaLnBrk="1" hangingPunct="1"/>
            <a:r>
              <a:rPr lang="zh-CN" altLang="en-US" sz="2600" smtClean="0"/>
              <a:t>采用了</a:t>
            </a:r>
            <a:r>
              <a:rPr lang="zh-CN" altLang="en-US" sz="2600" smtClean="0">
                <a:solidFill>
                  <a:schemeClr val="hlink"/>
                </a:solidFill>
              </a:rPr>
              <a:t>无缝速率自适应技术</a:t>
            </a:r>
            <a:r>
              <a:rPr lang="zh-CN" altLang="en-US" sz="2600" smtClean="0"/>
              <a:t> </a:t>
            </a:r>
            <a:r>
              <a:rPr lang="en-US" altLang="zh-CN" sz="2600" smtClean="0"/>
              <a:t>SRA (Seamless Rate Adaptation)</a:t>
            </a:r>
            <a:r>
              <a:rPr lang="zh-CN" altLang="en-US" sz="2600" smtClean="0"/>
              <a:t>，可在运营中不中断通信和不产生误码的情况下，自适应地调整数据率。</a:t>
            </a:r>
          </a:p>
          <a:p>
            <a:pPr eaLnBrk="1" hangingPunct="1"/>
            <a:r>
              <a:rPr lang="zh-CN" altLang="en-US" sz="2600" smtClean="0"/>
              <a:t>改善了线路质量评测和故障定位功能，这对提高网络的运行维护水平具有非常重要的意义。</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algn="ctr" eaLnBrk="1" hangingPunct="1"/>
            <a:r>
              <a:rPr lang="en-US" altLang="zh-CN" dirty="0" smtClean="0"/>
              <a:t>(2)  </a:t>
            </a:r>
            <a:r>
              <a:rPr lang="zh-CN" altLang="en-US" dirty="0" smtClean="0"/>
              <a:t>光纤同轴混合网</a:t>
            </a:r>
            <a:br>
              <a:rPr lang="zh-CN" altLang="en-US" dirty="0" smtClean="0"/>
            </a:br>
            <a:r>
              <a:rPr lang="en-US" altLang="zh-CN" sz="3600" dirty="0" smtClean="0"/>
              <a:t>HFC (Hybrid Fiber Coax)</a:t>
            </a:r>
          </a:p>
        </p:txBody>
      </p:sp>
      <p:sp>
        <p:nvSpPr>
          <p:cNvPr id="287747" name="Rectangle 3"/>
          <p:cNvSpPr>
            <a:spLocks noGrp="1" noChangeArrowheads="1"/>
          </p:cNvSpPr>
          <p:nvPr>
            <p:ph type="body" idx="1"/>
          </p:nvPr>
        </p:nvSpPr>
        <p:spPr>
          <a:xfrm>
            <a:off x="755576" y="1844824"/>
            <a:ext cx="7772400" cy="4114800"/>
          </a:xfrm>
        </p:spPr>
        <p:txBody>
          <a:bodyPr/>
          <a:lstStyle/>
          <a:p>
            <a:pPr eaLnBrk="1" hangingPunct="1"/>
            <a:r>
              <a:rPr lang="en-US" altLang="zh-CN" sz="2800" dirty="0" smtClean="0"/>
              <a:t>HFC </a:t>
            </a:r>
            <a:r>
              <a:rPr lang="zh-CN" altLang="en-US" sz="2800" dirty="0" smtClean="0"/>
              <a:t>网是在目前覆盖面很广的有线电视网 </a:t>
            </a:r>
            <a:r>
              <a:rPr lang="en-US" altLang="zh-CN" sz="2800" dirty="0" smtClean="0"/>
              <a:t>CATV </a:t>
            </a:r>
            <a:r>
              <a:rPr lang="zh-CN" altLang="en-US" sz="2800" dirty="0" smtClean="0"/>
              <a:t>的基础上开发的一种居民宽带接入网。</a:t>
            </a:r>
          </a:p>
          <a:p>
            <a:pPr eaLnBrk="1" hangingPunct="1"/>
            <a:r>
              <a:rPr lang="en-US" altLang="zh-CN" sz="2800" dirty="0" smtClean="0"/>
              <a:t>HFC </a:t>
            </a:r>
            <a:r>
              <a:rPr lang="zh-CN" altLang="en-US" sz="2800" dirty="0" smtClean="0"/>
              <a:t>网除可传送 </a:t>
            </a:r>
            <a:r>
              <a:rPr lang="en-US" altLang="zh-CN" sz="2800" dirty="0" smtClean="0"/>
              <a:t>CATV </a:t>
            </a:r>
            <a:r>
              <a:rPr lang="zh-CN" altLang="en-US" sz="2800" dirty="0" smtClean="0"/>
              <a:t>外，还提供电话、数据和其他宽带交互型业务。</a:t>
            </a:r>
          </a:p>
          <a:p>
            <a:pPr eaLnBrk="1" hangingPunct="1"/>
            <a:r>
              <a:rPr lang="zh-CN" altLang="en-US" sz="2800" dirty="0" smtClean="0"/>
              <a:t>现有的 </a:t>
            </a:r>
            <a:r>
              <a:rPr lang="en-US" altLang="zh-CN" sz="2800" dirty="0" smtClean="0"/>
              <a:t>CATV </a:t>
            </a:r>
            <a:r>
              <a:rPr lang="zh-CN" altLang="en-US" sz="2800" dirty="0" smtClean="0"/>
              <a:t>网是树形拓扑结构的同轴电缆网络，它采用模拟技术的频分复用对电视节目进行单向传输。</a:t>
            </a:r>
            <a:endParaRPr lang="en-US" altLang="zh-CN" sz="2800" dirty="0" smtClean="0"/>
          </a:p>
          <a:p>
            <a:pPr eaLnBrk="1" hangingPunct="1"/>
            <a:r>
              <a:rPr lang="zh-CN" altLang="en-US" sz="2800" dirty="0" smtClean="0"/>
              <a:t> </a:t>
            </a:r>
            <a:r>
              <a:rPr lang="en-US" altLang="zh-CN" sz="2800" dirty="0" smtClean="0"/>
              <a:t>HFC </a:t>
            </a:r>
            <a:r>
              <a:rPr lang="zh-CN" altLang="en-US" sz="2800" dirty="0" smtClean="0"/>
              <a:t>网则需要对 </a:t>
            </a:r>
            <a:r>
              <a:rPr lang="en-US" altLang="zh-CN" sz="2800" dirty="0" smtClean="0"/>
              <a:t>CATV </a:t>
            </a:r>
            <a:r>
              <a:rPr lang="zh-CN" altLang="en-US" sz="2800" dirty="0" smtClean="0"/>
              <a:t>网进行改造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77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7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algn="ctr" eaLnBrk="1" hangingPunct="1"/>
            <a:r>
              <a:rPr lang="en-US" altLang="zh-CN" smtClean="0"/>
              <a:t>HFC </a:t>
            </a:r>
            <a:r>
              <a:rPr lang="zh-CN" altLang="en-US" smtClean="0"/>
              <a:t>的主要特点 </a:t>
            </a:r>
          </a:p>
        </p:txBody>
      </p:sp>
      <p:sp>
        <p:nvSpPr>
          <p:cNvPr id="289795" name="Rectangle 3"/>
          <p:cNvSpPr>
            <a:spLocks noGrp="1" noChangeArrowheads="1"/>
          </p:cNvSpPr>
          <p:nvPr>
            <p:ph type="body" idx="1"/>
          </p:nvPr>
        </p:nvSpPr>
        <p:spPr>
          <a:xfrm>
            <a:off x="611188" y="1773238"/>
            <a:ext cx="8204200" cy="4679950"/>
          </a:xfrm>
        </p:spPr>
        <p:txBody>
          <a:bodyPr/>
          <a:lstStyle/>
          <a:p>
            <a:pPr eaLnBrk="1" hangingPunct="1">
              <a:buFont typeface="Wingdings" pitchFamily="2" charset="2"/>
              <a:buNone/>
            </a:pPr>
            <a:r>
              <a:rPr lang="en-US" altLang="zh-CN" sz="2800" smtClean="0"/>
              <a:t>           (1) HFC</a:t>
            </a:r>
            <a:r>
              <a:rPr lang="zh-CN" altLang="en-US" sz="2800" smtClean="0"/>
              <a:t>网的主干线路采用光纤</a:t>
            </a:r>
          </a:p>
          <a:p>
            <a:pPr eaLnBrk="1" hangingPunct="1"/>
            <a:r>
              <a:rPr lang="en-US" altLang="zh-CN" sz="2800" smtClean="0"/>
              <a:t>HFC </a:t>
            </a:r>
            <a:r>
              <a:rPr lang="zh-CN" altLang="en-US" sz="2800" smtClean="0"/>
              <a:t>网将原 </a:t>
            </a:r>
            <a:r>
              <a:rPr lang="en-US" altLang="zh-CN" sz="2800" smtClean="0"/>
              <a:t>CATV </a:t>
            </a:r>
            <a:r>
              <a:rPr lang="zh-CN" altLang="en-US" sz="2800" smtClean="0"/>
              <a:t>网中的同轴电缆主干部分改换为光纤，并使用</a:t>
            </a:r>
            <a:r>
              <a:rPr lang="zh-CN" altLang="en-US" sz="2800" smtClean="0">
                <a:solidFill>
                  <a:schemeClr val="hlink"/>
                </a:solidFill>
              </a:rPr>
              <a:t>模拟光纤技术</a:t>
            </a:r>
            <a:r>
              <a:rPr lang="zh-CN" altLang="en-US" sz="2800" smtClean="0"/>
              <a:t>。</a:t>
            </a:r>
          </a:p>
          <a:p>
            <a:pPr eaLnBrk="1" hangingPunct="1"/>
            <a:r>
              <a:rPr lang="zh-CN" altLang="en-US" sz="2800" smtClean="0"/>
              <a:t>在模拟光纤中采用光的振幅调制 </a:t>
            </a:r>
            <a:r>
              <a:rPr lang="en-US" altLang="zh-CN" sz="2800" smtClean="0"/>
              <a:t>AM</a:t>
            </a:r>
            <a:r>
              <a:rPr lang="zh-CN" altLang="en-US" sz="2800" smtClean="0"/>
              <a:t>，这比使用数字光纤更为经济。</a:t>
            </a:r>
          </a:p>
          <a:p>
            <a:pPr eaLnBrk="1" hangingPunct="1"/>
            <a:r>
              <a:rPr lang="zh-CN" altLang="en-US" sz="2800" smtClean="0"/>
              <a:t>模拟光纤从头端连接到</a:t>
            </a:r>
            <a:r>
              <a:rPr lang="zh-CN" altLang="en-US" sz="2800" smtClean="0">
                <a:solidFill>
                  <a:schemeClr val="hlink"/>
                </a:solidFill>
              </a:rPr>
              <a:t>光纤结点</a:t>
            </a:r>
            <a:r>
              <a:rPr lang="en-US" altLang="zh-CN" sz="2800" smtClean="0"/>
              <a:t>(fiber node)</a:t>
            </a:r>
            <a:r>
              <a:rPr lang="zh-CN" altLang="en-US" sz="2800" smtClean="0"/>
              <a:t>，即</a:t>
            </a:r>
            <a:r>
              <a:rPr lang="zh-CN" altLang="en-US" sz="2800" smtClean="0">
                <a:solidFill>
                  <a:schemeClr val="hlink"/>
                </a:solidFill>
              </a:rPr>
              <a:t>光分配结点 </a:t>
            </a:r>
            <a:r>
              <a:rPr lang="en-US" altLang="zh-CN" sz="2800" smtClean="0"/>
              <a:t>ODN (Optical Distribution Node)</a:t>
            </a:r>
            <a:r>
              <a:rPr lang="zh-CN" altLang="en-US" sz="2800" smtClean="0"/>
              <a:t>。在光纤结点光信号被转换为电信号。在光纤结点以下就是同轴电缆。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9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9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9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1150938" y="836613"/>
            <a:ext cx="7793037" cy="839787"/>
          </a:xfrm>
        </p:spPr>
        <p:txBody>
          <a:bodyPr/>
          <a:lstStyle/>
          <a:p>
            <a:pPr algn="ctr" eaLnBrk="1" hangingPunct="1"/>
            <a:r>
              <a:rPr lang="en-US" altLang="zh-CN" sz="4000" dirty="0" smtClean="0"/>
              <a:t> HFC </a:t>
            </a:r>
            <a:r>
              <a:rPr lang="zh-CN" altLang="en-US" sz="4000" dirty="0" smtClean="0"/>
              <a:t>网采用结点体系结构 </a:t>
            </a:r>
          </a:p>
        </p:txBody>
      </p:sp>
      <p:sp>
        <p:nvSpPr>
          <p:cNvPr id="78852" name="AutoShape 3"/>
          <p:cNvSpPr>
            <a:spLocks noChangeArrowheads="1"/>
          </p:cNvSpPr>
          <p:nvPr/>
        </p:nvSpPr>
        <p:spPr bwMode="auto">
          <a:xfrm>
            <a:off x="458788" y="2586038"/>
            <a:ext cx="2260600" cy="1527175"/>
          </a:xfrm>
          <a:prstGeom prst="roundRect">
            <a:avLst>
              <a:gd name="adj" fmla="val 16667"/>
            </a:avLst>
          </a:prstGeom>
          <a:solidFill>
            <a:srgbClr val="FFFF99"/>
          </a:solidFill>
          <a:ln w="9525">
            <a:solidFill>
              <a:schemeClr val="tx1"/>
            </a:solidFill>
            <a:prstDash val="dash"/>
            <a:round/>
            <a:headEnd/>
            <a:tailEnd/>
          </a:ln>
        </p:spPr>
        <p:txBody>
          <a:bodyPr wrap="none" anchor="ctr"/>
          <a:lstStyle/>
          <a:p>
            <a:endParaRPr lang="zh-CN" altLang="en-US"/>
          </a:p>
        </p:txBody>
      </p:sp>
      <p:sp>
        <p:nvSpPr>
          <p:cNvPr id="78853" name="AutoShape 4"/>
          <p:cNvSpPr>
            <a:spLocks noChangeArrowheads="1"/>
          </p:cNvSpPr>
          <p:nvPr/>
        </p:nvSpPr>
        <p:spPr bwMode="auto">
          <a:xfrm>
            <a:off x="6272213" y="2586038"/>
            <a:ext cx="2260600" cy="1527175"/>
          </a:xfrm>
          <a:prstGeom prst="roundRect">
            <a:avLst>
              <a:gd name="adj" fmla="val 16667"/>
            </a:avLst>
          </a:prstGeom>
          <a:solidFill>
            <a:srgbClr val="FFFF99"/>
          </a:solidFill>
          <a:ln w="9525">
            <a:solidFill>
              <a:schemeClr val="tx1"/>
            </a:solidFill>
            <a:prstDash val="dash"/>
            <a:round/>
            <a:headEnd/>
            <a:tailEnd/>
          </a:ln>
        </p:spPr>
        <p:txBody>
          <a:bodyPr wrap="none" anchor="ctr"/>
          <a:lstStyle/>
          <a:p>
            <a:endParaRPr lang="zh-CN" altLang="en-US"/>
          </a:p>
        </p:txBody>
      </p:sp>
      <p:sp>
        <p:nvSpPr>
          <p:cNvPr id="78854" name="AutoShape 5"/>
          <p:cNvSpPr>
            <a:spLocks noChangeArrowheads="1"/>
          </p:cNvSpPr>
          <p:nvPr/>
        </p:nvSpPr>
        <p:spPr bwMode="auto">
          <a:xfrm>
            <a:off x="2395538" y="4381500"/>
            <a:ext cx="4602162" cy="1716088"/>
          </a:xfrm>
          <a:prstGeom prst="roundRect">
            <a:avLst>
              <a:gd name="adj" fmla="val 16667"/>
            </a:avLst>
          </a:prstGeom>
          <a:solidFill>
            <a:srgbClr val="FFFF99"/>
          </a:solidFill>
          <a:ln w="9525">
            <a:solidFill>
              <a:schemeClr val="tx1"/>
            </a:solidFill>
            <a:prstDash val="dash"/>
            <a:round/>
            <a:headEnd/>
            <a:tailEnd/>
          </a:ln>
        </p:spPr>
        <p:txBody>
          <a:bodyPr wrap="none" anchor="ctr"/>
          <a:lstStyle/>
          <a:p>
            <a:endParaRPr lang="zh-CN" altLang="en-US"/>
          </a:p>
        </p:txBody>
      </p:sp>
      <p:grpSp>
        <p:nvGrpSpPr>
          <p:cNvPr id="78855" name="Group 6"/>
          <p:cNvGrpSpPr>
            <a:grpSpLocks/>
          </p:cNvGrpSpPr>
          <p:nvPr/>
        </p:nvGrpSpPr>
        <p:grpSpPr bwMode="auto">
          <a:xfrm>
            <a:off x="2328863" y="3006725"/>
            <a:ext cx="161925" cy="1016000"/>
            <a:chOff x="3824" y="1264"/>
            <a:chExt cx="96" cy="640"/>
          </a:xfrm>
        </p:grpSpPr>
        <p:sp>
          <p:nvSpPr>
            <p:cNvPr id="78999" name="Line 7"/>
            <p:cNvSpPr>
              <a:spLocks noChangeShapeType="1"/>
            </p:cNvSpPr>
            <p:nvPr/>
          </p:nvSpPr>
          <p:spPr bwMode="auto">
            <a:xfrm rot="5400000">
              <a:off x="3552" y="1584"/>
              <a:ext cx="640" cy="0"/>
            </a:xfrm>
            <a:prstGeom prst="line">
              <a:avLst/>
            </a:prstGeom>
            <a:noFill/>
            <a:ln w="28575">
              <a:solidFill>
                <a:schemeClr val="tx1"/>
              </a:solidFill>
              <a:round/>
              <a:headEnd/>
              <a:tailEnd/>
            </a:ln>
          </p:spPr>
          <p:txBody>
            <a:bodyPr wrap="none" anchor="ctr"/>
            <a:lstStyle/>
            <a:p>
              <a:endParaRPr lang="zh-CN" altLang="en-US"/>
            </a:p>
          </p:txBody>
        </p:sp>
        <p:sp>
          <p:nvSpPr>
            <p:cNvPr id="79000" name="Line 8"/>
            <p:cNvSpPr>
              <a:spLocks noChangeShapeType="1"/>
            </p:cNvSpPr>
            <p:nvPr/>
          </p:nvSpPr>
          <p:spPr bwMode="auto">
            <a:xfrm rot="5400000">
              <a:off x="3823" y="1575"/>
              <a:ext cx="96"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9001" name="Line 9"/>
            <p:cNvSpPr>
              <a:spLocks noChangeShapeType="1"/>
            </p:cNvSpPr>
            <p:nvPr/>
          </p:nvSpPr>
          <p:spPr bwMode="auto">
            <a:xfrm rot="5400000">
              <a:off x="3823" y="1815"/>
              <a:ext cx="96"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9002" name="Line 10"/>
            <p:cNvSpPr>
              <a:spLocks noChangeShapeType="1"/>
            </p:cNvSpPr>
            <p:nvPr/>
          </p:nvSpPr>
          <p:spPr bwMode="auto">
            <a:xfrm>
              <a:off x="3824" y="1384"/>
              <a:ext cx="96" cy="0"/>
            </a:xfrm>
            <a:prstGeom prst="line">
              <a:avLst/>
            </a:prstGeom>
            <a:noFill/>
            <a:ln w="19050">
              <a:solidFill>
                <a:schemeClr val="tx1"/>
              </a:solidFill>
              <a:round/>
              <a:headEnd/>
              <a:tailEnd/>
            </a:ln>
          </p:spPr>
          <p:txBody>
            <a:bodyPr wrap="none" anchor="ctr"/>
            <a:lstStyle/>
            <a:p>
              <a:endParaRPr lang="zh-CN" altLang="en-US"/>
            </a:p>
          </p:txBody>
        </p:sp>
        <p:sp>
          <p:nvSpPr>
            <p:cNvPr id="79003" name="Line 11"/>
            <p:cNvSpPr>
              <a:spLocks noChangeShapeType="1"/>
            </p:cNvSpPr>
            <p:nvPr/>
          </p:nvSpPr>
          <p:spPr bwMode="auto">
            <a:xfrm>
              <a:off x="3824" y="1656"/>
              <a:ext cx="96" cy="0"/>
            </a:xfrm>
            <a:prstGeom prst="line">
              <a:avLst/>
            </a:prstGeom>
            <a:noFill/>
            <a:ln w="19050">
              <a:solidFill>
                <a:schemeClr val="tx1"/>
              </a:solidFill>
              <a:round/>
              <a:headEnd/>
              <a:tailEnd/>
            </a:ln>
          </p:spPr>
          <p:txBody>
            <a:bodyPr wrap="none" anchor="ctr"/>
            <a:lstStyle/>
            <a:p>
              <a:endParaRPr lang="zh-CN" altLang="en-US"/>
            </a:p>
          </p:txBody>
        </p:sp>
      </p:grpSp>
      <p:grpSp>
        <p:nvGrpSpPr>
          <p:cNvPr id="78856" name="Group 12"/>
          <p:cNvGrpSpPr>
            <a:grpSpLocks/>
          </p:cNvGrpSpPr>
          <p:nvPr/>
        </p:nvGrpSpPr>
        <p:grpSpPr bwMode="auto">
          <a:xfrm rot="5400000">
            <a:off x="5001419" y="5353844"/>
            <a:ext cx="1411288" cy="0"/>
            <a:chOff x="3960" y="1200"/>
            <a:chExt cx="888" cy="0"/>
          </a:xfrm>
        </p:grpSpPr>
        <p:sp>
          <p:nvSpPr>
            <p:cNvPr id="78995" name="Line 13"/>
            <p:cNvSpPr>
              <a:spLocks noChangeShapeType="1"/>
            </p:cNvSpPr>
            <p:nvPr/>
          </p:nvSpPr>
          <p:spPr bwMode="auto">
            <a:xfrm>
              <a:off x="3960" y="1200"/>
              <a:ext cx="888" cy="0"/>
            </a:xfrm>
            <a:prstGeom prst="line">
              <a:avLst/>
            </a:prstGeom>
            <a:noFill/>
            <a:ln w="28575">
              <a:solidFill>
                <a:schemeClr val="tx1"/>
              </a:solidFill>
              <a:round/>
              <a:headEnd/>
              <a:tailEnd/>
            </a:ln>
          </p:spPr>
          <p:txBody>
            <a:bodyPr wrap="none" anchor="ctr"/>
            <a:lstStyle/>
            <a:p>
              <a:endParaRPr lang="zh-CN" altLang="en-US"/>
            </a:p>
          </p:txBody>
        </p:sp>
        <p:sp>
          <p:nvSpPr>
            <p:cNvPr id="78996" name="Line 14"/>
            <p:cNvSpPr>
              <a:spLocks noChangeShapeType="1"/>
            </p:cNvSpPr>
            <p:nvPr/>
          </p:nvSpPr>
          <p:spPr bwMode="auto">
            <a:xfrm>
              <a:off x="4224" y="1200"/>
              <a:ext cx="96"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997" name="Line 15"/>
            <p:cNvSpPr>
              <a:spLocks noChangeShapeType="1"/>
            </p:cNvSpPr>
            <p:nvPr/>
          </p:nvSpPr>
          <p:spPr bwMode="auto">
            <a:xfrm>
              <a:off x="4464" y="1200"/>
              <a:ext cx="96"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998" name="Line 16"/>
            <p:cNvSpPr>
              <a:spLocks noChangeShapeType="1"/>
            </p:cNvSpPr>
            <p:nvPr/>
          </p:nvSpPr>
          <p:spPr bwMode="auto">
            <a:xfrm>
              <a:off x="4704" y="1200"/>
              <a:ext cx="96" cy="0"/>
            </a:xfrm>
            <a:prstGeom prst="line">
              <a:avLst/>
            </a:prstGeom>
            <a:noFill/>
            <a:ln w="19050">
              <a:solidFill>
                <a:schemeClr val="tx1"/>
              </a:solidFill>
              <a:round/>
              <a:headEnd/>
              <a:tailEnd type="triangle" w="lg" len="lg"/>
            </a:ln>
          </p:spPr>
          <p:txBody>
            <a:bodyPr wrap="none" anchor="ctr"/>
            <a:lstStyle/>
            <a:p>
              <a:endParaRPr lang="zh-CN" altLang="en-US"/>
            </a:p>
          </p:txBody>
        </p:sp>
      </p:grpSp>
      <p:sp>
        <p:nvSpPr>
          <p:cNvPr id="78857" name="Line 17"/>
          <p:cNvSpPr>
            <a:spLocks noChangeShapeType="1"/>
          </p:cNvSpPr>
          <p:nvPr/>
        </p:nvSpPr>
        <p:spPr bwMode="auto">
          <a:xfrm rot="5400000">
            <a:off x="3766344" y="5372894"/>
            <a:ext cx="1296988" cy="0"/>
          </a:xfrm>
          <a:prstGeom prst="line">
            <a:avLst/>
          </a:prstGeom>
          <a:noFill/>
          <a:ln w="28575">
            <a:solidFill>
              <a:schemeClr val="tx1"/>
            </a:solidFill>
            <a:round/>
            <a:headEnd/>
            <a:tailEnd/>
          </a:ln>
        </p:spPr>
        <p:txBody>
          <a:bodyPr wrap="none" anchor="ctr"/>
          <a:lstStyle/>
          <a:p>
            <a:endParaRPr lang="zh-CN" altLang="en-US"/>
          </a:p>
        </p:txBody>
      </p:sp>
      <p:sp>
        <p:nvSpPr>
          <p:cNvPr id="78858" name="Line 18"/>
          <p:cNvSpPr>
            <a:spLocks noChangeShapeType="1"/>
          </p:cNvSpPr>
          <p:nvPr/>
        </p:nvSpPr>
        <p:spPr bwMode="auto">
          <a:xfrm rot="5400000">
            <a:off x="4337050" y="5219700"/>
            <a:ext cx="152400"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59" name="Line 19"/>
          <p:cNvSpPr>
            <a:spLocks noChangeShapeType="1"/>
          </p:cNvSpPr>
          <p:nvPr/>
        </p:nvSpPr>
        <p:spPr bwMode="auto">
          <a:xfrm rot="5400000">
            <a:off x="4337050" y="5599113"/>
            <a:ext cx="152400"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60" name="Line 20"/>
          <p:cNvSpPr>
            <a:spLocks noChangeShapeType="1"/>
          </p:cNvSpPr>
          <p:nvPr/>
        </p:nvSpPr>
        <p:spPr bwMode="auto">
          <a:xfrm>
            <a:off x="1803400" y="4672013"/>
            <a:ext cx="2532063" cy="0"/>
          </a:xfrm>
          <a:prstGeom prst="line">
            <a:avLst/>
          </a:prstGeom>
          <a:noFill/>
          <a:ln w="28575">
            <a:solidFill>
              <a:schemeClr val="tx1"/>
            </a:solidFill>
            <a:round/>
            <a:headEnd/>
            <a:tailEnd/>
          </a:ln>
        </p:spPr>
        <p:txBody>
          <a:bodyPr wrap="none" anchor="ctr"/>
          <a:lstStyle/>
          <a:p>
            <a:endParaRPr lang="zh-CN" altLang="en-US"/>
          </a:p>
        </p:txBody>
      </p:sp>
      <p:sp>
        <p:nvSpPr>
          <p:cNvPr id="78861" name="Line 21"/>
          <p:cNvSpPr>
            <a:spLocks noChangeShapeType="1"/>
          </p:cNvSpPr>
          <p:nvPr/>
        </p:nvSpPr>
        <p:spPr bwMode="auto">
          <a:xfrm flipH="1">
            <a:off x="2947988" y="4672013"/>
            <a:ext cx="161925"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62" name="Line 22"/>
          <p:cNvSpPr>
            <a:spLocks noChangeShapeType="1"/>
          </p:cNvSpPr>
          <p:nvPr/>
        </p:nvSpPr>
        <p:spPr bwMode="auto">
          <a:xfrm flipH="1">
            <a:off x="3432175" y="4672013"/>
            <a:ext cx="161925"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63" name="Line 23"/>
          <p:cNvSpPr>
            <a:spLocks noChangeShapeType="1"/>
          </p:cNvSpPr>
          <p:nvPr/>
        </p:nvSpPr>
        <p:spPr bwMode="auto">
          <a:xfrm flipH="1">
            <a:off x="2463800" y="4672013"/>
            <a:ext cx="160338"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64" name="Freeform 24"/>
          <p:cNvSpPr>
            <a:spLocks/>
          </p:cNvSpPr>
          <p:nvPr/>
        </p:nvSpPr>
        <p:spPr bwMode="auto">
          <a:xfrm>
            <a:off x="2773363" y="4672013"/>
            <a:ext cx="93662"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sp>
        <p:nvSpPr>
          <p:cNvPr id="78865" name="Freeform 25"/>
          <p:cNvSpPr>
            <a:spLocks/>
          </p:cNvSpPr>
          <p:nvPr/>
        </p:nvSpPr>
        <p:spPr bwMode="auto">
          <a:xfrm flipH="1" flipV="1">
            <a:off x="3259138" y="4648200"/>
            <a:ext cx="92075"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sp>
        <p:nvSpPr>
          <p:cNvPr id="78866" name="Freeform 26"/>
          <p:cNvSpPr>
            <a:spLocks/>
          </p:cNvSpPr>
          <p:nvPr/>
        </p:nvSpPr>
        <p:spPr bwMode="auto">
          <a:xfrm>
            <a:off x="3741738" y="4672013"/>
            <a:ext cx="95250"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pic>
        <p:nvPicPr>
          <p:cNvPr id="78867" name="Picture 27"/>
          <p:cNvPicPr>
            <a:picLocks noChangeArrowheads="1"/>
          </p:cNvPicPr>
          <p:nvPr/>
        </p:nvPicPr>
        <p:blipFill>
          <a:blip r:embed="rId3" cstate="print"/>
          <a:srcRect/>
          <a:stretch>
            <a:fillRect/>
          </a:stretch>
        </p:blipFill>
        <p:spPr bwMode="auto">
          <a:xfrm>
            <a:off x="2571750" y="5065713"/>
            <a:ext cx="484188" cy="304800"/>
          </a:xfrm>
          <a:prstGeom prst="rect">
            <a:avLst/>
          </a:prstGeom>
          <a:noFill/>
          <a:ln w="12699">
            <a:noFill/>
            <a:miter lim="800000"/>
            <a:headEnd/>
            <a:tailEnd/>
          </a:ln>
        </p:spPr>
      </p:pic>
      <p:pic>
        <p:nvPicPr>
          <p:cNvPr id="78868" name="Picture 28"/>
          <p:cNvPicPr>
            <a:picLocks noChangeArrowheads="1"/>
          </p:cNvPicPr>
          <p:nvPr/>
        </p:nvPicPr>
        <p:blipFill>
          <a:blip r:embed="rId3" cstate="print"/>
          <a:srcRect/>
          <a:stretch>
            <a:fillRect/>
          </a:stretch>
        </p:blipFill>
        <p:spPr bwMode="auto">
          <a:xfrm>
            <a:off x="3514725" y="5065713"/>
            <a:ext cx="482600" cy="304800"/>
          </a:xfrm>
          <a:prstGeom prst="rect">
            <a:avLst/>
          </a:prstGeom>
          <a:noFill/>
          <a:ln w="12699">
            <a:noFill/>
            <a:miter lim="800000"/>
            <a:headEnd/>
            <a:tailEnd/>
          </a:ln>
        </p:spPr>
      </p:pic>
      <p:pic>
        <p:nvPicPr>
          <p:cNvPr id="78869" name="Picture 29"/>
          <p:cNvPicPr>
            <a:picLocks noChangeArrowheads="1"/>
          </p:cNvPicPr>
          <p:nvPr/>
        </p:nvPicPr>
        <p:blipFill>
          <a:blip r:embed="rId3" cstate="print"/>
          <a:srcRect/>
          <a:stretch>
            <a:fillRect/>
          </a:stretch>
        </p:blipFill>
        <p:spPr bwMode="auto">
          <a:xfrm>
            <a:off x="3028950" y="5065713"/>
            <a:ext cx="485775" cy="304800"/>
          </a:xfrm>
          <a:prstGeom prst="rect">
            <a:avLst/>
          </a:prstGeom>
          <a:noFill/>
          <a:ln w="12699">
            <a:noFill/>
            <a:miter lim="800000"/>
            <a:headEnd/>
            <a:tailEnd/>
          </a:ln>
        </p:spPr>
      </p:pic>
      <p:sp>
        <p:nvSpPr>
          <p:cNvPr id="78870" name="AutoShape 30"/>
          <p:cNvSpPr>
            <a:spLocks noChangeArrowheads="1"/>
          </p:cNvSpPr>
          <p:nvPr/>
        </p:nvSpPr>
        <p:spPr bwMode="auto">
          <a:xfrm>
            <a:off x="4252913" y="4495800"/>
            <a:ext cx="322262" cy="303213"/>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p>
            <a:endParaRPr lang="zh-CN" altLang="en-US"/>
          </a:p>
        </p:txBody>
      </p:sp>
      <p:sp>
        <p:nvSpPr>
          <p:cNvPr id="78871" name="AutoShape 31"/>
          <p:cNvSpPr>
            <a:spLocks noChangeArrowheads="1"/>
          </p:cNvSpPr>
          <p:nvPr/>
        </p:nvSpPr>
        <p:spPr bwMode="auto">
          <a:xfrm>
            <a:off x="2274888" y="2738438"/>
            <a:ext cx="322262" cy="317500"/>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p>
            <a:endParaRPr lang="zh-CN" altLang="en-US"/>
          </a:p>
        </p:txBody>
      </p:sp>
      <p:sp>
        <p:nvSpPr>
          <p:cNvPr id="78872" name="Text Box 32"/>
          <p:cNvSpPr txBox="1">
            <a:spLocks noChangeArrowheads="1"/>
          </p:cNvSpPr>
          <p:nvPr/>
        </p:nvSpPr>
        <p:spPr bwMode="auto">
          <a:xfrm>
            <a:off x="3001963" y="3829050"/>
            <a:ext cx="1200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同轴电缆</a:t>
            </a:r>
          </a:p>
        </p:txBody>
      </p:sp>
      <p:sp>
        <p:nvSpPr>
          <p:cNvPr id="78873" name="AutoShape 33"/>
          <p:cNvSpPr>
            <a:spLocks noChangeArrowheads="1"/>
          </p:cNvSpPr>
          <p:nvPr/>
        </p:nvSpPr>
        <p:spPr bwMode="auto">
          <a:xfrm>
            <a:off x="4092575" y="2586038"/>
            <a:ext cx="808038" cy="611187"/>
          </a:xfrm>
          <a:prstGeom prst="cube">
            <a:avLst>
              <a:gd name="adj" fmla="val 25000"/>
            </a:avLst>
          </a:prstGeom>
          <a:solidFill>
            <a:srgbClr val="EAEAEA"/>
          </a:solidFill>
          <a:ln w="9525">
            <a:solidFill>
              <a:schemeClr val="tx1"/>
            </a:solidFill>
            <a:miter lim="800000"/>
            <a:headEnd/>
            <a:tailEnd/>
          </a:ln>
        </p:spPr>
        <p:txBody>
          <a:bodyPr wrap="none" anchor="ctr"/>
          <a:lstStyle/>
          <a:p>
            <a:endParaRPr lang="zh-CN" altLang="en-US"/>
          </a:p>
        </p:txBody>
      </p:sp>
      <p:sp>
        <p:nvSpPr>
          <p:cNvPr id="78874" name="Text Box 34"/>
          <p:cNvSpPr txBox="1">
            <a:spLocks noChangeArrowheads="1"/>
          </p:cNvSpPr>
          <p:nvPr/>
        </p:nvSpPr>
        <p:spPr bwMode="auto">
          <a:xfrm>
            <a:off x="4079875" y="2684463"/>
            <a:ext cx="692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头端</a:t>
            </a:r>
          </a:p>
        </p:txBody>
      </p:sp>
      <p:sp>
        <p:nvSpPr>
          <p:cNvPr id="78875" name="Line 35"/>
          <p:cNvSpPr>
            <a:spLocks noChangeShapeType="1"/>
          </p:cNvSpPr>
          <p:nvPr/>
        </p:nvSpPr>
        <p:spPr bwMode="auto">
          <a:xfrm>
            <a:off x="4818063" y="2890838"/>
            <a:ext cx="1614487" cy="0"/>
          </a:xfrm>
          <a:prstGeom prst="line">
            <a:avLst/>
          </a:prstGeom>
          <a:noFill/>
          <a:ln w="28575">
            <a:solidFill>
              <a:srgbClr val="333399"/>
            </a:solidFill>
            <a:round/>
            <a:headEnd/>
            <a:tailEnd/>
          </a:ln>
        </p:spPr>
        <p:txBody>
          <a:bodyPr wrap="none" anchor="ctr"/>
          <a:lstStyle/>
          <a:p>
            <a:endParaRPr lang="zh-CN" altLang="en-US"/>
          </a:p>
        </p:txBody>
      </p:sp>
      <p:sp>
        <p:nvSpPr>
          <p:cNvPr id="78876" name="Line 36"/>
          <p:cNvSpPr>
            <a:spLocks noChangeShapeType="1"/>
          </p:cNvSpPr>
          <p:nvPr/>
        </p:nvSpPr>
        <p:spPr bwMode="auto">
          <a:xfrm>
            <a:off x="2557463" y="2890838"/>
            <a:ext cx="1535112" cy="0"/>
          </a:xfrm>
          <a:prstGeom prst="line">
            <a:avLst/>
          </a:prstGeom>
          <a:noFill/>
          <a:ln w="19050">
            <a:solidFill>
              <a:schemeClr val="tx1"/>
            </a:solidFill>
            <a:round/>
            <a:headEnd/>
            <a:tailEnd/>
          </a:ln>
        </p:spPr>
        <p:txBody>
          <a:bodyPr wrap="none" anchor="ctr"/>
          <a:lstStyle/>
          <a:p>
            <a:endParaRPr lang="zh-CN" altLang="en-US"/>
          </a:p>
        </p:txBody>
      </p:sp>
      <p:sp>
        <p:nvSpPr>
          <p:cNvPr id="78877" name="Line 37"/>
          <p:cNvSpPr>
            <a:spLocks noChangeShapeType="1"/>
          </p:cNvSpPr>
          <p:nvPr/>
        </p:nvSpPr>
        <p:spPr bwMode="auto">
          <a:xfrm rot="5400000">
            <a:off x="3737769" y="3871119"/>
            <a:ext cx="1350962" cy="0"/>
          </a:xfrm>
          <a:prstGeom prst="line">
            <a:avLst/>
          </a:prstGeom>
          <a:noFill/>
          <a:ln w="28575">
            <a:solidFill>
              <a:srgbClr val="333399"/>
            </a:solidFill>
            <a:round/>
            <a:headEnd/>
            <a:tailEnd/>
          </a:ln>
        </p:spPr>
        <p:txBody>
          <a:bodyPr wrap="none" anchor="ctr"/>
          <a:lstStyle/>
          <a:p>
            <a:endParaRPr lang="zh-CN" altLang="en-US"/>
          </a:p>
        </p:txBody>
      </p:sp>
      <p:sp>
        <p:nvSpPr>
          <p:cNvPr id="78878" name="Oval 38"/>
          <p:cNvSpPr>
            <a:spLocks noChangeArrowheads="1"/>
          </p:cNvSpPr>
          <p:nvPr/>
        </p:nvSpPr>
        <p:spPr bwMode="auto">
          <a:xfrm rot="5400000">
            <a:off x="4407694" y="3823494"/>
            <a:ext cx="142875" cy="131763"/>
          </a:xfrm>
          <a:prstGeom prst="ellipse">
            <a:avLst/>
          </a:prstGeom>
          <a:noFill/>
          <a:ln w="28575">
            <a:solidFill>
              <a:srgbClr val="333399"/>
            </a:solidFill>
            <a:round/>
            <a:headEnd/>
            <a:tailEnd/>
          </a:ln>
        </p:spPr>
        <p:txBody>
          <a:bodyPr wrap="none" anchor="ctr"/>
          <a:lstStyle/>
          <a:p>
            <a:endParaRPr lang="zh-CN" altLang="en-US"/>
          </a:p>
        </p:txBody>
      </p:sp>
      <p:sp>
        <p:nvSpPr>
          <p:cNvPr id="78879" name="AutoShape 39"/>
          <p:cNvSpPr>
            <a:spLocks noChangeArrowheads="1"/>
          </p:cNvSpPr>
          <p:nvPr/>
        </p:nvSpPr>
        <p:spPr bwMode="auto">
          <a:xfrm>
            <a:off x="6432550" y="2738438"/>
            <a:ext cx="322263" cy="306387"/>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p>
            <a:endParaRPr lang="zh-CN" altLang="en-US"/>
          </a:p>
        </p:txBody>
      </p:sp>
      <p:sp>
        <p:nvSpPr>
          <p:cNvPr id="78880" name="Line 40"/>
          <p:cNvSpPr>
            <a:spLocks noChangeShapeType="1"/>
          </p:cNvSpPr>
          <p:nvPr/>
        </p:nvSpPr>
        <p:spPr bwMode="auto">
          <a:xfrm>
            <a:off x="6715125" y="2890838"/>
            <a:ext cx="1655763" cy="0"/>
          </a:xfrm>
          <a:prstGeom prst="line">
            <a:avLst/>
          </a:prstGeom>
          <a:noFill/>
          <a:ln w="28575">
            <a:solidFill>
              <a:schemeClr val="tx1"/>
            </a:solidFill>
            <a:round/>
            <a:headEnd/>
            <a:tailEnd/>
          </a:ln>
        </p:spPr>
        <p:txBody>
          <a:bodyPr wrap="none" anchor="ctr"/>
          <a:lstStyle/>
          <a:p>
            <a:endParaRPr lang="zh-CN" altLang="en-US"/>
          </a:p>
        </p:txBody>
      </p:sp>
      <p:sp>
        <p:nvSpPr>
          <p:cNvPr id="78881" name="Line 41"/>
          <p:cNvSpPr>
            <a:spLocks noChangeShapeType="1"/>
          </p:cNvSpPr>
          <p:nvPr/>
        </p:nvSpPr>
        <p:spPr bwMode="auto">
          <a:xfrm>
            <a:off x="7159625" y="2890838"/>
            <a:ext cx="163513"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82" name="Line 42"/>
          <p:cNvSpPr>
            <a:spLocks noChangeShapeType="1"/>
          </p:cNvSpPr>
          <p:nvPr/>
        </p:nvSpPr>
        <p:spPr bwMode="auto">
          <a:xfrm>
            <a:off x="7645400" y="2890838"/>
            <a:ext cx="160338"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83" name="Line 43"/>
          <p:cNvSpPr>
            <a:spLocks noChangeShapeType="1"/>
          </p:cNvSpPr>
          <p:nvPr/>
        </p:nvSpPr>
        <p:spPr bwMode="auto">
          <a:xfrm>
            <a:off x="8129588" y="2890838"/>
            <a:ext cx="160337"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84" name="Freeform 44"/>
          <p:cNvSpPr>
            <a:spLocks/>
          </p:cNvSpPr>
          <p:nvPr/>
        </p:nvSpPr>
        <p:spPr bwMode="auto">
          <a:xfrm>
            <a:off x="6945313" y="2890838"/>
            <a:ext cx="95250"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sp>
        <p:nvSpPr>
          <p:cNvPr id="78885" name="Freeform 45"/>
          <p:cNvSpPr>
            <a:spLocks/>
          </p:cNvSpPr>
          <p:nvPr/>
        </p:nvSpPr>
        <p:spPr bwMode="auto">
          <a:xfrm>
            <a:off x="7940675" y="2890838"/>
            <a:ext cx="93663"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pic>
        <p:nvPicPr>
          <p:cNvPr id="78886" name="Picture 46"/>
          <p:cNvPicPr>
            <a:picLocks noChangeArrowheads="1"/>
          </p:cNvPicPr>
          <p:nvPr/>
        </p:nvPicPr>
        <p:blipFill>
          <a:blip r:embed="rId3" cstate="print"/>
          <a:srcRect/>
          <a:stretch>
            <a:fillRect/>
          </a:stretch>
        </p:blipFill>
        <p:spPr bwMode="auto">
          <a:xfrm>
            <a:off x="6754813" y="3338513"/>
            <a:ext cx="485775" cy="303212"/>
          </a:xfrm>
          <a:prstGeom prst="rect">
            <a:avLst/>
          </a:prstGeom>
          <a:noFill/>
          <a:ln w="12699">
            <a:noFill/>
            <a:miter lim="800000"/>
            <a:headEnd/>
            <a:tailEnd/>
          </a:ln>
        </p:spPr>
      </p:pic>
      <p:pic>
        <p:nvPicPr>
          <p:cNvPr id="78887" name="Picture 47"/>
          <p:cNvPicPr>
            <a:picLocks noChangeArrowheads="1"/>
          </p:cNvPicPr>
          <p:nvPr/>
        </p:nvPicPr>
        <p:blipFill>
          <a:blip r:embed="rId3" cstate="print"/>
          <a:srcRect/>
          <a:stretch>
            <a:fillRect/>
          </a:stretch>
        </p:blipFill>
        <p:spPr bwMode="auto">
          <a:xfrm>
            <a:off x="7724775" y="3338513"/>
            <a:ext cx="485775" cy="303212"/>
          </a:xfrm>
          <a:prstGeom prst="rect">
            <a:avLst/>
          </a:prstGeom>
          <a:noFill/>
          <a:ln w="12699">
            <a:noFill/>
            <a:miter lim="800000"/>
            <a:headEnd/>
            <a:tailEnd/>
          </a:ln>
        </p:spPr>
      </p:pic>
      <p:sp>
        <p:nvSpPr>
          <p:cNvPr id="78888" name="Line 48"/>
          <p:cNvSpPr>
            <a:spLocks noChangeShapeType="1"/>
          </p:cNvSpPr>
          <p:nvPr/>
        </p:nvSpPr>
        <p:spPr bwMode="auto">
          <a:xfrm>
            <a:off x="4535488" y="4648200"/>
            <a:ext cx="1817687" cy="0"/>
          </a:xfrm>
          <a:prstGeom prst="line">
            <a:avLst/>
          </a:prstGeom>
          <a:noFill/>
          <a:ln w="28575">
            <a:solidFill>
              <a:schemeClr val="tx1"/>
            </a:solidFill>
            <a:round/>
            <a:headEnd/>
            <a:tailEnd/>
          </a:ln>
        </p:spPr>
        <p:txBody>
          <a:bodyPr wrap="none" anchor="ctr"/>
          <a:lstStyle/>
          <a:p>
            <a:endParaRPr lang="zh-CN" altLang="en-US"/>
          </a:p>
        </p:txBody>
      </p:sp>
      <p:sp>
        <p:nvSpPr>
          <p:cNvPr id="78889" name="Line 49"/>
          <p:cNvSpPr>
            <a:spLocks noChangeShapeType="1"/>
          </p:cNvSpPr>
          <p:nvPr/>
        </p:nvSpPr>
        <p:spPr bwMode="auto">
          <a:xfrm>
            <a:off x="4979988" y="4648200"/>
            <a:ext cx="161925"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90" name="Line 50"/>
          <p:cNvSpPr>
            <a:spLocks noChangeShapeType="1"/>
          </p:cNvSpPr>
          <p:nvPr/>
        </p:nvSpPr>
        <p:spPr bwMode="auto">
          <a:xfrm>
            <a:off x="5383213" y="4648200"/>
            <a:ext cx="161925"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91" name="Line 51"/>
          <p:cNvSpPr>
            <a:spLocks noChangeShapeType="1"/>
          </p:cNvSpPr>
          <p:nvPr/>
        </p:nvSpPr>
        <p:spPr bwMode="auto">
          <a:xfrm>
            <a:off x="5948363" y="4648200"/>
            <a:ext cx="161925"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892" name="Freeform 52"/>
          <p:cNvSpPr>
            <a:spLocks/>
          </p:cNvSpPr>
          <p:nvPr/>
        </p:nvSpPr>
        <p:spPr bwMode="auto">
          <a:xfrm>
            <a:off x="4791075" y="4648200"/>
            <a:ext cx="95250" cy="568325"/>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sp>
        <p:nvSpPr>
          <p:cNvPr id="78893" name="Freeform 53"/>
          <p:cNvSpPr>
            <a:spLocks/>
          </p:cNvSpPr>
          <p:nvPr/>
        </p:nvSpPr>
        <p:spPr bwMode="auto">
          <a:xfrm flipH="1" flipV="1">
            <a:off x="5235575" y="4648200"/>
            <a:ext cx="93663"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sp>
        <p:nvSpPr>
          <p:cNvPr id="78894" name="Freeform 54"/>
          <p:cNvSpPr>
            <a:spLocks/>
          </p:cNvSpPr>
          <p:nvPr/>
        </p:nvSpPr>
        <p:spPr bwMode="auto">
          <a:xfrm rot="5400000" flipV="1">
            <a:off x="5962650" y="4567238"/>
            <a:ext cx="90488" cy="60166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pic>
        <p:nvPicPr>
          <p:cNvPr id="78895" name="Picture 55"/>
          <p:cNvPicPr>
            <a:picLocks noChangeArrowheads="1"/>
          </p:cNvPicPr>
          <p:nvPr/>
        </p:nvPicPr>
        <p:blipFill>
          <a:blip r:embed="rId3" cstate="print"/>
          <a:srcRect/>
          <a:stretch>
            <a:fillRect/>
          </a:stretch>
        </p:blipFill>
        <p:spPr bwMode="auto">
          <a:xfrm>
            <a:off x="4589463" y="5056188"/>
            <a:ext cx="484187" cy="303212"/>
          </a:xfrm>
          <a:prstGeom prst="rect">
            <a:avLst/>
          </a:prstGeom>
          <a:noFill/>
          <a:ln w="12699">
            <a:noFill/>
            <a:miter lim="800000"/>
            <a:headEnd/>
            <a:tailEnd/>
          </a:ln>
        </p:spPr>
      </p:pic>
      <p:pic>
        <p:nvPicPr>
          <p:cNvPr id="78896" name="Picture 56"/>
          <p:cNvPicPr>
            <a:picLocks noChangeArrowheads="1"/>
          </p:cNvPicPr>
          <p:nvPr/>
        </p:nvPicPr>
        <p:blipFill>
          <a:blip r:embed="rId3" cstate="print"/>
          <a:srcRect/>
          <a:stretch>
            <a:fillRect/>
          </a:stretch>
        </p:blipFill>
        <p:spPr bwMode="auto">
          <a:xfrm>
            <a:off x="6259513" y="4648200"/>
            <a:ext cx="482600" cy="303213"/>
          </a:xfrm>
          <a:prstGeom prst="rect">
            <a:avLst/>
          </a:prstGeom>
          <a:noFill/>
          <a:ln w="12699">
            <a:noFill/>
            <a:miter lim="800000"/>
            <a:headEnd/>
            <a:tailEnd/>
          </a:ln>
        </p:spPr>
      </p:pic>
      <p:pic>
        <p:nvPicPr>
          <p:cNvPr id="78897" name="Picture 57"/>
          <p:cNvPicPr>
            <a:picLocks noChangeArrowheads="1"/>
          </p:cNvPicPr>
          <p:nvPr/>
        </p:nvPicPr>
        <p:blipFill>
          <a:blip r:embed="rId3" cstate="print"/>
          <a:srcRect/>
          <a:stretch>
            <a:fillRect/>
          </a:stretch>
        </p:blipFill>
        <p:spPr bwMode="auto">
          <a:xfrm>
            <a:off x="5060950" y="5080000"/>
            <a:ext cx="484188" cy="304800"/>
          </a:xfrm>
          <a:prstGeom prst="rect">
            <a:avLst/>
          </a:prstGeom>
          <a:noFill/>
          <a:ln w="12699">
            <a:noFill/>
            <a:miter lim="800000"/>
            <a:headEnd/>
            <a:tailEnd/>
          </a:ln>
        </p:spPr>
      </p:pic>
      <p:sp>
        <p:nvSpPr>
          <p:cNvPr id="78898" name="Line 58"/>
          <p:cNvSpPr>
            <a:spLocks noChangeShapeType="1"/>
          </p:cNvSpPr>
          <p:nvPr/>
        </p:nvSpPr>
        <p:spPr bwMode="auto">
          <a:xfrm>
            <a:off x="377825" y="2917825"/>
            <a:ext cx="1938338" cy="0"/>
          </a:xfrm>
          <a:prstGeom prst="line">
            <a:avLst/>
          </a:prstGeom>
          <a:noFill/>
          <a:ln w="28575">
            <a:solidFill>
              <a:schemeClr val="tx1"/>
            </a:solidFill>
            <a:round/>
            <a:headEnd/>
            <a:tailEnd/>
          </a:ln>
        </p:spPr>
        <p:txBody>
          <a:bodyPr wrap="none" anchor="ctr"/>
          <a:lstStyle/>
          <a:p>
            <a:endParaRPr lang="zh-CN" altLang="en-US"/>
          </a:p>
        </p:txBody>
      </p:sp>
      <p:sp>
        <p:nvSpPr>
          <p:cNvPr id="78899" name="Line 59"/>
          <p:cNvSpPr>
            <a:spLocks noChangeShapeType="1"/>
          </p:cNvSpPr>
          <p:nvPr/>
        </p:nvSpPr>
        <p:spPr bwMode="auto">
          <a:xfrm flipH="1">
            <a:off x="1185863" y="2917825"/>
            <a:ext cx="161925"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900" name="Line 60"/>
          <p:cNvSpPr>
            <a:spLocks noChangeShapeType="1"/>
          </p:cNvSpPr>
          <p:nvPr/>
        </p:nvSpPr>
        <p:spPr bwMode="auto">
          <a:xfrm flipH="1">
            <a:off x="1670050" y="2917825"/>
            <a:ext cx="160338"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901" name="Line 61"/>
          <p:cNvSpPr>
            <a:spLocks noChangeShapeType="1"/>
          </p:cNvSpPr>
          <p:nvPr/>
        </p:nvSpPr>
        <p:spPr bwMode="auto">
          <a:xfrm flipH="1">
            <a:off x="700088" y="2917825"/>
            <a:ext cx="161925"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902" name="Freeform 62"/>
          <p:cNvSpPr>
            <a:spLocks/>
          </p:cNvSpPr>
          <p:nvPr/>
        </p:nvSpPr>
        <p:spPr bwMode="auto">
          <a:xfrm>
            <a:off x="1009650" y="2917825"/>
            <a:ext cx="95250"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sp>
        <p:nvSpPr>
          <p:cNvPr id="78903" name="Freeform 63"/>
          <p:cNvSpPr>
            <a:spLocks/>
          </p:cNvSpPr>
          <p:nvPr/>
        </p:nvSpPr>
        <p:spPr bwMode="auto">
          <a:xfrm>
            <a:off x="1979613" y="2917825"/>
            <a:ext cx="93662"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pic>
        <p:nvPicPr>
          <p:cNvPr id="78904" name="Picture 64"/>
          <p:cNvPicPr>
            <a:picLocks noChangeArrowheads="1"/>
          </p:cNvPicPr>
          <p:nvPr/>
        </p:nvPicPr>
        <p:blipFill>
          <a:blip r:embed="rId3" cstate="print"/>
          <a:srcRect/>
          <a:stretch>
            <a:fillRect/>
          </a:stretch>
        </p:blipFill>
        <p:spPr bwMode="auto">
          <a:xfrm>
            <a:off x="809625" y="3324225"/>
            <a:ext cx="482600" cy="303213"/>
          </a:xfrm>
          <a:prstGeom prst="rect">
            <a:avLst/>
          </a:prstGeom>
          <a:noFill/>
          <a:ln w="12699">
            <a:noFill/>
            <a:miter lim="800000"/>
            <a:headEnd/>
            <a:tailEnd/>
          </a:ln>
        </p:spPr>
      </p:pic>
      <p:pic>
        <p:nvPicPr>
          <p:cNvPr id="78905" name="Picture 65"/>
          <p:cNvPicPr>
            <a:picLocks noChangeArrowheads="1"/>
          </p:cNvPicPr>
          <p:nvPr/>
        </p:nvPicPr>
        <p:blipFill>
          <a:blip r:embed="rId3" cstate="print"/>
          <a:srcRect/>
          <a:stretch>
            <a:fillRect/>
          </a:stretch>
        </p:blipFill>
        <p:spPr bwMode="auto">
          <a:xfrm>
            <a:off x="1763713" y="3362325"/>
            <a:ext cx="484187" cy="303213"/>
          </a:xfrm>
          <a:prstGeom prst="rect">
            <a:avLst/>
          </a:prstGeom>
          <a:noFill/>
          <a:ln w="12699">
            <a:noFill/>
            <a:miter lim="800000"/>
            <a:headEnd/>
            <a:tailEnd/>
          </a:ln>
        </p:spPr>
      </p:pic>
      <p:sp>
        <p:nvSpPr>
          <p:cNvPr id="78906" name="Line 66"/>
          <p:cNvSpPr>
            <a:spLocks noChangeShapeType="1"/>
          </p:cNvSpPr>
          <p:nvPr/>
        </p:nvSpPr>
        <p:spPr bwMode="auto">
          <a:xfrm>
            <a:off x="3608388" y="4189413"/>
            <a:ext cx="428625" cy="458787"/>
          </a:xfrm>
          <a:prstGeom prst="line">
            <a:avLst/>
          </a:prstGeom>
          <a:noFill/>
          <a:ln w="9525">
            <a:solidFill>
              <a:schemeClr val="tx1"/>
            </a:solidFill>
            <a:round/>
            <a:headEnd/>
            <a:tailEnd type="triangle" w="sm" len="lg"/>
          </a:ln>
        </p:spPr>
        <p:txBody>
          <a:bodyPr wrap="none" anchor="ctr"/>
          <a:lstStyle/>
          <a:p>
            <a:endParaRPr lang="zh-CN" altLang="en-US"/>
          </a:p>
        </p:txBody>
      </p:sp>
      <p:sp>
        <p:nvSpPr>
          <p:cNvPr id="78907" name="Line 67"/>
          <p:cNvSpPr>
            <a:spLocks noChangeShapeType="1"/>
          </p:cNvSpPr>
          <p:nvPr/>
        </p:nvSpPr>
        <p:spPr bwMode="auto">
          <a:xfrm>
            <a:off x="3563938" y="2349500"/>
            <a:ext cx="123825" cy="541338"/>
          </a:xfrm>
          <a:prstGeom prst="line">
            <a:avLst/>
          </a:prstGeom>
          <a:noFill/>
          <a:ln w="9525">
            <a:solidFill>
              <a:schemeClr val="tx1"/>
            </a:solidFill>
            <a:round/>
            <a:headEnd/>
            <a:tailEnd type="triangle" w="sm" len="lg"/>
          </a:ln>
        </p:spPr>
        <p:txBody>
          <a:bodyPr wrap="none" anchor="ctr"/>
          <a:lstStyle/>
          <a:p>
            <a:endParaRPr lang="zh-CN" altLang="en-US"/>
          </a:p>
        </p:txBody>
      </p:sp>
      <p:sp>
        <p:nvSpPr>
          <p:cNvPr id="78908" name="Text Box 68"/>
          <p:cNvSpPr txBox="1">
            <a:spLocks noChangeArrowheads="1"/>
          </p:cNvSpPr>
          <p:nvPr/>
        </p:nvSpPr>
        <p:spPr bwMode="auto">
          <a:xfrm>
            <a:off x="2987675" y="1989138"/>
            <a:ext cx="1200150" cy="395287"/>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模拟光纤</a:t>
            </a:r>
          </a:p>
        </p:txBody>
      </p:sp>
      <p:sp>
        <p:nvSpPr>
          <p:cNvPr id="78909" name="Text Box 69"/>
          <p:cNvSpPr txBox="1">
            <a:spLocks noChangeArrowheads="1"/>
          </p:cNvSpPr>
          <p:nvPr/>
        </p:nvSpPr>
        <p:spPr bwMode="auto">
          <a:xfrm>
            <a:off x="517525" y="2028825"/>
            <a:ext cx="946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放大器</a:t>
            </a:r>
          </a:p>
        </p:txBody>
      </p:sp>
      <p:sp>
        <p:nvSpPr>
          <p:cNvPr id="78910" name="Line 70"/>
          <p:cNvSpPr>
            <a:spLocks noChangeShapeType="1"/>
          </p:cNvSpPr>
          <p:nvPr/>
        </p:nvSpPr>
        <p:spPr bwMode="auto">
          <a:xfrm rot="16200000" flipH="1">
            <a:off x="927894" y="2542381"/>
            <a:ext cx="431800" cy="242888"/>
          </a:xfrm>
          <a:prstGeom prst="line">
            <a:avLst/>
          </a:prstGeom>
          <a:noFill/>
          <a:ln w="9525">
            <a:solidFill>
              <a:schemeClr val="tx1"/>
            </a:solidFill>
            <a:round/>
            <a:headEnd/>
            <a:tailEnd type="triangle" w="sm" len="lg"/>
          </a:ln>
        </p:spPr>
        <p:txBody>
          <a:bodyPr wrap="none" anchor="ctr"/>
          <a:lstStyle/>
          <a:p>
            <a:endParaRPr lang="zh-CN" altLang="en-US"/>
          </a:p>
        </p:txBody>
      </p:sp>
      <p:sp>
        <p:nvSpPr>
          <p:cNvPr id="78911" name="Line 71"/>
          <p:cNvSpPr>
            <a:spLocks noChangeShapeType="1"/>
          </p:cNvSpPr>
          <p:nvPr/>
        </p:nvSpPr>
        <p:spPr bwMode="auto">
          <a:xfrm>
            <a:off x="2155825" y="4902200"/>
            <a:ext cx="684213" cy="63500"/>
          </a:xfrm>
          <a:prstGeom prst="line">
            <a:avLst/>
          </a:prstGeom>
          <a:noFill/>
          <a:ln w="9525">
            <a:solidFill>
              <a:schemeClr val="tx1"/>
            </a:solidFill>
            <a:round/>
            <a:headEnd/>
            <a:tailEnd type="triangle" w="sm" len="lg"/>
          </a:ln>
        </p:spPr>
        <p:txBody>
          <a:bodyPr wrap="none" anchor="ctr"/>
          <a:lstStyle/>
          <a:p>
            <a:endParaRPr lang="zh-CN" altLang="en-US"/>
          </a:p>
        </p:txBody>
      </p:sp>
      <p:sp>
        <p:nvSpPr>
          <p:cNvPr id="78912" name="Text Box 72"/>
          <p:cNvSpPr txBox="1">
            <a:spLocks noChangeArrowheads="1"/>
          </p:cNvSpPr>
          <p:nvPr/>
        </p:nvSpPr>
        <p:spPr bwMode="auto">
          <a:xfrm>
            <a:off x="1292225" y="4657725"/>
            <a:ext cx="946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引入线</a:t>
            </a:r>
          </a:p>
        </p:txBody>
      </p:sp>
      <p:sp>
        <p:nvSpPr>
          <p:cNvPr id="78913" name="Line 73"/>
          <p:cNvSpPr>
            <a:spLocks noChangeShapeType="1"/>
          </p:cNvSpPr>
          <p:nvPr/>
        </p:nvSpPr>
        <p:spPr bwMode="auto">
          <a:xfrm>
            <a:off x="2339975" y="2420938"/>
            <a:ext cx="123825" cy="317500"/>
          </a:xfrm>
          <a:prstGeom prst="line">
            <a:avLst/>
          </a:prstGeom>
          <a:noFill/>
          <a:ln w="9525">
            <a:solidFill>
              <a:schemeClr val="tx1"/>
            </a:solidFill>
            <a:round/>
            <a:headEnd/>
            <a:tailEnd type="triangle" w="sm" len="lg"/>
          </a:ln>
        </p:spPr>
        <p:txBody>
          <a:bodyPr wrap="none" anchor="ctr"/>
          <a:lstStyle/>
          <a:p>
            <a:endParaRPr lang="zh-CN" altLang="en-US"/>
          </a:p>
        </p:txBody>
      </p:sp>
      <p:sp>
        <p:nvSpPr>
          <p:cNvPr id="78914" name="Text Box 74"/>
          <p:cNvSpPr txBox="1">
            <a:spLocks noChangeArrowheads="1"/>
          </p:cNvSpPr>
          <p:nvPr/>
        </p:nvSpPr>
        <p:spPr bwMode="auto">
          <a:xfrm>
            <a:off x="4922838" y="3900488"/>
            <a:ext cx="947737"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分路器</a:t>
            </a:r>
          </a:p>
        </p:txBody>
      </p:sp>
      <p:grpSp>
        <p:nvGrpSpPr>
          <p:cNvPr id="78915" name="Group 75"/>
          <p:cNvGrpSpPr>
            <a:grpSpLocks/>
          </p:cNvGrpSpPr>
          <p:nvPr/>
        </p:nvGrpSpPr>
        <p:grpSpPr bwMode="auto">
          <a:xfrm>
            <a:off x="4327525" y="4951413"/>
            <a:ext cx="161925" cy="828675"/>
            <a:chOff x="2540" y="2496"/>
            <a:chExt cx="96" cy="520"/>
          </a:xfrm>
        </p:grpSpPr>
        <p:sp>
          <p:nvSpPr>
            <p:cNvPr id="78992" name="Line 76"/>
            <p:cNvSpPr>
              <a:spLocks noChangeShapeType="1"/>
            </p:cNvSpPr>
            <p:nvPr/>
          </p:nvSpPr>
          <p:spPr bwMode="auto">
            <a:xfrm>
              <a:off x="2540" y="2496"/>
              <a:ext cx="96" cy="0"/>
            </a:xfrm>
            <a:prstGeom prst="line">
              <a:avLst/>
            </a:prstGeom>
            <a:noFill/>
            <a:ln w="19050">
              <a:solidFill>
                <a:schemeClr val="tx1"/>
              </a:solidFill>
              <a:round/>
              <a:headEnd/>
              <a:tailEnd/>
            </a:ln>
          </p:spPr>
          <p:txBody>
            <a:bodyPr wrap="none" anchor="ctr"/>
            <a:lstStyle/>
            <a:p>
              <a:endParaRPr lang="zh-CN" altLang="en-US"/>
            </a:p>
          </p:txBody>
        </p:sp>
        <p:sp>
          <p:nvSpPr>
            <p:cNvPr id="78993" name="Line 77"/>
            <p:cNvSpPr>
              <a:spLocks noChangeShapeType="1"/>
            </p:cNvSpPr>
            <p:nvPr/>
          </p:nvSpPr>
          <p:spPr bwMode="auto">
            <a:xfrm>
              <a:off x="2540" y="2768"/>
              <a:ext cx="96" cy="0"/>
            </a:xfrm>
            <a:prstGeom prst="line">
              <a:avLst/>
            </a:prstGeom>
            <a:noFill/>
            <a:ln w="19050">
              <a:solidFill>
                <a:schemeClr val="tx1"/>
              </a:solidFill>
              <a:round/>
              <a:headEnd/>
              <a:tailEnd/>
            </a:ln>
          </p:spPr>
          <p:txBody>
            <a:bodyPr wrap="none" anchor="ctr"/>
            <a:lstStyle/>
            <a:p>
              <a:endParaRPr lang="zh-CN" altLang="en-US"/>
            </a:p>
          </p:txBody>
        </p:sp>
        <p:sp>
          <p:nvSpPr>
            <p:cNvPr id="78994" name="Line 78"/>
            <p:cNvSpPr>
              <a:spLocks noChangeShapeType="1"/>
            </p:cNvSpPr>
            <p:nvPr/>
          </p:nvSpPr>
          <p:spPr bwMode="auto">
            <a:xfrm>
              <a:off x="2540" y="3016"/>
              <a:ext cx="96" cy="0"/>
            </a:xfrm>
            <a:prstGeom prst="line">
              <a:avLst/>
            </a:prstGeom>
            <a:noFill/>
            <a:ln w="19050">
              <a:solidFill>
                <a:schemeClr val="tx1"/>
              </a:solidFill>
              <a:round/>
              <a:headEnd/>
              <a:tailEnd/>
            </a:ln>
          </p:spPr>
          <p:txBody>
            <a:bodyPr wrap="none" anchor="ctr"/>
            <a:lstStyle/>
            <a:p>
              <a:endParaRPr lang="zh-CN" altLang="en-US"/>
            </a:p>
          </p:txBody>
        </p:sp>
      </p:grpSp>
      <p:grpSp>
        <p:nvGrpSpPr>
          <p:cNvPr id="78916" name="Group 79"/>
          <p:cNvGrpSpPr>
            <a:grpSpLocks/>
          </p:cNvGrpSpPr>
          <p:nvPr/>
        </p:nvGrpSpPr>
        <p:grpSpPr bwMode="auto">
          <a:xfrm>
            <a:off x="6486525" y="2994025"/>
            <a:ext cx="161925" cy="1017588"/>
            <a:chOff x="3824" y="1264"/>
            <a:chExt cx="96" cy="640"/>
          </a:xfrm>
        </p:grpSpPr>
        <p:sp>
          <p:nvSpPr>
            <p:cNvPr id="78987" name="Line 80"/>
            <p:cNvSpPr>
              <a:spLocks noChangeShapeType="1"/>
            </p:cNvSpPr>
            <p:nvPr/>
          </p:nvSpPr>
          <p:spPr bwMode="auto">
            <a:xfrm rot="5400000">
              <a:off x="3552" y="1584"/>
              <a:ext cx="640" cy="0"/>
            </a:xfrm>
            <a:prstGeom prst="line">
              <a:avLst/>
            </a:prstGeom>
            <a:noFill/>
            <a:ln w="28575">
              <a:solidFill>
                <a:schemeClr val="tx1"/>
              </a:solidFill>
              <a:round/>
              <a:headEnd/>
              <a:tailEnd/>
            </a:ln>
          </p:spPr>
          <p:txBody>
            <a:bodyPr wrap="none" anchor="ctr"/>
            <a:lstStyle/>
            <a:p>
              <a:endParaRPr lang="zh-CN" altLang="en-US"/>
            </a:p>
          </p:txBody>
        </p:sp>
        <p:sp>
          <p:nvSpPr>
            <p:cNvPr id="78988" name="Line 81"/>
            <p:cNvSpPr>
              <a:spLocks noChangeShapeType="1"/>
            </p:cNvSpPr>
            <p:nvPr/>
          </p:nvSpPr>
          <p:spPr bwMode="auto">
            <a:xfrm rot="5400000">
              <a:off x="3823" y="1575"/>
              <a:ext cx="96"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989" name="Line 82"/>
            <p:cNvSpPr>
              <a:spLocks noChangeShapeType="1"/>
            </p:cNvSpPr>
            <p:nvPr/>
          </p:nvSpPr>
          <p:spPr bwMode="auto">
            <a:xfrm rot="5400000">
              <a:off x="3823" y="1815"/>
              <a:ext cx="96" cy="0"/>
            </a:xfrm>
            <a:prstGeom prst="line">
              <a:avLst/>
            </a:prstGeom>
            <a:noFill/>
            <a:ln w="19050">
              <a:solidFill>
                <a:schemeClr val="tx1"/>
              </a:solidFill>
              <a:round/>
              <a:headEnd/>
              <a:tailEnd type="triangle" w="lg" len="lg"/>
            </a:ln>
          </p:spPr>
          <p:txBody>
            <a:bodyPr wrap="none" anchor="ctr"/>
            <a:lstStyle/>
            <a:p>
              <a:endParaRPr lang="zh-CN" altLang="en-US"/>
            </a:p>
          </p:txBody>
        </p:sp>
        <p:sp>
          <p:nvSpPr>
            <p:cNvPr id="78990" name="Line 83"/>
            <p:cNvSpPr>
              <a:spLocks noChangeShapeType="1"/>
            </p:cNvSpPr>
            <p:nvPr/>
          </p:nvSpPr>
          <p:spPr bwMode="auto">
            <a:xfrm>
              <a:off x="3824" y="1384"/>
              <a:ext cx="96" cy="0"/>
            </a:xfrm>
            <a:prstGeom prst="line">
              <a:avLst/>
            </a:prstGeom>
            <a:noFill/>
            <a:ln w="19050">
              <a:solidFill>
                <a:schemeClr val="tx1"/>
              </a:solidFill>
              <a:round/>
              <a:headEnd/>
              <a:tailEnd/>
            </a:ln>
          </p:spPr>
          <p:txBody>
            <a:bodyPr wrap="none" anchor="ctr"/>
            <a:lstStyle/>
            <a:p>
              <a:endParaRPr lang="zh-CN" altLang="en-US"/>
            </a:p>
          </p:txBody>
        </p:sp>
        <p:sp>
          <p:nvSpPr>
            <p:cNvPr id="78991" name="Line 84"/>
            <p:cNvSpPr>
              <a:spLocks noChangeShapeType="1"/>
            </p:cNvSpPr>
            <p:nvPr/>
          </p:nvSpPr>
          <p:spPr bwMode="auto">
            <a:xfrm>
              <a:off x="3824" y="1656"/>
              <a:ext cx="96" cy="0"/>
            </a:xfrm>
            <a:prstGeom prst="line">
              <a:avLst/>
            </a:prstGeom>
            <a:noFill/>
            <a:ln w="19050">
              <a:solidFill>
                <a:schemeClr val="tx1"/>
              </a:solidFill>
              <a:round/>
              <a:headEnd/>
              <a:tailEnd/>
            </a:ln>
          </p:spPr>
          <p:txBody>
            <a:bodyPr wrap="none" anchor="ctr"/>
            <a:lstStyle/>
            <a:p>
              <a:endParaRPr lang="zh-CN" altLang="en-US"/>
            </a:p>
          </p:txBody>
        </p:sp>
      </p:grpSp>
      <p:sp>
        <p:nvSpPr>
          <p:cNvPr id="78917" name="Text Box 85"/>
          <p:cNvSpPr txBox="1">
            <a:spLocks noChangeArrowheads="1"/>
          </p:cNvSpPr>
          <p:nvPr/>
        </p:nvSpPr>
        <p:spPr bwMode="auto">
          <a:xfrm>
            <a:off x="1763713" y="2028825"/>
            <a:ext cx="1201737"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光纤结点</a:t>
            </a:r>
          </a:p>
        </p:txBody>
      </p:sp>
      <p:sp>
        <p:nvSpPr>
          <p:cNvPr id="78918" name="Freeform 86"/>
          <p:cNvSpPr>
            <a:spLocks/>
          </p:cNvSpPr>
          <p:nvPr/>
        </p:nvSpPr>
        <p:spPr bwMode="auto">
          <a:xfrm rot="5400000" flipV="1">
            <a:off x="5962651" y="4989512"/>
            <a:ext cx="88900" cy="600075"/>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sp>
        <p:nvSpPr>
          <p:cNvPr id="78919" name="Freeform 87"/>
          <p:cNvSpPr>
            <a:spLocks/>
          </p:cNvSpPr>
          <p:nvPr/>
        </p:nvSpPr>
        <p:spPr bwMode="auto">
          <a:xfrm rot="5400000" flipV="1">
            <a:off x="5961063" y="5411787"/>
            <a:ext cx="88900" cy="600075"/>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pic>
        <p:nvPicPr>
          <p:cNvPr id="78920" name="Picture 88"/>
          <p:cNvPicPr>
            <a:picLocks noChangeArrowheads="1"/>
          </p:cNvPicPr>
          <p:nvPr/>
        </p:nvPicPr>
        <p:blipFill>
          <a:blip r:embed="rId3" cstate="print"/>
          <a:srcRect/>
          <a:stretch>
            <a:fillRect/>
          </a:stretch>
        </p:blipFill>
        <p:spPr bwMode="auto">
          <a:xfrm>
            <a:off x="6272213" y="5030788"/>
            <a:ext cx="482600" cy="303212"/>
          </a:xfrm>
          <a:prstGeom prst="rect">
            <a:avLst/>
          </a:prstGeom>
          <a:noFill/>
          <a:ln w="12699">
            <a:noFill/>
            <a:miter lim="800000"/>
            <a:headEnd/>
            <a:tailEnd/>
          </a:ln>
        </p:spPr>
      </p:pic>
      <p:pic>
        <p:nvPicPr>
          <p:cNvPr id="78921" name="Picture 89"/>
          <p:cNvPicPr>
            <a:picLocks noChangeArrowheads="1"/>
          </p:cNvPicPr>
          <p:nvPr/>
        </p:nvPicPr>
        <p:blipFill>
          <a:blip r:embed="rId3" cstate="print"/>
          <a:srcRect/>
          <a:stretch>
            <a:fillRect/>
          </a:stretch>
        </p:blipFill>
        <p:spPr bwMode="auto">
          <a:xfrm>
            <a:off x="6286500" y="5487988"/>
            <a:ext cx="484188" cy="304800"/>
          </a:xfrm>
          <a:prstGeom prst="rect">
            <a:avLst/>
          </a:prstGeom>
          <a:noFill/>
          <a:ln w="12699">
            <a:noFill/>
            <a:miter lim="800000"/>
            <a:headEnd/>
            <a:tailEnd/>
          </a:ln>
        </p:spPr>
      </p:pic>
      <p:sp>
        <p:nvSpPr>
          <p:cNvPr id="78922" name="AutoShape 90"/>
          <p:cNvSpPr>
            <a:spLocks noChangeArrowheads="1"/>
          </p:cNvSpPr>
          <p:nvPr/>
        </p:nvSpPr>
        <p:spPr bwMode="auto">
          <a:xfrm>
            <a:off x="5626100" y="4572000"/>
            <a:ext cx="134938" cy="127000"/>
          </a:xfrm>
          <a:prstGeom prst="cube">
            <a:avLst>
              <a:gd name="adj" fmla="val 25000"/>
            </a:avLst>
          </a:prstGeom>
          <a:solidFill>
            <a:srgbClr val="808080"/>
          </a:solidFill>
          <a:ln w="9525">
            <a:solidFill>
              <a:schemeClr val="tx1"/>
            </a:solidFill>
            <a:miter lim="800000"/>
            <a:headEnd/>
            <a:tailEnd/>
          </a:ln>
        </p:spPr>
        <p:txBody>
          <a:bodyPr wrap="none" anchor="ctr"/>
          <a:lstStyle/>
          <a:p>
            <a:endParaRPr lang="zh-CN" altLang="en-US"/>
          </a:p>
        </p:txBody>
      </p:sp>
      <p:sp>
        <p:nvSpPr>
          <p:cNvPr id="78923" name="Line 91"/>
          <p:cNvSpPr>
            <a:spLocks noChangeShapeType="1"/>
          </p:cNvSpPr>
          <p:nvPr/>
        </p:nvSpPr>
        <p:spPr bwMode="auto">
          <a:xfrm>
            <a:off x="5411788" y="4252913"/>
            <a:ext cx="254000" cy="369887"/>
          </a:xfrm>
          <a:prstGeom prst="line">
            <a:avLst/>
          </a:prstGeom>
          <a:noFill/>
          <a:ln w="9525">
            <a:solidFill>
              <a:schemeClr val="tx1"/>
            </a:solidFill>
            <a:round/>
            <a:headEnd/>
            <a:tailEnd type="triangle" w="sm" len="lg"/>
          </a:ln>
        </p:spPr>
        <p:txBody>
          <a:bodyPr wrap="none" anchor="ctr"/>
          <a:lstStyle/>
          <a:p>
            <a:endParaRPr lang="zh-CN" altLang="en-US"/>
          </a:p>
        </p:txBody>
      </p:sp>
      <p:sp>
        <p:nvSpPr>
          <p:cNvPr id="78924" name="Text Box 92"/>
          <p:cNvSpPr txBox="1">
            <a:spLocks noChangeArrowheads="1"/>
          </p:cNvSpPr>
          <p:nvPr/>
        </p:nvSpPr>
        <p:spPr bwMode="auto">
          <a:xfrm>
            <a:off x="2746375" y="5537200"/>
            <a:ext cx="946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服务区</a:t>
            </a:r>
          </a:p>
        </p:txBody>
      </p:sp>
      <p:sp>
        <p:nvSpPr>
          <p:cNvPr id="78925" name="Freeform 93"/>
          <p:cNvSpPr>
            <a:spLocks/>
          </p:cNvSpPr>
          <p:nvPr/>
        </p:nvSpPr>
        <p:spPr bwMode="auto">
          <a:xfrm>
            <a:off x="7456488" y="2890838"/>
            <a:ext cx="93662"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pic>
        <p:nvPicPr>
          <p:cNvPr id="78926" name="Picture 94"/>
          <p:cNvPicPr>
            <a:picLocks noChangeArrowheads="1"/>
          </p:cNvPicPr>
          <p:nvPr/>
        </p:nvPicPr>
        <p:blipFill>
          <a:blip r:embed="rId3" cstate="print"/>
          <a:srcRect/>
          <a:stretch>
            <a:fillRect/>
          </a:stretch>
        </p:blipFill>
        <p:spPr bwMode="auto">
          <a:xfrm>
            <a:off x="7240588" y="3338513"/>
            <a:ext cx="484187" cy="303212"/>
          </a:xfrm>
          <a:prstGeom prst="rect">
            <a:avLst/>
          </a:prstGeom>
          <a:noFill/>
          <a:ln w="12699">
            <a:noFill/>
            <a:miter lim="800000"/>
            <a:headEnd/>
            <a:tailEnd/>
          </a:ln>
        </p:spPr>
      </p:pic>
      <p:sp>
        <p:nvSpPr>
          <p:cNvPr id="78927" name="Freeform 95"/>
          <p:cNvSpPr>
            <a:spLocks/>
          </p:cNvSpPr>
          <p:nvPr/>
        </p:nvSpPr>
        <p:spPr bwMode="auto">
          <a:xfrm>
            <a:off x="1481138" y="2905125"/>
            <a:ext cx="93662" cy="569913"/>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 name="T21" fmla="*/ 0 w 56"/>
              <a:gd name="T22" fmla="*/ 0 h 357"/>
              <a:gd name="T23" fmla="*/ 56 w 56"/>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a:solidFill>
              <a:schemeClr val="tx1"/>
            </a:solidFill>
            <a:round/>
            <a:headEnd/>
            <a:tailEnd/>
          </a:ln>
        </p:spPr>
        <p:txBody>
          <a:bodyPr wrap="none" anchor="ctr"/>
          <a:lstStyle/>
          <a:p>
            <a:endParaRPr lang="zh-CN" altLang="en-US"/>
          </a:p>
        </p:txBody>
      </p:sp>
      <p:pic>
        <p:nvPicPr>
          <p:cNvPr id="78928" name="Picture 96"/>
          <p:cNvPicPr>
            <a:picLocks noChangeArrowheads="1"/>
          </p:cNvPicPr>
          <p:nvPr/>
        </p:nvPicPr>
        <p:blipFill>
          <a:blip r:embed="rId3" cstate="print"/>
          <a:srcRect/>
          <a:stretch>
            <a:fillRect/>
          </a:stretch>
        </p:blipFill>
        <p:spPr bwMode="auto">
          <a:xfrm>
            <a:off x="1265238" y="3351213"/>
            <a:ext cx="485775" cy="304800"/>
          </a:xfrm>
          <a:prstGeom prst="rect">
            <a:avLst/>
          </a:prstGeom>
          <a:noFill/>
          <a:ln w="12699">
            <a:noFill/>
            <a:miter lim="800000"/>
            <a:headEnd/>
            <a:tailEnd/>
          </a:ln>
        </p:spPr>
      </p:pic>
      <p:sp>
        <p:nvSpPr>
          <p:cNvPr id="78929" name="Text Box 97"/>
          <p:cNvSpPr txBox="1">
            <a:spLocks noChangeArrowheads="1"/>
          </p:cNvSpPr>
          <p:nvPr/>
        </p:nvSpPr>
        <p:spPr bwMode="auto">
          <a:xfrm>
            <a:off x="6970713" y="3652838"/>
            <a:ext cx="946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服务区</a:t>
            </a:r>
          </a:p>
        </p:txBody>
      </p:sp>
      <p:sp>
        <p:nvSpPr>
          <p:cNvPr id="78930" name="Text Box 98"/>
          <p:cNvSpPr txBox="1">
            <a:spLocks noChangeArrowheads="1"/>
          </p:cNvSpPr>
          <p:nvPr/>
        </p:nvSpPr>
        <p:spPr bwMode="auto">
          <a:xfrm>
            <a:off x="969963" y="3667125"/>
            <a:ext cx="946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服务区</a:t>
            </a:r>
          </a:p>
        </p:txBody>
      </p:sp>
      <p:sp>
        <p:nvSpPr>
          <p:cNvPr id="78931" name="Oval 99"/>
          <p:cNvSpPr>
            <a:spLocks noChangeArrowheads="1"/>
          </p:cNvSpPr>
          <p:nvPr/>
        </p:nvSpPr>
        <p:spPr bwMode="auto">
          <a:xfrm rot="5400000">
            <a:off x="5510213" y="2754312"/>
            <a:ext cx="141288" cy="131763"/>
          </a:xfrm>
          <a:prstGeom prst="ellipse">
            <a:avLst/>
          </a:prstGeom>
          <a:noFill/>
          <a:ln w="28575">
            <a:solidFill>
              <a:srgbClr val="333399"/>
            </a:solidFill>
            <a:round/>
            <a:headEnd/>
            <a:tailEnd/>
          </a:ln>
        </p:spPr>
        <p:txBody>
          <a:bodyPr wrap="none" anchor="ctr"/>
          <a:lstStyle/>
          <a:p>
            <a:endParaRPr lang="zh-CN" altLang="en-US"/>
          </a:p>
        </p:txBody>
      </p:sp>
      <p:sp>
        <p:nvSpPr>
          <p:cNvPr id="78932" name="Oval 100"/>
          <p:cNvSpPr>
            <a:spLocks noChangeArrowheads="1"/>
          </p:cNvSpPr>
          <p:nvPr/>
        </p:nvSpPr>
        <p:spPr bwMode="auto">
          <a:xfrm rot="5400000">
            <a:off x="3305175" y="2754313"/>
            <a:ext cx="141288" cy="131762"/>
          </a:xfrm>
          <a:prstGeom prst="ellipse">
            <a:avLst/>
          </a:prstGeom>
          <a:noFill/>
          <a:ln w="28575">
            <a:solidFill>
              <a:srgbClr val="333399"/>
            </a:solidFill>
            <a:round/>
            <a:headEnd/>
            <a:tailEnd/>
          </a:ln>
        </p:spPr>
        <p:txBody>
          <a:bodyPr wrap="none" anchor="ctr"/>
          <a:lstStyle/>
          <a:p>
            <a:endParaRPr lang="zh-CN" altLang="en-US"/>
          </a:p>
        </p:txBody>
      </p:sp>
      <p:grpSp>
        <p:nvGrpSpPr>
          <p:cNvPr id="78933" name="Group 101"/>
          <p:cNvGrpSpPr>
            <a:grpSpLocks noChangeAspect="1"/>
          </p:cNvGrpSpPr>
          <p:nvPr/>
        </p:nvGrpSpPr>
        <p:grpSpPr bwMode="auto">
          <a:xfrm>
            <a:off x="4249738" y="2044700"/>
            <a:ext cx="466725" cy="596900"/>
            <a:chOff x="2246" y="722"/>
            <a:chExt cx="228" cy="292"/>
          </a:xfrm>
        </p:grpSpPr>
        <p:sp>
          <p:nvSpPr>
            <p:cNvPr id="78934" name="AutoShape 102"/>
            <p:cNvSpPr>
              <a:spLocks noChangeAspect="1" noChangeArrowheads="1" noTextEdit="1"/>
            </p:cNvSpPr>
            <p:nvPr/>
          </p:nvSpPr>
          <p:spPr bwMode="auto">
            <a:xfrm>
              <a:off x="2246" y="722"/>
              <a:ext cx="228" cy="292"/>
            </a:xfrm>
            <a:prstGeom prst="rect">
              <a:avLst/>
            </a:prstGeom>
            <a:noFill/>
            <a:ln w="9525">
              <a:noFill/>
              <a:miter lim="800000"/>
              <a:headEnd/>
              <a:tailEnd/>
            </a:ln>
          </p:spPr>
          <p:txBody>
            <a:bodyPr/>
            <a:lstStyle/>
            <a:p>
              <a:endParaRPr lang="zh-CN" altLang="en-US"/>
            </a:p>
          </p:txBody>
        </p:sp>
        <p:grpSp>
          <p:nvGrpSpPr>
            <p:cNvPr id="78935" name="Group 103"/>
            <p:cNvGrpSpPr>
              <a:grpSpLocks/>
            </p:cNvGrpSpPr>
            <p:nvPr/>
          </p:nvGrpSpPr>
          <p:grpSpPr bwMode="auto">
            <a:xfrm>
              <a:off x="2248" y="734"/>
              <a:ext cx="224" cy="279"/>
              <a:chOff x="2248" y="734"/>
              <a:chExt cx="224" cy="279"/>
            </a:xfrm>
          </p:grpSpPr>
          <p:grpSp>
            <p:nvGrpSpPr>
              <p:cNvPr id="78951" name="Group 104"/>
              <p:cNvGrpSpPr>
                <a:grpSpLocks/>
              </p:cNvGrpSpPr>
              <p:nvPr/>
            </p:nvGrpSpPr>
            <p:grpSpPr bwMode="auto">
              <a:xfrm>
                <a:off x="2328" y="898"/>
                <a:ext cx="9" cy="37"/>
                <a:chOff x="2328" y="898"/>
                <a:chExt cx="9" cy="37"/>
              </a:xfrm>
            </p:grpSpPr>
            <p:sp>
              <p:nvSpPr>
                <p:cNvPr id="78985" name="Rectangle 105"/>
                <p:cNvSpPr>
                  <a:spLocks noChangeArrowheads="1"/>
                </p:cNvSpPr>
                <p:nvPr/>
              </p:nvSpPr>
              <p:spPr bwMode="auto">
                <a:xfrm>
                  <a:off x="2328" y="898"/>
                  <a:ext cx="9" cy="37"/>
                </a:xfrm>
                <a:prstGeom prst="rect">
                  <a:avLst/>
                </a:prstGeom>
                <a:solidFill>
                  <a:srgbClr val="C0C0C0"/>
                </a:solidFill>
                <a:ln w="1588">
                  <a:solidFill>
                    <a:srgbClr val="000000"/>
                  </a:solidFill>
                  <a:miter lim="800000"/>
                  <a:headEnd/>
                  <a:tailEnd/>
                </a:ln>
              </p:spPr>
              <p:txBody>
                <a:bodyPr/>
                <a:lstStyle/>
                <a:p>
                  <a:endParaRPr lang="zh-CN" altLang="en-US"/>
                </a:p>
              </p:txBody>
            </p:sp>
            <p:sp>
              <p:nvSpPr>
                <p:cNvPr id="78986" name="Line 106"/>
                <p:cNvSpPr>
                  <a:spLocks noChangeShapeType="1"/>
                </p:cNvSpPr>
                <p:nvPr/>
              </p:nvSpPr>
              <p:spPr bwMode="auto">
                <a:xfrm>
                  <a:off x="2332" y="898"/>
                  <a:ext cx="1" cy="33"/>
                </a:xfrm>
                <a:prstGeom prst="line">
                  <a:avLst/>
                </a:prstGeom>
                <a:noFill/>
                <a:ln w="1588">
                  <a:solidFill>
                    <a:srgbClr val="000000"/>
                  </a:solidFill>
                  <a:round/>
                  <a:headEnd/>
                  <a:tailEnd/>
                </a:ln>
              </p:spPr>
              <p:txBody>
                <a:bodyPr/>
                <a:lstStyle/>
                <a:p>
                  <a:endParaRPr lang="zh-CN" altLang="en-US"/>
                </a:p>
              </p:txBody>
            </p:sp>
          </p:grpSp>
          <p:sp>
            <p:nvSpPr>
              <p:cNvPr id="78952" name="Rectangle 107"/>
              <p:cNvSpPr>
                <a:spLocks noChangeArrowheads="1"/>
              </p:cNvSpPr>
              <p:nvPr/>
            </p:nvSpPr>
            <p:spPr bwMode="auto">
              <a:xfrm>
                <a:off x="2295" y="876"/>
                <a:ext cx="25" cy="57"/>
              </a:xfrm>
              <a:prstGeom prst="rect">
                <a:avLst/>
              </a:prstGeom>
              <a:solidFill>
                <a:srgbClr val="C0C0C0"/>
              </a:solidFill>
              <a:ln w="1588">
                <a:solidFill>
                  <a:srgbClr val="000000"/>
                </a:solidFill>
                <a:miter lim="800000"/>
                <a:headEnd/>
                <a:tailEnd/>
              </a:ln>
            </p:spPr>
            <p:txBody>
              <a:bodyPr/>
              <a:lstStyle/>
              <a:p>
                <a:endParaRPr lang="zh-CN" altLang="en-US"/>
              </a:p>
            </p:txBody>
          </p:sp>
          <p:sp>
            <p:nvSpPr>
              <p:cNvPr id="78953" name="Freeform 108"/>
              <p:cNvSpPr>
                <a:spLocks/>
              </p:cNvSpPr>
              <p:nvPr/>
            </p:nvSpPr>
            <p:spPr bwMode="auto">
              <a:xfrm>
                <a:off x="2385" y="888"/>
                <a:ext cx="16" cy="12"/>
              </a:xfrm>
              <a:custGeom>
                <a:avLst/>
                <a:gdLst>
                  <a:gd name="T0" fmla="*/ 0 w 112"/>
                  <a:gd name="T1" fmla="*/ 0 h 84"/>
                  <a:gd name="T2" fmla="*/ 0 w 112"/>
                  <a:gd name="T3" fmla="*/ 0 h 84"/>
                  <a:gd name="T4" fmla="*/ 0 w 112"/>
                  <a:gd name="T5" fmla="*/ 0 h 84"/>
                  <a:gd name="T6" fmla="*/ 0 w 112"/>
                  <a:gd name="T7" fmla="*/ 0 h 84"/>
                  <a:gd name="T8" fmla="*/ 0 w 112"/>
                  <a:gd name="T9" fmla="*/ 0 h 84"/>
                  <a:gd name="T10" fmla="*/ 0 60000 65536"/>
                  <a:gd name="T11" fmla="*/ 0 60000 65536"/>
                  <a:gd name="T12" fmla="*/ 0 60000 65536"/>
                  <a:gd name="T13" fmla="*/ 0 60000 65536"/>
                  <a:gd name="T14" fmla="*/ 0 60000 65536"/>
                  <a:gd name="T15" fmla="*/ 0 w 112"/>
                  <a:gd name="T16" fmla="*/ 0 h 84"/>
                  <a:gd name="T17" fmla="*/ 112 w 112"/>
                  <a:gd name="T18" fmla="*/ 84 h 84"/>
                </a:gdLst>
                <a:ahLst/>
                <a:cxnLst>
                  <a:cxn ang="T10">
                    <a:pos x="T0" y="T1"/>
                  </a:cxn>
                  <a:cxn ang="T11">
                    <a:pos x="T2" y="T3"/>
                  </a:cxn>
                  <a:cxn ang="T12">
                    <a:pos x="T4" y="T5"/>
                  </a:cxn>
                  <a:cxn ang="T13">
                    <a:pos x="T6" y="T7"/>
                  </a:cxn>
                  <a:cxn ang="T14">
                    <a:pos x="T8" y="T9"/>
                  </a:cxn>
                </a:cxnLst>
                <a:rect l="T15" t="T16" r="T17" b="T18"/>
                <a:pathLst>
                  <a:path w="112" h="84">
                    <a:moveTo>
                      <a:pt x="0" y="0"/>
                    </a:moveTo>
                    <a:lnTo>
                      <a:pt x="0" y="84"/>
                    </a:lnTo>
                    <a:lnTo>
                      <a:pt x="112" y="84"/>
                    </a:lnTo>
                    <a:lnTo>
                      <a:pt x="112" y="17"/>
                    </a:lnTo>
                    <a:lnTo>
                      <a:pt x="0" y="0"/>
                    </a:lnTo>
                  </a:path>
                </a:pathLst>
              </a:custGeom>
              <a:noFill/>
              <a:ln w="1588">
                <a:solidFill>
                  <a:srgbClr val="000000"/>
                </a:solidFill>
                <a:round/>
                <a:headEnd/>
                <a:tailEnd/>
              </a:ln>
            </p:spPr>
            <p:txBody>
              <a:bodyPr/>
              <a:lstStyle/>
              <a:p>
                <a:endParaRPr lang="zh-CN" altLang="en-US"/>
              </a:p>
            </p:txBody>
          </p:sp>
          <p:sp>
            <p:nvSpPr>
              <p:cNvPr id="78954" name="Freeform 109"/>
              <p:cNvSpPr>
                <a:spLocks/>
              </p:cNvSpPr>
              <p:nvPr/>
            </p:nvSpPr>
            <p:spPr bwMode="auto">
              <a:xfrm>
                <a:off x="2352" y="866"/>
                <a:ext cx="11" cy="11"/>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60000 65536"/>
                  <a:gd name="T11" fmla="*/ 0 60000 65536"/>
                  <a:gd name="T12" fmla="*/ 0 60000 65536"/>
                  <a:gd name="T13" fmla="*/ 0 60000 65536"/>
                  <a:gd name="T14" fmla="*/ 0 60000 65536"/>
                  <a:gd name="T15" fmla="*/ 0 w 77"/>
                  <a:gd name="T16" fmla="*/ 0 h 76"/>
                  <a:gd name="T17" fmla="*/ 77 w 77"/>
                  <a:gd name="T18" fmla="*/ 76 h 76"/>
                </a:gdLst>
                <a:ahLst/>
                <a:cxnLst>
                  <a:cxn ang="T10">
                    <a:pos x="T0" y="T1"/>
                  </a:cxn>
                  <a:cxn ang="T11">
                    <a:pos x="T2" y="T3"/>
                  </a:cxn>
                  <a:cxn ang="T12">
                    <a:pos x="T4" y="T5"/>
                  </a:cxn>
                  <a:cxn ang="T13">
                    <a:pos x="T6" y="T7"/>
                  </a:cxn>
                  <a:cxn ang="T14">
                    <a:pos x="T8" y="T9"/>
                  </a:cxn>
                </a:cxnLst>
                <a:rect l="T15" t="T16" r="T17" b="T18"/>
                <a:pathLst>
                  <a:path w="77" h="76">
                    <a:moveTo>
                      <a:pt x="42" y="0"/>
                    </a:moveTo>
                    <a:lnTo>
                      <a:pt x="0" y="76"/>
                    </a:lnTo>
                    <a:lnTo>
                      <a:pt x="56" y="70"/>
                    </a:lnTo>
                    <a:lnTo>
                      <a:pt x="77" y="19"/>
                    </a:lnTo>
                    <a:lnTo>
                      <a:pt x="42" y="0"/>
                    </a:lnTo>
                    <a:close/>
                  </a:path>
                </a:pathLst>
              </a:custGeom>
              <a:solidFill>
                <a:srgbClr val="C0C0C0"/>
              </a:solidFill>
              <a:ln w="1588">
                <a:solidFill>
                  <a:srgbClr val="000000"/>
                </a:solidFill>
                <a:round/>
                <a:headEnd/>
                <a:tailEnd/>
              </a:ln>
            </p:spPr>
            <p:txBody>
              <a:bodyPr/>
              <a:lstStyle/>
              <a:p>
                <a:endParaRPr lang="zh-CN" altLang="en-US"/>
              </a:p>
            </p:txBody>
          </p:sp>
          <p:sp>
            <p:nvSpPr>
              <p:cNvPr id="78955" name="Freeform 110"/>
              <p:cNvSpPr>
                <a:spLocks/>
              </p:cNvSpPr>
              <p:nvPr/>
            </p:nvSpPr>
            <p:spPr bwMode="auto">
              <a:xfrm>
                <a:off x="2333" y="938"/>
                <a:ext cx="51" cy="4"/>
              </a:xfrm>
              <a:custGeom>
                <a:avLst/>
                <a:gdLst>
                  <a:gd name="T0" fmla="*/ 0 w 356"/>
                  <a:gd name="T1" fmla="*/ 0 h 26"/>
                  <a:gd name="T2" fmla="*/ 1 w 356"/>
                  <a:gd name="T3" fmla="*/ 0 h 26"/>
                  <a:gd name="T4" fmla="*/ 1 w 356"/>
                  <a:gd name="T5" fmla="*/ 0 h 26"/>
                  <a:gd name="T6" fmla="*/ 0 w 356"/>
                  <a:gd name="T7" fmla="*/ 0 h 26"/>
                  <a:gd name="T8" fmla="*/ 0 w 356"/>
                  <a:gd name="T9" fmla="*/ 0 h 26"/>
                  <a:gd name="T10" fmla="*/ 0 60000 65536"/>
                  <a:gd name="T11" fmla="*/ 0 60000 65536"/>
                  <a:gd name="T12" fmla="*/ 0 60000 65536"/>
                  <a:gd name="T13" fmla="*/ 0 60000 65536"/>
                  <a:gd name="T14" fmla="*/ 0 60000 65536"/>
                  <a:gd name="T15" fmla="*/ 0 w 356"/>
                  <a:gd name="T16" fmla="*/ 0 h 26"/>
                  <a:gd name="T17" fmla="*/ 356 w 356"/>
                  <a:gd name="T18" fmla="*/ 26 h 26"/>
                </a:gdLst>
                <a:ahLst/>
                <a:cxnLst>
                  <a:cxn ang="T10">
                    <a:pos x="T0" y="T1"/>
                  </a:cxn>
                  <a:cxn ang="T11">
                    <a:pos x="T2" y="T3"/>
                  </a:cxn>
                  <a:cxn ang="T12">
                    <a:pos x="T4" y="T5"/>
                  </a:cxn>
                  <a:cxn ang="T13">
                    <a:pos x="T6" y="T7"/>
                  </a:cxn>
                  <a:cxn ang="T14">
                    <a:pos x="T8" y="T9"/>
                  </a:cxn>
                </a:cxnLst>
                <a:rect l="T15" t="T16" r="T17" b="T18"/>
                <a:pathLst>
                  <a:path w="356" h="26">
                    <a:moveTo>
                      <a:pt x="0" y="0"/>
                    </a:moveTo>
                    <a:lnTo>
                      <a:pt x="356" y="0"/>
                    </a:lnTo>
                    <a:lnTo>
                      <a:pt x="356" y="26"/>
                    </a:lnTo>
                    <a:lnTo>
                      <a:pt x="5" y="26"/>
                    </a:lnTo>
                    <a:lnTo>
                      <a:pt x="0" y="0"/>
                    </a:lnTo>
                    <a:close/>
                  </a:path>
                </a:pathLst>
              </a:custGeom>
              <a:solidFill>
                <a:srgbClr val="808080"/>
              </a:solidFill>
              <a:ln w="1588">
                <a:solidFill>
                  <a:srgbClr val="000000"/>
                </a:solidFill>
                <a:round/>
                <a:headEnd/>
                <a:tailEnd/>
              </a:ln>
            </p:spPr>
            <p:txBody>
              <a:bodyPr/>
              <a:lstStyle/>
              <a:p>
                <a:endParaRPr lang="zh-CN" altLang="en-US"/>
              </a:p>
            </p:txBody>
          </p:sp>
          <p:sp>
            <p:nvSpPr>
              <p:cNvPr id="78956" name="Freeform 111"/>
              <p:cNvSpPr>
                <a:spLocks/>
              </p:cNvSpPr>
              <p:nvPr/>
            </p:nvSpPr>
            <p:spPr bwMode="auto">
              <a:xfrm>
                <a:off x="2294" y="795"/>
                <a:ext cx="22" cy="24"/>
              </a:xfrm>
              <a:custGeom>
                <a:avLst/>
                <a:gdLst>
                  <a:gd name="T0" fmla="*/ 0 w 149"/>
                  <a:gd name="T1" fmla="*/ 0 h 163"/>
                  <a:gd name="T2" fmla="*/ 0 w 149"/>
                  <a:gd name="T3" fmla="*/ 0 h 163"/>
                  <a:gd name="T4" fmla="*/ 0 w 149"/>
                  <a:gd name="T5" fmla="*/ 1 h 163"/>
                  <a:gd name="T6" fmla="*/ 0 w 149"/>
                  <a:gd name="T7" fmla="*/ 0 h 163"/>
                  <a:gd name="T8" fmla="*/ 0 w 149"/>
                  <a:gd name="T9" fmla="*/ 0 h 163"/>
                  <a:gd name="T10" fmla="*/ 0 60000 65536"/>
                  <a:gd name="T11" fmla="*/ 0 60000 65536"/>
                  <a:gd name="T12" fmla="*/ 0 60000 65536"/>
                  <a:gd name="T13" fmla="*/ 0 60000 65536"/>
                  <a:gd name="T14" fmla="*/ 0 60000 65536"/>
                  <a:gd name="T15" fmla="*/ 0 w 149"/>
                  <a:gd name="T16" fmla="*/ 0 h 163"/>
                  <a:gd name="T17" fmla="*/ 149 w 149"/>
                  <a:gd name="T18" fmla="*/ 163 h 163"/>
                </a:gdLst>
                <a:ahLst/>
                <a:cxnLst>
                  <a:cxn ang="T10">
                    <a:pos x="T0" y="T1"/>
                  </a:cxn>
                  <a:cxn ang="T11">
                    <a:pos x="T2" y="T3"/>
                  </a:cxn>
                  <a:cxn ang="T12">
                    <a:pos x="T4" y="T5"/>
                  </a:cxn>
                  <a:cxn ang="T13">
                    <a:pos x="T6" y="T7"/>
                  </a:cxn>
                  <a:cxn ang="T14">
                    <a:pos x="T8" y="T9"/>
                  </a:cxn>
                </a:cxnLst>
                <a:rect l="T15" t="T16" r="T17" b="T18"/>
                <a:pathLst>
                  <a:path w="149" h="163">
                    <a:moveTo>
                      <a:pt x="140" y="0"/>
                    </a:moveTo>
                    <a:lnTo>
                      <a:pt x="2" y="117"/>
                    </a:lnTo>
                    <a:lnTo>
                      <a:pt x="0" y="163"/>
                    </a:lnTo>
                    <a:lnTo>
                      <a:pt x="149" y="54"/>
                    </a:lnTo>
                    <a:lnTo>
                      <a:pt x="140" y="0"/>
                    </a:lnTo>
                    <a:close/>
                  </a:path>
                </a:pathLst>
              </a:custGeom>
              <a:solidFill>
                <a:srgbClr val="C0C0C0"/>
              </a:solidFill>
              <a:ln w="1588">
                <a:solidFill>
                  <a:srgbClr val="000000"/>
                </a:solidFill>
                <a:round/>
                <a:headEnd/>
                <a:tailEnd/>
              </a:ln>
            </p:spPr>
            <p:txBody>
              <a:bodyPr/>
              <a:lstStyle/>
              <a:p>
                <a:endParaRPr lang="zh-CN" altLang="en-US"/>
              </a:p>
            </p:txBody>
          </p:sp>
          <p:sp>
            <p:nvSpPr>
              <p:cNvPr id="78957" name="Freeform 112"/>
              <p:cNvSpPr>
                <a:spLocks/>
              </p:cNvSpPr>
              <p:nvPr/>
            </p:nvSpPr>
            <p:spPr bwMode="auto">
              <a:xfrm>
                <a:off x="2289" y="734"/>
                <a:ext cx="32" cy="199"/>
              </a:xfrm>
              <a:custGeom>
                <a:avLst/>
                <a:gdLst>
                  <a:gd name="T0" fmla="*/ 1 w 225"/>
                  <a:gd name="T1" fmla="*/ 0 h 1395"/>
                  <a:gd name="T2" fmla="*/ 0 w 225"/>
                  <a:gd name="T3" fmla="*/ 0 h 1395"/>
                  <a:gd name="T4" fmla="*/ 0 w 225"/>
                  <a:gd name="T5" fmla="*/ 4 h 1395"/>
                  <a:gd name="T6" fmla="*/ 0 w 225"/>
                  <a:gd name="T7" fmla="*/ 4 h 1395"/>
                  <a:gd name="T8" fmla="*/ 0 w 225"/>
                  <a:gd name="T9" fmla="*/ 1 h 1395"/>
                  <a:gd name="T10" fmla="*/ 1 w 225"/>
                  <a:gd name="T11" fmla="*/ 0 h 1395"/>
                  <a:gd name="T12" fmla="*/ 1 w 225"/>
                  <a:gd name="T13" fmla="*/ 0 h 1395"/>
                  <a:gd name="T14" fmla="*/ 0 60000 65536"/>
                  <a:gd name="T15" fmla="*/ 0 60000 65536"/>
                  <a:gd name="T16" fmla="*/ 0 60000 65536"/>
                  <a:gd name="T17" fmla="*/ 0 60000 65536"/>
                  <a:gd name="T18" fmla="*/ 0 60000 65536"/>
                  <a:gd name="T19" fmla="*/ 0 60000 65536"/>
                  <a:gd name="T20" fmla="*/ 0 60000 65536"/>
                  <a:gd name="T21" fmla="*/ 0 w 225"/>
                  <a:gd name="T22" fmla="*/ 0 h 1395"/>
                  <a:gd name="T23" fmla="*/ 225 w 225"/>
                  <a:gd name="T24" fmla="*/ 1395 h 13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5" h="1395">
                    <a:moveTo>
                      <a:pt x="225" y="0"/>
                    </a:moveTo>
                    <a:lnTo>
                      <a:pt x="0" y="82"/>
                    </a:lnTo>
                    <a:lnTo>
                      <a:pt x="0" y="1395"/>
                    </a:lnTo>
                    <a:lnTo>
                      <a:pt x="42" y="1395"/>
                    </a:lnTo>
                    <a:lnTo>
                      <a:pt x="42" y="202"/>
                    </a:lnTo>
                    <a:lnTo>
                      <a:pt x="225" y="133"/>
                    </a:lnTo>
                    <a:lnTo>
                      <a:pt x="225" y="0"/>
                    </a:lnTo>
                    <a:close/>
                  </a:path>
                </a:pathLst>
              </a:custGeom>
              <a:solidFill>
                <a:srgbClr val="9F9F9F"/>
              </a:solidFill>
              <a:ln w="1588">
                <a:solidFill>
                  <a:srgbClr val="000000"/>
                </a:solidFill>
                <a:round/>
                <a:headEnd/>
                <a:tailEnd/>
              </a:ln>
            </p:spPr>
            <p:txBody>
              <a:bodyPr/>
              <a:lstStyle/>
              <a:p>
                <a:endParaRPr lang="zh-CN" altLang="en-US"/>
              </a:p>
            </p:txBody>
          </p:sp>
          <p:sp>
            <p:nvSpPr>
              <p:cNvPr id="78958" name="Freeform 113"/>
              <p:cNvSpPr>
                <a:spLocks/>
              </p:cNvSpPr>
              <p:nvPr/>
            </p:nvSpPr>
            <p:spPr bwMode="auto">
              <a:xfrm>
                <a:off x="2288" y="933"/>
                <a:ext cx="184" cy="44"/>
              </a:xfrm>
              <a:custGeom>
                <a:avLst/>
                <a:gdLst>
                  <a:gd name="T0" fmla="*/ 0 w 1290"/>
                  <a:gd name="T1" fmla="*/ 1 h 304"/>
                  <a:gd name="T2" fmla="*/ 0 w 1290"/>
                  <a:gd name="T3" fmla="*/ 0 h 304"/>
                  <a:gd name="T4" fmla="*/ 1 w 1290"/>
                  <a:gd name="T5" fmla="*/ 0 h 304"/>
                  <a:gd name="T6" fmla="*/ 1 w 1290"/>
                  <a:gd name="T7" fmla="*/ 0 h 304"/>
                  <a:gd name="T8" fmla="*/ 1 w 1290"/>
                  <a:gd name="T9" fmla="*/ 0 h 304"/>
                  <a:gd name="T10" fmla="*/ 2 w 1290"/>
                  <a:gd name="T11" fmla="*/ 0 h 304"/>
                  <a:gd name="T12" fmla="*/ 3 w 1290"/>
                  <a:gd name="T13" fmla="*/ 0 h 304"/>
                  <a:gd name="T14" fmla="*/ 3 w 1290"/>
                  <a:gd name="T15" fmla="*/ 1 h 304"/>
                  <a:gd name="T16" fmla="*/ 4 w 1290"/>
                  <a:gd name="T17" fmla="*/ 1 h 304"/>
                  <a:gd name="T18" fmla="*/ 4 w 1290"/>
                  <a:gd name="T19" fmla="*/ 1 h 304"/>
                  <a:gd name="T20" fmla="*/ 0 w 1290"/>
                  <a:gd name="T21" fmla="*/ 1 h 3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0"/>
                  <a:gd name="T34" fmla="*/ 0 h 304"/>
                  <a:gd name="T35" fmla="*/ 1290 w 1290"/>
                  <a:gd name="T36" fmla="*/ 304 h 30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0" h="304">
                    <a:moveTo>
                      <a:pt x="0" y="304"/>
                    </a:moveTo>
                    <a:lnTo>
                      <a:pt x="0" y="0"/>
                    </a:lnTo>
                    <a:lnTo>
                      <a:pt x="281" y="0"/>
                    </a:lnTo>
                    <a:lnTo>
                      <a:pt x="337" y="51"/>
                    </a:lnTo>
                    <a:lnTo>
                      <a:pt x="505" y="51"/>
                    </a:lnTo>
                    <a:lnTo>
                      <a:pt x="561" y="102"/>
                    </a:lnTo>
                    <a:lnTo>
                      <a:pt x="1122" y="102"/>
                    </a:lnTo>
                    <a:lnTo>
                      <a:pt x="1122" y="203"/>
                    </a:lnTo>
                    <a:lnTo>
                      <a:pt x="1290" y="203"/>
                    </a:lnTo>
                    <a:lnTo>
                      <a:pt x="1290" y="304"/>
                    </a:lnTo>
                    <a:lnTo>
                      <a:pt x="0" y="304"/>
                    </a:lnTo>
                    <a:close/>
                  </a:path>
                </a:pathLst>
              </a:custGeom>
              <a:solidFill>
                <a:srgbClr val="C0C0C0"/>
              </a:solidFill>
              <a:ln w="1588">
                <a:solidFill>
                  <a:srgbClr val="000000"/>
                </a:solidFill>
                <a:round/>
                <a:headEnd/>
                <a:tailEnd/>
              </a:ln>
            </p:spPr>
            <p:txBody>
              <a:bodyPr/>
              <a:lstStyle/>
              <a:p>
                <a:endParaRPr lang="zh-CN" altLang="en-US"/>
              </a:p>
            </p:txBody>
          </p:sp>
          <p:sp>
            <p:nvSpPr>
              <p:cNvPr id="78959" name="Rectangle 114"/>
              <p:cNvSpPr>
                <a:spLocks noChangeArrowheads="1"/>
              </p:cNvSpPr>
              <p:nvPr/>
            </p:nvSpPr>
            <p:spPr bwMode="auto">
              <a:xfrm>
                <a:off x="2288" y="962"/>
                <a:ext cx="136" cy="15"/>
              </a:xfrm>
              <a:prstGeom prst="rect">
                <a:avLst/>
              </a:prstGeom>
              <a:solidFill>
                <a:srgbClr val="C0C0C0"/>
              </a:solidFill>
              <a:ln w="1588">
                <a:solidFill>
                  <a:srgbClr val="000000"/>
                </a:solidFill>
                <a:miter lim="800000"/>
                <a:headEnd/>
                <a:tailEnd/>
              </a:ln>
            </p:spPr>
            <p:txBody>
              <a:bodyPr/>
              <a:lstStyle/>
              <a:p>
                <a:endParaRPr lang="zh-CN" altLang="en-US"/>
              </a:p>
            </p:txBody>
          </p:sp>
          <p:sp>
            <p:nvSpPr>
              <p:cNvPr id="78960" name="Line 115"/>
              <p:cNvSpPr>
                <a:spLocks noChangeShapeType="1"/>
              </p:cNvSpPr>
              <p:nvPr/>
            </p:nvSpPr>
            <p:spPr bwMode="auto">
              <a:xfrm>
                <a:off x="2282" y="873"/>
                <a:ext cx="1" cy="25"/>
              </a:xfrm>
              <a:prstGeom prst="line">
                <a:avLst/>
              </a:prstGeom>
              <a:noFill/>
              <a:ln w="1588">
                <a:solidFill>
                  <a:srgbClr val="000000"/>
                </a:solidFill>
                <a:round/>
                <a:headEnd/>
                <a:tailEnd/>
              </a:ln>
            </p:spPr>
            <p:txBody>
              <a:bodyPr/>
              <a:lstStyle/>
              <a:p>
                <a:endParaRPr lang="zh-CN" altLang="en-US"/>
              </a:p>
            </p:txBody>
          </p:sp>
          <p:sp>
            <p:nvSpPr>
              <p:cNvPr id="78961" name="Freeform 116"/>
              <p:cNvSpPr>
                <a:spLocks/>
              </p:cNvSpPr>
              <p:nvPr/>
            </p:nvSpPr>
            <p:spPr bwMode="auto">
              <a:xfrm>
                <a:off x="2277" y="898"/>
                <a:ext cx="12" cy="13"/>
              </a:xfrm>
              <a:custGeom>
                <a:avLst/>
                <a:gdLst>
                  <a:gd name="T0" fmla="*/ 0 w 84"/>
                  <a:gd name="T1" fmla="*/ 0 h 89"/>
                  <a:gd name="T2" fmla="*/ 0 w 84"/>
                  <a:gd name="T3" fmla="*/ 0 h 89"/>
                  <a:gd name="T4" fmla="*/ 0 w 84"/>
                  <a:gd name="T5" fmla="*/ 0 h 89"/>
                  <a:gd name="T6" fmla="*/ 0 w 84"/>
                  <a:gd name="T7" fmla="*/ 0 h 89"/>
                  <a:gd name="T8" fmla="*/ 0 w 84"/>
                  <a:gd name="T9" fmla="*/ 0 h 89"/>
                  <a:gd name="T10" fmla="*/ 0 w 84"/>
                  <a:gd name="T11" fmla="*/ 0 h 89"/>
                  <a:gd name="T12" fmla="*/ 0 w 84"/>
                  <a:gd name="T13" fmla="*/ 0 h 89"/>
                  <a:gd name="T14" fmla="*/ 0 60000 65536"/>
                  <a:gd name="T15" fmla="*/ 0 60000 65536"/>
                  <a:gd name="T16" fmla="*/ 0 60000 65536"/>
                  <a:gd name="T17" fmla="*/ 0 60000 65536"/>
                  <a:gd name="T18" fmla="*/ 0 60000 65536"/>
                  <a:gd name="T19" fmla="*/ 0 60000 65536"/>
                  <a:gd name="T20" fmla="*/ 0 60000 65536"/>
                  <a:gd name="T21" fmla="*/ 0 w 84"/>
                  <a:gd name="T22" fmla="*/ 0 h 89"/>
                  <a:gd name="T23" fmla="*/ 84 w 84"/>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 h="89">
                    <a:moveTo>
                      <a:pt x="0" y="89"/>
                    </a:moveTo>
                    <a:lnTo>
                      <a:pt x="0" y="0"/>
                    </a:lnTo>
                    <a:lnTo>
                      <a:pt x="84" y="0"/>
                    </a:lnTo>
                    <a:lnTo>
                      <a:pt x="84" y="32"/>
                    </a:lnTo>
                    <a:lnTo>
                      <a:pt x="28" y="32"/>
                    </a:lnTo>
                    <a:lnTo>
                      <a:pt x="28" y="89"/>
                    </a:lnTo>
                    <a:lnTo>
                      <a:pt x="0" y="89"/>
                    </a:lnTo>
                    <a:close/>
                  </a:path>
                </a:pathLst>
              </a:custGeom>
              <a:solidFill>
                <a:srgbClr val="C0C0C0"/>
              </a:solidFill>
              <a:ln w="1588">
                <a:solidFill>
                  <a:srgbClr val="000000"/>
                </a:solidFill>
                <a:round/>
                <a:headEnd/>
                <a:tailEnd/>
              </a:ln>
            </p:spPr>
            <p:txBody>
              <a:bodyPr/>
              <a:lstStyle/>
              <a:p>
                <a:endParaRPr lang="zh-CN" altLang="en-US"/>
              </a:p>
            </p:txBody>
          </p:sp>
          <p:sp>
            <p:nvSpPr>
              <p:cNvPr id="78962" name="Freeform 117"/>
              <p:cNvSpPr>
                <a:spLocks/>
              </p:cNvSpPr>
              <p:nvPr/>
            </p:nvSpPr>
            <p:spPr bwMode="auto">
              <a:xfrm>
                <a:off x="2344" y="889"/>
                <a:ext cx="41" cy="53"/>
              </a:xfrm>
              <a:custGeom>
                <a:avLst/>
                <a:gdLst>
                  <a:gd name="T0" fmla="*/ 0 w 287"/>
                  <a:gd name="T1" fmla="*/ 0 h 367"/>
                  <a:gd name="T2" fmla="*/ 1 w 287"/>
                  <a:gd name="T3" fmla="*/ 1 h 367"/>
                  <a:gd name="T4" fmla="*/ 1 w 287"/>
                  <a:gd name="T5" fmla="*/ 1 h 367"/>
                  <a:gd name="T6" fmla="*/ 0 w 287"/>
                  <a:gd name="T7" fmla="*/ 0 h 367"/>
                  <a:gd name="T8" fmla="*/ 0 w 287"/>
                  <a:gd name="T9" fmla="*/ 0 h 367"/>
                  <a:gd name="T10" fmla="*/ 0 60000 65536"/>
                  <a:gd name="T11" fmla="*/ 0 60000 65536"/>
                  <a:gd name="T12" fmla="*/ 0 60000 65536"/>
                  <a:gd name="T13" fmla="*/ 0 60000 65536"/>
                  <a:gd name="T14" fmla="*/ 0 60000 65536"/>
                  <a:gd name="T15" fmla="*/ 0 w 287"/>
                  <a:gd name="T16" fmla="*/ 0 h 367"/>
                  <a:gd name="T17" fmla="*/ 287 w 287"/>
                  <a:gd name="T18" fmla="*/ 367 h 367"/>
                </a:gdLst>
                <a:ahLst/>
                <a:cxnLst>
                  <a:cxn ang="T10">
                    <a:pos x="T0" y="T1"/>
                  </a:cxn>
                  <a:cxn ang="T11">
                    <a:pos x="T2" y="T3"/>
                  </a:cxn>
                  <a:cxn ang="T12">
                    <a:pos x="T4" y="T5"/>
                  </a:cxn>
                  <a:cxn ang="T13">
                    <a:pos x="T6" y="T7"/>
                  </a:cxn>
                  <a:cxn ang="T14">
                    <a:pos x="T8" y="T9"/>
                  </a:cxn>
                </a:cxnLst>
                <a:rect l="T15" t="T16" r="T17" b="T18"/>
                <a:pathLst>
                  <a:path w="287" h="367">
                    <a:moveTo>
                      <a:pt x="0" y="0"/>
                    </a:moveTo>
                    <a:lnTo>
                      <a:pt x="287" y="367"/>
                    </a:lnTo>
                    <a:lnTo>
                      <a:pt x="245" y="360"/>
                    </a:lnTo>
                    <a:lnTo>
                      <a:pt x="0" y="51"/>
                    </a:lnTo>
                    <a:lnTo>
                      <a:pt x="0" y="0"/>
                    </a:lnTo>
                    <a:close/>
                  </a:path>
                </a:pathLst>
              </a:custGeom>
              <a:solidFill>
                <a:srgbClr val="9F9F9F"/>
              </a:solidFill>
              <a:ln w="1588">
                <a:solidFill>
                  <a:srgbClr val="000000"/>
                </a:solidFill>
                <a:round/>
                <a:headEnd/>
                <a:tailEnd/>
              </a:ln>
            </p:spPr>
            <p:txBody>
              <a:bodyPr/>
              <a:lstStyle/>
              <a:p>
                <a:endParaRPr lang="zh-CN" altLang="en-US"/>
              </a:p>
            </p:txBody>
          </p:sp>
          <p:sp>
            <p:nvSpPr>
              <p:cNvPr id="78963" name="Freeform 118"/>
              <p:cNvSpPr>
                <a:spLocks/>
              </p:cNvSpPr>
              <p:nvPr/>
            </p:nvSpPr>
            <p:spPr bwMode="auto">
              <a:xfrm>
                <a:off x="2256" y="919"/>
                <a:ext cx="32" cy="58"/>
              </a:xfrm>
              <a:custGeom>
                <a:avLst/>
                <a:gdLst>
                  <a:gd name="T0" fmla="*/ 0 w 224"/>
                  <a:gd name="T1" fmla="*/ 0 h 405"/>
                  <a:gd name="T2" fmla="*/ 0 w 224"/>
                  <a:gd name="T3" fmla="*/ 0 h 405"/>
                  <a:gd name="T4" fmla="*/ 0 w 224"/>
                  <a:gd name="T5" fmla="*/ 1 h 405"/>
                  <a:gd name="T6" fmla="*/ 1 w 224"/>
                  <a:gd name="T7" fmla="*/ 1 h 405"/>
                  <a:gd name="T8" fmla="*/ 1 w 224"/>
                  <a:gd name="T9" fmla="*/ 0 h 405"/>
                  <a:gd name="T10" fmla="*/ 0 w 224"/>
                  <a:gd name="T11" fmla="*/ 0 h 405"/>
                  <a:gd name="T12" fmla="*/ 0 60000 65536"/>
                  <a:gd name="T13" fmla="*/ 0 60000 65536"/>
                  <a:gd name="T14" fmla="*/ 0 60000 65536"/>
                  <a:gd name="T15" fmla="*/ 0 60000 65536"/>
                  <a:gd name="T16" fmla="*/ 0 60000 65536"/>
                  <a:gd name="T17" fmla="*/ 0 60000 65536"/>
                  <a:gd name="T18" fmla="*/ 0 w 224"/>
                  <a:gd name="T19" fmla="*/ 0 h 405"/>
                  <a:gd name="T20" fmla="*/ 224 w 224"/>
                  <a:gd name="T21" fmla="*/ 405 h 405"/>
                </a:gdLst>
                <a:ahLst/>
                <a:cxnLst>
                  <a:cxn ang="T12">
                    <a:pos x="T0" y="T1"/>
                  </a:cxn>
                  <a:cxn ang="T13">
                    <a:pos x="T2" y="T3"/>
                  </a:cxn>
                  <a:cxn ang="T14">
                    <a:pos x="T4" y="T5"/>
                  </a:cxn>
                  <a:cxn ang="T15">
                    <a:pos x="T6" y="T7"/>
                  </a:cxn>
                  <a:cxn ang="T16">
                    <a:pos x="T8" y="T9"/>
                  </a:cxn>
                  <a:cxn ang="T17">
                    <a:pos x="T10" y="T11"/>
                  </a:cxn>
                </a:cxnLst>
                <a:rect l="T18" t="T19" r="T20" b="T21"/>
                <a:pathLst>
                  <a:path w="224" h="405">
                    <a:moveTo>
                      <a:pt x="168" y="0"/>
                    </a:moveTo>
                    <a:lnTo>
                      <a:pt x="0" y="152"/>
                    </a:lnTo>
                    <a:lnTo>
                      <a:pt x="0" y="405"/>
                    </a:lnTo>
                    <a:lnTo>
                      <a:pt x="224" y="405"/>
                    </a:lnTo>
                    <a:lnTo>
                      <a:pt x="224" y="101"/>
                    </a:lnTo>
                    <a:lnTo>
                      <a:pt x="168" y="0"/>
                    </a:lnTo>
                    <a:close/>
                  </a:path>
                </a:pathLst>
              </a:custGeom>
              <a:solidFill>
                <a:srgbClr val="C0C0C0"/>
              </a:solidFill>
              <a:ln w="1588">
                <a:solidFill>
                  <a:srgbClr val="000000"/>
                </a:solidFill>
                <a:round/>
                <a:headEnd/>
                <a:tailEnd/>
              </a:ln>
            </p:spPr>
            <p:txBody>
              <a:bodyPr/>
              <a:lstStyle/>
              <a:p>
                <a:endParaRPr lang="zh-CN" altLang="en-US"/>
              </a:p>
            </p:txBody>
          </p:sp>
          <p:sp>
            <p:nvSpPr>
              <p:cNvPr id="78964" name="Rectangle 119"/>
              <p:cNvSpPr>
                <a:spLocks noChangeArrowheads="1"/>
              </p:cNvSpPr>
              <p:nvPr/>
            </p:nvSpPr>
            <p:spPr bwMode="auto">
              <a:xfrm>
                <a:off x="2248" y="1004"/>
                <a:ext cx="224" cy="9"/>
              </a:xfrm>
              <a:prstGeom prst="rect">
                <a:avLst/>
              </a:prstGeom>
              <a:solidFill>
                <a:srgbClr val="9F9F9F"/>
              </a:solidFill>
              <a:ln w="1588">
                <a:solidFill>
                  <a:srgbClr val="000000"/>
                </a:solidFill>
                <a:miter lim="800000"/>
                <a:headEnd/>
                <a:tailEnd/>
              </a:ln>
            </p:spPr>
            <p:txBody>
              <a:bodyPr/>
              <a:lstStyle/>
              <a:p>
                <a:endParaRPr lang="zh-CN" altLang="en-US"/>
              </a:p>
            </p:txBody>
          </p:sp>
          <p:sp>
            <p:nvSpPr>
              <p:cNvPr id="78965" name="Rectangle 120"/>
              <p:cNvSpPr>
                <a:spLocks noChangeArrowheads="1"/>
              </p:cNvSpPr>
              <p:nvPr/>
            </p:nvSpPr>
            <p:spPr bwMode="auto">
              <a:xfrm>
                <a:off x="2248" y="991"/>
                <a:ext cx="224" cy="13"/>
              </a:xfrm>
              <a:prstGeom prst="rect">
                <a:avLst/>
              </a:prstGeom>
              <a:solidFill>
                <a:srgbClr val="9F9F9F"/>
              </a:solidFill>
              <a:ln w="1588">
                <a:solidFill>
                  <a:srgbClr val="000000"/>
                </a:solidFill>
                <a:miter lim="800000"/>
                <a:headEnd/>
                <a:tailEnd/>
              </a:ln>
            </p:spPr>
            <p:txBody>
              <a:bodyPr/>
              <a:lstStyle/>
              <a:p>
                <a:endParaRPr lang="zh-CN" altLang="en-US"/>
              </a:p>
            </p:txBody>
          </p:sp>
          <p:sp>
            <p:nvSpPr>
              <p:cNvPr id="78966" name="Rectangle 121"/>
              <p:cNvSpPr>
                <a:spLocks noChangeArrowheads="1"/>
              </p:cNvSpPr>
              <p:nvPr/>
            </p:nvSpPr>
            <p:spPr bwMode="auto">
              <a:xfrm>
                <a:off x="2248" y="977"/>
                <a:ext cx="224" cy="14"/>
              </a:xfrm>
              <a:prstGeom prst="rect">
                <a:avLst/>
              </a:prstGeom>
              <a:solidFill>
                <a:srgbClr val="9F9F9F"/>
              </a:solidFill>
              <a:ln w="1588">
                <a:solidFill>
                  <a:srgbClr val="000000"/>
                </a:solidFill>
                <a:miter lim="800000"/>
                <a:headEnd/>
                <a:tailEnd/>
              </a:ln>
            </p:spPr>
            <p:txBody>
              <a:bodyPr/>
              <a:lstStyle/>
              <a:p>
                <a:endParaRPr lang="zh-CN" altLang="en-US"/>
              </a:p>
            </p:txBody>
          </p:sp>
          <p:sp>
            <p:nvSpPr>
              <p:cNvPr id="78967" name="Rectangle 122"/>
              <p:cNvSpPr>
                <a:spLocks noChangeArrowheads="1"/>
              </p:cNvSpPr>
              <p:nvPr/>
            </p:nvSpPr>
            <p:spPr bwMode="auto">
              <a:xfrm>
                <a:off x="2442" y="966"/>
                <a:ext cx="24" cy="7"/>
              </a:xfrm>
              <a:prstGeom prst="rect">
                <a:avLst/>
              </a:prstGeom>
              <a:solidFill>
                <a:srgbClr val="9F9F9F"/>
              </a:solidFill>
              <a:ln w="1588">
                <a:solidFill>
                  <a:srgbClr val="000000"/>
                </a:solidFill>
                <a:miter lim="800000"/>
                <a:headEnd/>
                <a:tailEnd/>
              </a:ln>
            </p:spPr>
            <p:txBody>
              <a:bodyPr/>
              <a:lstStyle/>
              <a:p>
                <a:endParaRPr lang="zh-CN" altLang="en-US"/>
              </a:p>
            </p:txBody>
          </p:sp>
          <p:sp>
            <p:nvSpPr>
              <p:cNvPr id="78968" name="Oval 123"/>
              <p:cNvSpPr>
                <a:spLocks noChangeArrowheads="1"/>
              </p:cNvSpPr>
              <p:nvPr/>
            </p:nvSpPr>
            <p:spPr bwMode="auto">
              <a:xfrm>
                <a:off x="2271" y="911"/>
                <a:ext cx="18" cy="16"/>
              </a:xfrm>
              <a:prstGeom prst="ellipse">
                <a:avLst/>
              </a:prstGeom>
              <a:solidFill>
                <a:srgbClr val="9F9F9F"/>
              </a:solidFill>
              <a:ln w="1588">
                <a:solidFill>
                  <a:srgbClr val="000000"/>
                </a:solidFill>
                <a:round/>
                <a:headEnd/>
                <a:tailEnd/>
              </a:ln>
            </p:spPr>
            <p:txBody>
              <a:bodyPr/>
              <a:lstStyle/>
              <a:p>
                <a:endParaRPr lang="zh-CN" altLang="en-US"/>
              </a:p>
            </p:txBody>
          </p:sp>
          <p:sp>
            <p:nvSpPr>
              <p:cNvPr id="78969" name="Rectangle 124"/>
              <p:cNvSpPr>
                <a:spLocks noChangeArrowheads="1"/>
              </p:cNvSpPr>
              <p:nvPr/>
            </p:nvSpPr>
            <p:spPr bwMode="auto">
              <a:xfrm>
                <a:off x="2328" y="883"/>
                <a:ext cx="16" cy="14"/>
              </a:xfrm>
              <a:prstGeom prst="rect">
                <a:avLst/>
              </a:prstGeom>
              <a:solidFill>
                <a:srgbClr val="808080"/>
              </a:solidFill>
              <a:ln w="1588">
                <a:solidFill>
                  <a:srgbClr val="000000"/>
                </a:solidFill>
                <a:miter lim="800000"/>
                <a:headEnd/>
                <a:tailEnd/>
              </a:ln>
            </p:spPr>
            <p:txBody>
              <a:bodyPr/>
              <a:lstStyle/>
              <a:p>
                <a:endParaRPr lang="zh-CN" altLang="en-US"/>
              </a:p>
            </p:txBody>
          </p:sp>
          <p:sp>
            <p:nvSpPr>
              <p:cNvPr id="78970" name="Freeform 125"/>
              <p:cNvSpPr>
                <a:spLocks/>
              </p:cNvSpPr>
              <p:nvPr/>
            </p:nvSpPr>
            <p:spPr bwMode="auto">
              <a:xfrm>
                <a:off x="2320" y="876"/>
                <a:ext cx="64" cy="57"/>
              </a:xfrm>
              <a:custGeom>
                <a:avLst/>
                <a:gdLst>
                  <a:gd name="T0" fmla="*/ 0 w 448"/>
                  <a:gd name="T1" fmla="*/ 1 h 403"/>
                  <a:gd name="T2" fmla="*/ 0 w 448"/>
                  <a:gd name="T3" fmla="*/ 0 h 403"/>
                  <a:gd name="T4" fmla="*/ 1 w 448"/>
                  <a:gd name="T5" fmla="*/ 0 h 403"/>
                  <a:gd name="T6" fmla="*/ 1 w 448"/>
                  <a:gd name="T7" fmla="*/ 0 h 403"/>
                  <a:gd name="T8" fmla="*/ 0 w 448"/>
                  <a:gd name="T9" fmla="*/ 0 h 403"/>
                  <a:gd name="T10" fmla="*/ 0 w 448"/>
                  <a:gd name="T11" fmla="*/ 1 h 403"/>
                  <a:gd name="T12" fmla="*/ 0 w 448"/>
                  <a:gd name="T13" fmla="*/ 1 h 403"/>
                  <a:gd name="T14" fmla="*/ 0 60000 65536"/>
                  <a:gd name="T15" fmla="*/ 0 60000 65536"/>
                  <a:gd name="T16" fmla="*/ 0 60000 65536"/>
                  <a:gd name="T17" fmla="*/ 0 60000 65536"/>
                  <a:gd name="T18" fmla="*/ 0 60000 65536"/>
                  <a:gd name="T19" fmla="*/ 0 60000 65536"/>
                  <a:gd name="T20" fmla="*/ 0 60000 65536"/>
                  <a:gd name="T21" fmla="*/ 0 w 448"/>
                  <a:gd name="T22" fmla="*/ 0 h 403"/>
                  <a:gd name="T23" fmla="*/ 448 w 448"/>
                  <a:gd name="T24" fmla="*/ 403 h 4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8" h="403">
                    <a:moveTo>
                      <a:pt x="56" y="403"/>
                    </a:moveTo>
                    <a:lnTo>
                      <a:pt x="56" y="50"/>
                    </a:lnTo>
                    <a:lnTo>
                      <a:pt x="448" y="50"/>
                    </a:lnTo>
                    <a:lnTo>
                      <a:pt x="448" y="0"/>
                    </a:lnTo>
                    <a:lnTo>
                      <a:pt x="0" y="0"/>
                    </a:lnTo>
                    <a:lnTo>
                      <a:pt x="0" y="403"/>
                    </a:lnTo>
                    <a:lnTo>
                      <a:pt x="56" y="403"/>
                    </a:lnTo>
                    <a:close/>
                  </a:path>
                </a:pathLst>
              </a:custGeom>
              <a:solidFill>
                <a:srgbClr val="C0C0C0"/>
              </a:solidFill>
              <a:ln w="1588">
                <a:solidFill>
                  <a:srgbClr val="000000"/>
                </a:solidFill>
                <a:round/>
                <a:headEnd/>
                <a:tailEnd/>
              </a:ln>
            </p:spPr>
            <p:txBody>
              <a:bodyPr/>
              <a:lstStyle/>
              <a:p>
                <a:endParaRPr lang="zh-CN" altLang="en-US"/>
              </a:p>
            </p:txBody>
          </p:sp>
          <p:grpSp>
            <p:nvGrpSpPr>
              <p:cNvPr id="78971" name="Group 126"/>
              <p:cNvGrpSpPr>
                <a:grpSpLocks/>
              </p:cNvGrpSpPr>
              <p:nvPr/>
            </p:nvGrpSpPr>
            <p:grpSpPr bwMode="auto">
              <a:xfrm>
                <a:off x="2267" y="821"/>
                <a:ext cx="73" cy="59"/>
                <a:chOff x="2267" y="821"/>
                <a:chExt cx="73" cy="59"/>
              </a:xfrm>
            </p:grpSpPr>
            <p:sp>
              <p:nvSpPr>
                <p:cNvPr id="78983" name="Oval 127"/>
                <p:cNvSpPr>
                  <a:spLocks noChangeArrowheads="1"/>
                </p:cNvSpPr>
                <p:nvPr/>
              </p:nvSpPr>
              <p:spPr bwMode="auto">
                <a:xfrm>
                  <a:off x="2273" y="821"/>
                  <a:ext cx="67" cy="59"/>
                </a:xfrm>
                <a:prstGeom prst="ellipse">
                  <a:avLst/>
                </a:prstGeom>
                <a:solidFill>
                  <a:srgbClr val="808080"/>
                </a:solidFill>
                <a:ln w="1588">
                  <a:solidFill>
                    <a:srgbClr val="000000"/>
                  </a:solidFill>
                  <a:round/>
                  <a:headEnd/>
                  <a:tailEnd/>
                </a:ln>
              </p:spPr>
              <p:txBody>
                <a:bodyPr/>
                <a:lstStyle/>
                <a:p>
                  <a:endParaRPr lang="zh-CN" altLang="en-US"/>
                </a:p>
              </p:txBody>
            </p:sp>
            <p:sp>
              <p:nvSpPr>
                <p:cNvPr id="78984" name="Oval 128"/>
                <p:cNvSpPr>
                  <a:spLocks noChangeArrowheads="1"/>
                </p:cNvSpPr>
                <p:nvPr/>
              </p:nvSpPr>
              <p:spPr bwMode="auto">
                <a:xfrm>
                  <a:off x="2267" y="821"/>
                  <a:ext cx="66" cy="59"/>
                </a:xfrm>
                <a:prstGeom prst="ellipse">
                  <a:avLst/>
                </a:prstGeom>
                <a:solidFill>
                  <a:srgbClr val="C0C0C0"/>
                </a:solidFill>
                <a:ln w="1588">
                  <a:solidFill>
                    <a:srgbClr val="000000"/>
                  </a:solidFill>
                  <a:round/>
                  <a:headEnd/>
                  <a:tailEnd/>
                </a:ln>
              </p:spPr>
              <p:txBody>
                <a:bodyPr/>
                <a:lstStyle/>
                <a:p>
                  <a:endParaRPr lang="zh-CN" altLang="en-US"/>
                </a:p>
              </p:txBody>
            </p:sp>
          </p:grpSp>
          <p:grpSp>
            <p:nvGrpSpPr>
              <p:cNvPr id="78972" name="Group 129"/>
              <p:cNvGrpSpPr>
                <a:grpSpLocks/>
              </p:cNvGrpSpPr>
              <p:nvPr/>
            </p:nvGrpSpPr>
            <p:grpSpPr bwMode="auto">
              <a:xfrm>
                <a:off x="2296" y="933"/>
                <a:ext cx="24" cy="58"/>
                <a:chOff x="2296" y="933"/>
                <a:chExt cx="24" cy="58"/>
              </a:xfrm>
            </p:grpSpPr>
            <p:sp>
              <p:nvSpPr>
                <p:cNvPr id="78974" name="Rectangle 130"/>
                <p:cNvSpPr>
                  <a:spLocks noChangeArrowheads="1"/>
                </p:cNvSpPr>
                <p:nvPr/>
              </p:nvSpPr>
              <p:spPr bwMode="auto">
                <a:xfrm>
                  <a:off x="2296" y="933"/>
                  <a:ext cx="24" cy="58"/>
                </a:xfrm>
                <a:prstGeom prst="rect">
                  <a:avLst/>
                </a:prstGeom>
                <a:solidFill>
                  <a:srgbClr val="C0C0C0"/>
                </a:solidFill>
                <a:ln w="1588">
                  <a:solidFill>
                    <a:srgbClr val="000000"/>
                  </a:solidFill>
                  <a:miter lim="800000"/>
                  <a:headEnd/>
                  <a:tailEnd/>
                </a:ln>
              </p:spPr>
              <p:txBody>
                <a:bodyPr/>
                <a:lstStyle/>
                <a:p>
                  <a:endParaRPr lang="zh-CN" altLang="en-US"/>
                </a:p>
              </p:txBody>
            </p:sp>
            <p:grpSp>
              <p:nvGrpSpPr>
                <p:cNvPr id="78975" name="Group 131"/>
                <p:cNvGrpSpPr>
                  <a:grpSpLocks/>
                </p:cNvGrpSpPr>
                <p:nvPr/>
              </p:nvGrpSpPr>
              <p:grpSpPr bwMode="auto">
                <a:xfrm>
                  <a:off x="2296" y="941"/>
                  <a:ext cx="24" cy="44"/>
                  <a:chOff x="2296" y="941"/>
                  <a:chExt cx="24" cy="44"/>
                </a:xfrm>
              </p:grpSpPr>
              <p:sp>
                <p:nvSpPr>
                  <p:cNvPr id="78976" name="Line 132"/>
                  <p:cNvSpPr>
                    <a:spLocks noChangeShapeType="1"/>
                  </p:cNvSpPr>
                  <p:nvPr/>
                </p:nvSpPr>
                <p:spPr bwMode="auto">
                  <a:xfrm>
                    <a:off x="2296" y="948"/>
                    <a:ext cx="24" cy="1"/>
                  </a:xfrm>
                  <a:prstGeom prst="line">
                    <a:avLst/>
                  </a:prstGeom>
                  <a:noFill/>
                  <a:ln w="1588">
                    <a:solidFill>
                      <a:srgbClr val="000000"/>
                    </a:solidFill>
                    <a:round/>
                    <a:headEnd/>
                    <a:tailEnd/>
                  </a:ln>
                </p:spPr>
                <p:txBody>
                  <a:bodyPr/>
                  <a:lstStyle/>
                  <a:p>
                    <a:endParaRPr lang="zh-CN" altLang="en-US"/>
                  </a:p>
                </p:txBody>
              </p:sp>
              <p:sp>
                <p:nvSpPr>
                  <p:cNvPr id="78977" name="Line 133"/>
                  <p:cNvSpPr>
                    <a:spLocks noChangeShapeType="1"/>
                  </p:cNvSpPr>
                  <p:nvPr/>
                </p:nvSpPr>
                <p:spPr bwMode="auto">
                  <a:xfrm>
                    <a:off x="2296" y="970"/>
                    <a:ext cx="24" cy="1"/>
                  </a:xfrm>
                  <a:prstGeom prst="line">
                    <a:avLst/>
                  </a:prstGeom>
                  <a:noFill/>
                  <a:ln w="1588">
                    <a:solidFill>
                      <a:srgbClr val="000000"/>
                    </a:solidFill>
                    <a:round/>
                    <a:headEnd/>
                    <a:tailEnd/>
                  </a:ln>
                </p:spPr>
                <p:txBody>
                  <a:bodyPr/>
                  <a:lstStyle/>
                  <a:p>
                    <a:endParaRPr lang="zh-CN" altLang="en-US"/>
                  </a:p>
                </p:txBody>
              </p:sp>
              <p:sp>
                <p:nvSpPr>
                  <p:cNvPr id="78978" name="Line 134"/>
                  <p:cNvSpPr>
                    <a:spLocks noChangeShapeType="1"/>
                  </p:cNvSpPr>
                  <p:nvPr/>
                </p:nvSpPr>
                <p:spPr bwMode="auto">
                  <a:xfrm>
                    <a:off x="2296" y="962"/>
                    <a:ext cx="24" cy="1"/>
                  </a:xfrm>
                  <a:prstGeom prst="line">
                    <a:avLst/>
                  </a:prstGeom>
                  <a:noFill/>
                  <a:ln w="1588">
                    <a:solidFill>
                      <a:srgbClr val="000000"/>
                    </a:solidFill>
                    <a:round/>
                    <a:headEnd/>
                    <a:tailEnd/>
                  </a:ln>
                </p:spPr>
                <p:txBody>
                  <a:bodyPr/>
                  <a:lstStyle/>
                  <a:p>
                    <a:endParaRPr lang="zh-CN" altLang="en-US"/>
                  </a:p>
                </p:txBody>
              </p:sp>
              <p:sp>
                <p:nvSpPr>
                  <p:cNvPr id="78979" name="Line 135"/>
                  <p:cNvSpPr>
                    <a:spLocks noChangeShapeType="1"/>
                  </p:cNvSpPr>
                  <p:nvPr/>
                </p:nvSpPr>
                <p:spPr bwMode="auto">
                  <a:xfrm>
                    <a:off x="2296" y="955"/>
                    <a:ext cx="24" cy="1"/>
                  </a:xfrm>
                  <a:prstGeom prst="line">
                    <a:avLst/>
                  </a:prstGeom>
                  <a:noFill/>
                  <a:ln w="1588">
                    <a:solidFill>
                      <a:srgbClr val="000000"/>
                    </a:solidFill>
                    <a:round/>
                    <a:headEnd/>
                    <a:tailEnd/>
                  </a:ln>
                </p:spPr>
                <p:txBody>
                  <a:bodyPr/>
                  <a:lstStyle/>
                  <a:p>
                    <a:endParaRPr lang="zh-CN" altLang="en-US"/>
                  </a:p>
                </p:txBody>
              </p:sp>
              <p:sp>
                <p:nvSpPr>
                  <p:cNvPr id="78980" name="Line 136"/>
                  <p:cNvSpPr>
                    <a:spLocks noChangeShapeType="1"/>
                  </p:cNvSpPr>
                  <p:nvPr/>
                </p:nvSpPr>
                <p:spPr bwMode="auto">
                  <a:xfrm>
                    <a:off x="2296" y="941"/>
                    <a:ext cx="24" cy="1"/>
                  </a:xfrm>
                  <a:prstGeom prst="line">
                    <a:avLst/>
                  </a:prstGeom>
                  <a:noFill/>
                  <a:ln w="1588">
                    <a:solidFill>
                      <a:srgbClr val="000000"/>
                    </a:solidFill>
                    <a:round/>
                    <a:headEnd/>
                    <a:tailEnd/>
                  </a:ln>
                </p:spPr>
                <p:txBody>
                  <a:bodyPr/>
                  <a:lstStyle/>
                  <a:p>
                    <a:endParaRPr lang="zh-CN" altLang="en-US"/>
                  </a:p>
                </p:txBody>
              </p:sp>
              <p:sp>
                <p:nvSpPr>
                  <p:cNvPr id="78981" name="Line 137"/>
                  <p:cNvSpPr>
                    <a:spLocks noChangeShapeType="1"/>
                  </p:cNvSpPr>
                  <p:nvPr/>
                </p:nvSpPr>
                <p:spPr bwMode="auto">
                  <a:xfrm>
                    <a:off x="2296" y="977"/>
                    <a:ext cx="24" cy="1"/>
                  </a:xfrm>
                  <a:prstGeom prst="line">
                    <a:avLst/>
                  </a:prstGeom>
                  <a:noFill/>
                  <a:ln w="1588">
                    <a:solidFill>
                      <a:srgbClr val="000000"/>
                    </a:solidFill>
                    <a:round/>
                    <a:headEnd/>
                    <a:tailEnd/>
                  </a:ln>
                </p:spPr>
                <p:txBody>
                  <a:bodyPr/>
                  <a:lstStyle/>
                  <a:p>
                    <a:endParaRPr lang="zh-CN" altLang="en-US"/>
                  </a:p>
                </p:txBody>
              </p:sp>
              <p:sp>
                <p:nvSpPr>
                  <p:cNvPr id="78982" name="Line 138"/>
                  <p:cNvSpPr>
                    <a:spLocks noChangeShapeType="1"/>
                  </p:cNvSpPr>
                  <p:nvPr/>
                </p:nvSpPr>
                <p:spPr bwMode="auto">
                  <a:xfrm>
                    <a:off x="2296" y="984"/>
                    <a:ext cx="24" cy="1"/>
                  </a:xfrm>
                  <a:prstGeom prst="line">
                    <a:avLst/>
                  </a:prstGeom>
                  <a:noFill/>
                  <a:ln w="1588">
                    <a:solidFill>
                      <a:srgbClr val="000000"/>
                    </a:solidFill>
                    <a:round/>
                    <a:headEnd/>
                    <a:tailEnd/>
                  </a:ln>
                </p:spPr>
                <p:txBody>
                  <a:bodyPr/>
                  <a:lstStyle/>
                  <a:p>
                    <a:endParaRPr lang="zh-CN" altLang="en-US"/>
                  </a:p>
                </p:txBody>
              </p:sp>
            </p:grpSp>
          </p:grpSp>
          <p:sp>
            <p:nvSpPr>
              <p:cNvPr id="78973" name="Rectangle 139"/>
              <p:cNvSpPr>
                <a:spLocks noChangeArrowheads="1"/>
              </p:cNvSpPr>
              <p:nvPr/>
            </p:nvSpPr>
            <p:spPr bwMode="auto">
              <a:xfrm>
                <a:off x="2448" y="948"/>
                <a:ext cx="8" cy="14"/>
              </a:xfrm>
              <a:prstGeom prst="rect">
                <a:avLst/>
              </a:prstGeom>
              <a:solidFill>
                <a:srgbClr val="C0C0C0"/>
              </a:solidFill>
              <a:ln w="1588">
                <a:solidFill>
                  <a:srgbClr val="000000"/>
                </a:solidFill>
                <a:miter lim="800000"/>
                <a:headEnd/>
                <a:tailEnd/>
              </a:ln>
            </p:spPr>
            <p:txBody>
              <a:bodyPr/>
              <a:lstStyle/>
              <a:p>
                <a:endParaRPr lang="zh-CN" altLang="en-US"/>
              </a:p>
            </p:txBody>
          </p:sp>
        </p:grpSp>
        <p:grpSp>
          <p:nvGrpSpPr>
            <p:cNvPr id="78936" name="Group 140"/>
            <p:cNvGrpSpPr>
              <a:grpSpLocks/>
            </p:cNvGrpSpPr>
            <p:nvPr/>
          </p:nvGrpSpPr>
          <p:grpSpPr bwMode="auto">
            <a:xfrm>
              <a:off x="2382" y="788"/>
              <a:ext cx="40" cy="40"/>
              <a:chOff x="2382" y="788"/>
              <a:chExt cx="40" cy="40"/>
            </a:xfrm>
          </p:grpSpPr>
          <p:sp>
            <p:nvSpPr>
              <p:cNvPr id="78949" name="Freeform 141"/>
              <p:cNvSpPr>
                <a:spLocks/>
              </p:cNvSpPr>
              <p:nvPr/>
            </p:nvSpPr>
            <p:spPr bwMode="auto">
              <a:xfrm>
                <a:off x="2404" y="800"/>
                <a:ext cx="18" cy="28"/>
              </a:xfrm>
              <a:custGeom>
                <a:avLst/>
                <a:gdLst>
                  <a:gd name="T0" fmla="*/ 0 w 127"/>
                  <a:gd name="T1" fmla="*/ 0 h 195"/>
                  <a:gd name="T2" fmla="*/ 0 w 127"/>
                  <a:gd name="T3" fmla="*/ 0 h 195"/>
                  <a:gd name="T4" fmla="*/ 0 w 127"/>
                  <a:gd name="T5" fmla="*/ 1 h 195"/>
                  <a:gd name="T6" fmla="*/ 0 w 127"/>
                  <a:gd name="T7" fmla="*/ 0 h 195"/>
                  <a:gd name="T8" fmla="*/ 0 w 127"/>
                  <a:gd name="T9" fmla="*/ 0 h 195"/>
                  <a:gd name="T10" fmla="*/ 0 60000 65536"/>
                  <a:gd name="T11" fmla="*/ 0 60000 65536"/>
                  <a:gd name="T12" fmla="*/ 0 60000 65536"/>
                  <a:gd name="T13" fmla="*/ 0 60000 65536"/>
                  <a:gd name="T14" fmla="*/ 0 60000 65536"/>
                  <a:gd name="T15" fmla="*/ 0 w 127"/>
                  <a:gd name="T16" fmla="*/ 0 h 195"/>
                  <a:gd name="T17" fmla="*/ 127 w 127"/>
                  <a:gd name="T18" fmla="*/ 195 h 195"/>
                </a:gdLst>
                <a:ahLst/>
                <a:cxnLst>
                  <a:cxn ang="T10">
                    <a:pos x="T0" y="T1"/>
                  </a:cxn>
                  <a:cxn ang="T11">
                    <a:pos x="T2" y="T3"/>
                  </a:cxn>
                  <a:cxn ang="T12">
                    <a:pos x="T4" y="T5"/>
                  </a:cxn>
                  <a:cxn ang="T13">
                    <a:pos x="T6" y="T7"/>
                  </a:cxn>
                  <a:cxn ang="T14">
                    <a:pos x="T8" y="T9"/>
                  </a:cxn>
                </a:cxnLst>
                <a:rect l="T15" t="T16" r="T17" b="T18"/>
                <a:pathLst>
                  <a:path w="127" h="195">
                    <a:moveTo>
                      <a:pt x="106" y="0"/>
                    </a:moveTo>
                    <a:lnTo>
                      <a:pt x="0" y="164"/>
                    </a:lnTo>
                    <a:lnTo>
                      <a:pt x="21" y="195"/>
                    </a:lnTo>
                    <a:lnTo>
                      <a:pt x="127" y="6"/>
                    </a:lnTo>
                    <a:lnTo>
                      <a:pt x="106" y="0"/>
                    </a:lnTo>
                    <a:close/>
                  </a:path>
                </a:pathLst>
              </a:custGeom>
              <a:solidFill>
                <a:srgbClr val="BFBFDF"/>
              </a:solidFill>
              <a:ln w="1588">
                <a:solidFill>
                  <a:srgbClr val="000000"/>
                </a:solidFill>
                <a:round/>
                <a:headEnd/>
                <a:tailEnd/>
              </a:ln>
            </p:spPr>
            <p:txBody>
              <a:bodyPr/>
              <a:lstStyle/>
              <a:p>
                <a:endParaRPr lang="zh-CN" altLang="en-US"/>
              </a:p>
            </p:txBody>
          </p:sp>
          <p:sp>
            <p:nvSpPr>
              <p:cNvPr id="78950" name="Freeform 142"/>
              <p:cNvSpPr>
                <a:spLocks/>
              </p:cNvSpPr>
              <p:nvPr/>
            </p:nvSpPr>
            <p:spPr bwMode="auto">
              <a:xfrm>
                <a:off x="2382" y="788"/>
                <a:ext cx="35" cy="8"/>
              </a:xfrm>
              <a:custGeom>
                <a:avLst/>
                <a:gdLst>
                  <a:gd name="T0" fmla="*/ 1 w 246"/>
                  <a:gd name="T1" fmla="*/ 0 h 57"/>
                  <a:gd name="T2" fmla="*/ 0 w 246"/>
                  <a:gd name="T3" fmla="*/ 0 h 57"/>
                  <a:gd name="T4" fmla="*/ 0 w 246"/>
                  <a:gd name="T5" fmla="*/ 0 h 57"/>
                  <a:gd name="T6" fmla="*/ 1 w 246"/>
                  <a:gd name="T7" fmla="*/ 0 h 57"/>
                  <a:gd name="T8" fmla="*/ 1 w 246"/>
                  <a:gd name="T9" fmla="*/ 0 h 57"/>
                  <a:gd name="T10" fmla="*/ 0 60000 65536"/>
                  <a:gd name="T11" fmla="*/ 0 60000 65536"/>
                  <a:gd name="T12" fmla="*/ 0 60000 65536"/>
                  <a:gd name="T13" fmla="*/ 0 60000 65536"/>
                  <a:gd name="T14" fmla="*/ 0 60000 65536"/>
                  <a:gd name="T15" fmla="*/ 0 w 246"/>
                  <a:gd name="T16" fmla="*/ 0 h 57"/>
                  <a:gd name="T17" fmla="*/ 246 w 246"/>
                  <a:gd name="T18" fmla="*/ 57 h 57"/>
                </a:gdLst>
                <a:ahLst/>
                <a:cxnLst>
                  <a:cxn ang="T10">
                    <a:pos x="T0" y="T1"/>
                  </a:cxn>
                  <a:cxn ang="T11">
                    <a:pos x="T2" y="T3"/>
                  </a:cxn>
                  <a:cxn ang="T12">
                    <a:pos x="T4" y="T5"/>
                  </a:cxn>
                  <a:cxn ang="T13">
                    <a:pos x="T6" y="T7"/>
                  </a:cxn>
                  <a:cxn ang="T14">
                    <a:pos x="T8" y="T9"/>
                  </a:cxn>
                </a:cxnLst>
                <a:rect l="T15" t="T16" r="T17" b="T18"/>
                <a:pathLst>
                  <a:path w="246" h="57">
                    <a:moveTo>
                      <a:pt x="238" y="0"/>
                    </a:moveTo>
                    <a:lnTo>
                      <a:pt x="0" y="31"/>
                    </a:lnTo>
                    <a:lnTo>
                      <a:pt x="35" y="57"/>
                    </a:lnTo>
                    <a:lnTo>
                      <a:pt x="246" y="19"/>
                    </a:lnTo>
                    <a:lnTo>
                      <a:pt x="238" y="0"/>
                    </a:lnTo>
                    <a:close/>
                  </a:path>
                </a:pathLst>
              </a:custGeom>
              <a:solidFill>
                <a:srgbClr val="BFBFDF"/>
              </a:solidFill>
              <a:ln w="1588">
                <a:solidFill>
                  <a:srgbClr val="000000"/>
                </a:solidFill>
                <a:round/>
                <a:headEnd/>
                <a:tailEnd/>
              </a:ln>
            </p:spPr>
            <p:txBody>
              <a:bodyPr/>
              <a:lstStyle/>
              <a:p>
                <a:endParaRPr lang="zh-CN" altLang="en-US"/>
              </a:p>
            </p:txBody>
          </p:sp>
        </p:grpSp>
        <p:grpSp>
          <p:nvGrpSpPr>
            <p:cNvPr id="78937" name="Group 143"/>
            <p:cNvGrpSpPr>
              <a:grpSpLocks/>
            </p:cNvGrpSpPr>
            <p:nvPr/>
          </p:nvGrpSpPr>
          <p:grpSpPr bwMode="auto">
            <a:xfrm>
              <a:off x="2302" y="723"/>
              <a:ext cx="132" cy="186"/>
              <a:chOff x="2302" y="723"/>
              <a:chExt cx="132" cy="186"/>
            </a:xfrm>
          </p:grpSpPr>
          <p:sp>
            <p:nvSpPr>
              <p:cNvPr id="78947" name="Freeform 144"/>
              <p:cNvSpPr>
                <a:spLocks/>
              </p:cNvSpPr>
              <p:nvPr/>
            </p:nvSpPr>
            <p:spPr bwMode="auto">
              <a:xfrm>
                <a:off x="2302" y="724"/>
                <a:ext cx="132" cy="185"/>
              </a:xfrm>
              <a:custGeom>
                <a:avLst/>
                <a:gdLst>
                  <a:gd name="T0" fmla="*/ 0 w 920"/>
                  <a:gd name="T1" fmla="*/ 0 h 1300"/>
                  <a:gd name="T2" fmla="*/ 0 w 920"/>
                  <a:gd name="T3" fmla="*/ 0 h 1300"/>
                  <a:gd name="T4" fmla="*/ 0 w 920"/>
                  <a:gd name="T5" fmla="*/ 0 h 1300"/>
                  <a:gd name="T6" fmla="*/ 0 w 920"/>
                  <a:gd name="T7" fmla="*/ 1 h 1300"/>
                  <a:gd name="T8" fmla="*/ 0 w 920"/>
                  <a:gd name="T9" fmla="*/ 1 h 1300"/>
                  <a:gd name="T10" fmla="*/ 0 w 920"/>
                  <a:gd name="T11" fmla="*/ 1 h 1300"/>
                  <a:gd name="T12" fmla="*/ 0 w 920"/>
                  <a:gd name="T13" fmla="*/ 1 h 1300"/>
                  <a:gd name="T14" fmla="*/ 0 w 920"/>
                  <a:gd name="T15" fmla="*/ 1 h 1300"/>
                  <a:gd name="T16" fmla="*/ 0 w 920"/>
                  <a:gd name="T17" fmla="*/ 2 h 1300"/>
                  <a:gd name="T18" fmla="*/ 0 w 920"/>
                  <a:gd name="T19" fmla="*/ 2 h 1300"/>
                  <a:gd name="T20" fmla="*/ 1 w 920"/>
                  <a:gd name="T21" fmla="*/ 2 h 1300"/>
                  <a:gd name="T22" fmla="*/ 1 w 920"/>
                  <a:gd name="T23" fmla="*/ 3 h 1300"/>
                  <a:gd name="T24" fmla="*/ 1 w 920"/>
                  <a:gd name="T25" fmla="*/ 3 h 1300"/>
                  <a:gd name="T26" fmla="*/ 1 w 920"/>
                  <a:gd name="T27" fmla="*/ 3 h 1300"/>
                  <a:gd name="T28" fmla="*/ 2 w 920"/>
                  <a:gd name="T29" fmla="*/ 3 h 1300"/>
                  <a:gd name="T30" fmla="*/ 2 w 920"/>
                  <a:gd name="T31" fmla="*/ 4 h 1300"/>
                  <a:gd name="T32" fmla="*/ 2 w 920"/>
                  <a:gd name="T33" fmla="*/ 4 h 1300"/>
                  <a:gd name="T34" fmla="*/ 2 w 920"/>
                  <a:gd name="T35" fmla="*/ 4 h 1300"/>
                  <a:gd name="T36" fmla="*/ 2 w 920"/>
                  <a:gd name="T37" fmla="*/ 4 h 1300"/>
                  <a:gd name="T38" fmla="*/ 3 w 920"/>
                  <a:gd name="T39" fmla="*/ 4 h 1300"/>
                  <a:gd name="T40" fmla="*/ 3 w 920"/>
                  <a:gd name="T41" fmla="*/ 4 h 1300"/>
                  <a:gd name="T42" fmla="*/ 0 w 920"/>
                  <a:gd name="T43" fmla="*/ 0 h 1300"/>
                  <a:gd name="T44" fmla="*/ 0 w 920"/>
                  <a:gd name="T45" fmla="*/ 0 h 13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0"/>
                  <a:gd name="T70" fmla="*/ 0 h 1300"/>
                  <a:gd name="T71" fmla="*/ 920 w 920"/>
                  <a:gd name="T72" fmla="*/ 1300 h 13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0" h="1300">
                    <a:moveTo>
                      <a:pt x="30" y="47"/>
                    </a:moveTo>
                    <a:lnTo>
                      <a:pt x="16" y="85"/>
                    </a:lnTo>
                    <a:lnTo>
                      <a:pt x="4" y="132"/>
                    </a:lnTo>
                    <a:lnTo>
                      <a:pt x="0" y="183"/>
                    </a:lnTo>
                    <a:lnTo>
                      <a:pt x="0" y="233"/>
                    </a:lnTo>
                    <a:lnTo>
                      <a:pt x="12" y="299"/>
                    </a:lnTo>
                    <a:lnTo>
                      <a:pt x="23" y="381"/>
                    </a:lnTo>
                    <a:lnTo>
                      <a:pt x="44" y="473"/>
                    </a:lnTo>
                    <a:lnTo>
                      <a:pt x="79" y="578"/>
                    </a:lnTo>
                    <a:lnTo>
                      <a:pt x="131" y="679"/>
                    </a:lnTo>
                    <a:lnTo>
                      <a:pt x="215" y="799"/>
                    </a:lnTo>
                    <a:lnTo>
                      <a:pt x="299" y="912"/>
                    </a:lnTo>
                    <a:lnTo>
                      <a:pt x="369" y="988"/>
                    </a:lnTo>
                    <a:lnTo>
                      <a:pt x="467" y="1079"/>
                    </a:lnTo>
                    <a:lnTo>
                      <a:pt x="569" y="1155"/>
                    </a:lnTo>
                    <a:lnTo>
                      <a:pt x="660" y="1215"/>
                    </a:lnTo>
                    <a:lnTo>
                      <a:pt x="726" y="1253"/>
                    </a:lnTo>
                    <a:lnTo>
                      <a:pt x="793" y="1281"/>
                    </a:lnTo>
                    <a:lnTo>
                      <a:pt x="846" y="1300"/>
                    </a:lnTo>
                    <a:lnTo>
                      <a:pt x="888" y="1300"/>
                    </a:lnTo>
                    <a:lnTo>
                      <a:pt x="920" y="1284"/>
                    </a:lnTo>
                    <a:lnTo>
                      <a:pt x="61" y="0"/>
                    </a:lnTo>
                    <a:lnTo>
                      <a:pt x="30" y="47"/>
                    </a:lnTo>
                    <a:close/>
                  </a:path>
                </a:pathLst>
              </a:custGeom>
              <a:solidFill>
                <a:srgbClr val="808080"/>
              </a:solidFill>
              <a:ln w="1588">
                <a:solidFill>
                  <a:srgbClr val="000000"/>
                </a:solidFill>
                <a:round/>
                <a:headEnd/>
                <a:tailEnd/>
              </a:ln>
            </p:spPr>
            <p:txBody>
              <a:bodyPr/>
              <a:lstStyle/>
              <a:p>
                <a:endParaRPr lang="zh-CN" altLang="en-US"/>
              </a:p>
            </p:txBody>
          </p:sp>
          <p:sp>
            <p:nvSpPr>
              <p:cNvPr id="78948" name="Freeform 145"/>
              <p:cNvSpPr>
                <a:spLocks/>
              </p:cNvSpPr>
              <p:nvPr/>
            </p:nvSpPr>
            <p:spPr bwMode="auto">
              <a:xfrm>
                <a:off x="2310" y="723"/>
                <a:ext cx="124" cy="184"/>
              </a:xfrm>
              <a:custGeom>
                <a:avLst/>
                <a:gdLst>
                  <a:gd name="T0" fmla="*/ 0 w 866"/>
                  <a:gd name="T1" fmla="*/ 0 h 1288"/>
                  <a:gd name="T2" fmla="*/ 0 w 866"/>
                  <a:gd name="T3" fmla="*/ 0 h 1288"/>
                  <a:gd name="T4" fmla="*/ 0 w 866"/>
                  <a:gd name="T5" fmla="*/ 0 h 1288"/>
                  <a:gd name="T6" fmla="*/ 0 w 866"/>
                  <a:gd name="T7" fmla="*/ 0 h 1288"/>
                  <a:gd name="T8" fmla="*/ 0 w 866"/>
                  <a:gd name="T9" fmla="*/ 1 h 1288"/>
                  <a:gd name="T10" fmla="*/ 0 w 866"/>
                  <a:gd name="T11" fmla="*/ 1 h 1288"/>
                  <a:gd name="T12" fmla="*/ 0 w 866"/>
                  <a:gd name="T13" fmla="*/ 1 h 1288"/>
                  <a:gd name="T14" fmla="*/ 0 w 866"/>
                  <a:gd name="T15" fmla="*/ 1 h 1288"/>
                  <a:gd name="T16" fmla="*/ 0 w 866"/>
                  <a:gd name="T17" fmla="*/ 2 h 1288"/>
                  <a:gd name="T18" fmla="*/ 0 w 866"/>
                  <a:gd name="T19" fmla="*/ 2 h 1288"/>
                  <a:gd name="T20" fmla="*/ 1 w 866"/>
                  <a:gd name="T21" fmla="*/ 2 h 1288"/>
                  <a:gd name="T22" fmla="*/ 1 w 866"/>
                  <a:gd name="T23" fmla="*/ 3 h 1288"/>
                  <a:gd name="T24" fmla="*/ 1 w 866"/>
                  <a:gd name="T25" fmla="*/ 3 h 1288"/>
                  <a:gd name="T26" fmla="*/ 1 w 866"/>
                  <a:gd name="T27" fmla="*/ 3 h 1288"/>
                  <a:gd name="T28" fmla="*/ 1 w 866"/>
                  <a:gd name="T29" fmla="*/ 3 h 1288"/>
                  <a:gd name="T30" fmla="*/ 2 w 866"/>
                  <a:gd name="T31" fmla="*/ 3 h 1288"/>
                  <a:gd name="T32" fmla="*/ 2 w 866"/>
                  <a:gd name="T33" fmla="*/ 3 h 1288"/>
                  <a:gd name="T34" fmla="*/ 2 w 866"/>
                  <a:gd name="T35" fmla="*/ 3 h 1288"/>
                  <a:gd name="T36" fmla="*/ 2 w 866"/>
                  <a:gd name="T37" fmla="*/ 4 h 1288"/>
                  <a:gd name="T38" fmla="*/ 2 w 866"/>
                  <a:gd name="T39" fmla="*/ 4 h 1288"/>
                  <a:gd name="T40" fmla="*/ 2 w 866"/>
                  <a:gd name="T41" fmla="*/ 4 h 1288"/>
                  <a:gd name="T42" fmla="*/ 2 w 866"/>
                  <a:gd name="T43" fmla="*/ 4 h 1288"/>
                  <a:gd name="T44" fmla="*/ 3 w 866"/>
                  <a:gd name="T45" fmla="*/ 4 h 1288"/>
                  <a:gd name="T46" fmla="*/ 3 w 866"/>
                  <a:gd name="T47" fmla="*/ 4 h 1288"/>
                  <a:gd name="T48" fmla="*/ 3 w 866"/>
                  <a:gd name="T49" fmla="*/ 4 h 1288"/>
                  <a:gd name="T50" fmla="*/ 2 w 866"/>
                  <a:gd name="T51" fmla="*/ 3 h 1288"/>
                  <a:gd name="T52" fmla="*/ 2 w 866"/>
                  <a:gd name="T53" fmla="*/ 3 h 1288"/>
                  <a:gd name="T54" fmla="*/ 2 w 866"/>
                  <a:gd name="T55" fmla="*/ 3 h 1288"/>
                  <a:gd name="T56" fmla="*/ 2 w 866"/>
                  <a:gd name="T57" fmla="*/ 3 h 1288"/>
                  <a:gd name="T58" fmla="*/ 2 w 866"/>
                  <a:gd name="T59" fmla="*/ 3 h 1288"/>
                  <a:gd name="T60" fmla="*/ 2 w 866"/>
                  <a:gd name="T61" fmla="*/ 2 h 1288"/>
                  <a:gd name="T62" fmla="*/ 2 w 866"/>
                  <a:gd name="T63" fmla="*/ 2 h 1288"/>
                  <a:gd name="T64" fmla="*/ 2 w 866"/>
                  <a:gd name="T65" fmla="*/ 2 h 1288"/>
                  <a:gd name="T66" fmla="*/ 2 w 866"/>
                  <a:gd name="T67" fmla="*/ 2 h 1288"/>
                  <a:gd name="T68" fmla="*/ 2 w 866"/>
                  <a:gd name="T69" fmla="*/ 2 h 1288"/>
                  <a:gd name="T70" fmla="*/ 1 w 866"/>
                  <a:gd name="T71" fmla="*/ 1 h 1288"/>
                  <a:gd name="T72" fmla="*/ 1 w 866"/>
                  <a:gd name="T73" fmla="*/ 1 h 1288"/>
                  <a:gd name="T74" fmla="*/ 1 w 866"/>
                  <a:gd name="T75" fmla="*/ 1 h 1288"/>
                  <a:gd name="T76" fmla="*/ 1 w 866"/>
                  <a:gd name="T77" fmla="*/ 1 h 1288"/>
                  <a:gd name="T78" fmla="*/ 1 w 866"/>
                  <a:gd name="T79" fmla="*/ 1 h 1288"/>
                  <a:gd name="T80" fmla="*/ 1 w 866"/>
                  <a:gd name="T81" fmla="*/ 0 h 1288"/>
                  <a:gd name="T82" fmla="*/ 0 w 866"/>
                  <a:gd name="T83" fmla="*/ 0 h 1288"/>
                  <a:gd name="T84" fmla="*/ 0 w 866"/>
                  <a:gd name="T85" fmla="*/ 0 h 1288"/>
                  <a:gd name="T86" fmla="*/ 0 w 866"/>
                  <a:gd name="T87" fmla="*/ 0 h 1288"/>
                  <a:gd name="T88" fmla="*/ 0 w 866"/>
                  <a:gd name="T89" fmla="*/ 0 h 128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66"/>
                  <a:gd name="T136" fmla="*/ 0 h 1288"/>
                  <a:gd name="T137" fmla="*/ 866 w 866"/>
                  <a:gd name="T138" fmla="*/ 1288 h 128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66" h="1288">
                    <a:moveTo>
                      <a:pt x="7" y="0"/>
                    </a:moveTo>
                    <a:lnTo>
                      <a:pt x="0" y="26"/>
                    </a:lnTo>
                    <a:lnTo>
                      <a:pt x="0" y="82"/>
                    </a:lnTo>
                    <a:lnTo>
                      <a:pt x="4" y="149"/>
                    </a:lnTo>
                    <a:lnTo>
                      <a:pt x="11" y="202"/>
                    </a:lnTo>
                    <a:lnTo>
                      <a:pt x="21" y="272"/>
                    </a:lnTo>
                    <a:lnTo>
                      <a:pt x="35" y="354"/>
                    </a:lnTo>
                    <a:lnTo>
                      <a:pt x="56" y="439"/>
                    </a:lnTo>
                    <a:lnTo>
                      <a:pt x="98" y="547"/>
                    </a:lnTo>
                    <a:lnTo>
                      <a:pt x="161" y="670"/>
                    </a:lnTo>
                    <a:lnTo>
                      <a:pt x="231" y="771"/>
                    </a:lnTo>
                    <a:lnTo>
                      <a:pt x="315" y="878"/>
                    </a:lnTo>
                    <a:lnTo>
                      <a:pt x="392" y="960"/>
                    </a:lnTo>
                    <a:lnTo>
                      <a:pt x="452" y="1016"/>
                    </a:lnTo>
                    <a:lnTo>
                      <a:pt x="508" y="1068"/>
                    </a:lnTo>
                    <a:lnTo>
                      <a:pt x="567" y="1118"/>
                    </a:lnTo>
                    <a:lnTo>
                      <a:pt x="634" y="1168"/>
                    </a:lnTo>
                    <a:lnTo>
                      <a:pt x="679" y="1200"/>
                    </a:lnTo>
                    <a:lnTo>
                      <a:pt x="728" y="1228"/>
                    </a:lnTo>
                    <a:lnTo>
                      <a:pt x="782" y="1256"/>
                    </a:lnTo>
                    <a:lnTo>
                      <a:pt x="827" y="1282"/>
                    </a:lnTo>
                    <a:lnTo>
                      <a:pt x="855" y="1288"/>
                    </a:lnTo>
                    <a:lnTo>
                      <a:pt x="866" y="1270"/>
                    </a:lnTo>
                    <a:lnTo>
                      <a:pt x="863" y="1243"/>
                    </a:lnTo>
                    <a:lnTo>
                      <a:pt x="856" y="1213"/>
                    </a:lnTo>
                    <a:lnTo>
                      <a:pt x="845" y="1159"/>
                    </a:lnTo>
                    <a:lnTo>
                      <a:pt x="831" y="1089"/>
                    </a:lnTo>
                    <a:lnTo>
                      <a:pt x="813" y="1023"/>
                    </a:lnTo>
                    <a:lnTo>
                      <a:pt x="792" y="947"/>
                    </a:lnTo>
                    <a:lnTo>
                      <a:pt x="764" y="866"/>
                    </a:lnTo>
                    <a:lnTo>
                      <a:pt x="733" y="802"/>
                    </a:lnTo>
                    <a:lnTo>
                      <a:pt x="707" y="746"/>
                    </a:lnTo>
                    <a:lnTo>
                      <a:pt x="666" y="672"/>
                    </a:lnTo>
                    <a:lnTo>
                      <a:pt x="627" y="607"/>
                    </a:lnTo>
                    <a:lnTo>
                      <a:pt x="579" y="537"/>
                    </a:lnTo>
                    <a:lnTo>
                      <a:pt x="504" y="448"/>
                    </a:lnTo>
                    <a:lnTo>
                      <a:pt x="452" y="385"/>
                    </a:lnTo>
                    <a:lnTo>
                      <a:pt x="376" y="299"/>
                    </a:lnTo>
                    <a:lnTo>
                      <a:pt x="305" y="237"/>
                    </a:lnTo>
                    <a:lnTo>
                      <a:pt x="235" y="173"/>
                    </a:lnTo>
                    <a:lnTo>
                      <a:pt x="182" y="127"/>
                    </a:lnTo>
                    <a:lnTo>
                      <a:pt x="126" y="78"/>
                    </a:lnTo>
                    <a:lnTo>
                      <a:pt x="84" y="45"/>
                    </a:lnTo>
                    <a:lnTo>
                      <a:pt x="42" y="13"/>
                    </a:lnTo>
                    <a:lnTo>
                      <a:pt x="7" y="0"/>
                    </a:lnTo>
                    <a:close/>
                  </a:path>
                </a:pathLst>
              </a:custGeom>
              <a:solidFill>
                <a:srgbClr val="C0C0C0"/>
              </a:solidFill>
              <a:ln w="1588">
                <a:solidFill>
                  <a:srgbClr val="000000"/>
                </a:solidFill>
                <a:round/>
                <a:headEnd/>
                <a:tailEnd/>
              </a:ln>
            </p:spPr>
            <p:txBody>
              <a:bodyPr/>
              <a:lstStyle/>
              <a:p>
                <a:endParaRPr lang="zh-CN" altLang="en-US"/>
              </a:p>
            </p:txBody>
          </p:sp>
        </p:grpSp>
        <p:grpSp>
          <p:nvGrpSpPr>
            <p:cNvPr id="78938" name="Group 146"/>
            <p:cNvGrpSpPr>
              <a:grpSpLocks/>
            </p:cNvGrpSpPr>
            <p:nvPr/>
          </p:nvGrpSpPr>
          <p:grpSpPr bwMode="auto">
            <a:xfrm>
              <a:off x="2315" y="770"/>
              <a:ext cx="126" cy="121"/>
              <a:chOff x="2315" y="770"/>
              <a:chExt cx="126" cy="121"/>
            </a:xfrm>
          </p:grpSpPr>
          <p:sp>
            <p:nvSpPr>
              <p:cNvPr id="78945" name="Freeform 147"/>
              <p:cNvSpPr>
                <a:spLocks/>
              </p:cNvSpPr>
              <p:nvPr/>
            </p:nvSpPr>
            <p:spPr bwMode="auto">
              <a:xfrm>
                <a:off x="2315" y="770"/>
                <a:ext cx="121" cy="8"/>
              </a:xfrm>
              <a:custGeom>
                <a:avLst/>
                <a:gdLst>
                  <a:gd name="T0" fmla="*/ 0 w 851"/>
                  <a:gd name="T1" fmla="*/ 0 h 57"/>
                  <a:gd name="T2" fmla="*/ 2 w 851"/>
                  <a:gd name="T3" fmla="*/ 0 h 57"/>
                  <a:gd name="T4" fmla="*/ 2 w 851"/>
                  <a:gd name="T5" fmla="*/ 0 h 57"/>
                  <a:gd name="T6" fmla="*/ 0 w 851"/>
                  <a:gd name="T7" fmla="*/ 0 h 57"/>
                  <a:gd name="T8" fmla="*/ 0 w 851"/>
                  <a:gd name="T9" fmla="*/ 0 h 57"/>
                  <a:gd name="T10" fmla="*/ 0 60000 65536"/>
                  <a:gd name="T11" fmla="*/ 0 60000 65536"/>
                  <a:gd name="T12" fmla="*/ 0 60000 65536"/>
                  <a:gd name="T13" fmla="*/ 0 60000 65536"/>
                  <a:gd name="T14" fmla="*/ 0 60000 65536"/>
                  <a:gd name="T15" fmla="*/ 0 w 851"/>
                  <a:gd name="T16" fmla="*/ 0 h 57"/>
                  <a:gd name="T17" fmla="*/ 851 w 851"/>
                  <a:gd name="T18" fmla="*/ 57 h 57"/>
                </a:gdLst>
                <a:ahLst/>
                <a:cxnLst>
                  <a:cxn ang="T10">
                    <a:pos x="T0" y="T1"/>
                  </a:cxn>
                  <a:cxn ang="T11">
                    <a:pos x="T2" y="T3"/>
                  </a:cxn>
                  <a:cxn ang="T12">
                    <a:pos x="T4" y="T5"/>
                  </a:cxn>
                  <a:cxn ang="T13">
                    <a:pos x="T6" y="T7"/>
                  </a:cxn>
                  <a:cxn ang="T14">
                    <a:pos x="T8" y="T9"/>
                  </a:cxn>
                </a:cxnLst>
                <a:rect l="T15" t="T16" r="T17" b="T18"/>
                <a:pathLst>
                  <a:path w="851" h="57">
                    <a:moveTo>
                      <a:pt x="0" y="0"/>
                    </a:moveTo>
                    <a:lnTo>
                      <a:pt x="851" y="32"/>
                    </a:lnTo>
                    <a:lnTo>
                      <a:pt x="844" y="57"/>
                    </a:lnTo>
                    <a:lnTo>
                      <a:pt x="3" y="26"/>
                    </a:lnTo>
                    <a:lnTo>
                      <a:pt x="0" y="0"/>
                    </a:lnTo>
                    <a:close/>
                  </a:path>
                </a:pathLst>
              </a:custGeom>
              <a:solidFill>
                <a:srgbClr val="DFDFFF"/>
              </a:solidFill>
              <a:ln w="1588">
                <a:solidFill>
                  <a:srgbClr val="000000"/>
                </a:solidFill>
                <a:round/>
                <a:headEnd/>
                <a:tailEnd/>
              </a:ln>
            </p:spPr>
            <p:txBody>
              <a:bodyPr/>
              <a:lstStyle/>
              <a:p>
                <a:endParaRPr lang="zh-CN" altLang="en-US"/>
              </a:p>
            </p:txBody>
          </p:sp>
          <p:sp>
            <p:nvSpPr>
              <p:cNvPr id="78946" name="Freeform 148"/>
              <p:cNvSpPr>
                <a:spLocks/>
              </p:cNvSpPr>
              <p:nvPr/>
            </p:nvSpPr>
            <p:spPr bwMode="auto">
              <a:xfrm>
                <a:off x="2398" y="794"/>
                <a:ext cx="43" cy="97"/>
              </a:xfrm>
              <a:custGeom>
                <a:avLst/>
                <a:gdLst>
                  <a:gd name="T0" fmla="*/ 1 w 302"/>
                  <a:gd name="T1" fmla="*/ 0 h 673"/>
                  <a:gd name="T2" fmla="*/ 0 w 302"/>
                  <a:gd name="T3" fmla="*/ 2 h 673"/>
                  <a:gd name="T4" fmla="*/ 0 w 302"/>
                  <a:gd name="T5" fmla="*/ 2 h 673"/>
                  <a:gd name="T6" fmla="*/ 1 w 302"/>
                  <a:gd name="T7" fmla="*/ 0 h 673"/>
                  <a:gd name="T8" fmla="*/ 1 w 302"/>
                  <a:gd name="T9" fmla="*/ 0 h 673"/>
                  <a:gd name="T10" fmla="*/ 0 60000 65536"/>
                  <a:gd name="T11" fmla="*/ 0 60000 65536"/>
                  <a:gd name="T12" fmla="*/ 0 60000 65536"/>
                  <a:gd name="T13" fmla="*/ 0 60000 65536"/>
                  <a:gd name="T14" fmla="*/ 0 60000 65536"/>
                  <a:gd name="T15" fmla="*/ 0 w 302"/>
                  <a:gd name="T16" fmla="*/ 0 h 673"/>
                  <a:gd name="T17" fmla="*/ 302 w 302"/>
                  <a:gd name="T18" fmla="*/ 673 h 673"/>
                </a:gdLst>
                <a:ahLst/>
                <a:cxnLst>
                  <a:cxn ang="T10">
                    <a:pos x="T0" y="T1"/>
                  </a:cxn>
                  <a:cxn ang="T11">
                    <a:pos x="T2" y="T3"/>
                  </a:cxn>
                  <a:cxn ang="T12">
                    <a:pos x="T4" y="T5"/>
                  </a:cxn>
                  <a:cxn ang="T13">
                    <a:pos x="T6" y="T7"/>
                  </a:cxn>
                  <a:cxn ang="T14">
                    <a:pos x="T8" y="T9"/>
                  </a:cxn>
                </a:cxnLst>
                <a:rect l="T15" t="T16" r="T17" b="T18"/>
                <a:pathLst>
                  <a:path w="302" h="673">
                    <a:moveTo>
                      <a:pt x="267" y="13"/>
                    </a:moveTo>
                    <a:lnTo>
                      <a:pt x="0" y="657"/>
                    </a:lnTo>
                    <a:lnTo>
                      <a:pt x="25" y="673"/>
                    </a:lnTo>
                    <a:lnTo>
                      <a:pt x="302" y="0"/>
                    </a:lnTo>
                    <a:lnTo>
                      <a:pt x="267" y="13"/>
                    </a:lnTo>
                    <a:close/>
                  </a:path>
                </a:pathLst>
              </a:custGeom>
              <a:solidFill>
                <a:srgbClr val="DFDFFF"/>
              </a:solidFill>
              <a:ln w="1588">
                <a:solidFill>
                  <a:srgbClr val="000000"/>
                </a:solidFill>
                <a:round/>
                <a:headEnd/>
                <a:tailEnd/>
              </a:ln>
            </p:spPr>
            <p:txBody>
              <a:bodyPr/>
              <a:lstStyle/>
              <a:p>
                <a:endParaRPr lang="zh-CN" altLang="en-US"/>
              </a:p>
            </p:txBody>
          </p:sp>
        </p:grpSp>
        <p:grpSp>
          <p:nvGrpSpPr>
            <p:cNvPr id="78939" name="Group 149"/>
            <p:cNvGrpSpPr>
              <a:grpSpLocks/>
            </p:cNvGrpSpPr>
            <p:nvPr/>
          </p:nvGrpSpPr>
          <p:grpSpPr bwMode="auto">
            <a:xfrm>
              <a:off x="2413" y="772"/>
              <a:ext cx="51" cy="30"/>
              <a:chOff x="2413" y="772"/>
              <a:chExt cx="51" cy="30"/>
            </a:xfrm>
          </p:grpSpPr>
          <p:sp>
            <p:nvSpPr>
              <p:cNvPr id="78940" name="Freeform 150"/>
              <p:cNvSpPr>
                <a:spLocks/>
              </p:cNvSpPr>
              <p:nvPr/>
            </p:nvSpPr>
            <p:spPr bwMode="auto">
              <a:xfrm>
                <a:off x="2413" y="776"/>
                <a:ext cx="36" cy="26"/>
              </a:xfrm>
              <a:custGeom>
                <a:avLst/>
                <a:gdLst>
                  <a:gd name="T0" fmla="*/ 1 w 250"/>
                  <a:gd name="T1" fmla="*/ 0 h 184"/>
                  <a:gd name="T2" fmla="*/ 0 w 250"/>
                  <a:gd name="T3" fmla="*/ 0 h 184"/>
                  <a:gd name="T4" fmla="*/ 0 w 250"/>
                  <a:gd name="T5" fmla="*/ 0 h 184"/>
                  <a:gd name="T6" fmla="*/ 0 w 250"/>
                  <a:gd name="T7" fmla="*/ 0 h 184"/>
                  <a:gd name="T8" fmla="*/ 0 w 250"/>
                  <a:gd name="T9" fmla="*/ 0 h 184"/>
                  <a:gd name="T10" fmla="*/ 0 w 250"/>
                  <a:gd name="T11" fmla="*/ 0 h 184"/>
                  <a:gd name="T12" fmla="*/ 0 w 250"/>
                  <a:gd name="T13" fmla="*/ 0 h 184"/>
                  <a:gd name="T14" fmla="*/ 0 w 250"/>
                  <a:gd name="T15" fmla="*/ 0 h 184"/>
                  <a:gd name="T16" fmla="*/ 0 w 250"/>
                  <a:gd name="T17" fmla="*/ 1 h 184"/>
                  <a:gd name="T18" fmla="*/ 0 w 250"/>
                  <a:gd name="T19" fmla="*/ 1 h 184"/>
                  <a:gd name="T20" fmla="*/ 0 w 250"/>
                  <a:gd name="T21" fmla="*/ 1 h 184"/>
                  <a:gd name="T22" fmla="*/ 1 w 250"/>
                  <a:gd name="T23" fmla="*/ 0 h 184"/>
                  <a:gd name="T24" fmla="*/ 1 w 250"/>
                  <a:gd name="T25" fmla="*/ 0 h 184"/>
                  <a:gd name="T26" fmla="*/ 1 w 250"/>
                  <a:gd name="T27" fmla="*/ 0 h 184"/>
                  <a:gd name="T28" fmla="*/ 1 w 250"/>
                  <a:gd name="T29" fmla="*/ 0 h 1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0"/>
                  <a:gd name="T46" fmla="*/ 0 h 184"/>
                  <a:gd name="T47" fmla="*/ 250 w 250"/>
                  <a:gd name="T48" fmla="*/ 184 h 18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0" h="184">
                    <a:moveTo>
                      <a:pt x="187" y="0"/>
                    </a:moveTo>
                    <a:lnTo>
                      <a:pt x="11" y="57"/>
                    </a:lnTo>
                    <a:lnTo>
                      <a:pt x="4" y="67"/>
                    </a:lnTo>
                    <a:lnTo>
                      <a:pt x="0" y="86"/>
                    </a:lnTo>
                    <a:lnTo>
                      <a:pt x="2" y="112"/>
                    </a:lnTo>
                    <a:lnTo>
                      <a:pt x="5" y="128"/>
                    </a:lnTo>
                    <a:lnTo>
                      <a:pt x="15" y="151"/>
                    </a:lnTo>
                    <a:lnTo>
                      <a:pt x="33" y="169"/>
                    </a:lnTo>
                    <a:lnTo>
                      <a:pt x="57" y="181"/>
                    </a:lnTo>
                    <a:lnTo>
                      <a:pt x="71" y="184"/>
                    </a:lnTo>
                    <a:lnTo>
                      <a:pt x="85" y="184"/>
                    </a:lnTo>
                    <a:lnTo>
                      <a:pt x="250" y="114"/>
                    </a:lnTo>
                    <a:lnTo>
                      <a:pt x="218" y="92"/>
                    </a:lnTo>
                    <a:lnTo>
                      <a:pt x="201" y="70"/>
                    </a:lnTo>
                    <a:lnTo>
                      <a:pt x="187" y="0"/>
                    </a:lnTo>
                    <a:close/>
                  </a:path>
                </a:pathLst>
              </a:custGeom>
              <a:solidFill>
                <a:srgbClr val="BFBFDF"/>
              </a:solidFill>
              <a:ln w="1588">
                <a:solidFill>
                  <a:srgbClr val="000000"/>
                </a:solidFill>
                <a:round/>
                <a:headEnd/>
                <a:tailEnd/>
              </a:ln>
            </p:spPr>
            <p:txBody>
              <a:bodyPr/>
              <a:lstStyle/>
              <a:p>
                <a:endParaRPr lang="zh-CN" altLang="en-US"/>
              </a:p>
            </p:txBody>
          </p:sp>
          <p:sp>
            <p:nvSpPr>
              <p:cNvPr id="78941" name="Freeform 151"/>
              <p:cNvSpPr>
                <a:spLocks/>
              </p:cNvSpPr>
              <p:nvPr/>
            </p:nvSpPr>
            <p:spPr bwMode="auto">
              <a:xfrm>
                <a:off x="2434" y="772"/>
                <a:ext cx="20" cy="25"/>
              </a:xfrm>
              <a:custGeom>
                <a:avLst/>
                <a:gdLst>
                  <a:gd name="T0" fmla="*/ 0 w 139"/>
                  <a:gd name="T1" fmla="*/ 0 h 173"/>
                  <a:gd name="T2" fmla="*/ 0 w 139"/>
                  <a:gd name="T3" fmla="*/ 0 h 173"/>
                  <a:gd name="T4" fmla="*/ 0 w 139"/>
                  <a:gd name="T5" fmla="*/ 0 h 173"/>
                  <a:gd name="T6" fmla="*/ 0 w 139"/>
                  <a:gd name="T7" fmla="*/ 0 h 173"/>
                  <a:gd name="T8" fmla="*/ 0 w 139"/>
                  <a:gd name="T9" fmla="*/ 0 h 173"/>
                  <a:gd name="T10" fmla="*/ 0 w 139"/>
                  <a:gd name="T11" fmla="*/ 0 h 173"/>
                  <a:gd name="T12" fmla="*/ 0 w 139"/>
                  <a:gd name="T13" fmla="*/ 0 h 173"/>
                  <a:gd name="T14" fmla="*/ 0 w 139"/>
                  <a:gd name="T15" fmla="*/ 0 h 173"/>
                  <a:gd name="T16" fmla="*/ 0 w 139"/>
                  <a:gd name="T17" fmla="*/ 0 h 173"/>
                  <a:gd name="T18" fmla="*/ 0 w 139"/>
                  <a:gd name="T19" fmla="*/ 0 h 173"/>
                  <a:gd name="T20" fmla="*/ 0 w 139"/>
                  <a:gd name="T21" fmla="*/ 0 h 173"/>
                  <a:gd name="T22" fmla="*/ 0 w 139"/>
                  <a:gd name="T23" fmla="*/ 0 h 173"/>
                  <a:gd name="T24" fmla="*/ 0 w 139"/>
                  <a:gd name="T25" fmla="*/ 0 h 173"/>
                  <a:gd name="T26" fmla="*/ 0 w 139"/>
                  <a:gd name="T27" fmla="*/ 0 h 173"/>
                  <a:gd name="T28" fmla="*/ 0 w 139"/>
                  <a:gd name="T29" fmla="*/ 0 h 173"/>
                  <a:gd name="T30" fmla="*/ 0 w 139"/>
                  <a:gd name="T31" fmla="*/ 0 h 173"/>
                  <a:gd name="T32" fmla="*/ 0 w 139"/>
                  <a:gd name="T33" fmla="*/ 1 h 173"/>
                  <a:gd name="T34" fmla="*/ 0 w 139"/>
                  <a:gd name="T35" fmla="*/ 1 h 173"/>
                  <a:gd name="T36" fmla="*/ 0 w 139"/>
                  <a:gd name="T37" fmla="*/ 0 h 173"/>
                  <a:gd name="T38" fmla="*/ 0 w 139"/>
                  <a:gd name="T39" fmla="*/ 0 h 173"/>
                  <a:gd name="T40" fmla="*/ 0 w 139"/>
                  <a:gd name="T41" fmla="*/ 0 h 173"/>
                  <a:gd name="T42" fmla="*/ 0 w 139"/>
                  <a:gd name="T43" fmla="*/ 0 h 173"/>
                  <a:gd name="T44" fmla="*/ 0 w 139"/>
                  <a:gd name="T45" fmla="*/ 0 h 173"/>
                  <a:gd name="T46" fmla="*/ 0 w 139"/>
                  <a:gd name="T47" fmla="*/ 0 h 173"/>
                  <a:gd name="T48" fmla="*/ 0 w 139"/>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9"/>
                  <a:gd name="T76" fmla="*/ 0 h 173"/>
                  <a:gd name="T77" fmla="*/ 139 w 139"/>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9" h="173">
                    <a:moveTo>
                      <a:pt x="81" y="25"/>
                    </a:moveTo>
                    <a:lnTo>
                      <a:pt x="74" y="15"/>
                    </a:lnTo>
                    <a:lnTo>
                      <a:pt x="60" y="5"/>
                    </a:lnTo>
                    <a:lnTo>
                      <a:pt x="36" y="0"/>
                    </a:lnTo>
                    <a:lnTo>
                      <a:pt x="22" y="2"/>
                    </a:lnTo>
                    <a:lnTo>
                      <a:pt x="13" y="12"/>
                    </a:lnTo>
                    <a:lnTo>
                      <a:pt x="4" y="25"/>
                    </a:lnTo>
                    <a:lnTo>
                      <a:pt x="0" y="46"/>
                    </a:lnTo>
                    <a:lnTo>
                      <a:pt x="1" y="58"/>
                    </a:lnTo>
                    <a:lnTo>
                      <a:pt x="3" y="74"/>
                    </a:lnTo>
                    <a:lnTo>
                      <a:pt x="9" y="97"/>
                    </a:lnTo>
                    <a:lnTo>
                      <a:pt x="20" y="116"/>
                    </a:lnTo>
                    <a:lnTo>
                      <a:pt x="31" y="133"/>
                    </a:lnTo>
                    <a:lnTo>
                      <a:pt x="44" y="147"/>
                    </a:lnTo>
                    <a:lnTo>
                      <a:pt x="58" y="160"/>
                    </a:lnTo>
                    <a:lnTo>
                      <a:pt x="76" y="167"/>
                    </a:lnTo>
                    <a:lnTo>
                      <a:pt x="97" y="173"/>
                    </a:lnTo>
                    <a:lnTo>
                      <a:pt x="114" y="173"/>
                    </a:lnTo>
                    <a:lnTo>
                      <a:pt x="130" y="164"/>
                    </a:lnTo>
                    <a:lnTo>
                      <a:pt x="137" y="151"/>
                    </a:lnTo>
                    <a:lnTo>
                      <a:pt x="139" y="132"/>
                    </a:lnTo>
                    <a:lnTo>
                      <a:pt x="134" y="111"/>
                    </a:lnTo>
                    <a:lnTo>
                      <a:pt x="123" y="82"/>
                    </a:lnTo>
                    <a:lnTo>
                      <a:pt x="99" y="46"/>
                    </a:lnTo>
                    <a:lnTo>
                      <a:pt x="81" y="25"/>
                    </a:lnTo>
                    <a:close/>
                  </a:path>
                </a:pathLst>
              </a:custGeom>
              <a:solidFill>
                <a:srgbClr val="C0C0C0"/>
              </a:solidFill>
              <a:ln w="1588">
                <a:solidFill>
                  <a:srgbClr val="000000"/>
                </a:solidFill>
                <a:round/>
                <a:headEnd/>
                <a:tailEnd/>
              </a:ln>
            </p:spPr>
            <p:txBody>
              <a:bodyPr/>
              <a:lstStyle/>
              <a:p>
                <a:endParaRPr lang="zh-CN" altLang="en-US"/>
              </a:p>
            </p:txBody>
          </p:sp>
          <p:sp>
            <p:nvSpPr>
              <p:cNvPr id="78942" name="Freeform 152"/>
              <p:cNvSpPr>
                <a:spLocks/>
              </p:cNvSpPr>
              <p:nvPr/>
            </p:nvSpPr>
            <p:spPr bwMode="auto">
              <a:xfrm>
                <a:off x="2439" y="774"/>
                <a:ext cx="25" cy="17"/>
              </a:xfrm>
              <a:custGeom>
                <a:avLst/>
                <a:gdLst>
                  <a:gd name="T0" fmla="*/ 0 w 171"/>
                  <a:gd name="T1" fmla="*/ 0 h 123"/>
                  <a:gd name="T2" fmla="*/ 0 w 171"/>
                  <a:gd name="T3" fmla="*/ 0 h 123"/>
                  <a:gd name="T4" fmla="*/ 0 w 171"/>
                  <a:gd name="T5" fmla="*/ 0 h 123"/>
                  <a:gd name="T6" fmla="*/ 1 w 171"/>
                  <a:gd name="T7" fmla="*/ 0 h 123"/>
                  <a:gd name="T8" fmla="*/ 1 w 171"/>
                  <a:gd name="T9" fmla="*/ 0 h 123"/>
                  <a:gd name="T10" fmla="*/ 1 w 171"/>
                  <a:gd name="T11" fmla="*/ 0 h 123"/>
                  <a:gd name="T12" fmla="*/ 1 w 171"/>
                  <a:gd name="T13" fmla="*/ 0 h 123"/>
                  <a:gd name="T14" fmla="*/ 0 w 171"/>
                  <a:gd name="T15" fmla="*/ 0 h 123"/>
                  <a:gd name="T16" fmla="*/ 0 w 171"/>
                  <a:gd name="T17" fmla="*/ 0 h 123"/>
                  <a:gd name="T18" fmla="*/ 0 w 171"/>
                  <a:gd name="T19" fmla="*/ 0 h 123"/>
                  <a:gd name="T20" fmla="*/ 0 w 171"/>
                  <a:gd name="T21" fmla="*/ 0 h 123"/>
                  <a:gd name="T22" fmla="*/ 0 w 171"/>
                  <a:gd name="T23" fmla="*/ 0 h 123"/>
                  <a:gd name="T24" fmla="*/ 0 w 171"/>
                  <a:gd name="T25" fmla="*/ 0 h 123"/>
                  <a:gd name="T26" fmla="*/ 0 w 171"/>
                  <a:gd name="T27" fmla="*/ 0 h 123"/>
                  <a:gd name="T28" fmla="*/ 0 w 171"/>
                  <a:gd name="T29" fmla="*/ 0 h 123"/>
                  <a:gd name="T30" fmla="*/ 0 w 171"/>
                  <a:gd name="T31" fmla="*/ 0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1"/>
                  <a:gd name="T49" fmla="*/ 0 h 123"/>
                  <a:gd name="T50" fmla="*/ 171 w 171"/>
                  <a:gd name="T51" fmla="*/ 123 h 12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1" h="123">
                    <a:moveTo>
                      <a:pt x="13" y="27"/>
                    </a:moveTo>
                    <a:lnTo>
                      <a:pt x="120" y="3"/>
                    </a:lnTo>
                    <a:lnTo>
                      <a:pt x="146" y="0"/>
                    </a:lnTo>
                    <a:lnTo>
                      <a:pt x="164" y="3"/>
                    </a:lnTo>
                    <a:lnTo>
                      <a:pt x="169" y="9"/>
                    </a:lnTo>
                    <a:lnTo>
                      <a:pt x="171" y="22"/>
                    </a:lnTo>
                    <a:lnTo>
                      <a:pt x="164" y="41"/>
                    </a:lnTo>
                    <a:lnTo>
                      <a:pt x="64" y="123"/>
                    </a:lnTo>
                    <a:lnTo>
                      <a:pt x="50" y="122"/>
                    </a:lnTo>
                    <a:lnTo>
                      <a:pt x="34" y="116"/>
                    </a:lnTo>
                    <a:lnTo>
                      <a:pt x="22" y="106"/>
                    </a:lnTo>
                    <a:lnTo>
                      <a:pt x="8" y="90"/>
                    </a:lnTo>
                    <a:lnTo>
                      <a:pt x="1" y="74"/>
                    </a:lnTo>
                    <a:lnTo>
                      <a:pt x="0" y="56"/>
                    </a:lnTo>
                    <a:lnTo>
                      <a:pt x="5" y="40"/>
                    </a:lnTo>
                    <a:lnTo>
                      <a:pt x="13" y="27"/>
                    </a:lnTo>
                    <a:close/>
                  </a:path>
                </a:pathLst>
              </a:custGeom>
              <a:solidFill>
                <a:srgbClr val="9F9FBF"/>
              </a:solidFill>
              <a:ln w="1588">
                <a:solidFill>
                  <a:srgbClr val="000000"/>
                </a:solidFill>
                <a:round/>
                <a:headEnd/>
                <a:tailEnd/>
              </a:ln>
            </p:spPr>
            <p:txBody>
              <a:bodyPr/>
              <a:lstStyle/>
              <a:p>
                <a:endParaRPr lang="zh-CN" altLang="en-US"/>
              </a:p>
            </p:txBody>
          </p:sp>
          <p:sp>
            <p:nvSpPr>
              <p:cNvPr id="78943" name="Freeform 153"/>
              <p:cNvSpPr>
                <a:spLocks/>
              </p:cNvSpPr>
              <p:nvPr/>
            </p:nvSpPr>
            <p:spPr bwMode="auto">
              <a:xfrm>
                <a:off x="2421" y="782"/>
                <a:ext cx="10" cy="18"/>
              </a:xfrm>
              <a:custGeom>
                <a:avLst/>
                <a:gdLst>
                  <a:gd name="T0" fmla="*/ 0 w 73"/>
                  <a:gd name="T1" fmla="*/ 0 h 124"/>
                  <a:gd name="T2" fmla="*/ 0 w 73"/>
                  <a:gd name="T3" fmla="*/ 0 h 124"/>
                  <a:gd name="T4" fmla="*/ 0 w 73"/>
                  <a:gd name="T5" fmla="*/ 0 h 124"/>
                  <a:gd name="T6" fmla="*/ 0 w 73"/>
                  <a:gd name="T7" fmla="*/ 0 h 124"/>
                  <a:gd name="T8" fmla="*/ 0 w 73"/>
                  <a:gd name="T9" fmla="*/ 0 h 124"/>
                  <a:gd name="T10" fmla="*/ 0 w 73"/>
                  <a:gd name="T11" fmla="*/ 0 h 124"/>
                  <a:gd name="T12" fmla="*/ 0 w 73"/>
                  <a:gd name="T13" fmla="*/ 0 h 124"/>
                  <a:gd name="T14" fmla="*/ 0 w 73"/>
                  <a:gd name="T15" fmla="*/ 0 h 124"/>
                  <a:gd name="T16" fmla="*/ 0 w 73"/>
                  <a:gd name="T17" fmla="*/ 0 h 124"/>
                  <a:gd name="T18" fmla="*/ 0 w 73"/>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3"/>
                  <a:gd name="T31" fmla="*/ 0 h 124"/>
                  <a:gd name="T32" fmla="*/ 73 w 73"/>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3" h="124">
                    <a:moveTo>
                      <a:pt x="4" y="0"/>
                    </a:moveTo>
                    <a:lnTo>
                      <a:pt x="0" y="20"/>
                    </a:lnTo>
                    <a:lnTo>
                      <a:pt x="0" y="37"/>
                    </a:lnTo>
                    <a:lnTo>
                      <a:pt x="5" y="60"/>
                    </a:lnTo>
                    <a:lnTo>
                      <a:pt x="11" y="78"/>
                    </a:lnTo>
                    <a:lnTo>
                      <a:pt x="26" y="96"/>
                    </a:lnTo>
                    <a:lnTo>
                      <a:pt x="40" y="108"/>
                    </a:lnTo>
                    <a:lnTo>
                      <a:pt x="51" y="114"/>
                    </a:lnTo>
                    <a:lnTo>
                      <a:pt x="61" y="118"/>
                    </a:lnTo>
                    <a:lnTo>
                      <a:pt x="73" y="124"/>
                    </a:lnTo>
                  </a:path>
                </a:pathLst>
              </a:custGeom>
              <a:noFill/>
              <a:ln w="1588">
                <a:solidFill>
                  <a:srgbClr val="000000"/>
                </a:solidFill>
                <a:round/>
                <a:headEnd/>
                <a:tailEnd/>
              </a:ln>
            </p:spPr>
            <p:txBody>
              <a:bodyPr/>
              <a:lstStyle/>
              <a:p>
                <a:endParaRPr lang="zh-CN" altLang="en-US"/>
              </a:p>
            </p:txBody>
          </p:sp>
          <p:sp>
            <p:nvSpPr>
              <p:cNvPr id="78944" name="Freeform 154"/>
              <p:cNvSpPr>
                <a:spLocks/>
              </p:cNvSpPr>
              <p:nvPr/>
            </p:nvSpPr>
            <p:spPr bwMode="auto">
              <a:xfrm>
                <a:off x="2427" y="780"/>
                <a:ext cx="11" cy="18"/>
              </a:xfrm>
              <a:custGeom>
                <a:avLst/>
                <a:gdLst>
                  <a:gd name="T0" fmla="*/ 0 w 74"/>
                  <a:gd name="T1" fmla="*/ 0 h 124"/>
                  <a:gd name="T2" fmla="*/ 0 w 74"/>
                  <a:gd name="T3" fmla="*/ 0 h 124"/>
                  <a:gd name="T4" fmla="*/ 0 w 74"/>
                  <a:gd name="T5" fmla="*/ 0 h 124"/>
                  <a:gd name="T6" fmla="*/ 0 w 74"/>
                  <a:gd name="T7" fmla="*/ 0 h 124"/>
                  <a:gd name="T8" fmla="*/ 0 w 74"/>
                  <a:gd name="T9" fmla="*/ 0 h 124"/>
                  <a:gd name="T10" fmla="*/ 0 w 74"/>
                  <a:gd name="T11" fmla="*/ 0 h 124"/>
                  <a:gd name="T12" fmla="*/ 0 w 74"/>
                  <a:gd name="T13" fmla="*/ 0 h 124"/>
                  <a:gd name="T14" fmla="*/ 0 w 74"/>
                  <a:gd name="T15" fmla="*/ 0 h 124"/>
                  <a:gd name="T16" fmla="*/ 0 w 74"/>
                  <a:gd name="T17" fmla="*/ 0 h 124"/>
                  <a:gd name="T18" fmla="*/ 0 w 74"/>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
                  <a:gd name="T31" fmla="*/ 0 h 124"/>
                  <a:gd name="T32" fmla="*/ 74 w 74"/>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 h="124">
                    <a:moveTo>
                      <a:pt x="5" y="0"/>
                    </a:moveTo>
                    <a:lnTo>
                      <a:pt x="0" y="20"/>
                    </a:lnTo>
                    <a:lnTo>
                      <a:pt x="0" y="38"/>
                    </a:lnTo>
                    <a:lnTo>
                      <a:pt x="6" y="60"/>
                    </a:lnTo>
                    <a:lnTo>
                      <a:pt x="12" y="79"/>
                    </a:lnTo>
                    <a:lnTo>
                      <a:pt x="27" y="95"/>
                    </a:lnTo>
                    <a:lnTo>
                      <a:pt x="41" y="108"/>
                    </a:lnTo>
                    <a:lnTo>
                      <a:pt x="51" y="114"/>
                    </a:lnTo>
                    <a:lnTo>
                      <a:pt x="62" y="119"/>
                    </a:lnTo>
                    <a:lnTo>
                      <a:pt x="74" y="124"/>
                    </a:lnTo>
                  </a:path>
                </a:pathLst>
              </a:custGeom>
              <a:noFill/>
              <a:ln w="1588">
                <a:solidFill>
                  <a:srgbClr val="000000"/>
                </a:solidFill>
                <a:round/>
                <a:headEnd/>
                <a:tailEnd/>
              </a:ln>
            </p:spPr>
            <p:txBody>
              <a:bodyPr/>
              <a:lstStyle/>
              <a:p>
                <a:endParaRPr lang="zh-CN" altLang="en-US"/>
              </a:p>
            </p:txBody>
          </p:sp>
        </p:grpSp>
      </p:gr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ChangeArrowheads="1"/>
          </p:cNvSpPr>
          <p:nvPr>
            <p:ph type="title"/>
          </p:nvPr>
        </p:nvSpPr>
        <p:spPr>
          <a:xfrm>
            <a:off x="1150938" y="836613"/>
            <a:ext cx="7793037" cy="839787"/>
          </a:xfrm>
        </p:spPr>
        <p:txBody>
          <a:bodyPr/>
          <a:lstStyle/>
          <a:p>
            <a:pPr algn="ctr" eaLnBrk="1" hangingPunct="1"/>
            <a:r>
              <a:rPr lang="en-US" altLang="zh-CN" sz="4000" dirty="0" smtClean="0"/>
              <a:t> HFC </a:t>
            </a:r>
            <a:r>
              <a:rPr lang="zh-CN" altLang="en-US" sz="4000" dirty="0" smtClean="0"/>
              <a:t>网具有比 </a:t>
            </a:r>
            <a:r>
              <a:rPr lang="en-US" altLang="zh-CN" sz="4000" dirty="0" smtClean="0"/>
              <a:t>CATV </a:t>
            </a:r>
            <a:r>
              <a:rPr lang="zh-CN" altLang="en-US" sz="4000" dirty="0" smtClean="0"/>
              <a:t>网更宽的频谱，且具有双向传输功能 </a:t>
            </a:r>
          </a:p>
        </p:txBody>
      </p:sp>
      <p:sp>
        <p:nvSpPr>
          <p:cNvPr id="79876" name="Line 3"/>
          <p:cNvSpPr>
            <a:spLocks noChangeShapeType="1"/>
          </p:cNvSpPr>
          <p:nvPr/>
        </p:nvSpPr>
        <p:spPr bwMode="auto">
          <a:xfrm>
            <a:off x="2036763" y="2620963"/>
            <a:ext cx="5530850" cy="0"/>
          </a:xfrm>
          <a:prstGeom prst="line">
            <a:avLst/>
          </a:prstGeom>
          <a:noFill/>
          <a:ln w="28575">
            <a:solidFill>
              <a:srgbClr val="333399"/>
            </a:solidFill>
            <a:round/>
            <a:headEnd type="triangle" w="med" len="lg"/>
            <a:tailEnd type="triangle" w="med" len="lg"/>
          </a:ln>
        </p:spPr>
        <p:txBody>
          <a:bodyPr wrap="none" anchor="ctr"/>
          <a:lstStyle/>
          <a:p>
            <a:endParaRPr lang="zh-CN" altLang="en-US"/>
          </a:p>
        </p:txBody>
      </p:sp>
      <p:sp>
        <p:nvSpPr>
          <p:cNvPr id="79877" name="Text Box 4"/>
          <p:cNvSpPr txBox="1">
            <a:spLocks noChangeArrowheads="1"/>
          </p:cNvSpPr>
          <p:nvPr/>
        </p:nvSpPr>
        <p:spPr bwMode="auto">
          <a:xfrm>
            <a:off x="3895725" y="2384425"/>
            <a:ext cx="1200150" cy="396875"/>
          </a:xfrm>
          <a:prstGeom prst="rect">
            <a:avLst/>
          </a:prstGeom>
          <a:solidFill>
            <a:schemeClr val="bg1"/>
          </a:solid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下行信道</a:t>
            </a:r>
          </a:p>
        </p:txBody>
      </p:sp>
      <p:sp>
        <p:nvSpPr>
          <p:cNvPr id="79878" name="Rectangle 5"/>
          <p:cNvSpPr>
            <a:spLocks noChangeArrowheads="1"/>
          </p:cNvSpPr>
          <p:nvPr/>
        </p:nvSpPr>
        <p:spPr bwMode="auto">
          <a:xfrm>
            <a:off x="666750" y="2913063"/>
            <a:ext cx="903288" cy="1065212"/>
          </a:xfrm>
          <a:prstGeom prst="rect">
            <a:avLst/>
          </a:prstGeom>
          <a:solidFill>
            <a:srgbClr val="FFFF99"/>
          </a:solidFill>
          <a:ln w="9525">
            <a:solidFill>
              <a:schemeClr val="tx1"/>
            </a:solidFill>
            <a:miter lim="800000"/>
            <a:headEnd/>
            <a:tailEnd/>
          </a:ln>
        </p:spPr>
        <p:txBody>
          <a:bodyPr wrap="none" anchor="ctr"/>
          <a:lstStyle/>
          <a:p>
            <a:endParaRPr lang="zh-CN" altLang="en-US"/>
          </a:p>
        </p:txBody>
      </p:sp>
      <p:sp>
        <p:nvSpPr>
          <p:cNvPr id="79879" name="Text Box 6"/>
          <p:cNvSpPr txBox="1">
            <a:spLocks noChangeArrowheads="1"/>
          </p:cNvSpPr>
          <p:nvPr/>
        </p:nvSpPr>
        <p:spPr bwMode="auto">
          <a:xfrm>
            <a:off x="749300" y="3141663"/>
            <a:ext cx="690563" cy="639762"/>
          </a:xfrm>
          <a:prstGeom prst="rect">
            <a:avLst/>
          </a:prstGeom>
          <a:noFill/>
          <a:ln w="9525">
            <a:noFill/>
            <a:miter lim="800000"/>
            <a:headEnd/>
            <a:tailEnd/>
          </a:ln>
        </p:spPr>
        <p:txBody>
          <a:bodyPr wrap="none">
            <a:spAutoFit/>
          </a:bodyPr>
          <a:lstStyle/>
          <a:p>
            <a:pPr algn="l">
              <a:lnSpc>
                <a:spcPct val="90000"/>
              </a:lnSpc>
            </a:pPr>
            <a:r>
              <a:rPr kumimoji="1" lang="zh-CN" altLang="en-US" sz="2000">
                <a:solidFill>
                  <a:srgbClr val="333399"/>
                </a:solidFill>
                <a:latin typeface="Arial" pitchFamily="34" charset="0"/>
                <a:ea typeface="黑体" pitchFamily="49" charset="-122"/>
              </a:rPr>
              <a:t>上行</a:t>
            </a:r>
          </a:p>
          <a:p>
            <a:pPr algn="l">
              <a:lnSpc>
                <a:spcPct val="90000"/>
              </a:lnSpc>
            </a:pPr>
            <a:r>
              <a:rPr kumimoji="1" lang="zh-CN" altLang="en-US" sz="2000">
                <a:solidFill>
                  <a:srgbClr val="333399"/>
                </a:solidFill>
                <a:latin typeface="Arial" pitchFamily="34" charset="0"/>
                <a:ea typeface="黑体" pitchFamily="49" charset="-122"/>
              </a:rPr>
              <a:t>信道</a:t>
            </a:r>
          </a:p>
        </p:txBody>
      </p:sp>
      <p:sp>
        <p:nvSpPr>
          <p:cNvPr id="79880" name="Text Box 7"/>
          <p:cNvSpPr txBox="1">
            <a:spLocks noChangeArrowheads="1"/>
          </p:cNvSpPr>
          <p:nvPr/>
        </p:nvSpPr>
        <p:spPr bwMode="auto">
          <a:xfrm>
            <a:off x="608013" y="3968750"/>
            <a:ext cx="7332662" cy="396875"/>
          </a:xfrm>
          <a:prstGeom prst="rect">
            <a:avLst/>
          </a:prstGeom>
          <a:noFill/>
          <a:ln w="9525">
            <a:noFill/>
            <a:miter lim="800000"/>
            <a:headEnd/>
            <a:tailEnd/>
          </a:ln>
        </p:spPr>
        <p:txBody>
          <a:bodyPr wrap="none">
            <a:spAutoFit/>
          </a:bodyPr>
          <a:lstStyle/>
          <a:p>
            <a:pPr algn="l"/>
            <a:r>
              <a:rPr kumimoji="1" lang="en-US" altLang="zh-CN" sz="2000">
                <a:solidFill>
                  <a:srgbClr val="333399"/>
                </a:solidFill>
                <a:latin typeface="Arial" pitchFamily="34" charset="0"/>
                <a:ea typeface="黑体" pitchFamily="49" charset="-122"/>
              </a:rPr>
              <a:t>5        40    50                                550                   750         1000</a:t>
            </a:r>
          </a:p>
        </p:txBody>
      </p:sp>
      <p:sp>
        <p:nvSpPr>
          <p:cNvPr id="79881" name="Rectangle 8"/>
          <p:cNvSpPr>
            <a:spLocks noChangeArrowheads="1"/>
          </p:cNvSpPr>
          <p:nvPr/>
        </p:nvSpPr>
        <p:spPr bwMode="auto">
          <a:xfrm>
            <a:off x="2022475" y="2913063"/>
            <a:ext cx="2708275" cy="1065212"/>
          </a:xfrm>
          <a:prstGeom prst="rect">
            <a:avLst/>
          </a:prstGeom>
          <a:solidFill>
            <a:srgbClr val="CCECFF"/>
          </a:solidFill>
          <a:ln w="9525">
            <a:solidFill>
              <a:schemeClr val="tx1"/>
            </a:solidFill>
            <a:miter lim="800000"/>
            <a:headEnd/>
            <a:tailEnd/>
          </a:ln>
        </p:spPr>
        <p:txBody>
          <a:bodyPr wrap="none" anchor="ctr"/>
          <a:lstStyle/>
          <a:p>
            <a:endParaRPr lang="zh-CN" altLang="en-US"/>
          </a:p>
        </p:txBody>
      </p:sp>
      <p:sp>
        <p:nvSpPr>
          <p:cNvPr id="79882" name="Rectangle 9"/>
          <p:cNvSpPr>
            <a:spLocks noChangeArrowheads="1"/>
          </p:cNvSpPr>
          <p:nvPr/>
        </p:nvSpPr>
        <p:spPr bwMode="auto">
          <a:xfrm>
            <a:off x="4845050" y="2913063"/>
            <a:ext cx="1654175" cy="1065212"/>
          </a:xfrm>
          <a:prstGeom prst="rect">
            <a:avLst/>
          </a:prstGeom>
          <a:solidFill>
            <a:srgbClr val="CCECFF"/>
          </a:solidFill>
          <a:ln w="9525">
            <a:solidFill>
              <a:schemeClr val="tx1"/>
            </a:solidFill>
            <a:miter lim="800000"/>
            <a:headEnd/>
            <a:tailEnd/>
          </a:ln>
        </p:spPr>
        <p:txBody>
          <a:bodyPr wrap="none" anchor="ctr"/>
          <a:lstStyle/>
          <a:p>
            <a:endParaRPr lang="zh-CN" altLang="en-US"/>
          </a:p>
        </p:txBody>
      </p:sp>
      <p:sp>
        <p:nvSpPr>
          <p:cNvPr id="79883" name="Text Box 10"/>
          <p:cNvSpPr txBox="1">
            <a:spLocks noChangeArrowheads="1"/>
          </p:cNvSpPr>
          <p:nvPr/>
        </p:nvSpPr>
        <p:spPr bwMode="auto">
          <a:xfrm>
            <a:off x="2578100" y="3213100"/>
            <a:ext cx="1706563"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原有模拟电视</a:t>
            </a:r>
          </a:p>
        </p:txBody>
      </p:sp>
      <p:sp>
        <p:nvSpPr>
          <p:cNvPr id="79884" name="Text Box 11"/>
          <p:cNvSpPr txBox="1">
            <a:spLocks noChangeArrowheads="1"/>
          </p:cNvSpPr>
          <p:nvPr/>
        </p:nvSpPr>
        <p:spPr bwMode="auto">
          <a:xfrm>
            <a:off x="4965700" y="3213100"/>
            <a:ext cx="120015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数字信号</a:t>
            </a:r>
          </a:p>
        </p:txBody>
      </p:sp>
      <p:sp>
        <p:nvSpPr>
          <p:cNvPr id="79885" name="Text Box 12"/>
          <p:cNvSpPr txBox="1">
            <a:spLocks noChangeArrowheads="1"/>
          </p:cNvSpPr>
          <p:nvPr/>
        </p:nvSpPr>
        <p:spPr bwMode="auto">
          <a:xfrm>
            <a:off x="7724775" y="3536950"/>
            <a:ext cx="1384300"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频率</a:t>
            </a:r>
            <a:r>
              <a:rPr kumimoji="1" lang="en-US" altLang="zh-CN" sz="2000">
                <a:solidFill>
                  <a:srgbClr val="333399"/>
                </a:solidFill>
                <a:latin typeface="Arial" pitchFamily="34" charset="0"/>
                <a:ea typeface="黑体" pitchFamily="49" charset="-122"/>
              </a:rPr>
              <a:t>(MHz)</a:t>
            </a:r>
          </a:p>
        </p:txBody>
      </p:sp>
      <p:sp>
        <p:nvSpPr>
          <p:cNvPr id="79886" name="Rectangle 13"/>
          <p:cNvSpPr>
            <a:spLocks noChangeArrowheads="1"/>
          </p:cNvSpPr>
          <p:nvPr/>
        </p:nvSpPr>
        <p:spPr bwMode="auto">
          <a:xfrm>
            <a:off x="6616700" y="2913063"/>
            <a:ext cx="936625" cy="1065212"/>
          </a:xfrm>
          <a:prstGeom prst="rect">
            <a:avLst/>
          </a:prstGeom>
          <a:solidFill>
            <a:srgbClr val="CCECFF"/>
          </a:solidFill>
          <a:ln w="9525">
            <a:solidFill>
              <a:schemeClr val="tx1"/>
            </a:solidFill>
            <a:miter lim="800000"/>
            <a:headEnd/>
            <a:tailEnd/>
          </a:ln>
        </p:spPr>
        <p:txBody>
          <a:bodyPr wrap="none" anchor="ctr"/>
          <a:lstStyle/>
          <a:p>
            <a:endParaRPr lang="zh-CN" altLang="en-US"/>
          </a:p>
        </p:txBody>
      </p:sp>
      <p:sp>
        <p:nvSpPr>
          <p:cNvPr id="79887" name="Text Box 14"/>
          <p:cNvSpPr txBox="1">
            <a:spLocks noChangeArrowheads="1"/>
          </p:cNvSpPr>
          <p:nvPr/>
        </p:nvSpPr>
        <p:spPr bwMode="auto">
          <a:xfrm>
            <a:off x="6686550" y="3213100"/>
            <a:ext cx="693738" cy="396875"/>
          </a:xfrm>
          <a:prstGeom prst="rect">
            <a:avLst/>
          </a:prstGeom>
          <a:noFill/>
          <a:ln w="9525">
            <a:noFill/>
            <a:miter lim="800000"/>
            <a:headEnd/>
            <a:tailEnd/>
          </a:ln>
        </p:spPr>
        <p:txBody>
          <a:bodyPr wrap="none">
            <a:spAutoFit/>
          </a:bodyPr>
          <a:lstStyle/>
          <a:p>
            <a:pPr algn="l"/>
            <a:r>
              <a:rPr kumimoji="1" lang="zh-CN" altLang="en-US" sz="2000">
                <a:solidFill>
                  <a:srgbClr val="333399"/>
                </a:solidFill>
                <a:latin typeface="Arial" pitchFamily="34" charset="0"/>
                <a:ea typeface="黑体" pitchFamily="49" charset="-122"/>
              </a:rPr>
              <a:t>保留</a:t>
            </a:r>
          </a:p>
        </p:txBody>
      </p:sp>
      <p:sp>
        <p:nvSpPr>
          <p:cNvPr id="79888" name="Line 15"/>
          <p:cNvSpPr>
            <a:spLocks noChangeShapeType="1"/>
          </p:cNvSpPr>
          <p:nvPr/>
        </p:nvSpPr>
        <p:spPr bwMode="auto">
          <a:xfrm>
            <a:off x="215900" y="3978275"/>
            <a:ext cx="8353425" cy="0"/>
          </a:xfrm>
          <a:prstGeom prst="line">
            <a:avLst/>
          </a:prstGeom>
          <a:noFill/>
          <a:ln w="28575">
            <a:solidFill>
              <a:srgbClr val="333399"/>
            </a:solidFill>
            <a:round/>
            <a:headEnd/>
            <a:tailEnd type="triangle" w="med" len="lg"/>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539750" y="476250"/>
            <a:ext cx="8404225" cy="839788"/>
          </a:xfrm>
        </p:spPr>
        <p:txBody>
          <a:bodyPr/>
          <a:lstStyle/>
          <a:p>
            <a:pPr algn="ctr" eaLnBrk="1" hangingPunct="1"/>
            <a:r>
              <a:rPr lang="en-US" altLang="zh-CN" sz="4000" dirty="0" smtClean="0"/>
              <a:t> </a:t>
            </a:r>
            <a:r>
              <a:rPr lang="zh-CN" altLang="en-US" sz="4000" dirty="0" smtClean="0"/>
              <a:t>每个家庭要安装一个用户接口盒 </a:t>
            </a:r>
          </a:p>
        </p:txBody>
      </p:sp>
      <p:sp>
        <p:nvSpPr>
          <p:cNvPr id="80899" name="Rectangle 3"/>
          <p:cNvSpPr>
            <a:spLocks noGrp="1" noChangeArrowheads="1"/>
          </p:cNvSpPr>
          <p:nvPr>
            <p:ph type="body" idx="1"/>
          </p:nvPr>
        </p:nvSpPr>
        <p:spPr>
          <a:xfrm>
            <a:off x="1042988" y="1978025"/>
            <a:ext cx="7772400" cy="4114800"/>
          </a:xfrm>
        </p:spPr>
        <p:txBody>
          <a:bodyPr/>
          <a:lstStyle/>
          <a:p>
            <a:pPr eaLnBrk="1" hangingPunct="1"/>
            <a:r>
              <a:rPr lang="zh-CN" altLang="en-US" smtClean="0">
                <a:solidFill>
                  <a:schemeClr val="hlink"/>
                </a:solidFill>
              </a:rPr>
              <a:t>用户接口盒</a:t>
            </a:r>
            <a:r>
              <a:rPr lang="zh-CN" altLang="en-US" smtClean="0"/>
              <a:t> </a:t>
            </a:r>
            <a:r>
              <a:rPr lang="en-US" altLang="zh-CN" smtClean="0"/>
              <a:t>UIB (User Interface Box)</a:t>
            </a:r>
            <a:r>
              <a:rPr lang="zh-CN" altLang="en-US" smtClean="0"/>
              <a:t>要提供三种连接，即：</a:t>
            </a:r>
          </a:p>
          <a:p>
            <a:pPr lvl="1" eaLnBrk="1" hangingPunct="1"/>
            <a:r>
              <a:rPr lang="zh-CN" altLang="en-US" smtClean="0">
                <a:solidFill>
                  <a:srgbClr val="333399"/>
                </a:solidFill>
                <a:latin typeface="Arial" pitchFamily="34" charset="0"/>
                <a:ea typeface="黑体" pitchFamily="49" charset="-122"/>
              </a:rPr>
              <a:t>使用同轴电缆连接到</a:t>
            </a:r>
            <a:r>
              <a:rPr lang="zh-CN" altLang="en-US" smtClean="0">
                <a:solidFill>
                  <a:schemeClr val="hlink"/>
                </a:solidFill>
                <a:latin typeface="Arial" pitchFamily="34" charset="0"/>
                <a:ea typeface="黑体" pitchFamily="49" charset="-122"/>
              </a:rPr>
              <a:t>机顶盒</a:t>
            </a:r>
            <a:r>
              <a:rPr lang="en-US" altLang="zh-CN" smtClean="0">
                <a:solidFill>
                  <a:srgbClr val="333399"/>
                </a:solidFill>
                <a:latin typeface="Arial" pitchFamily="34" charset="0"/>
                <a:ea typeface="黑体" pitchFamily="49" charset="-122"/>
              </a:rPr>
              <a:t>(set-top box)</a:t>
            </a:r>
            <a:r>
              <a:rPr lang="zh-CN" altLang="en-US" smtClean="0">
                <a:solidFill>
                  <a:srgbClr val="333399"/>
                </a:solidFill>
                <a:latin typeface="Arial" pitchFamily="34" charset="0"/>
                <a:ea typeface="黑体" pitchFamily="49" charset="-122"/>
              </a:rPr>
              <a:t>，然后再连接到用户的电视机。</a:t>
            </a:r>
          </a:p>
          <a:p>
            <a:pPr lvl="1" eaLnBrk="1" hangingPunct="1"/>
            <a:r>
              <a:rPr lang="zh-CN" altLang="en-US" smtClean="0">
                <a:solidFill>
                  <a:srgbClr val="333399"/>
                </a:solidFill>
                <a:latin typeface="Arial" pitchFamily="34" charset="0"/>
                <a:ea typeface="黑体" pitchFamily="49" charset="-122"/>
              </a:rPr>
              <a:t>使用双绞线连接到用户的电话机。</a:t>
            </a:r>
          </a:p>
          <a:p>
            <a:pPr lvl="1" eaLnBrk="1" hangingPunct="1"/>
            <a:r>
              <a:rPr lang="zh-CN" altLang="en-US" smtClean="0">
                <a:solidFill>
                  <a:srgbClr val="333399"/>
                </a:solidFill>
                <a:latin typeface="Arial" pitchFamily="34" charset="0"/>
                <a:ea typeface="黑体" pitchFamily="49" charset="-122"/>
              </a:rPr>
              <a:t>使用电缆调制解调器连接到用户的计算机。</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150938" y="620713"/>
            <a:ext cx="7793037" cy="839787"/>
          </a:xfrm>
        </p:spPr>
        <p:txBody>
          <a:bodyPr/>
          <a:lstStyle/>
          <a:p>
            <a:pPr eaLnBrk="1" hangingPunct="1"/>
            <a:r>
              <a:rPr lang="zh-CN" altLang="en-US" sz="4000" smtClean="0"/>
              <a:t>电缆调制解调器</a:t>
            </a:r>
            <a:r>
              <a:rPr lang="en-US" altLang="zh-CN" sz="4000" smtClean="0"/>
              <a:t>(cable modem) </a:t>
            </a:r>
          </a:p>
        </p:txBody>
      </p:sp>
      <p:sp>
        <p:nvSpPr>
          <p:cNvPr id="297987" name="Rectangle 3"/>
          <p:cNvSpPr>
            <a:spLocks noGrp="1" noChangeArrowheads="1"/>
          </p:cNvSpPr>
          <p:nvPr>
            <p:ph type="body" idx="1"/>
          </p:nvPr>
        </p:nvSpPr>
        <p:spPr>
          <a:xfrm>
            <a:off x="1042988" y="1906588"/>
            <a:ext cx="7772400" cy="4114800"/>
          </a:xfrm>
        </p:spPr>
        <p:txBody>
          <a:bodyPr/>
          <a:lstStyle/>
          <a:p>
            <a:pPr eaLnBrk="1" hangingPunct="1"/>
            <a:r>
              <a:rPr lang="zh-CN" altLang="en-US" sz="2800" smtClean="0">
                <a:solidFill>
                  <a:schemeClr val="hlink"/>
                </a:solidFill>
              </a:rPr>
              <a:t>电缆调制解调器</a:t>
            </a:r>
            <a:r>
              <a:rPr lang="zh-CN" altLang="en-US" sz="2800" smtClean="0"/>
              <a:t>是为 </a:t>
            </a:r>
            <a:r>
              <a:rPr lang="en-US" altLang="zh-CN" sz="2800" smtClean="0"/>
              <a:t>HFC </a:t>
            </a:r>
            <a:r>
              <a:rPr lang="zh-CN" altLang="en-US" sz="2800" smtClean="0"/>
              <a:t>网而使用的调制解调器。</a:t>
            </a:r>
          </a:p>
          <a:p>
            <a:pPr eaLnBrk="1" hangingPunct="1"/>
            <a:r>
              <a:rPr lang="zh-CN" altLang="en-US" sz="2800" smtClean="0"/>
              <a:t>电缆调制解调器最大的特点就是传输速率高。其下行速率一般在 </a:t>
            </a:r>
            <a:r>
              <a:rPr lang="en-US" altLang="zh-CN" sz="2800" smtClean="0"/>
              <a:t>3</a:t>
            </a:r>
            <a:r>
              <a:rPr lang="en-US" altLang="zh-CN" sz="2800" smtClean="0">
                <a:sym typeface="Symbol" pitchFamily="18" charset="2"/>
              </a:rPr>
              <a:t></a:t>
            </a:r>
            <a:r>
              <a:rPr lang="en-US" altLang="zh-CN" sz="2800" smtClean="0"/>
              <a:t>10  Mb/s</a:t>
            </a:r>
            <a:r>
              <a:rPr lang="zh-CN" altLang="en-US" sz="2800" smtClean="0"/>
              <a:t>之间，最高可达 </a:t>
            </a:r>
            <a:r>
              <a:rPr lang="en-US" altLang="zh-CN" sz="2800" smtClean="0"/>
              <a:t>30 Mb/s</a:t>
            </a:r>
            <a:r>
              <a:rPr lang="zh-CN" altLang="en-US" sz="2800" smtClean="0"/>
              <a:t>，而上行速率一般为 </a:t>
            </a:r>
            <a:r>
              <a:rPr lang="en-US" altLang="zh-CN" sz="2800" smtClean="0"/>
              <a:t>0.2</a:t>
            </a:r>
            <a:r>
              <a:rPr lang="en-US" altLang="zh-CN" sz="2800" smtClean="0">
                <a:sym typeface="Symbol" pitchFamily="18" charset="2"/>
              </a:rPr>
              <a:t></a:t>
            </a:r>
            <a:r>
              <a:rPr lang="en-US" altLang="zh-CN" sz="2800" smtClean="0"/>
              <a:t>2 Mb/s</a:t>
            </a:r>
            <a:r>
              <a:rPr lang="zh-CN" altLang="en-US" sz="2800" smtClean="0"/>
              <a:t>，最高可达 </a:t>
            </a:r>
            <a:r>
              <a:rPr lang="en-US" altLang="zh-CN" sz="2800" smtClean="0"/>
              <a:t>10 Mb/s</a:t>
            </a:r>
            <a:r>
              <a:rPr lang="zh-CN" altLang="en-US" sz="2800" smtClean="0"/>
              <a:t>。</a:t>
            </a:r>
          </a:p>
          <a:p>
            <a:pPr eaLnBrk="1" hangingPunct="1"/>
            <a:r>
              <a:rPr lang="zh-CN" altLang="en-US" sz="2800" smtClean="0"/>
              <a:t>电缆调制解调器比在普通电话线上使用的调制解调器要复杂得多，并且不是成对使用，而是只安装在用户端。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9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algn="ctr" eaLnBrk="1" hangingPunct="1"/>
            <a:r>
              <a:rPr lang="en-US" altLang="zh-CN" smtClean="0"/>
              <a:t>HFC </a:t>
            </a:r>
            <a:r>
              <a:rPr lang="zh-CN" altLang="en-US" smtClean="0"/>
              <a:t>网的最大优点 </a:t>
            </a:r>
          </a:p>
        </p:txBody>
      </p:sp>
      <p:sp>
        <p:nvSpPr>
          <p:cNvPr id="300035" name="Rectangle 3"/>
          <p:cNvSpPr>
            <a:spLocks noGrp="1" noChangeArrowheads="1"/>
          </p:cNvSpPr>
          <p:nvPr>
            <p:ph type="body" idx="1"/>
          </p:nvPr>
        </p:nvSpPr>
        <p:spPr>
          <a:xfrm>
            <a:off x="1042988" y="1906588"/>
            <a:ext cx="7772400" cy="4114800"/>
          </a:xfrm>
        </p:spPr>
        <p:txBody>
          <a:bodyPr/>
          <a:lstStyle/>
          <a:p>
            <a:pPr eaLnBrk="1" hangingPunct="1"/>
            <a:r>
              <a:rPr lang="zh-CN" altLang="en-US" sz="2800" smtClean="0"/>
              <a:t>具有很宽的频带，并且能够利用已经有相当大的覆盖面的有线电视网。</a:t>
            </a:r>
          </a:p>
          <a:p>
            <a:pPr eaLnBrk="1" hangingPunct="1"/>
            <a:r>
              <a:rPr lang="zh-CN" altLang="en-US" sz="2800" smtClean="0"/>
              <a:t>要将现有的 </a:t>
            </a:r>
            <a:r>
              <a:rPr lang="en-US" altLang="zh-CN" sz="2800" smtClean="0"/>
              <a:t>450 MHz </a:t>
            </a:r>
            <a:r>
              <a:rPr lang="zh-CN" altLang="en-US" sz="2800" smtClean="0"/>
              <a:t>单向传输的有线电视网络改造为 </a:t>
            </a:r>
            <a:r>
              <a:rPr lang="en-US" altLang="zh-CN" sz="2800" smtClean="0"/>
              <a:t>750 MHz </a:t>
            </a:r>
            <a:r>
              <a:rPr lang="zh-CN" altLang="en-US" sz="2800" smtClean="0"/>
              <a:t>双向传输的 </a:t>
            </a:r>
            <a:r>
              <a:rPr lang="en-US" altLang="zh-CN" sz="2800" smtClean="0"/>
              <a:t>HFC </a:t>
            </a:r>
            <a:r>
              <a:rPr lang="zh-CN" altLang="en-US" sz="2800" smtClean="0"/>
              <a:t>网（还要将所有的用户服务区互连起来而不是一个个 </a:t>
            </a:r>
            <a:r>
              <a:rPr lang="en-US" altLang="zh-CN" sz="2800" smtClean="0"/>
              <a:t>HFC </a:t>
            </a:r>
            <a:r>
              <a:rPr lang="zh-CN" altLang="en-US" sz="2800" smtClean="0"/>
              <a:t>网的孤岛），也需要相当的资金和时间。</a:t>
            </a:r>
          </a:p>
          <a:p>
            <a:pPr eaLnBrk="1" hangingPunct="1"/>
            <a:r>
              <a:rPr lang="zh-CN" altLang="en-US" sz="2800" smtClean="0"/>
              <a:t>在电信政策方面也有一些需要协调解决的问题。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0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0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150938" y="214313"/>
            <a:ext cx="7021512" cy="1462087"/>
          </a:xfrm>
        </p:spPr>
        <p:txBody>
          <a:bodyPr/>
          <a:lstStyle/>
          <a:p>
            <a:pPr algn="ctr" eaLnBrk="1" hangingPunct="1"/>
            <a:r>
              <a:rPr lang="en-US" altLang="zh-CN" dirty="0" smtClean="0"/>
              <a:t>(3)  </a:t>
            </a:r>
            <a:r>
              <a:rPr lang="en-US" altLang="zh-CN" dirty="0" err="1" smtClean="0"/>
              <a:t>FTTx</a:t>
            </a:r>
            <a:r>
              <a:rPr lang="en-US" altLang="zh-CN" dirty="0" smtClean="0"/>
              <a:t> </a:t>
            </a:r>
            <a:r>
              <a:rPr lang="zh-CN" altLang="en-US" dirty="0" smtClean="0"/>
              <a:t>技术 </a:t>
            </a:r>
          </a:p>
        </p:txBody>
      </p:sp>
      <p:sp>
        <p:nvSpPr>
          <p:cNvPr id="302083" name="Rectangle 3"/>
          <p:cNvSpPr>
            <a:spLocks noGrp="1" noChangeArrowheads="1"/>
          </p:cNvSpPr>
          <p:nvPr>
            <p:ph type="body" idx="1"/>
          </p:nvPr>
        </p:nvSpPr>
        <p:spPr>
          <a:xfrm>
            <a:off x="539750" y="1989138"/>
            <a:ext cx="8275638" cy="4464050"/>
          </a:xfrm>
        </p:spPr>
        <p:txBody>
          <a:bodyPr/>
          <a:lstStyle/>
          <a:p>
            <a:pPr eaLnBrk="1" hangingPunct="1">
              <a:lnSpc>
                <a:spcPct val="90000"/>
              </a:lnSpc>
            </a:pPr>
            <a:r>
              <a:rPr lang="en-US" altLang="zh-CN" sz="2800" dirty="0" err="1" smtClean="0"/>
              <a:t>FTTx</a:t>
            </a:r>
            <a:r>
              <a:rPr lang="zh-CN" altLang="en-US" sz="2800" dirty="0" smtClean="0"/>
              <a:t>（光纤到</a:t>
            </a:r>
            <a:r>
              <a:rPr lang="en-US" altLang="zh-CN" sz="2800" dirty="0" smtClean="0"/>
              <a:t>……</a:t>
            </a:r>
            <a:r>
              <a:rPr lang="zh-CN" altLang="en-US" sz="2800" dirty="0" smtClean="0"/>
              <a:t>）也是一种实现宽带居民接入网的方案。这里字母 </a:t>
            </a:r>
            <a:r>
              <a:rPr lang="en-US" altLang="zh-CN" sz="2800" dirty="0" smtClean="0"/>
              <a:t>x </a:t>
            </a:r>
            <a:r>
              <a:rPr lang="zh-CN" altLang="en-US" sz="2800" dirty="0" smtClean="0"/>
              <a:t>可代表不同意思。</a:t>
            </a:r>
          </a:p>
          <a:p>
            <a:pPr eaLnBrk="1" hangingPunct="1">
              <a:lnSpc>
                <a:spcPct val="90000"/>
              </a:lnSpc>
            </a:pPr>
            <a:r>
              <a:rPr lang="zh-CN" altLang="en-US" sz="2800" dirty="0" smtClean="0">
                <a:solidFill>
                  <a:schemeClr val="hlink"/>
                </a:solidFill>
              </a:rPr>
              <a:t>光纤到家</a:t>
            </a:r>
            <a:r>
              <a:rPr lang="zh-CN" altLang="en-US" sz="2800" dirty="0" smtClean="0"/>
              <a:t> </a:t>
            </a:r>
            <a:r>
              <a:rPr lang="en-US" altLang="zh-CN" sz="2800" dirty="0" smtClean="0"/>
              <a:t>FTTH (Fiber To The Home)</a:t>
            </a:r>
            <a:r>
              <a:rPr lang="zh-CN" altLang="en-US" sz="2800" dirty="0" smtClean="0"/>
              <a:t>：光纤一直铺设到用户家庭可能是居民接入网最后的解决方法。</a:t>
            </a:r>
          </a:p>
          <a:p>
            <a:pPr eaLnBrk="1" hangingPunct="1">
              <a:lnSpc>
                <a:spcPct val="90000"/>
              </a:lnSpc>
            </a:pPr>
            <a:r>
              <a:rPr lang="zh-CN" altLang="en-US" sz="2800" dirty="0" smtClean="0">
                <a:solidFill>
                  <a:schemeClr val="hlink"/>
                </a:solidFill>
              </a:rPr>
              <a:t>光纤到大楼</a:t>
            </a:r>
            <a:r>
              <a:rPr lang="zh-CN" altLang="en-US" sz="2800" dirty="0" smtClean="0"/>
              <a:t> </a:t>
            </a:r>
            <a:r>
              <a:rPr lang="en-US" altLang="zh-CN" sz="2800" dirty="0" smtClean="0"/>
              <a:t>FTTB (Fiber To The Building)</a:t>
            </a:r>
            <a:r>
              <a:rPr lang="zh-CN" altLang="en-US" sz="2800" dirty="0" smtClean="0"/>
              <a:t>：光纤进入大楼后就转换为电信号，然后用电缆或双绞线分配到各用户。</a:t>
            </a:r>
          </a:p>
          <a:p>
            <a:pPr eaLnBrk="1" hangingPunct="1">
              <a:lnSpc>
                <a:spcPct val="90000"/>
              </a:lnSpc>
            </a:pPr>
            <a:r>
              <a:rPr lang="zh-CN" altLang="en-US" sz="2800" dirty="0" smtClean="0">
                <a:solidFill>
                  <a:schemeClr val="hlink"/>
                </a:solidFill>
              </a:rPr>
              <a:t>光纤到路边</a:t>
            </a:r>
            <a:r>
              <a:rPr lang="zh-CN" altLang="en-US" sz="2800" dirty="0" smtClean="0"/>
              <a:t> </a:t>
            </a:r>
            <a:r>
              <a:rPr lang="en-US" altLang="zh-CN" sz="2800" dirty="0" smtClean="0"/>
              <a:t>FTTC (Fiber To The Curb)</a:t>
            </a:r>
            <a:r>
              <a:rPr lang="zh-CN" altLang="en-US" sz="2800" dirty="0" smtClean="0"/>
              <a:t>：从路边到各用户可使用星形结构双绞线作为传输媒体。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20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20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2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1150938" y="260350"/>
            <a:ext cx="7793037" cy="1462088"/>
          </a:xfrm>
        </p:spPr>
        <p:txBody>
          <a:bodyPr/>
          <a:lstStyle/>
          <a:p>
            <a:pPr algn="ctr" eaLnBrk="1" hangingPunct="1"/>
            <a:r>
              <a:rPr lang="en-US" altLang="zh-CN" dirty="0" smtClean="0"/>
              <a:t>7. </a:t>
            </a:r>
            <a:r>
              <a:rPr lang="zh-CN" altLang="en-US" dirty="0" smtClean="0"/>
              <a:t>物理层接口与标准举例</a:t>
            </a:r>
            <a:br>
              <a:rPr lang="zh-CN" altLang="en-US" dirty="0" smtClean="0"/>
            </a:br>
            <a:r>
              <a:rPr lang="zh-CN" altLang="en-US" dirty="0" smtClean="0"/>
              <a:t>（</a:t>
            </a:r>
            <a:r>
              <a:rPr lang="en-US" altLang="zh-CN" dirty="0" smtClean="0"/>
              <a:t>1</a:t>
            </a:r>
            <a:r>
              <a:rPr lang="zh-CN" altLang="en-US" dirty="0" smtClean="0"/>
              <a:t>）</a:t>
            </a:r>
            <a:r>
              <a:rPr lang="zh-CN" altLang="en-US" sz="3600" dirty="0" smtClean="0"/>
              <a:t>  </a:t>
            </a:r>
            <a:r>
              <a:rPr lang="en-US" altLang="zh-CN" sz="3600" dirty="0" smtClean="0"/>
              <a:t>EIA-232-E </a:t>
            </a:r>
            <a:r>
              <a:rPr lang="zh-CN" altLang="en-US" sz="3600" dirty="0" smtClean="0"/>
              <a:t>接口标准</a:t>
            </a:r>
          </a:p>
        </p:txBody>
      </p:sp>
      <p:sp>
        <p:nvSpPr>
          <p:cNvPr id="308227" name="Rectangle 3"/>
          <p:cNvSpPr>
            <a:spLocks noGrp="1" noChangeArrowheads="1"/>
          </p:cNvSpPr>
          <p:nvPr>
            <p:ph type="body" idx="1"/>
          </p:nvPr>
        </p:nvSpPr>
        <p:spPr>
          <a:xfrm>
            <a:off x="323850" y="1917700"/>
            <a:ext cx="8640763" cy="4114800"/>
          </a:xfrm>
        </p:spPr>
        <p:txBody>
          <a:bodyPr/>
          <a:lstStyle/>
          <a:p>
            <a:pPr eaLnBrk="1" hangingPunct="1"/>
            <a:r>
              <a:rPr lang="en-US" altLang="zh-CN" sz="3600" smtClean="0"/>
              <a:t>DTE (Data Terminal Equipment) </a:t>
            </a:r>
            <a:r>
              <a:rPr lang="zh-CN" altLang="en-US" sz="3600" smtClean="0"/>
              <a:t>是</a:t>
            </a:r>
            <a:r>
              <a:rPr lang="zh-CN" altLang="en-US" sz="3600" smtClean="0">
                <a:solidFill>
                  <a:schemeClr val="hlink"/>
                </a:solidFill>
              </a:rPr>
              <a:t>数据终端设备</a:t>
            </a:r>
            <a:r>
              <a:rPr lang="zh-CN" altLang="en-US" sz="3600" smtClean="0"/>
              <a:t>，是具有一定的数据处理能力和发送、接收数据能力的设备。</a:t>
            </a:r>
          </a:p>
          <a:p>
            <a:pPr eaLnBrk="1" hangingPunct="1"/>
            <a:r>
              <a:rPr lang="en-US" altLang="zh-CN" smtClean="0"/>
              <a:t>DCE (Data Circuit-terminating Equipment)</a:t>
            </a:r>
            <a:r>
              <a:rPr lang="zh-CN" altLang="en-US" smtClean="0"/>
              <a:t>是</a:t>
            </a:r>
            <a:r>
              <a:rPr lang="zh-CN" altLang="en-US" smtClean="0">
                <a:solidFill>
                  <a:schemeClr val="hlink"/>
                </a:solidFill>
              </a:rPr>
              <a:t>数据电路端接设备</a:t>
            </a:r>
            <a:r>
              <a:rPr lang="zh-CN" altLang="en-US" smtClean="0"/>
              <a:t>，它在 </a:t>
            </a:r>
            <a:r>
              <a:rPr lang="en-US" altLang="zh-CN" smtClean="0"/>
              <a:t>DTE </a:t>
            </a:r>
            <a:r>
              <a:rPr lang="zh-CN" altLang="en-US" smtClean="0"/>
              <a:t>和传输线路之间提供信号变换和编码的功能，并且负责建立、保持和释放数据链路的连接。  </a:t>
            </a:r>
            <a:r>
              <a:rPr lang="zh-CN" altLang="en-US" sz="3600" smtClean="0"/>
              <a:t> </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2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1150938" y="260350"/>
            <a:ext cx="7793037" cy="1462088"/>
          </a:xfrm>
        </p:spPr>
        <p:txBody>
          <a:bodyPr/>
          <a:lstStyle/>
          <a:p>
            <a:pPr algn="ctr" eaLnBrk="1" hangingPunct="1"/>
            <a:r>
              <a:rPr lang="en-US" altLang="zh-CN" smtClean="0"/>
              <a:t>DTE </a:t>
            </a:r>
            <a:r>
              <a:rPr lang="zh-CN" altLang="en-US" smtClean="0"/>
              <a:t>通过 </a:t>
            </a:r>
            <a:r>
              <a:rPr lang="en-US" altLang="zh-CN" smtClean="0"/>
              <a:t>DCE </a:t>
            </a:r>
            <a:br>
              <a:rPr lang="en-US" altLang="zh-CN" smtClean="0"/>
            </a:br>
            <a:r>
              <a:rPr lang="zh-CN" altLang="en-US" smtClean="0"/>
              <a:t>与通信传输线路相连 </a:t>
            </a:r>
          </a:p>
        </p:txBody>
      </p:sp>
      <p:sp>
        <p:nvSpPr>
          <p:cNvPr id="109571"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09572" name="Rectangle 4"/>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109573" name="AutoShape 5"/>
          <p:cNvSpPr>
            <a:spLocks noChangeArrowheads="1"/>
          </p:cNvSpPr>
          <p:nvPr/>
        </p:nvSpPr>
        <p:spPr bwMode="auto">
          <a:xfrm>
            <a:off x="5913438" y="2830513"/>
            <a:ext cx="2752725" cy="2108200"/>
          </a:xfrm>
          <a:prstGeom prst="roundRect">
            <a:avLst>
              <a:gd name="adj" fmla="val 16667"/>
            </a:avLst>
          </a:prstGeom>
          <a:solidFill>
            <a:srgbClr val="66FF99"/>
          </a:solidFill>
          <a:ln w="19050">
            <a:solidFill>
              <a:schemeClr val="tx1"/>
            </a:solidFill>
            <a:prstDash val="dash"/>
            <a:round/>
            <a:headEnd/>
            <a:tailEnd/>
          </a:ln>
        </p:spPr>
        <p:txBody>
          <a:bodyPr wrap="none" anchor="ctr"/>
          <a:lstStyle/>
          <a:p>
            <a:endParaRPr lang="zh-CN" altLang="en-US"/>
          </a:p>
        </p:txBody>
      </p:sp>
      <p:sp>
        <p:nvSpPr>
          <p:cNvPr id="109574" name="AutoShape 6"/>
          <p:cNvSpPr>
            <a:spLocks noChangeArrowheads="1"/>
          </p:cNvSpPr>
          <p:nvPr/>
        </p:nvSpPr>
        <p:spPr bwMode="auto">
          <a:xfrm>
            <a:off x="7165975" y="2925763"/>
            <a:ext cx="1331913" cy="1725612"/>
          </a:xfrm>
          <a:prstGeom prst="roundRect">
            <a:avLst>
              <a:gd name="adj" fmla="val 16667"/>
            </a:avLst>
          </a:prstGeom>
          <a:solidFill>
            <a:srgbClr val="FFFF66"/>
          </a:solidFill>
          <a:ln w="12700">
            <a:solidFill>
              <a:schemeClr val="tx1"/>
            </a:solidFill>
            <a:prstDash val="dash"/>
            <a:round/>
            <a:headEnd/>
            <a:tailEnd/>
          </a:ln>
        </p:spPr>
        <p:txBody>
          <a:bodyPr wrap="none" anchor="ctr"/>
          <a:lstStyle/>
          <a:p>
            <a:endParaRPr lang="zh-CN" altLang="en-US"/>
          </a:p>
        </p:txBody>
      </p:sp>
      <p:sp>
        <p:nvSpPr>
          <p:cNvPr id="109575" name="AutoShape 7"/>
          <p:cNvSpPr>
            <a:spLocks noChangeArrowheads="1"/>
          </p:cNvSpPr>
          <p:nvPr/>
        </p:nvSpPr>
        <p:spPr bwMode="auto">
          <a:xfrm>
            <a:off x="246063" y="2830513"/>
            <a:ext cx="2895600" cy="2108200"/>
          </a:xfrm>
          <a:prstGeom prst="roundRect">
            <a:avLst>
              <a:gd name="adj" fmla="val 16667"/>
            </a:avLst>
          </a:prstGeom>
          <a:solidFill>
            <a:srgbClr val="66FF99"/>
          </a:solidFill>
          <a:ln w="19050">
            <a:solidFill>
              <a:schemeClr val="tx1"/>
            </a:solidFill>
            <a:prstDash val="dash"/>
            <a:round/>
            <a:headEnd/>
            <a:tailEnd/>
          </a:ln>
        </p:spPr>
        <p:txBody>
          <a:bodyPr wrap="none" anchor="ctr"/>
          <a:lstStyle/>
          <a:p>
            <a:endParaRPr lang="zh-CN" altLang="en-US"/>
          </a:p>
        </p:txBody>
      </p:sp>
      <p:sp>
        <p:nvSpPr>
          <p:cNvPr id="109576" name="AutoShape 8"/>
          <p:cNvSpPr>
            <a:spLocks noChangeArrowheads="1"/>
          </p:cNvSpPr>
          <p:nvPr/>
        </p:nvSpPr>
        <p:spPr bwMode="auto">
          <a:xfrm>
            <a:off x="414338" y="2925763"/>
            <a:ext cx="1335087" cy="1725612"/>
          </a:xfrm>
          <a:prstGeom prst="roundRect">
            <a:avLst>
              <a:gd name="adj" fmla="val 16667"/>
            </a:avLst>
          </a:prstGeom>
          <a:solidFill>
            <a:srgbClr val="FFFF66"/>
          </a:solidFill>
          <a:ln w="12700">
            <a:solidFill>
              <a:schemeClr val="tx1"/>
            </a:solidFill>
            <a:prstDash val="dash"/>
            <a:round/>
            <a:headEnd/>
            <a:tailEnd/>
          </a:ln>
        </p:spPr>
        <p:txBody>
          <a:bodyPr wrap="none" anchor="ctr"/>
          <a:lstStyle/>
          <a:p>
            <a:endParaRPr lang="zh-CN" altLang="en-US"/>
          </a:p>
        </p:txBody>
      </p:sp>
      <p:sp>
        <p:nvSpPr>
          <p:cNvPr id="109577" name="Line 9"/>
          <p:cNvSpPr>
            <a:spLocks noChangeShapeType="1"/>
          </p:cNvSpPr>
          <p:nvPr/>
        </p:nvSpPr>
        <p:spPr bwMode="auto">
          <a:xfrm>
            <a:off x="6915150" y="4075113"/>
            <a:ext cx="498475" cy="0"/>
          </a:xfrm>
          <a:prstGeom prst="line">
            <a:avLst/>
          </a:prstGeom>
          <a:noFill/>
          <a:ln w="76200" cmpd="tri">
            <a:solidFill>
              <a:schemeClr val="tx1"/>
            </a:solidFill>
            <a:round/>
            <a:headEnd/>
            <a:tailEnd/>
          </a:ln>
        </p:spPr>
        <p:txBody>
          <a:bodyPr wrap="none" anchor="ctr"/>
          <a:lstStyle/>
          <a:p>
            <a:endParaRPr lang="zh-CN" altLang="en-US"/>
          </a:p>
        </p:txBody>
      </p:sp>
      <p:sp>
        <p:nvSpPr>
          <p:cNvPr id="109578" name="Line 10"/>
          <p:cNvSpPr>
            <a:spLocks noChangeShapeType="1"/>
          </p:cNvSpPr>
          <p:nvPr/>
        </p:nvSpPr>
        <p:spPr bwMode="auto">
          <a:xfrm>
            <a:off x="1581150" y="4170363"/>
            <a:ext cx="500063" cy="0"/>
          </a:xfrm>
          <a:prstGeom prst="line">
            <a:avLst/>
          </a:prstGeom>
          <a:noFill/>
          <a:ln w="76200" cmpd="tri">
            <a:solidFill>
              <a:schemeClr val="tx1"/>
            </a:solidFill>
            <a:round/>
            <a:headEnd/>
            <a:tailEnd/>
          </a:ln>
        </p:spPr>
        <p:txBody>
          <a:bodyPr wrap="none" anchor="ctr"/>
          <a:lstStyle/>
          <a:p>
            <a:endParaRPr lang="zh-CN" altLang="en-US"/>
          </a:p>
        </p:txBody>
      </p:sp>
      <p:sp>
        <p:nvSpPr>
          <p:cNvPr id="109579" name="Rectangle 11"/>
          <p:cNvSpPr>
            <a:spLocks noChangeArrowheads="1"/>
          </p:cNvSpPr>
          <p:nvPr/>
        </p:nvSpPr>
        <p:spPr bwMode="auto">
          <a:xfrm>
            <a:off x="728663" y="2924175"/>
            <a:ext cx="690562" cy="395288"/>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2000">
                <a:solidFill>
                  <a:srgbClr val="333399"/>
                </a:solidFill>
                <a:latin typeface="Arial" pitchFamily="34" charset="0"/>
                <a:ea typeface="黑体" pitchFamily="49" charset="-122"/>
              </a:rPr>
              <a:t>DTE</a:t>
            </a:r>
          </a:p>
        </p:txBody>
      </p:sp>
      <p:sp>
        <p:nvSpPr>
          <p:cNvPr id="109580" name="Rectangle 12"/>
          <p:cNvSpPr>
            <a:spLocks noChangeArrowheads="1"/>
          </p:cNvSpPr>
          <p:nvPr/>
        </p:nvSpPr>
        <p:spPr bwMode="auto">
          <a:xfrm>
            <a:off x="2312988" y="3429000"/>
            <a:ext cx="719137" cy="395288"/>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2000">
                <a:solidFill>
                  <a:srgbClr val="333399"/>
                </a:solidFill>
                <a:latin typeface="Arial" pitchFamily="34" charset="0"/>
                <a:ea typeface="黑体" pitchFamily="49" charset="-122"/>
              </a:rPr>
              <a:t>DCE</a:t>
            </a:r>
          </a:p>
        </p:txBody>
      </p:sp>
      <p:sp>
        <p:nvSpPr>
          <p:cNvPr id="109581" name="Rectangle 13"/>
          <p:cNvSpPr>
            <a:spLocks noChangeArrowheads="1"/>
          </p:cNvSpPr>
          <p:nvPr/>
        </p:nvSpPr>
        <p:spPr bwMode="auto">
          <a:xfrm>
            <a:off x="6148388" y="3429000"/>
            <a:ext cx="719137" cy="395288"/>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2000">
                <a:solidFill>
                  <a:srgbClr val="333399"/>
                </a:solidFill>
                <a:latin typeface="Arial" pitchFamily="34" charset="0"/>
                <a:ea typeface="黑体" pitchFamily="49" charset="-122"/>
              </a:rPr>
              <a:t>DCE</a:t>
            </a:r>
          </a:p>
        </p:txBody>
      </p:sp>
      <p:sp>
        <p:nvSpPr>
          <p:cNvPr id="109582" name="Freeform 14"/>
          <p:cNvSpPr>
            <a:spLocks/>
          </p:cNvSpPr>
          <p:nvPr/>
        </p:nvSpPr>
        <p:spPr bwMode="auto">
          <a:xfrm>
            <a:off x="2987675" y="4027488"/>
            <a:ext cx="3054350" cy="96837"/>
          </a:xfrm>
          <a:custGeom>
            <a:avLst/>
            <a:gdLst>
              <a:gd name="T0" fmla="*/ 0 w 1759"/>
              <a:gd name="T1" fmla="*/ 0 h 49"/>
              <a:gd name="T2" fmla="*/ 948 w 1759"/>
              <a:gd name="T3" fmla="*/ 0 h 49"/>
              <a:gd name="T4" fmla="*/ 888 w 1759"/>
              <a:gd name="T5" fmla="*/ 48 h 49"/>
              <a:gd name="T6" fmla="*/ 1758 w 1759"/>
              <a:gd name="T7" fmla="*/ 48 h 49"/>
              <a:gd name="T8" fmla="*/ 0 60000 65536"/>
              <a:gd name="T9" fmla="*/ 0 60000 65536"/>
              <a:gd name="T10" fmla="*/ 0 60000 65536"/>
              <a:gd name="T11" fmla="*/ 0 60000 65536"/>
              <a:gd name="T12" fmla="*/ 0 w 1759"/>
              <a:gd name="T13" fmla="*/ 0 h 49"/>
              <a:gd name="T14" fmla="*/ 1759 w 1759"/>
              <a:gd name="T15" fmla="*/ 49 h 49"/>
            </a:gdLst>
            <a:ahLst/>
            <a:cxnLst>
              <a:cxn ang="T8">
                <a:pos x="T0" y="T1"/>
              </a:cxn>
              <a:cxn ang="T9">
                <a:pos x="T2" y="T3"/>
              </a:cxn>
              <a:cxn ang="T10">
                <a:pos x="T4" y="T5"/>
              </a:cxn>
              <a:cxn ang="T11">
                <a:pos x="T6" y="T7"/>
              </a:cxn>
            </a:cxnLst>
            <a:rect l="T12" t="T13" r="T14" b="T15"/>
            <a:pathLst>
              <a:path w="1759" h="49">
                <a:moveTo>
                  <a:pt x="0" y="0"/>
                </a:moveTo>
                <a:lnTo>
                  <a:pt x="948" y="0"/>
                </a:lnTo>
                <a:lnTo>
                  <a:pt x="888" y="48"/>
                </a:lnTo>
                <a:lnTo>
                  <a:pt x="1758" y="48"/>
                </a:lnTo>
              </a:path>
            </a:pathLst>
          </a:custGeom>
          <a:noFill/>
          <a:ln w="38100" cap="rnd" cmpd="sng">
            <a:solidFill>
              <a:srgbClr val="333399"/>
            </a:solidFill>
            <a:prstDash val="solid"/>
            <a:round/>
            <a:headEnd type="none" w="med" len="med"/>
            <a:tailEnd type="none" w="med" len="med"/>
          </a:ln>
        </p:spPr>
        <p:txBody>
          <a:bodyPr/>
          <a:lstStyle/>
          <a:p>
            <a:endParaRPr lang="zh-CN" altLang="en-US"/>
          </a:p>
        </p:txBody>
      </p:sp>
      <p:sp>
        <p:nvSpPr>
          <p:cNvPr id="109583" name="Rectangle 15"/>
          <p:cNvSpPr>
            <a:spLocks noChangeArrowheads="1"/>
          </p:cNvSpPr>
          <p:nvPr/>
        </p:nvSpPr>
        <p:spPr bwMode="auto">
          <a:xfrm>
            <a:off x="3663950" y="3500438"/>
            <a:ext cx="1951038" cy="392112"/>
          </a:xfrm>
          <a:prstGeom prst="rect">
            <a:avLst/>
          </a:prstGeom>
          <a:noFill/>
          <a:ln w="12700">
            <a:noFill/>
            <a:miter lim="800000"/>
            <a:headEnd/>
            <a:tailEnd/>
          </a:ln>
        </p:spPr>
        <p:txBody>
          <a:bodyPr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串行比特传输</a:t>
            </a:r>
          </a:p>
        </p:txBody>
      </p:sp>
      <p:sp>
        <p:nvSpPr>
          <p:cNvPr id="109584" name="Rectangle 16"/>
          <p:cNvSpPr>
            <a:spLocks noChangeArrowheads="1"/>
          </p:cNvSpPr>
          <p:nvPr/>
        </p:nvSpPr>
        <p:spPr bwMode="auto">
          <a:xfrm>
            <a:off x="5800725" y="2165350"/>
            <a:ext cx="1958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信号线与控制线</a:t>
            </a:r>
          </a:p>
        </p:txBody>
      </p:sp>
      <p:sp>
        <p:nvSpPr>
          <p:cNvPr id="109585" name="Line 17"/>
          <p:cNvSpPr>
            <a:spLocks noChangeShapeType="1"/>
          </p:cNvSpPr>
          <p:nvPr/>
        </p:nvSpPr>
        <p:spPr bwMode="auto">
          <a:xfrm flipH="1">
            <a:off x="1844675" y="2638425"/>
            <a:ext cx="469900" cy="1484313"/>
          </a:xfrm>
          <a:prstGeom prst="line">
            <a:avLst/>
          </a:prstGeom>
          <a:noFill/>
          <a:ln w="28575">
            <a:solidFill>
              <a:srgbClr val="333399"/>
            </a:solidFill>
            <a:round/>
            <a:headEnd/>
            <a:tailEnd/>
          </a:ln>
        </p:spPr>
        <p:txBody>
          <a:bodyPr wrap="none" anchor="ctr"/>
          <a:lstStyle/>
          <a:p>
            <a:endParaRPr lang="zh-CN" altLang="en-US"/>
          </a:p>
        </p:txBody>
      </p:sp>
      <p:sp>
        <p:nvSpPr>
          <p:cNvPr id="109586" name="Line 18"/>
          <p:cNvSpPr>
            <a:spLocks noChangeShapeType="1"/>
          </p:cNvSpPr>
          <p:nvPr/>
        </p:nvSpPr>
        <p:spPr bwMode="auto">
          <a:xfrm>
            <a:off x="6843713" y="2601913"/>
            <a:ext cx="266700" cy="1411287"/>
          </a:xfrm>
          <a:prstGeom prst="line">
            <a:avLst/>
          </a:prstGeom>
          <a:noFill/>
          <a:ln w="28575">
            <a:solidFill>
              <a:srgbClr val="333399"/>
            </a:solidFill>
            <a:round/>
            <a:headEnd/>
            <a:tailEnd/>
          </a:ln>
        </p:spPr>
        <p:txBody>
          <a:bodyPr wrap="none" anchor="ctr"/>
          <a:lstStyle/>
          <a:p>
            <a:endParaRPr lang="zh-CN" altLang="en-US"/>
          </a:p>
        </p:txBody>
      </p:sp>
      <p:sp>
        <p:nvSpPr>
          <p:cNvPr id="109587" name="Line 19"/>
          <p:cNvSpPr>
            <a:spLocks noChangeShapeType="1"/>
          </p:cNvSpPr>
          <p:nvPr/>
        </p:nvSpPr>
        <p:spPr bwMode="auto">
          <a:xfrm>
            <a:off x="6997700" y="4265613"/>
            <a:ext cx="0" cy="1343025"/>
          </a:xfrm>
          <a:prstGeom prst="line">
            <a:avLst/>
          </a:prstGeom>
          <a:noFill/>
          <a:ln w="28575">
            <a:solidFill>
              <a:srgbClr val="333399"/>
            </a:solidFill>
            <a:prstDash val="dash"/>
            <a:round/>
            <a:headEnd/>
            <a:tailEnd/>
          </a:ln>
        </p:spPr>
        <p:txBody>
          <a:bodyPr wrap="none" anchor="ctr"/>
          <a:lstStyle/>
          <a:p>
            <a:endParaRPr lang="zh-CN" altLang="en-US"/>
          </a:p>
        </p:txBody>
      </p:sp>
      <p:sp>
        <p:nvSpPr>
          <p:cNvPr id="109588" name="Line 20"/>
          <p:cNvSpPr>
            <a:spLocks noChangeShapeType="1"/>
          </p:cNvSpPr>
          <p:nvPr/>
        </p:nvSpPr>
        <p:spPr bwMode="auto">
          <a:xfrm>
            <a:off x="1997075" y="5349875"/>
            <a:ext cx="5000625" cy="0"/>
          </a:xfrm>
          <a:prstGeom prst="line">
            <a:avLst/>
          </a:prstGeom>
          <a:noFill/>
          <a:ln w="28575">
            <a:solidFill>
              <a:srgbClr val="333399"/>
            </a:solidFill>
            <a:round/>
            <a:headEnd type="triangle" w="sm" len="lg"/>
            <a:tailEnd type="triangle" w="sm" len="lg"/>
          </a:ln>
        </p:spPr>
        <p:txBody>
          <a:bodyPr wrap="none" anchor="ctr"/>
          <a:lstStyle/>
          <a:p>
            <a:endParaRPr lang="zh-CN" altLang="en-US"/>
          </a:p>
        </p:txBody>
      </p:sp>
      <p:sp>
        <p:nvSpPr>
          <p:cNvPr id="109589" name="Rectangle 21"/>
          <p:cNvSpPr>
            <a:spLocks noChangeArrowheads="1"/>
          </p:cNvSpPr>
          <p:nvPr/>
        </p:nvSpPr>
        <p:spPr bwMode="auto">
          <a:xfrm>
            <a:off x="61913" y="2160588"/>
            <a:ext cx="1196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用户环境</a:t>
            </a:r>
          </a:p>
        </p:txBody>
      </p:sp>
      <p:sp>
        <p:nvSpPr>
          <p:cNvPr id="109590" name="Rectangle 22"/>
          <p:cNvSpPr>
            <a:spLocks noChangeArrowheads="1"/>
          </p:cNvSpPr>
          <p:nvPr/>
        </p:nvSpPr>
        <p:spPr bwMode="auto">
          <a:xfrm>
            <a:off x="3956050" y="5113338"/>
            <a:ext cx="1196975" cy="392112"/>
          </a:xfrm>
          <a:prstGeom prst="rect">
            <a:avLst/>
          </a:prstGeom>
          <a:solidFill>
            <a:schemeClr val="bg1"/>
          </a:solid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通信环境</a:t>
            </a:r>
          </a:p>
        </p:txBody>
      </p:sp>
      <p:sp>
        <p:nvSpPr>
          <p:cNvPr id="109591" name="Rectangle 23"/>
          <p:cNvSpPr>
            <a:spLocks noChangeArrowheads="1"/>
          </p:cNvSpPr>
          <p:nvPr/>
        </p:nvSpPr>
        <p:spPr bwMode="auto">
          <a:xfrm>
            <a:off x="82550" y="5316538"/>
            <a:ext cx="1196975" cy="3921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用户设施</a:t>
            </a:r>
          </a:p>
        </p:txBody>
      </p:sp>
      <p:sp>
        <p:nvSpPr>
          <p:cNvPr id="109592" name="Rectangle 24"/>
          <p:cNvSpPr>
            <a:spLocks noChangeArrowheads="1"/>
          </p:cNvSpPr>
          <p:nvPr/>
        </p:nvSpPr>
        <p:spPr bwMode="auto">
          <a:xfrm>
            <a:off x="4060825" y="4373563"/>
            <a:ext cx="1084263" cy="382587"/>
          </a:xfrm>
          <a:prstGeom prst="rect">
            <a:avLst/>
          </a:prstGeom>
          <a:solidFill>
            <a:schemeClr val="bg1"/>
          </a:solidFill>
          <a:ln w="12700">
            <a:noFill/>
            <a:miter lim="800000"/>
            <a:headEnd/>
            <a:tailEnd/>
          </a:ln>
        </p:spPr>
        <p:txBody>
          <a:bodyPr wrap="none" anchor="ctr"/>
          <a:lstStyle/>
          <a:p>
            <a:endParaRPr lang="zh-CN" altLang="en-US"/>
          </a:p>
        </p:txBody>
      </p:sp>
      <p:sp>
        <p:nvSpPr>
          <p:cNvPr id="109593" name="Rectangle 25"/>
          <p:cNvSpPr>
            <a:spLocks noChangeArrowheads="1"/>
          </p:cNvSpPr>
          <p:nvPr/>
        </p:nvSpPr>
        <p:spPr bwMode="auto">
          <a:xfrm>
            <a:off x="3759200" y="4440238"/>
            <a:ext cx="1196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通信设施</a:t>
            </a:r>
          </a:p>
        </p:txBody>
      </p:sp>
      <p:pic>
        <p:nvPicPr>
          <p:cNvPr id="109594" name="Picture 26"/>
          <p:cNvPicPr>
            <a:picLocks noChangeArrowheads="1"/>
          </p:cNvPicPr>
          <p:nvPr/>
        </p:nvPicPr>
        <p:blipFill>
          <a:blip r:embed="rId2" cstate="print"/>
          <a:srcRect/>
          <a:stretch>
            <a:fillRect/>
          </a:stretch>
        </p:blipFill>
        <p:spPr bwMode="auto">
          <a:xfrm>
            <a:off x="501650" y="3308350"/>
            <a:ext cx="1163638" cy="1211263"/>
          </a:xfrm>
          <a:prstGeom prst="rect">
            <a:avLst/>
          </a:prstGeom>
          <a:noFill/>
          <a:ln w="12699">
            <a:noFill/>
            <a:miter lim="800000"/>
            <a:headEnd/>
            <a:tailEnd/>
          </a:ln>
        </p:spPr>
      </p:pic>
      <p:pic>
        <p:nvPicPr>
          <p:cNvPr id="109595" name="Picture 27"/>
          <p:cNvPicPr>
            <a:picLocks noChangeArrowheads="1"/>
          </p:cNvPicPr>
          <p:nvPr/>
        </p:nvPicPr>
        <p:blipFill>
          <a:blip r:embed="rId3" cstate="print"/>
          <a:srcRect/>
          <a:stretch>
            <a:fillRect/>
          </a:stretch>
        </p:blipFill>
        <p:spPr bwMode="auto">
          <a:xfrm>
            <a:off x="1958975" y="3713163"/>
            <a:ext cx="1206500" cy="746125"/>
          </a:xfrm>
          <a:prstGeom prst="rect">
            <a:avLst/>
          </a:prstGeom>
          <a:noFill/>
          <a:ln w="9525">
            <a:noFill/>
            <a:miter lim="800000"/>
            <a:headEnd/>
            <a:tailEnd/>
          </a:ln>
        </p:spPr>
      </p:pic>
      <p:pic>
        <p:nvPicPr>
          <p:cNvPr id="109596" name="Picture 28"/>
          <p:cNvPicPr>
            <a:picLocks noChangeArrowheads="1"/>
          </p:cNvPicPr>
          <p:nvPr/>
        </p:nvPicPr>
        <p:blipFill>
          <a:blip r:embed="rId3" cstate="print"/>
          <a:srcRect/>
          <a:stretch>
            <a:fillRect/>
          </a:stretch>
        </p:blipFill>
        <p:spPr bwMode="auto">
          <a:xfrm>
            <a:off x="5959475" y="3713163"/>
            <a:ext cx="1206500" cy="746125"/>
          </a:xfrm>
          <a:prstGeom prst="rect">
            <a:avLst/>
          </a:prstGeom>
          <a:noFill/>
          <a:ln w="9525">
            <a:noFill/>
            <a:miter lim="800000"/>
            <a:headEnd/>
            <a:tailEnd/>
          </a:ln>
        </p:spPr>
      </p:pic>
      <p:pic>
        <p:nvPicPr>
          <p:cNvPr id="109597" name="Picture 29"/>
          <p:cNvPicPr>
            <a:picLocks noChangeArrowheads="1"/>
          </p:cNvPicPr>
          <p:nvPr/>
        </p:nvPicPr>
        <p:blipFill>
          <a:blip r:embed="rId2" cstate="print"/>
          <a:srcRect/>
          <a:stretch>
            <a:fillRect/>
          </a:stretch>
        </p:blipFill>
        <p:spPr bwMode="auto">
          <a:xfrm>
            <a:off x="7248525" y="3308350"/>
            <a:ext cx="1163638" cy="1211263"/>
          </a:xfrm>
          <a:prstGeom prst="rect">
            <a:avLst/>
          </a:prstGeom>
          <a:noFill/>
          <a:ln w="12699">
            <a:noFill/>
            <a:miter lim="800000"/>
            <a:headEnd/>
            <a:tailEnd/>
          </a:ln>
        </p:spPr>
      </p:pic>
      <p:sp>
        <p:nvSpPr>
          <p:cNvPr id="109598" name="Rectangle 30"/>
          <p:cNvSpPr>
            <a:spLocks noChangeArrowheads="1"/>
          </p:cNvSpPr>
          <p:nvPr/>
        </p:nvSpPr>
        <p:spPr bwMode="auto">
          <a:xfrm>
            <a:off x="7480300" y="2924175"/>
            <a:ext cx="690563" cy="395288"/>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2000">
                <a:solidFill>
                  <a:srgbClr val="333399"/>
                </a:solidFill>
                <a:latin typeface="Arial" pitchFamily="34" charset="0"/>
                <a:ea typeface="黑体" pitchFamily="49" charset="-122"/>
              </a:rPr>
              <a:t>DTE</a:t>
            </a:r>
          </a:p>
        </p:txBody>
      </p:sp>
      <p:sp>
        <p:nvSpPr>
          <p:cNvPr id="109599" name="Rectangle 31"/>
          <p:cNvSpPr>
            <a:spLocks noChangeArrowheads="1"/>
          </p:cNvSpPr>
          <p:nvPr/>
        </p:nvSpPr>
        <p:spPr bwMode="auto">
          <a:xfrm>
            <a:off x="1498600" y="2143125"/>
            <a:ext cx="1960563" cy="395288"/>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信号线与控制线</a:t>
            </a:r>
          </a:p>
        </p:txBody>
      </p:sp>
      <p:sp>
        <p:nvSpPr>
          <p:cNvPr id="109600" name="Line 32"/>
          <p:cNvSpPr>
            <a:spLocks noChangeShapeType="1"/>
          </p:cNvSpPr>
          <p:nvPr/>
        </p:nvSpPr>
        <p:spPr bwMode="auto">
          <a:xfrm>
            <a:off x="1997075" y="4265613"/>
            <a:ext cx="0" cy="1343025"/>
          </a:xfrm>
          <a:prstGeom prst="line">
            <a:avLst/>
          </a:prstGeom>
          <a:noFill/>
          <a:ln w="28575">
            <a:solidFill>
              <a:srgbClr val="333399"/>
            </a:solidFill>
            <a:prstDash val="dash"/>
            <a:round/>
            <a:headEnd/>
            <a:tailEnd/>
          </a:ln>
        </p:spPr>
        <p:txBody>
          <a:bodyPr wrap="none" anchor="ctr"/>
          <a:lstStyle/>
          <a:p>
            <a:endParaRPr lang="zh-CN" altLang="en-US"/>
          </a:p>
        </p:txBody>
      </p:sp>
      <p:sp>
        <p:nvSpPr>
          <p:cNvPr id="109601" name="Line 33"/>
          <p:cNvSpPr>
            <a:spLocks noChangeShapeType="1"/>
          </p:cNvSpPr>
          <p:nvPr/>
        </p:nvSpPr>
        <p:spPr bwMode="auto">
          <a:xfrm flipV="1">
            <a:off x="879475" y="4900613"/>
            <a:ext cx="411163" cy="458787"/>
          </a:xfrm>
          <a:prstGeom prst="line">
            <a:avLst/>
          </a:prstGeom>
          <a:noFill/>
          <a:ln w="28575">
            <a:solidFill>
              <a:srgbClr val="333399"/>
            </a:solidFill>
            <a:round/>
            <a:headEnd/>
            <a:tailEnd/>
          </a:ln>
        </p:spPr>
        <p:txBody>
          <a:bodyPr/>
          <a:lstStyle/>
          <a:p>
            <a:endParaRPr lang="zh-CN" altLang="en-US"/>
          </a:p>
        </p:txBody>
      </p:sp>
      <p:sp>
        <p:nvSpPr>
          <p:cNvPr id="109602" name="Rectangle 34"/>
          <p:cNvSpPr>
            <a:spLocks noChangeArrowheads="1"/>
          </p:cNvSpPr>
          <p:nvPr/>
        </p:nvSpPr>
        <p:spPr bwMode="auto">
          <a:xfrm>
            <a:off x="7467600" y="5319713"/>
            <a:ext cx="1198563" cy="3921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用户设施</a:t>
            </a:r>
          </a:p>
        </p:txBody>
      </p:sp>
      <p:sp>
        <p:nvSpPr>
          <p:cNvPr id="109603" name="Line 35"/>
          <p:cNvSpPr>
            <a:spLocks noChangeShapeType="1"/>
          </p:cNvSpPr>
          <p:nvPr/>
        </p:nvSpPr>
        <p:spPr bwMode="auto">
          <a:xfrm flipH="1" flipV="1">
            <a:off x="7564438" y="4900613"/>
            <a:ext cx="434975" cy="458787"/>
          </a:xfrm>
          <a:prstGeom prst="line">
            <a:avLst/>
          </a:prstGeom>
          <a:noFill/>
          <a:ln w="28575">
            <a:solidFill>
              <a:srgbClr val="333399"/>
            </a:solidFill>
            <a:round/>
            <a:headEnd/>
            <a:tailEnd/>
          </a:ln>
        </p:spPr>
        <p:txBody>
          <a:bodyPr/>
          <a:lstStyle/>
          <a:p>
            <a:endParaRPr lang="zh-CN" altLang="en-US"/>
          </a:p>
        </p:txBody>
      </p:sp>
      <p:sp>
        <p:nvSpPr>
          <p:cNvPr id="109604" name="Line 36"/>
          <p:cNvSpPr>
            <a:spLocks noChangeShapeType="1"/>
          </p:cNvSpPr>
          <p:nvPr/>
        </p:nvSpPr>
        <p:spPr bwMode="auto">
          <a:xfrm>
            <a:off x="611188" y="2565400"/>
            <a:ext cx="53975" cy="552450"/>
          </a:xfrm>
          <a:prstGeom prst="line">
            <a:avLst/>
          </a:prstGeom>
          <a:noFill/>
          <a:ln w="28575">
            <a:solidFill>
              <a:srgbClr val="333399"/>
            </a:solidFill>
            <a:round/>
            <a:headEnd/>
            <a:tailEnd/>
          </a:ln>
        </p:spPr>
        <p:txBody>
          <a:bodyPr/>
          <a:lstStyle/>
          <a:p>
            <a:endParaRPr lang="zh-CN" altLang="en-US"/>
          </a:p>
        </p:txBody>
      </p:sp>
      <p:sp>
        <p:nvSpPr>
          <p:cNvPr id="109605" name="Rectangle 37"/>
          <p:cNvSpPr>
            <a:spLocks noChangeArrowheads="1"/>
          </p:cNvSpPr>
          <p:nvPr/>
        </p:nvSpPr>
        <p:spPr bwMode="auto">
          <a:xfrm>
            <a:off x="7956550" y="2143125"/>
            <a:ext cx="1195388" cy="392113"/>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用户环境</a:t>
            </a:r>
          </a:p>
        </p:txBody>
      </p:sp>
      <p:sp>
        <p:nvSpPr>
          <p:cNvPr id="109606" name="Line 38"/>
          <p:cNvSpPr>
            <a:spLocks noChangeShapeType="1"/>
          </p:cNvSpPr>
          <p:nvPr/>
        </p:nvSpPr>
        <p:spPr bwMode="auto">
          <a:xfrm flipH="1">
            <a:off x="8247063" y="2492375"/>
            <a:ext cx="357187" cy="625475"/>
          </a:xfrm>
          <a:prstGeom prst="line">
            <a:avLst/>
          </a:prstGeom>
          <a:noFill/>
          <a:ln w="28575">
            <a:solidFill>
              <a:srgbClr val="333399"/>
            </a:solidFill>
            <a:round/>
            <a:headEnd/>
            <a:tailEnd/>
          </a:ln>
        </p:spPr>
        <p:txBody>
          <a:bodyPr/>
          <a:lstStyle/>
          <a:p>
            <a:endParaRPr lang="zh-CN" altLang="en-US"/>
          </a:p>
        </p:txBody>
      </p:sp>
      <p:sp>
        <p:nvSpPr>
          <p:cNvPr id="109607" name="Line 39"/>
          <p:cNvSpPr>
            <a:spLocks noChangeShapeType="1"/>
          </p:cNvSpPr>
          <p:nvPr/>
        </p:nvSpPr>
        <p:spPr bwMode="auto">
          <a:xfrm flipH="1" flipV="1">
            <a:off x="3981450" y="4019550"/>
            <a:ext cx="434975" cy="460375"/>
          </a:xfrm>
          <a:prstGeom prst="line">
            <a:avLst/>
          </a:prstGeom>
          <a:noFill/>
          <a:ln w="28575">
            <a:solidFill>
              <a:srgbClr val="333399"/>
            </a:solidFill>
            <a:round/>
            <a:headEnd/>
            <a:tailEnd/>
          </a:ln>
        </p:spPr>
        <p:txBody>
          <a:bodyPr/>
          <a:lstStyle/>
          <a:p>
            <a:endParaRPr lang="zh-CN" altLang="en-US"/>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body" idx="1"/>
          </p:nvPr>
        </p:nvSpPr>
        <p:spPr>
          <a:xfrm>
            <a:off x="827584" y="1916832"/>
            <a:ext cx="7920880" cy="4320480"/>
          </a:xfrm>
        </p:spPr>
        <p:txBody>
          <a:bodyPr/>
          <a:lstStyle/>
          <a:p>
            <a:pPr marL="388938" indent="-388938" eaLnBrk="1" hangingPunct="1"/>
            <a:r>
              <a:rPr lang="zh-CN" altLang="en-US" sz="1800" dirty="0" smtClean="0">
                <a:latin typeface="Times New Roman" pitchFamily="18" charset="0"/>
                <a:cs typeface="Times New Roman" pitchFamily="18" charset="0"/>
              </a:rPr>
              <a:t>连接共用模拟电信系统中使用的</a:t>
            </a:r>
            <a:r>
              <a:rPr lang="en-US" altLang="zh-CN" sz="1800" dirty="0" smtClean="0">
                <a:latin typeface="Times New Roman" pitchFamily="18" charset="0"/>
                <a:cs typeface="Times New Roman" pitchFamily="18" charset="0"/>
              </a:rPr>
              <a:t>DTE</a:t>
            </a:r>
            <a:r>
              <a:rPr lang="zh-CN" altLang="en-US" sz="1800" dirty="0" smtClean="0">
                <a:latin typeface="Times New Roman" pitchFamily="18" charset="0"/>
                <a:cs typeface="Times New Roman" pitchFamily="18" charset="0"/>
              </a:rPr>
              <a:t>设备和话音级</a:t>
            </a:r>
            <a:r>
              <a:rPr lang="en-US" altLang="zh-CN" sz="1800" dirty="0" smtClean="0">
                <a:latin typeface="Times New Roman" pitchFamily="18" charset="0"/>
                <a:cs typeface="Times New Roman" pitchFamily="18" charset="0"/>
              </a:rPr>
              <a:t>MODEM</a:t>
            </a:r>
            <a:r>
              <a:rPr lang="zh-CN" altLang="en-US" sz="1800" dirty="0" smtClean="0">
                <a:latin typeface="Times New Roman" pitchFamily="18" charset="0"/>
                <a:cs typeface="Times New Roman" pitchFamily="18" charset="0"/>
              </a:rPr>
              <a:t>及其他互连应用中</a:t>
            </a:r>
            <a:endParaRPr lang="en-US" altLang="zh-CN" sz="1800" b="1" dirty="0" smtClean="0"/>
          </a:p>
          <a:p>
            <a:pPr marL="788988" lvl="1" indent="-388938" eaLnBrk="1" hangingPunct="1"/>
            <a:r>
              <a:rPr lang="en-US" altLang="zh-CN" sz="1800" b="1" dirty="0" smtClean="0">
                <a:latin typeface="Times New Roman" pitchFamily="18" charset="0"/>
                <a:ea typeface="+mn-ea"/>
                <a:cs typeface="Times New Roman" pitchFamily="18" charset="0"/>
              </a:rPr>
              <a:t>1960</a:t>
            </a:r>
            <a:r>
              <a:rPr lang="zh-CN" altLang="en-US" sz="1800" b="1" dirty="0" smtClean="0">
                <a:latin typeface="Times New Roman" pitchFamily="18" charset="0"/>
                <a:ea typeface="+mn-ea"/>
                <a:cs typeface="Times New Roman" pitchFamily="18" charset="0"/>
              </a:rPr>
              <a:t>年美国电子工业协会</a:t>
            </a:r>
            <a:r>
              <a:rPr lang="en-US" altLang="zh-CN" sz="1800" b="1" dirty="0" smtClean="0">
                <a:latin typeface="Times New Roman" pitchFamily="18" charset="0"/>
                <a:ea typeface="+mn-ea"/>
                <a:cs typeface="Times New Roman" pitchFamily="18" charset="0"/>
              </a:rPr>
              <a:t>EIA</a:t>
            </a:r>
            <a:r>
              <a:rPr lang="zh-CN" altLang="en-US" sz="1800" b="1" dirty="0" smtClean="0">
                <a:latin typeface="Times New Roman" pitchFamily="18" charset="0"/>
                <a:ea typeface="+mn-ea"/>
                <a:cs typeface="Times New Roman" pitchFamily="18" charset="0"/>
              </a:rPr>
              <a:t>提出</a:t>
            </a:r>
            <a:r>
              <a:rPr lang="en-US" altLang="zh-CN" sz="1800" b="1" dirty="0" smtClean="0">
                <a:latin typeface="Times New Roman" pitchFamily="18" charset="0"/>
                <a:ea typeface="+mn-ea"/>
                <a:cs typeface="Times New Roman" pitchFamily="18" charset="0"/>
              </a:rPr>
              <a:t>RS-232</a:t>
            </a:r>
          </a:p>
          <a:p>
            <a:pPr marL="788988" lvl="1" indent="-388938" eaLnBrk="1" hangingPunct="1"/>
            <a:r>
              <a:rPr lang="en-US" altLang="zh-CN" sz="1800" b="1" dirty="0" smtClean="0">
                <a:latin typeface="Times New Roman" pitchFamily="18" charset="0"/>
                <a:ea typeface="+mn-ea"/>
                <a:cs typeface="Times New Roman" pitchFamily="18" charset="0"/>
              </a:rPr>
              <a:t>1963</a:t>
            </a:r>
            <a:r>
              <a:rPr lang="zh-CN" altLang="en-US" sz="1800" b="1" dirty="0" smtClean="0">
                <a:latin typeface="Times New Roman" pitchFamily="18" charset="0"/>
                <a:ea typeface="+mn-ea"/>
                <a:cs typeface="Times New Roman" pitchFamily="18" charset="0"/>
              </a:rPr>
              <a:t>年提出</a:t>
            </a:r>
            <a:r>
              <a:rPr lang="en-US" altLang="zh-CN" sz="1800" b="1" dirty="0" smtClean="0">
                <a:latin typeface="Times New Roman" pitchFamily="18" charset="0"/>
                <a:ea typeface="+mn-ea"/>
                <a:cs typeface="Times New Roman" pitchFamily="18" charset="0"/>
              </a:rPr>
              <a:t>RS-232-A</a:t>
            </a:r>
            <a:r>
              <a:rPr lang="zh-CN" altLang="en-US" sz="1800" b="1" dirty="0" smtClean="0">
                <a:latin typeface="Times New Roman" pitchFamily="18" charset="0"/>
                <a:ea typeface="+mn-ea"/>
                <a:cs typeface="Times New Roman" pitchFamily="18" charset="0"/>
              </a:rPr>
              <a:t>，</a:t>
            </a:r>
            <a:r>
              <a:rPr lang="en-US" altLang="zh-CN" sz="1800" b="1" dirty="0" smtClean="0">
                <a:latin typeface="Times New Roman" pitchFamily="18" charset="0"/>
                <a:ea typeface="+mn-ea"/>
                <a:cs typeface="Times New Roman" pitchFamily="18" charset="0"/>
              </a:rPr>
              <a:t>1965</a:t>
            </a:r>
            <a:r>
              <a:rPr lang="zh-CN" altLang="en-US" sz="1800" b="1" dirty="0" smtClean="0">
                <a:latin typeface="Times New Roman" pitchFamily="18" charset="0"/>
                <a:ea typeface="+mn-ea"/>
                <a:cs typeface="Times New Roman" pitchFamily="18" charset="0"/>
              </a:rPr>
              <a:t>年提出</a:t>
            </a:r>
            <a:r>
              <a:rPr lang="en-US" altLang="zh-CN" sz="1800" b="1" dirty="0" smtClean="0">
                <a:latin typeface="Times New Roman" pitchFamily="18" charset="0"/>
                <a:ea typeface="+mn-ea"/>
                <a:cs typeface="Times New Roman" pitchFamily="18" charset="0"/>
              </a:rPr>
              <a:t>RS-232-B</a:t>
            </a:r>
            <a:r>
              <a:rPr lang="zh-CN" altLang="en-US" sz="1800" b="1" dirty="0" smtClean="0">
                <a:latin typeface="Times New Roman" pitchFamily="18" charset="0"/>
                <a:ea typeface="+mn-ea"/>
                <a:cs typeface="Times New Roman" pitchFamily="18" charset="0"/>
              </a:rPr>
              <a:t>，</a:t>
            </a:r>
            <a:r>
              <a:rPr lang="en-US" altLang="zh-CN" sz="1800" b="1" dirty="0" smtClean="0">
                <a:latin typeface="Times New Roman" pitchFamily="18" charset="0"/>
                <a:ea typeface="+mn-ea"/>
                <a:cs typeface="Times New Roman" pitchFamily="18" charset="0"/>
              </a:rPr>
              <a:t>1969</a:t>
            </a:r>
            <a:r>
              <a:rPr lang="zh-CN" altLang="en-US" sz="1800" b="1" dirty="0" smtClean="0">
                <a:latin typeface="Times New Roman" pitchFamily="18" charset="0"/>
                <a:ea typeface="+mn-ea"/>
                <a:cs typeface="Times New Roman" pitchFamily="18" charset="0"/>
              </a:rPr>
              <a:t>年提出</a:t>
            </a:r>
            <a:r>
              <a:rPr lang="en-US" altLang="zh-CN" sz="1800" b="1" dirty="0" smtClean="0">
                <a:latin typeface="Times New Roman" pitchFamily="18" charset="0"/>
                <a:ea typeface="+mn-ea"/>
                <a:cs typeface="Times New Roman" pitchFamily="18" charset="0"/>
              </a:rPr>
              <a:t>RS-232-C</a:t>
            </a:r>
          </a:p>
          <a:p>
            <a:pPr marL="388938" indent="-388938" eaLnBrk="1" hangingPunct="1"/>
            <a:r>
              <a:rPr lang="en-US" altLang="zh-CN" sz="1800" dirty="0" smtClean="0">
                <a:latin typeface="Times New Roman" pitchFamily="18" charset="0"/>
                <a:cs typeface="Times New Roman" pitchFamily="18" charset="0"/>
              </a:rPr>
              <a:t>V.24/EIA-232-F</a:t>
            </a:r>
          </a:p>
          <a:p>
            <a:pPr lvl="1"/>
            <a:r>
              <a:rPr lang="en-US" altLang="zh-CN" sz="1800" dirty="0" smtClean="0">
                <a:latin typeface="Times New Roman" pitchFamily="18" charset="0"/>
                <a:ea typeface="+mn-ea"/>
                <a:cs typeface="Times New Roman" pitchFamily="18" charset="0"/>
              </a:rPr>
              <a:t>ITU-T v.24</a:t>
            </a:r>
          </a:p>
          <a:p>
            <a:pPr lvl="1"/>
            <a:r>
              <a:rPr lang="en-US" altLang="zh-CN" sz="1800" dirty="0" smtClean="0">
                <a:latin typeface="Times New Roman" pitchFamily="18" charset="0"/>
                <a:ea typeface="+mn-ea"/>
                <a:cs typeface="Times New Roman" pitchFamily="18" charset="0"/>
              </a:rPr>
              <a:t>Only specifies functional and procedural</a:t>
            </a:r>
          </a:p>
          <a:p>
            <a:pPr lvl="2"/>
            <a:r>
              <a:rPr lang="en-US" altLang="zh-CN" sz="1800" dirty="0" smtClean="0">
                <a:latin typeface="Times New Roman" pitchFamily="18" charset="0"/>
                <a:ea typeface="+mn-ea"/>
                <a:cs typeface="Times New Roman" pitchFamily="18" charset="0"/>
              </a:rPr>
              <a:t>References other standards for electrical and mechanical</a:t>
            </a:r>
          </a:p>
          <a:p>
            <a:pPr lvl="1"/>
            <a:r>
              <a:rPr lang="en-US" altLang="zh-CN" sz="1800" dirty="0" smtClean="0">
                <a:latin typeface="Times New Roman" pitchFamily="18" charset="0"/>
                <a:ea typeface="+mn-ea"/>
                <a:cs typeface="Times New Roman" pitchFamily="18" charset="0"/>
              </a:rPr>
              <a:t>EIA-232-F (USA)</a:t>
            </a:r>
            <a:r>
              <a:rPr lang="zh-CN" altLang="en-US" sz="1800" dirty="0" smtClean="0">
                <a:latin typeface="Times New Roman" pitchFamily="18" charset="0"/>
                <a:ea typeface="+mn-ea"/>
                <a:cs typeface="Times New Roman" pitchFamily="18" charset="0"/>
              </a:rPr>
              <a:t>用于</a:t>
            </a:r>
          </a:p>
          <a:p>
            <a:pPr lvl="2"/>
            <a:r>
              <a:rPr lang="en-US" altLang="zh-CN" sz="1800" dirty="0" smtClean="0">
                <a:latin typeface="Times New Roman" pitchFamily="18" charset="0"/>
                <a:ea typeface="+mn-ea"/>
                <a:cs typeface="Times New Roman" pitchFamily="18" charset="0"/>
              </a:rPr>
              <a:t>Mechanical ISO 2110</a:t>
            </a:r>
          </a:p>
          <a:p>
            <a:pPr lvl="2"/>
            <a:r>
              <a:rPr lang="en-US" altLang="zh-CN" sz="1800" dirty="0" smtClean="0">
                <a:latin typeface="Times New Roman" pitchFamily="18" charset="0"/>
                <a:ea typeface="+mn-ea"/>
                <a:cs typeface="Times New Roman" pitchFamily="18" charset="0"/>
              </a:rPr>
              <a:t>Electrical v.28</a:t>
            </a:r>
          </a:p>
          <a:p>
            <a:pPr lvl="2"/>
            <a:r>
              <a:rPr lang="en-US" altLang="zh-CN" sz="1800" dirty="0" smtClean="0">
                <a:latin typeface="Times New Roman" pitchFamily="18" charset="0"/>
                <a:ea typeface="+mn-ea"/>
                <a:cs typeface="Times New Roman" pitchFamily="18" charset="0"/>
              </a:rPr>
              <a:t>Functional v.24</a:t>
            </a:r>
          </a:p>
          <a:p>
            <a:pPr lvl="2"/>
            <a:r>
              <a:rPr lang="en-US" altLang="zh-CN" sz="1800" dirty="0" smtClean="0">
                <a:latin typeface="Times New Roman" pitchFamily="18" charset="0"/>
                <a:ea typeface="+mn-ea"/>
                <a:cs typeface="Times New Roman" pitchFamily="18" charset="0"/>
              </a:rPr>
              <a:t>Procedural v.24</a:t>
            </a:r>
          </a:p>
          <a:p>
            <a:pPr marL="388938" indent="-388938" eaLnBrk="1" hangingPunct="1"/>
            <a:endParaRPr lang="zh-CN" altLang="en-US" sz="2400" b="1" dirty="0" smtClean="0"/>
          </a:p>
        </p:txBody>
      </p:sp>
      <p:sp>
        <p:nvSpPr>
          <p:cNvPr id="102403" name="Rectangle 3"/>
          <p:cNvSpPr>
            <a:spLocks noGrp="1" noChangeArrowheads="1"/>
          </p:cNvSpPr>
          <p:nvPr>
            <p:ph type="title"/>
          </p:nvPr>
        </p:nvSpPr>
        <p:spPr>
          <a:xfrm>
            <a:off x="2627313" y="404813"/>
            <a:ext cx="7793037" cy="1143000"/>
          </a:xfrm>
        </p:spPr>
        <p:txBody>
          <a:bodyPr/>
          <a:lstStyle/>
          <a:p>
            <a:pPr eaLnBrk="1" hangingPunct="1"/>
            <a:r>
              <a:rPr lang="en-US" altLang="zh-CN" sz="3600" smtClean="0"/>
              <a:t>EIA RS-232-C</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a:ea typeface="宋体" pitchFamily="2" charset="-122"/>
              </a:rPr>
              <a:t>Characteristics of Interface</a:t>
            </a:r>
          </a:p>
        </p:txBody>
      </p:sp>
      <p:sp>
        <p:nvSpPr>
          <p:cNvPr id="15363" name="Rectangle 3"/>
          <p:cNvSpPr>
            <a:spLocks noGrp="1" noChangeArrowheads="1"/>
          </p:cNvSpPr>
          <p:nvPr>
            <p:ph type="body" idx="1"/>
          </p:nvPr>
        </p:nvSpPr>
        <p:spPr/>
        <p:txBody>
          <a:bodyPr/>
          <a:lstStyle/>
          <a:p>
            <a:r>
              <a:rPr lang="en-US" altLang="zh-CN">
                <a:ea typeface="宋体" pitchFamily="2" charset="-122"/>
              </a:rPr>
              <a:t>Mechanical</a:t>
            </a:r>
            <a:r>
              <a:rPr lang="zh-CN" altLang="en-US">
                <a:ea typeface="宋体" pitchFamily="2" charset="-122"/>
              </a:rPr>
              <a:t>机械</a:t>
            </a:r>
          </a:p>
          <a:p>
            <a:pPr lvl="1"/>
            <a:r>
              <a:rPr lang="en-US" altLang="zh-CN">
                <a:ea typeface="宋体" pitchFamily="2" charset="-122"/>
              </a:rPr>
              <a:t>Connection plugs </a:t>
            </a:r>
          </a:p>
          <a:p>
            <a:r>
              <a:rPr lang="en-US" altLang="zh-CN">
                <a:ea typeface="宋体" pitchFamily="2" charset="-122"/>
              </a:rPr>
              <a:t>Electrical</a:t>
            </a:r>
            <a:r>
              <a:rPr lang="zh-CN" altLang="en-US">
                <a:ea typeface="宋体" pitchFamily="2" charset="-122"/>
              </a:rPr>
              <a:t>电气</a:t>
            </a:r>
          </a:p>
          <a:p>
            <a:pPr lvl="1"/>
            <a:r>
              <a:rPr lang="en-US" altLang="zh-CN">
                <a:ea typeface="宋体" pitchFamily="2" charset="-122"/>
              </a:rPr>
              <a:t>Voltage, timing, encoding</a:t>
            </a:r>
          </a:p>
          <a:p>
            <a:r>
              <a:rPr lang="en-US" altLang="zh-CN">
                <a:ea typeface="宋体" pitchFamily="2" charset="-122"/>
              </a:rPr>
              <a:t>Functional</a:t>
            </a:r>
            <a:r>
              <a:rPr lang="zh-CN" altLang="en-US">
                <a:ea typeface="宋体" pitchFamily="2" charset="-122"/>
              </a:rPr>
              <a:t>功能</a:t>
            </a:r>
          </a:p>
          <a:p>
            <a:pPr lvl="1"/>
            <a:r>
              <a:rPr lang="en-US" altLang="zh-CN">
                <a:ea typeface="宋体" pitchFamily="2" charset="-122"/>
              </a:rPr>
              <a:t>Data, control, timing, grounding</a:t>
            </a:r>
          </a:p>
          <a:p>
            <a:r>
              <a:rPr lang="en-US" altLang="zh-CN">
                <a:ea typeface="宋体" pitchFamily="2" charset="-122"/>
              </a:rPr>
              <a:t>Procedural</a:t>
            </a:r>
            <a:r>
              <a:rPr lang="zh-CN" altLang="en-US">
                <a:ea typeface="宋体" pitchFamily="2" charset="-122"/>
              </a:rPr>
              <a:t>过程</a:t>
            </a:r>
          </a:p>
          <a:p>
            <a:pPr lvl="1"/>
            <a:r>
              <a:rPr lang="en-US" altLang="zh-CN">
                <a:ea typeface="宋体" pitchFamily="2" charset="-122"/>
              </a:rPr>
              <a:t>Sequence of events</a:t>
            </a:r>
          </a:p>
          <a:p>
            <a:endParaRPr lang="zh-CN" altLang="en-US">
              <a:ea typeface="宋体"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99592" y="260648"/>
            <a:ext cx="7793037" cy="1055712"/>
          </a:xfrm>
        </p:spPr>
        <p:txBody>
          <a:bodyPr/>
          <a:lstStyle/>
          <a:p>
            <a:r>
              <a:rPr lang="en-US" altLang="zh-CN" dirty="0">
                <a:ea typeface="宋体" pitchFamily="2" charset="-122"/>
              </a:rPr>
              <a:t>Mechanical Specification</a:t>
            </a:r>
          </a:p>
        </p:txBody>
      </p:sp>
      <p:pic>
        <p:nvPicPr>
          <p:cNvPr id="17412" name="Picture 4"/>
          <p:cNvPicPr>
            <a:picLocks noChangeAspect="1" noChangeArrowheads="1"/>
          </p:cNvPicPr>
          <p:nvPr/>
        </p:nvPicPr>
        <p:blipFill>
          <a:blip r:embed="rId2" cstate="print"/>
          <a:srcRect/>
          <a:stretch>
            <a:fillRect/>
          </a:stretch>
        </p:blipFill>
        <p:spPr bwMode="auto">
          <a:xfrm>
            <a:off x="990600" y="1373188"/>
            <a:ext cx="7010400" cy="5411787"/>
          </a:xfrm>
          <a:prstGeom prst="rect">
            <a:avLst/>
          </a:prstGeom>
          <a:noFill/>
          <a:ln w="9525">
            <a:noFill/>
            <a:miter lim="800000"/>
            <a:headEnd/>
            <a:tailEnd/>
          </a:ln>
          <a:effec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zh-CN">
                <a:ea typeface="宋体" pitchFamily="2" charset="-122"/>
              </a:rPr>
              <a:t>Electrical Specification</a:t>
            </a:r>
          </a:p>
        </p:txBody>
      </p:sp>
      <p:sp>
        <p:nvSpPr>
          <p:cNvPr id="18435" name="Rectangle 3"/>
          <p:cNvSpPr>
            <a:spLocks noGrp="1" noChangeArrowheads="1"/>
          </p:cNvSpPr>
          <p:nvPr>
            <p:ph type="body" idx="1"/>
          </p:nvPr>
        </p:nvSpPr>
        <p:spPr/>
        <p:txBody>
          <a:bodyPr/>
          <a:lstStyle/>
          <a:p>
            <a:r>
              <a:rPr lang="en-US" altLang="zh-CN">
                <a:ea typeface="宋体" pitchFamily="2" charset="-122"/>
              </a:rPr>
              <a:t>Digital signals</a:t>
            </a:r>
          </a:p>
          <a:p>
            <a:r>
              <a:rPr lang="en-US" altLang="zh-CN">
                <a:ea typeface="宋体" pitchFamily="2" charset="-122"/>
              </a:rPr>
              <a:t>Values interpreted as data or control, depending on circuit</a:t>
            </a:r>
          </a:p>
          <a:p>
            <a:r>
              <a:rPr lang="en-US" altLang="zh-CN">
                <a:ea typeface="宋体" pitchFamily="2" charset="-122"/>
              </a:rPr>
              <a:t>More than -3v is binary 1, more than +3v is binary 0 (NRZ-L)</a:t>
            </a:r>
          </a:p>
          <a:p>
            <a:r>
              <a:rPr lang="en-US" altLang="zh-CN">
                <a:ea typeface="宋体" pitchFamily="2" charset="-122"/>
              </a:rPr>
              <a:t>Signal rate &lt; 20kbps</a:t>
            </a:r>
          </a:p>
          <a:p>
            <a:r>
              <a:rPr lang="en-US" altLang="zh-CN">
                <a:ea typeface="宋体" pitchFamily="2" charset="-122"/>
              </a:rPr>
              <a:t>Distance &lt;15m</a:t>
            </a:r>
          </a:p>
          <a:p>
            <a:r>
              <a:rPr lang="en-US" altLang="zh-CN">
                <a:ea typeface="宋体" pitchFamily="2" charset="-122"/>
              </a:rPr>
              <a:t>For control, more than-3v is off, +3v is on</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a:ea typeface="宋体" pitchFamily="2" charset="-122"/>
              </a:rPr>
              <a:t>Functional Specification</a:t>
            </a:r>
          </a:p>
        </p:txBody>
      </p:sp>
      <p:sp>
        <p:nvSpPr>
          <p:cNvPr id="19459" name="Rectangle 3"/>
          <p:cNvSpPr>
            <a:spLocks noGrp="1" noChangeArrowheads="1"/>
          </p:cNvSpPr>
          <p:nvPr>
            <p:ph type="body" idx="1"/>
          </p:nvPr>
        </p:nvSpPr>
        <p:spPr>
          <a:xfrm>
            <a:off x="683568" y="1844824"/>
            <a:ext cx="7772400" cy="4114800"/>
          </a:xfrm>
        </p:spPr>
        <p:txBody>
          <a:bodyPr/>
          <a:lstStyle/>
          <a:p>
            <a:r>
              <a:rPr lang="en-US" altLang="zh-CN" sz="2800" dirty="0">
                <a:ea typeface="宋体" pitchFamily="2" charset="-122"/>
              </a:rPr>
              <a:t>Circuits grouped in categories</a:t>
            </a:r>
          </a:p>
          <a:p>
            <a:pPr lvl="1"/>
            <a:r>
              <a:rPr lang="en-US" altLang="zh-CN" sz="2400" dirty="0">
                <a:ea typeface="宋体" pitchFamily="2" charset="-122"/>
              </a:rPr>
              <a:t>Data</a:t>
            </a:r>
          </a:p>
          <a:p>
            <a:pPr lvl="1"/>
            <a:r>
              <a:rPr lang="en-US" altLang="zh-CN" sz="2400" dirty="0">
                <a:ea typeface="宋体" pitchFamily="2" charset="-122"/>
              </a:rPr>
              <a:t>Control</a:t>
            </a:r>
          </a:p>
          <a:p>
            <a:pPr lvl="1"/>
            <a:r>
              <a:rPr lang="en-US" altLang="zh-CN" sz="2400" dirty="0">
                <a:ea typeface="宋体" pitchFamily="2" charset="-122"/>
              </a:rPr>
              <a:t>Timing</a:t>
            </a:r>
          </a:p>
          <a:p>
            <a:pPr lvl="1"/>
            <a:r>
              <a:rPr lang="en-US" altLang="zh-CN" sz="2400" dirty="0">
                <a:ea typeface="宋体" pitchFamily="2" charset="-122"/>
              </a:rPr>
              <a:t>Ground</a:t>
            </a:r>
          </a:p>
          <a:p>
            <a:r>
              <a:rPr lang="en-US" altLang="zh-CN" sz="2800" dirty="0">
                <a:ea typeface="宋体" pitchFamily="2" charset="-122"/>
              </a:rPr>
              <a:t>One circuit in each direction</a:t>
            </a:r>
          </a:p>
          <a:p>
            <a:pPr lvl="1"/>
            <a:r>
              <a:rPr lang="en-US" altLang="zh-CN" sz="2400" dirty="0">
                <a:ea typeface="宋体" pitchFamily="2" charset="-122"/>
              </a:rPr>
              <a:t>Full duplex</a:t>
            </a:r>
          </a:p>
          <a:p>
            <a:r>
              <a:rPr lang="en-US" altLang="zh-CN" sz="2800" dirty="0">
                <a:ea typeface="宋体" pitchFamily="2" charset="-122"/>
              </a:rPr>
              <a:t>Two secondary data </a:t>
            </a:r>
            <a:r>
              <a:rPr lang="en-US" altLang="zh-CN" sz="2800" dirty="0" smtClean="0">
                <a:ea typeface="宋体" pitchFamily="2" charset="-122"/>
              </a:rPr>
              <a:t>circuits</a:t>
            </a:r>
            <a:endParaRPr lang="zh-CN" altLang="en-US" sz="2800" dirty="0">
              <a:ea typeface="宋体" pitchFamily="2" charset="-122"/>
            </a:endParaRPr>
          </a:p>
          <a:p>
            <a:pPr lvl="1"/>
            <a:r>
              <a:rPr lang="en-US" altLang="zh-CN" sz="2400" dirty="0">
                <a:ea typeface="宋体" pitchFamily="2" charset="-122"/>
              </a:rPr>
              <a:t>Allow halt or flow control in half duplex </a:t>
            </a:r>
            <a:r>
              <a:rPr lang="en-US" altLang="zh-CN" sz="2400" dirty="0" smtClean="0">
                <a:ea typeface="宋体" pitchFamily="2" charset="-122"/>
              </a:rPr>
              <a:t>operation</a:t>
            </a:r>
            <a:endParaRPr lang="zh-CN" altLang="en-US" dirty="0">
              <a:ea typeface="宋体"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CN">
                <a:ea typeface="宋体" pitchFamily="2" charset="-122"/>
              </a:rPr>
              <a:t>Procedural Specification</a:t>
            </a:r>
          </a:p>
        </p:txBody>
      </p:sp>
      <p:sp>
        <p:nvSpPr>
          <p:cNvPr id="21507" name="Rectangle 3"/>
          <p:cNvSpPr>
            <a:spLocks noGrp="1" noChangeArrowheads="1"/>
          </p:cNvSpPr>
          <p:nvPr>
            <p:ph type="body" idx="1"/>
          </p:nvPr>
        </p:nvSpPr>
        <p:spPr/>
        <p:txBody>
          <a:bodyPr/>
          <a:lstStyle/>
          <a:p>
            <a:r>
              <a:rPr lang="en-US" altLang="zh-CN" sz="2400">
                <a:ea typeface="宋体" pitchFamily="2" charset="-122"/>
              </a:rPr>
              <a:t>E.g. Asynchronous private line modem</a:t>
            </a:r>
          </a:p>
          <a:p>
            <a:r>
              <a:rPr lang="en-US" altLang="zh-CN" sz="2400">
                <a:ea typeface="宋体" pitchFamily="2" charset="-122"/>
              </a:rPr>
              <a:t>When turned on and ready, modem (DCE) asserts DCE ready</a:t>
            </a:r>
          </a:p>
          <a:p>
            <a:r>
              <a:rPr lang="en-US" altLang="zh-CN" sz="2400">
                <a:ea typeface="宋体" pitchFamily="2" charset="-122"/>
              </a:rPr>
              <a:t>When DTE ready to send data, it asserts Request to Send</a:t>
            </a:r>
          </a:p>
          <a:p>
            <a:pPr lvl="1"/>
            <a:r>
              <a:rPr lang="en-US" altLang="zh-CN" sz="2000">
                <a:ea typeface="宋体" pitchFamily="2" charset="-122"/>
              </a:rPr>
              <a:t>Also inhibits receive mode in half duplex</a:t>
            </a:r>
          </a:p>
          <a:p>
            <a:r>
              <a:rPr lang="en-US" altLang="zh-CN" sz="2400">
                <a:ea typeface="宋体" pitchFamily="2" charset="-122"/>
              </a:rPr>
              <a:t>Modem responds when ready by asserting Clear to send</a:t>
            </a:r>
          </a:p>
          <a:p>
            <a:r>
              <a:rPr lang="en-US" altLang="zh-CN" sz="2400">
                <a:ea typeface="宋体" pitchFamily="2" charset="-122"/>
              </a:rPr>
              <a:t>DTE sends data</a:t>
            </a:r>
          </a:p>
          <a:p>
            <a:r>
              <a:rPr lang="en-US" altLang="zh-CN" sz="2400">
                <a:ea typeface="宋体" pitchFamily="2" charset="-122"/>
              </a:rPr>
              <a:t>When data arrives, local modem asserts Receive Line Signal Detector and delivers data</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CN">
                <a:ea typeface="宋体" pitchFamily="2" charset="-122"/>
              </a:rPr>
              <a:t>Dial Up Operation (1)</a:t>
            </a:r>
          </a:p>
        </p:txBody>
      </p:sp>
      <p:pic>
        <p:nvPicPr>
          <p:cNvPr id="22532" name="Picture 4"/>
          <p:cNvPicPr>
            <a:picLocks noChangeAspect="1" noChangeArrowheads="1"/>
          </p:cNvPicPr>
          <p:nvPr/>
        </p:nvPicPr>
        <p:blipFill>
          <a:blip r:embed="rId2" cstate="print"/>
          <a:srcRect b="67729"/>
          <a:stretch>
            <a:fillRect/>
          </a:stretch>
        </p:blipFill>
        <p:spPr bwMode="auto">
          <a:xfrm>
            <a:off x="457200" y="1536700"/>
            <a:ext cx="8153400" cy="3492500"/>
          </a:xfrm>
          <a:prstGeom prst="rect">
            <a:avLst/>
          </a:prstGeom>
          <a:noFill/>
          <a:ln w="9525">
            <a:noFill/>
            <a:miter lim="800000"/>
            <a:headEnd/>
            <a:tailEnd/>
          </a:ln>
          <a:effec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CN">
                <a:ea typeface="宋体" pitchFamily="2" charset="-122"/>
              </a:rPr>
              <a:t>Dial Up Operation (2)</a:t>
            </a:r>
          </a:p>
        </p:txBody>
      </p:sp>
      <p:pic>
        <p:nvPicPr>
          <p:cNvPr id="23556" name="Picture 4"/>
          <p:cNvPicPr>
            <a:picLocks noChangeAspect="1" noChangeArrowheads="1"/>
          </p:cNvPicPr>
          <p:nvPr/>
        </p:nvPicPr>
        <p:blipFill>
          <a:blip r:embed="rId2" cstate="print"/>
          <a:srcRect t="31163" b="36703"/>
          <a:stretch>
            <a:fillRect/>
          </a:stretch>
        </p:blipFill>
        <p:spPr bwMode="auto">
          <a:xfrm>
            <a:off x="457200" y="1516063"/>
            <a:ext cx="8153400" cy="3476625"/>
          </a:xfrm>
          <a:prstGeom prst="rect">
            <a:avLst/>
          </a:prstGeom>
          <a:noFill/>
          <a:ln w="9525">
            <a:noFill/>
            <a:miter lim="800000"/>
            <a:headEnd/>
            <a:tailEnd/>
          </a:ln>
          <a:effec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99592" y="404664"/>
            <a:ext cx="7793037" cy="1055712"/>
          </a:xfrm>
        </p:spPr>
        <p:txBody>
          <a:bodyPr/>
          <a:lstStyle/>
          <a:p>
            <a:r>
              <a:rPr lang="en-US" altLang="zh-CN" dirty="0">
                <a:ea typeface="宋体" pitchFamily="2" charset="-122"/>
              </a:rPr>
              <a:t>Dial Up Operation (3)</a:t>
            </a:r>
          </a:p>
        </p:txBody>
      </p:sp>
      <p:pic>
        <p:nvPicPr>
          <p:cNvPr id="24580" name="Picture 4"/>
          <p:cNvPicPr>
            <a:picLocks noChangeAspect="1" noChangeArrowheads="1"/>
          </p:cNvPicPr>
          <p:nvPr/>
        </p:nvPicPr>
        <p:blipFill>
          <a:blip r:embed="rId2" cstate="print"/>
          <a:srcRect t="62189" b="5679"/>
          <a:stretch>
            <a:fillRect/>
          </a:stretch>
        </p:blipFill>
        <p:spPr bwMode="auto">
          <a:xfrm>
            <a:off x="381000" y="1524000"/>
            <a:ext cx="8229600" cy="3509963"/>
          </a:xfrm>
          <a:prstGeom prst="rect">
            <a:avLst/>
          </a:prstGeom>
          <a:noFill/>
          <a:ln w="9525">
            <a:noFill/>
            <a:miter lim="800000"/>
            <a:headEnd/>
            <a:tailEnd/>
          </a:ln>
          <a:effec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ctr" eaLnBrk="1" hangingPunct="1"/>
            <a:r>
              <a:rPr lang="zh-CN" altLang="en-US" smtClean="0"/>
              <a:t>利用虚调制解调器</a:t>
            </a:r>
            <a:br>
              <a:rPr lang="zh-CN" altLang="en-US" smtClean="0"/>
            </a:br>
            <a:r>
              <a:rPr lang="zh-CN" altLang="en-US" smtClean="0"/>
              <a:t>与两台计算机相连 </a:t>
            </a:r>
          </a:p>
        </p:txBody>
      </p:sp>
      <p:sp>
        <p:nvSpPr>
          <p:cNvPr id="111619"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11620" name="Rectangle 4"/>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111621" name="Freeform 5"/>
          <p:cNvSpPr>
            <a:spLocks/>
          </p:cNvSpPr>
          <p:nvPr/>
        </p:nvSpPr>
        <p:spPr bwMode="auto">
          <a:xfrm>
            <a:off x="371475" y="2384425"/>
            <a:ext cx="1331913" cy="3325813"/>
          </a:xfrm>
          <a:custGeom>
            <a:avLst/>
            <a:gdLst>
              <a:gd name="T0" fmla="*/ 18 w 876"/>
              <a:gd name="T1" fmla="*/ 0 h 2916"/>
              <a:gd name="T2" fmla="*/ 676 w 876"/>
              <a:gd name="T3" fmla="*/ 0 h 2916"/>
              <a:gd name="T4" fmla="*/ 875 w 876"/>
              <a:gd name="T5" fmla="*/ 1464 h 2916"/>
              <a:gd name="T6" fmla="*/ 676 w 876"/>
              <a:gd name="T7" fmla="*/ 2915 h 2916"/>
              <a:gd name="T8" fmla="*/ 0 w 876"/>
              <a:gd name="T9" fmla="*/ 2915 h 2916"/>
              <a:gd name="T10" fmla="*/ 0 60000 65536"/>
              <a:gd name="T11" fmla="*/ 0 60000 65536"/>
              <a:gd name="T12" fmla="*/ 0 60000 65536"/>
              <a:gd name="T13" fmla="*/ 0 60000 65536"/>
              <a:gd name="T14" fmla="*/ 0 60000 65536"/>
              <a:gd name="T15" fmla="*/ 0 w 876"/>
              <a:gd name="T16" fmla="*/ 0 h 2916"/>
              <a:gd name="T17" fmla="*/ 876 w 876"/>
              <a:gd name="T18" fmla="*/ 2916 h 2916"/>
            </a:gdLst>
            <a:ahLst/>
            <a:cxnLst>
              <a:cxn ang="T10">
                <a:pos x="T0" y="T1"/>
              </a:cxn>
              <a:cxn ang="T11">
                <a:pos x="T2" y="T3"/>
              </a:cxn>
              <a:cxn ang="T12">
                <a:pos x="T4" y="T5"/>
              </a:cxn>
              <a:cxn ang="T13">
                <a:pos x="T6" y="T7"/>
              </a:cxn>
              <a:cxn ang="T14">
                <a:pos x="T8" y="T9"/>
              </a:cxn>
            </a:cxnLst>
            <a:rect l="T15" t="T16" r="T17" b="T18"/>
            <a:pathLst>
              <a:path w="876" h="2916">
                <a:moveTo>
                  <a:pt x="18" y="0"/>
                </a:moveTo>
                <a:lnTo>
                  <a:pt x="676" y="0"/>
                </a:lnTo>
                <a:lnTo>
                  <a:pt x="875" y="1464"/>
                </a:lnTo>
                <a:lnTo>
                  <a:pt x="676" y="2915"/>
                </a:lnTo>
                <a:lnTo>
                  <a:pt x="0" y="2915"/>
                </a:lnTo>
              </a:path>
            </a:pathLst>
          </a:custGeom>
          <a:solidFill>
            <a:srgbClr val="FFFF99"/>
          </a:solidFill>
          <a:ln w="19050" cap="rnd" cmpd="sng">
            <a:solidFill>
              <a:schemeClr val="tx1"/>
            </a:solidFill>
            <a:prstDash val="solid"/>
            <a:round/>
            <a:headEnd type="none" w="med" len="med"/>
            <a:tailEnd type="none" w="med" len="med"/>
          </a:ln>
        </p:spPr>
        <p:txBody>
          <a:bodyPr/>
          <a:lstStyle/>
          <a:p>
            <a:endParaRPr lang="zh-CN" altLang="en-US"/>
          </a:p>
        </p:txBody>
      </p:sp>
      <p:sp>
        <p:nvSpPr>
          <p:cNvPr id="111622" name="Oval 6"/>
          <p:cNvSpPr>
            <a:spLocks noChangeArrowheads="1"/>
          </p:cNvSpPr>
          <p:nvPr/>
        </p:nvSpPr>
        <p:spPr bwMode="auto">
          <a:xfrm>
            <a:off x="4017963" y="3871913"/>
            <a:ext cx="69850" cy="50800"/>
          </a:xfrm>
          <a:prstGeom prst="ellipse">
            <a:avLst/>
          </a:prstGeom>
          <a:solidFill>
            <a:schemeClr val="tx1"/>
          </a:solidFill>
          <a:ln w="12700">
            <a:solidFill>
              <a:schemeClr val="tx1"/>
            </a:solidFill>
            <a:round/>
            <a:headEnd/>
            <a:tailEnd/>
          </a:ln>
        </p:spPr>
        <p:txBody>
          <a:bodyPr wrap="none" anchor="ctr"/>
          <a:lstStyle/>
          <a:p>
            <a:endParaRPr lang="zh-CN" altLang="en-US"/>
          </a:p>
        </p:txBody>
      </p:sp>
      <p:sp>
        <p:nvSpPr>
          <p:cNvPr id="111623" name="Oval 7"/>
          <p:cNvSpPr>
            <a:spLocks noChangeArrowheads="1"/>
          </p:cNvSpPr>
          <p:nvPr/>
        </p:nvSpPr>
        <p:spPr bwMode="auto">
          <a:xfrm>
            <a:off x="5038725" y="3871913"/>
            <a:ext cx="69850" cy="50800"/>
          </a:xfrm>
          <a:prstGeom prst="ellipse">
            <a:avLst/>
          </a:prstGeom>
          <a:solidFill>
            <a:schemeClr val="tx1"/>
          </a:solidFill>
          <a:ln w="12700">
            <a:solidFill>
              <a:schemeClr val="tx1"/>
            </a:solidFill>
            <a:round/>
            <a:headEnd/>
            <a:tailEnd/>
          </a:ln>
        </p:spPr>
        <p:txBody>
          <a:bodyPr wrap="none" anchor="ctr"/>
          <a:lstStyle/>
          <a:p>
            <a:endParaRPr lang="zh-CN" altLang="en-US"/>
          </a:p>
        </p:txBody>
      </p:sp>
      <p:sp>
        <p:nvSpPr>
          <p:cNvPr id="111624" name="Freeform 8"/>
          <p:cNvSpPr>
            <a:spLocks/>
          </p:cNvSpPr>
          <p:nvPr/>
        </p:nvSpPr>
        <p:spPr bwMode="auto">
          <a:xfrm>
            <a:off x="7343775" y="2384425"/>
            <a:ext cx="1331913" cy="3325813"/>
          </a:xfrm>
          <a:custGeom>
            <a:avLst/>
            <a:gdLst>
              <a:gd name="T0" fmla="*/ 857 w 876"/>
              <a:gd name="T1" fmla="*/ 0 h 2916"/>
              <a:gd name="T2" fmla="*/ 199 w 876"/>
              <a:gd name="T3" fmla="*/ 0 h 2916"/>
              <a:gd name="T4" fmla="*/ 0 w 876"/>
              <a:gd name="T5" fmla="*/ 1464 h 2916"/>
              <a:gd name="T6" fmla="*/ 199 w 876"/>
              <a:gd name="T7" fmla="*/ 2915 h 2916"/>
              <a:gd name="T8" fmla="*/ 875 w 876"/>
              <a:gd name="T9" fmla="*/ 2915 h 2916"/>
              <a:gd name="T10" fmla="*/ 0 60000 65536"/>
              <a:gd name="T11" fmla="*/ 0 60000 65536"/>
              <a:gd name="T12" fmla="*/ 0 60000 65536"/>
              <a:gd name="T13" fmla="*/ 0 60000 65536"/>
              <a:gd name="T14" fmla="*/ 0 60000 65536"/>
              <a:gd name="T15" fmla="*/ 0 w 876"/>
              <a:gd name="T16" fmla="*/ 0 h 2916"/>
              <a:gd name="T17" fmla="*/ 876 w 876"/>
              <a:gd name="T18" fmla="*/ 2916 h 2916"/>
            </a:gdLst>
            <a:ahLst/>
            <a:cxnLst>
              <a:cxn ang="T10">
                <a:pos x="T0" y="T1"/>
              </a:cxn>
              <a:cxn ang="T11">
                <a:pos x="T2" y="T3"/>
              </a:cxn>
              <a:cxn ang="T12">
                <a:pos x="T4" y="T5"/>
              </a:cxn>
              <a:cxn ang="T13">
                <a:pos x="T6" y="T7"/>
              </a:cxn>
              <a:cxn ang="T14">
                <a:pos x="T8" y="T9"/>
              </a:cxn>
            </a:cxnLst>
            <a:rect l="T15" t="T16" r="T17" b="T18"/>
            <a:pathLst>
              <a:path w="876" h="2916">
                <a:moveTo>
                  <a:pt x="857" y="0"/>
                </a:moveTo>
                <a:lnTo>
                  <a:pt x="199" y="0"/>
                </a:lnTo>
                <a:lnTo>
                  <a:pt x="0" y="1464"/>
                </a:lnTo>
                <a:lnTo>
                  <a:pt x="199" y="2915"/>
                </a:lnTo>
                <a:lnTo>
                  <a:pt x="875" y="2915"/>
                </a:lnTo>
              </a:path>
            </a:pathLst>
          </a:custGeom>
          <a:solidFill>
            <a:srgbClr val="FFFF99"/>
          </a:solidFill>
          <a:ln w="19050" cap="rnd" cmpd="sng">
            <a:solidFill>
              <a:schemeClr val="tx1"/>
            </a:solidFill>
            <a:prstDash val="solid"/>
            <a:round/>
            <a:headEnd type="none" w="med" len="med"/>
            <a:tailEnd type="none" w="med" len="med"/>
          </a:ln>
        </p:spPr>
        <p:txBody>
          <a:bodyPr/>
          <a:lstStyle/>
          <a:p>
            <a:endParaRPr lang="zh-CN" altLang="en-US"/>
          </a:p>
        </p:txBody>
      </p:sp>
      <p:sp>
        <p:nvSpPr>
          <p:cNvPr id="111625" name="Freeform 9"/>
          <p:cNvSpPr>
            <a:spLocks/>
          </p:cNvSpPr>
          <p:nvPr/>
        </p:nvSpPr>
        <p:spPr bwMode="auto">
          <a:xfrm>
            <a:off x="3419475" y="2384425"/>
            <a:ext cx="2228850" cy="3325813"/>
          </a:xfrm>
          <a:custGeom>
            <a:avLst/>
            <a:gdLst>
              <a:gd name="T0" fmla="*/ 24 w 1465"/>
              <a:gd name="T1" fmla="*/ 0 h 2917"/>
              <a:gd name="T2" fmla="*/ 228 w 1465"/>
              <a:gd name="T3" fmla="*/ 1464 h 2917"/>
              <a:gd name="T4" fmla="*/ 0 w 1465"/>
              <a:gd name="T5" fmla="*/ 2916 h 2917"/>
              <a:gd name="T6" fmla="*/ 1452 w 1465"/>
              <a:gd name="T7" fmla="*/ 2916 h 2917"/>
              <a:gd name="T8" fmla="*/ 1260 w 1465"/>
              <a:gd name="T9" fmla="*/ 1476 h 2917"/>
              <a:gd name="T10" fmla="*/ 1464 w 1465"/>
              <a:gd name="T11" fmla="*/ 0 h 2917"/>
              <a:gd name="T12" fmla="*/ 24 w 1465"/>
              <a:gd name="T13" fmla="*/ 0 h 2917"/>
              <a:gd name="T14" fmla="*/ 0 60000 65536"/>
              <a:gd name="T15" fmla="*/ 0 60000 65536"/>
              <a:gd name="T16" fmla="*/ 0 60000 65536"/>
              <a:gd name="T17" fmla="*/ 0 60000 65536"/>
              <a:gd name="T18" fmla="*/ 0 60000 65536"/>
              <a:gd name="T19" fmla="*/ 0 60000 65536"/>
              <a:gd name="T20" fmla="*/ 0 60000 65536"/>
              <a:gd name="T21" fmla="*/ 0 w 1465"/>
              <a:gd name="T22" fmla="*/ 0 h 2917"/>
              <a:gd name="T23" fmla="*/ 1465 w 1465"/>
              <a:gd name="T24" fmla="*/ 2917 h 29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65" h="2917">
                <a:moveTo>
                  <a:pt x="24" y="0"/>
                </a:moveTo>
                <a:lnTo>
                  <a:pt x="228" y="1464"/>
                </a:lnTo>
                <a:lnTo>
                  <a:pt x="0" y="2916"/>
                </a:lnTo>
                <a:lnTo>
                  <a:pt x="1452" y="2916"/>
                </a:lnTo>
                <a:lnTo>
                  <a:pt x="1260" y="1476"/>
                </a:lnTo>
                <a:lnTo>
                  <a:pt x="1464" y="0"/>
                </a:lnTo>
                <a:lnTo>
                  <a:pt x="24" y="0"/>
                </a:lnTo>
              </a:path>
            </a:pathLst>
          </a:custGeom>
          <a:solidFill>
            <a:srgbClr val="CCECFF"/>
          </a:solidFill>
          <a:ln w="19050" cap="rnd" cmpd="sng">
            <a:solidFill>
              <a:schemeClr val="tx1"/>
            </a:solidFill>
            <a:prstDash val="solid"/>
            <a:round/>
            <a:headEnd type="none" w="med" len="med"/>
            <a:tailEnd type="none" w="med" len="med"/>
          </a:ln>
        </p:spPr>
        <p:txBody>
          <a:bodyPr/>
          <a:lstStyle/>
          <a:p>
            <a:endParaRPr lang="zh-CN" altLang="en-US"/>
          </a:p>
        </p:txBody>
      </p:sp>
      <p:sp>
        <p:nvSpPr>
          <p:cNvPr id="111626" name="Line 10"/>
          <p:cNvSpPr>
            <a:spLocks noChangeShapeType="1"/>
          </p:cNvSpPr>
          <p:nvPr/>
        </p:nvSpPr>
        <p:spPr bwMode="auto">
          <a:xfrm>
            <a:off x="889000" y="2686050"/>
            <a:ext cx="7272338" cy="0"/>
          </a:xfrm>
          <a:prstGeom prst="line">
            <a:avLst/>
          </a:prstGeom>
          <a:noFill/>
          <a:ln w="28575">
            <a:solidFill>
              <a:srgbClr val="333399"/>
            </a:solidFill>
            <a:round/>
            <a:headEnd/>
            <a:tailEnd/>
          </a:ln>
        </p:spPr>
        <p:txBody>
          <a:bodyPr wrap="none" anchor="ctr"/>
          <a:lstStyle/>
          <a:p>
            <a:endParaRPr lang="zh-CN" altLang="en-US"/>
          </a:p>
        </p:txBody>
      </p:sp>
      <p:sp>
        <p:nvSpPr>
          <p:cNvPr id="111627" name="Freeform 11"/>
          <p:cNvSpPr>
            <a:spLocks/>
          </p:cNvSpPr>
          <p:nvPr/>
        </p:nvSpPr>
        <p:spPr bwMode="auto">
          <a:xfrm>
            <a:off x="882650" y="3000375"/>
            <a:ext cx="7304088" cy="301625"/>
          </a:xfrm>
          <a:custGeom>
            <a:avLst/>
            <a:gdLst>
              <a:gd name="T0" fmla="*/ 0 w 4801"/>
              <a:gd name="T1" fmla="*/ 0 h 265"/>
              <a:gd name="T2" fmla="*/ 2081 w 4801"/>
              <a:gd name="T3" fmla="*/ 0 h 265"/>
              <a:gd name="T4" fmla="*/ 2755 w 4801"/>
              <a:gd name="T5" fmla="*/ 264 h 265"/>
              <a:gd name="T6" fmla="*/ 4800 w 4801"/>
              <a:gd name="T7" fmla="*/ 264 h 265"/>
              <a:gd name="T8" fmla="*/ 0 60000 65536"/>
              <a:gd name="T9" fmla="*/ 0 60000 65536"/>
              <a:gd name="T10" fmla="*/ 0 60000 65536"/>
              <a:gd name="T11" fmla="*/ 0 60000 65536"/>
              <a:gd name="T12" fmla="*/ 0 w 4801"/>
              <a:gd name="T13" fmla="*/ 0 h 265"/>
              <a:gd name="T14" fmla="*/ 4801 w 4801"/>
              <a:gd name="T15" fmla="*/ 265 h 265"/>
            </a:gdLst>
            <a:ahLst/>
            <a:cxnLst>
              <a:cxn ang="T8">
                <a:pos x="T0" y="T1"/>
              </a:cxn>
              <a:cxn ang="T9">
                <a:pos x="T2" y="T3"/>
              </a:cxn>
              <a:cxn ang="T10">
                <a:pos x="T4" y="T5"/>
              </a:cxn>
              <a:cxn ang="T11">
                <a:pos x="T6" y="T7"/>
              </a:cxn>
            </a:cxnLst>
            <a:rect l="T12" t="T13" r="T14" b="T15"/>
            <a:pathLst>
              <a:path w="4801" h="265">
                <a:moveTo>
                  <a:pt x="0" y="0"/>
                </a:moveTo>
                <a:lnTo>
                  <a:pt x="2081" y="0"/>
                </a:lnTo>
                <a:lnTo>
                  <a:pt x="2755" y="264"/>
                </a:lnTo>
                <a:lnTo>
                  <a:pt x="4800" y="264"/>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28" name="Freeform 12"/>
          <p:cNvSpPr>
            <a:spLocks/>
          </p:cNvSpPr>
          <p:nvPr/>
        </p:nvSpPr>
        <p:spPr bwMode="auto">
          <a:xfrm>
            <a:off x="865188" y="3000375"/>
            <a:ext cx="7302500" cy="301625"/>
          </a:xfrm>
          <a:custGeom>
            <a:avLst/>
            <a:gdLst>
              <a:gd name="T0" fmla="*/ 0 w 4801"/>
              <a:gd name="T1" fmla="*/ 264 h 265"/>
              <a:gd name="T2" fmla="*/ 2081 w 4801"/>
              <a:gd name="T3" fmla="*/ 264 h 265"/>
              <a:gd name="T4" fmla="*/ 2755 w 4801"/>
              <a:gd name="T5" fmla="*/ 0 h 265"/>
              <a:gd name="T6" fmla="*/ 4800 w 4801"/>
              <a:gd name="T7" fmla="*/ 0 h 265"/>
              <a:gd name="T8" fmla="*/ 0 60000 65536"/>
              <a:gd name="T9" fmla="*/ 0 60000 65536"/>
              <a:gd name="T10" fmla="*/ 0 60000 65536"/>
              <a:gd name="T11" fmla="*/ 0 60000 65536"/>
              <a:gd name="T12" fmla="*/ 0 w 4801"/>
              <a:gd name="T13" fmla="*/ 0 h 265"/>
              <a:gd name="T14" fmla="*/ 4801 w 4801"/>
              <a:gd name="T15" fmla="*/ 265 h 265"/>
            </a:gdLst>
            <a:ahLst/>
            <a:cxnLst>
              <a:cxn ang="T8">
                <a:pos x="T0" y="T1"/>
              </a:cxn>
              <a:cxn ang="T9">
                <a:pos x="T2" y="T3"/>
              </a:cxn>
              <a:cxn ang="T10">
                <a:pos x="T4" y="T5"/>
              </a:cxn>
              <a:cxn ang="T11">
                <a:pos x="T6" y="T7"/>
              </a:cxn>
            </a:cxnLst>
            <a:rect l="T12" t="T13" r="T14" b="T15"/>
            <a:pathLst>
              <a:path w="4801" h="265">
                <a:moveTo>
                  <a:pt x="0" y="264"/>
                </a:moveTo>
                <a:lnTo>
                  <a:pt x="2081" y="264"/>
                </a:lnTo>
                <a:lnTo>
                  <a:pt x="2755" y="0"/>
                </a:lnTo>
                <a:lnTo>
                  <a:pt x="4800" y="0"/>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29" name="Freeform 13"/>
          <p:cNvSpPr>
            <a:spLocks/>
          </p:cNvSpPr>
          <p:nvPr/>
        </p:nvSpPr>
        <p:spPr bwMode="auto">
          <a:xfrm>
            <a:off x="882650" y="5106988"/>
            <a:ext cx="7285038" cy="315912"/>
          </a:xfrm>
          <a:custGeom>
            <a:avLst/>
            <a:gdLst>
              <a:gd name="T0" fmla="*/ 0 w 4789"/>
              <a:gd name="T1" fmla="*/ 276 h 277"/>
              <a:gd name="T2" fmla="*/ 2076 w 4789"/>
              <a:gd name="T3" fmla="*/ 276 h 277"/>
              <a:gd name="T4" fmla="*/ 2748 w 4789"/>
              <a:gd name="T5" fmla="*/ 0 h 277"/>
              <a:gd name="T6" fmla="*/ 4788 w 4789"/>
              <a:gd name="T7" fmla="*/ 0 h 277"/>
              <a:gd name="T8" fmla="*/ 0 60000 65536"/>
              <a:gd name="T9" fmla="*/ 0 60000 65536"/>
              <a:gd name="T10" fmla="*/ 0 60000 65536"/>
              <a:gd name="T11" fmla="*/ 0 60000 65536"/>
              <a:gd name="T12" fmla="*/ 0 w 4789"/>
              <a:gd name="T13" fmla="*/ 0 h 277"/>
              <a:gd name="T14" fmla="*/ 4789 w 4789"/>
              <a:gd name="T15" fmla="*/ 277 h 277"/>
            </a:gdLst>
            <a:ahLst/>
            <a:cxnLst>
              <a:cxn ang="T8">
                <a:pos x="T0" y="T1"/>
              </a:cxn>
              <a:cxn ang="T9">
                <a:pos x="T2" y="T3"/>
              </a:cxn>
              <a:cxn ang="T10">
                <a:pos x="T4" y="T5"/>
              </a:cxn>
              <a:cxn ang="T11">
                <a:pos x="T6" y="T7"/>
              </a:cxn>
            </a:cxnLst>
            <a:rect l="T12" t="T13" r="T14" b="T15"/>
            <a:pathLst>
              <a:path w="4789" h="277">
                <a:moveTo>
                  <a:pt x="0" y="276"/>
                </a:moveTo>
                <a:lnTo>
                  <a:pt x="2076" y="276"/>
                </a:lnTo>
                <a:lnTo>
                  <a:pt x="2748" y="0"/>
                </a:lnTo>
                <a:lnTo>
                  <a:pt x="4788" y="0"/>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0" name="Freeform 14"/>
          <p:cNvSpPr>
            <a:spLocks/>
          </p:cNvSpPr>
          <p:nvPr/>
        </p:nvSpPr>
        <p:spPr bwMode="auto">
          <a:xfrm>
            <a:off x="882650" y="5121275"/>
            <a:ext cx="7285038" cy="301625"/>
          </a:xfrm>
          <a:custGeom>
            <a:avLst/>
            <a:gdLst>
              <a:gd name="T0" fmla="*/ 0 w 4789"/>
              <a:gd name="T1" fmla="*/ 0 h 265"/>
              <a:gd name="T2" fmla="*/ 2076 w 4789"/>
              <a:gd name="T3" fmla="*/ 0 h 265"/>
              <a:gd name="T4" fmla="*/ 2748 w 4789"/>
              <a:gd name="T5" fmla="*/ 264 h 265"/>
              <a:gd name="T6" fmla="*/ 4788 w 4789"/>
              <a:gd name="T7" fmla="*/ 264 h 265"/>
              <a:gd name="T8" fmla="*/ 0 60000 65536"/>
              <a:gd name="T9" fmla="*/ 0 60000 65536"/>
              <a:gd name="T10" fmla="*/ 0 60000 65536"/>
              <a:gd name="T11" fmla="*/ 0 60000 65536"/>
              <a:gd name="T12" fmla="*/ 0 w 4789"/>
              <a:gd name="T13" fmla="*/ 0 h 265"/>
              <a:gd name="T14" fmla="*/ 4789 w 4789"/>
              <a:gd name="T15" fmla="*/ 265 h 265"/>
            </a:gdLst>
            <a:ahLst/>
            <a:cxnLst>
              <a:cxn ang="T8">
                <a:pos x="T0" y="T1"/>
              </a:cxn>
              <a:cxn ang="T9">
                <a:pos x="T2" y="T3"/>
              </a:cxn>
              <a:cxn ang="T10">
                <a:pos x="T4" y="T5"/>
              </a:cxn>
              <a:cxn ang="T11">
                <a:pos x="T6" y="T7"/>
              </a:cxn>
            </a:cxnLst>
            <a:rect l="T12" t="T13" r="T14" b="T15"/>
            <a:pathLst>
              <a:path w="4789" h="265">
                <a:moveTo>
                  <a:pt x="0" y="0"/>
                </a:moveTo>
                <a:lnTo>
                  <a:pt x="2076" y="0"/>
                </a:lnTo>
                <a:lnTo>
                  <a:pt x="2748" y="264"/>
                </a:lnTo>
                <a:lnTo>
                  <a:pt x="4788" y="264"/>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1" name="Line 15"/>
          <p:cNvSpPr>
            <a:spLocks noChangeShapeType="1"/>
          </p:cNvSpPr>
          <p:nvPr/>
        </p:nvSpPr>
        <p:spPr bwMode="auto">
          <a:xfrm>
            <a:off x="889000" y="4505325"/>
            <a:ext cx="7288213" cy="0"/>
          </a:xfrm>
          <a:prstGeom prst="line">
            <a:avLst/>
          </a:prstGeom>
          <a:noFill/>
          <a:ln w="28575">
            <a:solidFill>
              <a:srgbClr val="333399"/>
            </a:solidFill>
            <a:round/>
            <a:headEnd/>
            <a:tailEnd/>
          </a:ln>
        </p:spPr>
        <p:txBody>
          <a:bodyPr wrap="none" anchor="ctr"/>
          <a:lstStyle/>
          <a:p>
            <a:endParaRPr lang="zh-CN" altLang="en-US"/>
          </a:p>
        </p:txBody>
      </p:sp>
      <p:sp>
        <p:nvSpPr>
          <p:cNvPr id="111632" name="Freeform 16"/>
          <p:cNvSpPr>
            <a:spLocks/>
          </p:cNvSpPr>
          <p:nvPr/>
        </p:nvSpPr>
        <p:spPr bwMode="auto">
          <a:xfrm>
            <a:off x="882650" y="4217988"/>
            <a:ext cx="3159125" cy="904875"/>
          </a:xfrm>
          <a:custGeom>
            <a:avLst/>
            <a:gdLst>
              <a:gd name="T0" fmla="*/ 0 w 2077"/>
              <a:gd name="T1" fmla="*/ 0 h 793"/>
              <a:gd name="T2" fmla="*/ 2076 w 2077"/>
              <a:gd name="T3" fmla="*/ 0 h 793"/>
              <a:gd name="T4" fmla="*/ 2076 w 2077"/>
              <a:gd name="T5" fmla="*/ 792 h 793"/>
              <a:gd name="T6" fmla="*/ 0 60000 65536"/>
              <a:gd name="T7" fmla="*/ 0 60000 65536"/>
              <a:gd name="T8" fmla="*/ 0 60000 65536"/>
              <a:gd name="T9" fmla="*/ 0 w 2077"/>
              <a:gd name="T10" fmla="*/ 0 h 793"/>
              <a:gd name="T11" fmla="*/ 2077 w 2077"/>
              <a:gd name="T12" fmla="*/ 793 h 793"/>
            </a:gdLst>
            <a:ahLst/>
            <a:cxnLst>
              <a:cxn ang="T6">
                <a:pos x="T0" y="T1"/>
              </a:cxn>
              <a:cxn ang="T7">
                <a:pos x="T2" y="T3"/>
              </a:cxn>
              <a:cxn ang="T8">
                <a:pos x="T4" y="T5"/>
              </a:cxn>
            </a:cxnLst>
            <a:rect l="T9" t="T10" r="T11" b="T12"/>
            <a:pathLst>
              <a:path w="2077" h="793">
                <a:moveTo>
                  <a:pt x="0" y="0"/>
                </a:moveTo>
                <a:lnTo>
                  <a:pt x="2076" y="0"/>
                </a:lnTo>
                <a:lnTo>
                  <a:pt x="2076" y="792"/>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3" name="Freeform 17"/>
          <p:cNvSpPr>
            <a:spLocks/>
          </p:cNvSpPr>
          <p:nvPr/>
        </p:nvSpPr>
        <p:spPr bwMode="auto">
          <a:xfrm>
            <a:off x="5062538" y="4217988"/>
            <a:ext cx="3105150" cy="889000"/>
          </a:xfrm>
          <a:custGeom>
            <a:avLst/>
            <a:gdLst>
              <a:gd name="T0" fmla="*/ 2040 w 2041"/>
              <a:gd name="T1" fmla="*/ 0 h 781"/>
              <a:gd name="T2" fmla="*/ 0 w 2041"/>
              <a:gd name="T3" fmla="*/ 0 h 781"/>
              <a:gd name="T4" fmla="*/ 0 w 2041"/>
              <a:gd name="T5" fmla="*/ 780 h 781"/>
              <a:gd name="T6" fmla="*/ 0 60000 65536"/>
              <a:gd name="T7" fmla="*/ 0 60000 65536"/>
              <a:gd name="T8" fmla="*/ 0 60000 65536"/>
              <a:gd name="T9" fmla="*/ 0 w 2041"/>
              <a:gd name="T10" fmla="*/ 0 h 781"/>
              <a:gd name="T11" fmla="*/ 2041 w 2041"/>
              <a:gd name="T12" fmla="*/ 781 h 781"/>
            </a:gdLst>
            <a:ahLst/>
            <a:cxnLst>
              <a:cxn ang="T6">
                <a:pos x="T0" y="T1"/>
              </a:cxn>
              <a:cxn ang="T7">
                <a:pos x="T2" y="T3"/>
              </a:cxn>
              <a:cxn ang="T8">
                <a:pos x="T4" y="T5"/>
              </a:cxn>
            </a:cxnLst>
            <a:rect l="T9" t="T10" r="T11" b="T12"/>
            <a:pathLst>
              <a:path w="2041" h="781">
                <a:moveTo>
                  <a:pt x="2040" y="0"/>
                </a:moveTo>
                <a:lnTo>
                  <a:pt x="0" y="0"/>
                </a:lnTo>
                <a:lnTo>
                  <a:pt x="0" y="780"/>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4" name="Freeform 18"/>
          <p:cNvSpPr>
            <a:spLocks/>
          </p:cNvSpPr>
          <p:nvPr/>
        </p:nvSpPr>
        <p:spPr bwMode="auto">
          <a:xfrm>
            <a:off x="882650" y="3589338"/>
            <a:ext cx="3159125" cy="315912"/>
          </a:xfrm>
          <a:custGeom>
            <a:avLst/>
            <a:gdLst>
              <a:gd name="T0" fmla="*/ 0 w 2077"/>
              <a:gd name="T1" fmla="*/ 0 h 277"/>
              <a:gd name="T2" fmla="*/ 2076 w 2077"/>
              <a:gd name="T3" fmla="*/ 0 h 277"/>
              <a:gd name="T4" fmla="*/ 2076 w 2077"/>
              <a:gd name="T5" fmla="*/ 276 h 277"/>
              <a:gd name="T6" fmla="*/ 0 60000 65536"/>
              <a:gd name="T7" fmla="*/ 0 60000 65536"/>
              <a:gd name="T8" fmla="*/ 0 60000 65536"/>
              <a:gd name="T9" fmla="*/ 0 w 2077"/>
              <a:gd name="T10" fmla="*/ 0 h 277"/>
              <a:gd name="T11" fmla="*/ 2077 w 2077"/>
              <a:gd name="T12" fmla="*/ 277 h 277"/>
            </a:gdLst>
            <a:ahLst/>
            <a:cxnLst>
              <a:cxn ang="T6">
                <a:pos x="T0" y="T1"/>
              </a:cxn>
              <a:cxn ang="T7">
                <a:pos x="T2" y="T3"/>
              </a:cxn>
              <a:cxn ang="T8">
                <a:pos x="T4" y="T5"/>
              </a:cxn>
            </a:cxnLst>
            <a:rect l="T9" t="T10" r="T11" b="T12"/>
            <a:pathLst>
              <a:path w="2077" h="277">
                <a:moveTo>
                  <a:pt x="0" y="0"/>
                </a:moveTo>
                <a:lnTo>
                  <a:pt x="2076" y="0"/>
                </a:lnTo>
                <a:lnTo>
                  <a:pt x="2076" y="276"/>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5" name="Freeform 19"/>
          <p:cNvSpPr>
            <a:spLocks/>
          </p:cNvSpPr>
          <p:nvPr/>
        </p:nvSpPr>
        <p:spPr bwMode="auto">
          <a:xfrm>
            <a:off x="5062538" y="3602038"/>
            <a:ext cx="3105150" cy="315912"/>
          </a:xfrm>
          <a:custGeom>
            <a:avLst/>
            <a:gdLst>
              <a:gd name="T0" fmla="*/ 2040 w 2041"/>
              <a:gd name="T1" fmla="*/ 0 h 277"/>
              <a:gd name="T2" fmla="*/ 0 w 2041"/>
              <a:gd name="T3" fmla="*/ 0 h 277"/>
              <a:gd name="T4" fmla="*/ 0 w 2041"/>
              <a:gd name="T5" fmla="*/ 276 h 277"/>
              <a:gd name="T6" fmla="*/ 0 60000 65536"/>
              <a:gd name="T7" fmla="*/ 0 60000 65536"/>
              <a:gd name="T8" fmla="*/ 0 60000 65536"/>
              <a:gd name="T9" fmla="*/ 0 w 2041"/>
              <a:gd name="T10" fmla="*/ 0 h 277"/>
              <a:gd name="T11" fmla="*/ 2041 w 2041"/>
              <a:gd name="T12" fmla="*/ 277 h 277"/>
            </a:gdLst>
            <a:ahLst/>
            <a:cxnLst>
              <a:cxn ang="T6">
                <a:pos x="T0" y="T1"/>
              </a:cxn>
              <a:cxn ang="T7">
                <a:pos x="T2" y="T3"/>
              </a:cxn>
              <a:cxn ang="T8">
                <a:pos x="T4" y="T5"/>
              </a:cxn>
            </a:cxnLst>
            <a:rect l="T9" t="T10" r="T11" b="T12"/>
            <a:pathLst>
              <a:path w="2041" h="277">
                <a:moveTo>
                  <a:pt x="2040" y="0"/>
                </a:moveTo>
                <a:lnTo>
                  <a:pt x="0" y="0"/>
                </a:lnTo>
                <a:lnTo>
                  <a:pt x="0" y="276"/>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6" name="Freeform 20"/>
          <p:cNvSpPr>
            <a:spLocks/>
          </p:cNvSpPr>
          <p:nvPr/>
        </p:nvSpPr>
        <p:spPr bwMode="auto">
          <a:xfrm>
            <a:off x="882650" y="3903663"/>
            <a:ext cx="7285038" cy="917575"/>
          </a:xfrm>
          <a:custGeom>
            <a:avLst/>
            <a:gdLst>
              <a:gd name="T0" fmla="*/ 0 w 4789"/>
              <a:gd name="T1" fmla="*/ 804 h 805"/>
              <a:gd name="T2" fmla="*/ 2244 w 4789"/>
              <a:gd name="T3" fmla="*/ 804 h 805"/>
              <a:gd name="T4" fmla="*/ 2604 w 4789"/>
              <a:gd name="T5" fmla="*/ 0 h 805"/>
              <a:gd name="T6" fmla="*/ 4788 w 4789"/>
              <a:gd name="T7" fmla="*/ 0 h 805"/>
              <a:gd name="T8" fmla="*/ 0 60000 65536"/>
              <a:gd name="T9" fmla="*/ 0 60000 65536"/>
              <a:gd name="T10" fmla="*/ 0 60000 65536"/>
              <a:gd name="T11" fmla="*/ 0 60000 65536"/>
              <a:gd name="T12" fmla="*/ 0 w 4789"/>
              <a:gd name="T13" fmla="*/ 0 h 805"/>
              <a:gd name="T14" fmla="*/ 4789 w 4789"/>
              <a:gd name="T15" fmla="*/ 805 h 805"/>
            </a:gdLst>
            <a:ahLst/>
            <a:cxnLst>
              <a:cxn ang="T8">
                <a:pos x="T0" y="T1"/>
              </a:cxn>
              <a:cxn ang="T9">
                <a:pos x="T2" y="T3"/>
              </a:cxn>
              <a:cxn ang="T10">
                <a:pos x="T4" y="T5"/>
              </a:cxn>
              <a:cxn ang="T11">
                <a:pos x="T6" y="T7"/>
              </a:cxn>
            </a:cxnLst>
            <a:rect l="T12" t="T13" r="T14" b="T15"/>
            <a:pathLst>
              <a:path w="4789" h="805">
                <a:moveTo>
                  <a:pt x="0" y="804"/>
                </a:moveTo>
                <a:lnTo>
                  <a:pt x="2244" y="804"/>
                </a:lnTo>
                <a:lnTo>
                  <a:pt x="2604" y="0"/>
                </a:lnTo>
                <a:lnTo>
                  <a:pt x="4788" y="0"/>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7" name="Freeform 21"/>
          <p:cNvSpPr>
            <a:spLocks/>
          </p:cNvSpPr>
          <p:nvPr/>
        </p:nvSpPr>
        <p:spPr bwMode="auto">
          <a:xfrm>
            <a:off x="882650" y="3903663"/>
            <a:ext cx="7285038" cy="917575"/>
          </a:xfrm>
          <a:custGeom>
            <a:avLst/>
            <a:gdLst>
              <a:gd name="T0" fmla="*/ 0 w 4789"/>
              <a:gd name="T1" fmla="*/ 0 h 805"/>
              <a:gd name="T2" fmla="*/ 2244 w 4789"/>
              <a:gd name="T3" fmla="*/ 0 h 805"/>
              <a:gd name="T4" fmla="*/ 2604 w 4789"/>
              <a:gd name="T5" fmla="*/ 804 h 805"/>
              <a:gd name="T6" fmla="*/ 4788 w 4789"/>
              <a:gd name="T7" fmla="*/ 804 h 805"/>
              <a:gd name="T8" fmla="*/ 0 60000 65536"/>
              <a:gd name="T9" fmla="*/ 0 60000 65536"/>
              <a:gd name="T10" fmla="*/ 0 60000 65536"/>
              <a:gd name="T11" fmla="*/ 0 60000 65536"/>
              <a:gd name="T12" fmla="*/ 0 w 4789"/>
              <a:gd name="T13" fmla="*/ 0 h 805"/>
              <a:gd name="T14" fmla="*/ 4789 w 4789"/>
              <a:gd name="T15" fmla="*/ 805 h 805"/>
            </a:gdLst>
            <a:ahLst/>
            <a:cxnLst>
              <a:cxn ang="T8">
                <a:pos x="T0" y="T1"/>
              </a:cxn>
              <a:cxn ang="T9">
                <a:pos x="T2" y="T3"/>
              </a:cxn>
              <a:cxn ang="T10">
                <a:pos x="T4" y="T5"/>
              </a:cxn>
              <a:cxn ang="T11">
                <a:pos x="T6" y="T7"/>
              </a:cxn>
            </a:cxnLst>
            <a:rect l="T12" t="T13" r="T14" b="T15"/>
            <a:pathLst>
              <a:path w="4789" h="805">
                <a:moveTo>
                  <a:pt x="0" y="0"/>
                </a:moveTo>
                <a:lnTo>
                  <a:pt x="2244" y="0"/>
                </a:lnTo>
                <a:lnTo>
                  <a:pt x="2604" y="804"/>
                </a:lnTo>
                <a:lnTo>
                  <a:pt x="4788" y="804"/>
                </a:lnTo>
              </a:path>
            </a:pathLst>
          </a:custGeom>
          <a:noFill/>
          <a:ln w="28575" cap="rnd" cmpd="sng">
            <a:solidFill>
              <a:srgbClr val="333399"/>
            </a:solidFill>
            <a:prstDash val="solid"/>
            <a:round/>
            <a:headEnd type="none" w="med" len="med"/>
            <a:tailEnd type="none" w="med" len="med"/>
          </a:ln>
        </p:spPr>
        <p:txBody>
          <a:bodyPr/>
          <a:lstStyle/>
          <a:p>
            <a:endParaRPr lang="zh-CN" altLang="en-US"/>
          </a:p>
        </p:txBody>
      </p:sp>
      <p:sp>
        <p:nvSpPr>
          <p:cNvPr id="111638" name="Oval 22"/>
          <p:cNvSpPr>
            <a:spLocks noChangeArrowheads="1"/>
          </p:cNvSpPr>
          <p:nvPr/>
        </p:nvSpPr>
        <p:spPr bwMode="auto">
          <a:xfrm>
            <a:off x="3998913" y="3871913"/>
            <a:ext cx="68262" cy="50800"/>
          </a:xfrm>
          <a:prstGeom prst="ellipse">
            <a:avLst/>
          </a:prstGeom>
          <a:solidFill>
            <a:schemeClr val="tx1"/>
          </a:solidFill>
          <a:ln w="12700">
            <a:solidFill>
              <a:schemeClr val="tx1"/>
            </a:solidFill>
            <a:round/>
            <a:headEnd/>
            <a:tailEnd/>
          </a:ln>
        </p:spPr>
        <p:txBody>
          <a:bodyPr wrap="none" anchor="ctr"/>
          <a:lstStyle/>
          <a:p>
            <a:endParaRPr lang="zh-CN" altLang="en-US"/>
          </a:p>
        </p:txBody>
      </p:sp>
      <p:sp>
        <p:nvSpPr>
          <p:cNvPr id="111639" name="Oval 23"/>
          <p:cNvSpPr>
            <a:spLocks noChangeArrowheads="1"/>
          </p:cNvSpPr>
          <p:nvPr/>
        </p:nvSpPr>
        <p:spPr bwMode="auto">
          <a:xfrm>
            <a:off x="5038725" y="3871913"/>
            <a:ext cx="69850" cy="50800"/>
          </a:xfrm>
          <a:prstGeom prst="ellipse">
            <a:avLst/>
          </a:prstGeom>
          <a:solidFill>
            <a:schemeClr val="tx1"/>
          </a:solidFill>
          <a:ln w="12700">
            <a:solidFill>
              <a:schemeClr val="tx1"/>
            </a:solidFill>
            <a:round/>
            <a:headEnd/>
            <a:tailEnd/>
          </a:ln>
        </p:spPr>
        <p:txBody>
          <a:bodyPr wrap="none" anchor="ctr"/>
          <a:lstStyle/>
          <a:p>
            <a:endParaRPr lang="zh-CN" altLang="en-US"/>
          </a:p>
        </p:txBody>
      </p:sp>
      <p:sp>
        <p:nvSpPr>
          <p:cNvPr id="111640" name="Oval 24"/>
          <p:cNvSpPr>
            <a:spLocks noChangeArrowheads="1"/>
          </p:cNvSpPr>
          <p:nvPr/>
        </p:nvSpPr>
        <p:spPr bwMode="auto">
          <a:xfrm>
            <a:off x="5022850" y="5075238"/>
            <a:ext cx="68263" cy="50800"/>
          </a:xfrm>
          <a:prstGeom prst="ellipse">
            <a:avLst/>
          </a:prstGeom>
          <a:solidFill>
            <a:schemeClr val="tx1"/>
          </a:solidFill>
          <a:ln w="12700">
            <a:solidFill>
              <a:schemeClr val="tx1"/>
            </a:solidFill>
            <a:round/>
            <a:headEnd/>
            <a:tailEnd/>
          </a:ln>
        </p:spPr>
        <p:txBody>
          <a:bodyPr wrap="none" anchor="ctr"/>
          <a:lstStyle/>
          <a:p>
            <a:endParaRPr lang="zh-CN" altLang="en-US"/>
          </a:p>
        </p:txBody>
      </p:sp>
      <p:sp>
        <p:nvSpPr>
          <p:cNvPr id="111641" name="Oval 25"/>
          <p:cNvSpPr>
            <a:spLocks noChangeArrowheads="1"/>
          </p:cNvSpPr>
          <p:nvPr/>
        </p:nvSpPr>
        <p:spPr bwMode="auto">
          <a:xfrm>
            <a:off x="3998913" y="5089525"/>
            <a:ext cx="68262" cy="50800"/>
          </a:xfrm>
          <a:prstGeom prst="ellipse">
            <a:avLst/>
          </a:prstGeom>
          <a:solidFill>
            <a:schemeClr val="tx1"/>
          </a:solidFill>
          <a:ln w="12700">
            <a:solidFill>
              <a:schemeClr val="tx1"/>
            </a:solidFill>
            <a:round/>
            <a:headEnd/>
            <a:tailEnd/>
          </a:ln>
        </p:spPr>
        <p:txBody>
          <a:bodyPr wrap="none" anchor="ctr"/>
          <a:lstStyle/>
          <a:p>
            <a:endParaRPr lang="zh-CN" altLang="en-US"/>
          </a:p>
        </p:txBody>
      </p:sp>
      <p:sp>
        <p:nvSpPr>
          <p:cNvPr id="111642" name="Rectangle 26"/>
          <p:cNvSpPr>
            <a:spLocks noChangeArrowheads="1"/>
          </p:cNvSpPr>
          <p:nvPr/>
        </p:nvSpPr>
        <p:spPr bwMode="auto">
          <a:xfrm>
            <a:off x="681038" y="1989138"/>
            <a:ext cx="687387"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插头</a:t>
            </a:r>
          </a:p>
        </p:txBody>
      </p:sp>
      <p:sp>
        <p:nvSpPr>
          <p:cNvPr id="111643" name="Rectangle 27"/>
          <p:cNvSpPr>
            <a:spLocks noChangeArrowheads="1"/>
          </p:cNvSpPr>
          <p:nvPr/>
        </p:nvSpPr>
        <p:spPr bwMode="auto">
          <a:xfrm>
            <a:off x="7588250" y="1989138"/>
            <a:ext cx="688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插头</a:t>
            </a:r>
          </a:p>
        </p:txBody>
      </p:sp>
      <p:sp>
        <p:nvSpPr>
          <p:cNvPr id="111644" name="Rectangle 28"/>
          <p:cNvSpPr>
            <a:spLocks noChangeArrowheads="1"/>
          </p:cNvSpPr>
          <p:nvPr/>
        </p:nvSpPr>
        <p:spPr bwMode="auto">
          <a:xfrm>
            <a:off x="3387725" y="1989138"/>
            <a:ext cx="688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插座</a:t>
            </a:r>
          </a:p>
        </p:txBody>
      </p:sp>
      <p:sp>
        <p:nvSpPr>
          <p:cNvPr id="111645" name="Rectangle 29"/>
          <p:cNvSpPr>
            <a:spLocks noChangeArrowheads="1"/>
          </p:cNvSpPr>
          <p:nvPr/>
        </p:nvSpPr>
        <p:spPr bwMode="auto">
          <a:xfrm>
            <a:off x="5048250" y="1989138"/>
            <a:ext cx="688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插座</a:t>
            </a:r>
          </a:p>
        </p:txBody>
      </p:sp>
      <p:sp>
        <p:nvSpPr>
          <p:cNvPr id="111646" name="Rectangle 30"/>
          <p:cNvSpPr>
            <a:spLocks noChangeArrowheads="1"/>
          </p:cNvSpPr>
          <p:nvPr/>
        </p:nvSpPr>
        <p:spPr bwMode="auto">
          <a:xfrm>
            <a:off x="436563" y="5746750"/>
            <a:ext cx="942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计算机</a:t>
            </a:r>
          </a:p>
        </p:txBody>
      </p:sp>
      <p:sp>
        <p:nvSpPr>
          <p:cNvPr id="111647" name="Rectangle 31"/>
          <p:cNvSpPr>
            <a:spLocks noChangeArrowheads="1"/>
          </p:cNvSpPr>
          <p:nvPr/>
        </p:nvSpPr>
        <p:spPr bwMode="auto">
          <a:xfrm>
            <a:off x="3703638" y="5746750"/>
            <a:ext cx="1704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虚调制解调器</a:t>
            </a:r>
          </a:p>
        </p:txBody>
      </p:sp>
      <p:sp>
        <p:nvSpPr>
          <p:cNvPr id="111648" name="Rectangle 32"/>
          <p:cNvSpPr>
            <a:spLocks noChangeArrowheads="1"/>
          </p:cNvSpPr>
          <p:nvPr/>
        </p:nvSpPr>
        <p:spPr bwMode="auto">
          <a:xfrm>
            <a:off x="7645400" y="5746750"/>
            <a:ext cx="9429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计算机</a:t>
            </a:r>
          </a:p>
        </p:txBody>
      </p:sp>
      <p:sp>
        <p:nvSpPr>
          <p:cNvPr id="111649" name="Rectangle 33"/>
          <p:cNvSpPr>
            <a:spLocks noChangeArrowheads="1"/>
          </p:cNvSpPr>
          <p:nvPr/>
        </p:nvSpPr>
        <p:spPr bwMode="auto">
          <a:xfrm>
            <a:off x="1606550" y="2376488"/>
            <a:ext cx="1592263"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1</a:t>
            </a:r>
            <a:r>
              <a:rPr lang="zh-CN" altLang="en-US" sz="2000">
                <a:solidFill>
                  <a:srgbClr val="333399"/>
                </a:solidFill>
                <a:latin typeface="Arial" pitchFamily="34" charset="0"/>
                <a:ea typeface="黑体" pitchFamily="49" charset="-122"/>
              </a:rPr>
              <a:t>）保护地</a:t>
            </a:r>
          </a:p>
        </p:txBody>
      </p:sp>
      <p:sp>
        <p:nvSpPr>
          <p:cNvPr id="111650" name="Rectangle 34"/>
          <p:cNvSpPr>
            <a:spLocks noChangeArrowheads="1"/>
          </p:cNvSpPr>
          <p:nvPr/>
        </p:nvSpPr>
        <p:spPr bwMode="auto">
          <a:xfrm>
            <a:off x="1606550" y="2676525"/>
            <a:ext cx="1339850"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2</a:t>
            </a:r>
            <a:r>
              <a:rPr lang="zh-CN" altLang="en-US" sz="2000">
                <a:solidFill>
                  <a:srgbClr val="333399"/>
                </a:solidFill>
                <a:latin typeface="Arial" pitchFamily="34" charset="0"/>
                <a:ea typeface="黑体" pitchFamily="49" charset="-122"/>
              </a:rPr>
              <a:t>）发送</a:t>
            </a:r>
          </a:p>
        </p:txBody>
      </p:sp>
      <p:sp>
        <p:nvSpPr>
          <p:cNvPr id="111651" name="Rectangle 35"/>
          <p:cNvSpPr>
            <a:spLocks noChangeArrowheads="1"/>
          </p:cNvSpPr>
          <p:nvPr/>
        </p:nvSpPr>
        <p:spPr bwMode="auto">
          <a:xfrm>
            <a:off x="1606550" y="2974975"/>
            <a:ext cx="1339850"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3</a:t>
            </a:r>
            <a:r>
              <a:rPr lang="zh-CN" altLang="en-US" sz="2000">
                <a:solidFill>
                  <a:srgbClr val="333399"/>
                </a:solidFill>
                <a:latin typeface="Arial" pitchFamily="34" charset="0"/>
                <a:ea typeface="黑体" pitchFamily="49" charset="-122"/>
              </a:rPr>
              <a:t>）接收</a:t>
            </a:r>
          </a:p>
        </p:txBody>
      </p:sp>
      <p:sp>
        <p:nvSpPr>
          <p:cNvPr id="111652" name="Rectangle 36"/>
          <p:cNvSpPr>
            <a:spLocks noChangeArrowheads="1"/>
          </p:cNvSpPr>
          <p:nvPr/>
        </p:nvSpPr>
        <p:spPr bwMode="auto">
          <a:xfrm>
            <a:off x="1606550" y="3273425"/>
            <a:ext cx="1846263"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4</a:t>
            </a:r>
            <a:r>
              <a:rPr lang="zh-CN" altLang="en-US" sz="2000">
                <a:solidFill>
                  <a:srgbClr val="333399"/>
                </a:solidFill>
                <a:latin typeface="Arial" pitchFamily="34" charset="0"/>
                <a:ea typeface="黑体" pitchFamily="49" charset="-122"/>
              </a:rPr>
              <a:t>）请求发送</a:t>
            </a:r>
          </a:p>
        </p:txBody>
      </p:sp>
      <p:sp>
        <p:nvSpPr>
          <p:cNvPr id="111653" name="Rectangle 37"/>
          <p:cNvSpPr>
            <a:spLocks noChangeArrowheads="1"/>
          </p:cNvSpPr>
          <p:nvPr/>
        </p:nvSpPr>
        <p:spPr bwMode="auto">
          <a:xfrm>
            <a:off x="1606550" y="3571875"/>
            <a:ext cx="1846263"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5</a:t>
            </a:r>
            <a:r>
              <a:rPr lang="zh-CN" altLang="en-US" sz="2000">
                <a:solidFill>
                  <a:srgbClr val="333399"/>
                </a:solidFill>
                <a:latin typeface="Arial" pitchFamily="34" charset="0"/>
                <a:ea typeface="黑体" pitchFamily="49" charset="-122"/>
              </a:rPr>
              <a:t>）允许发送</a:t>
            </a:r>
          </a:p>
        </p:txBody>
      </p:sp>
      <p:sp>
        <p:nvSpPr>
          <p:cNvPr id="111654" name="Rectangle 38"/>
          <p:cNvSpPr>
            <a:spLocks noChangeArrowheads="1"/>
          </p:cNvSpPr>
          <p:nvPr/>
        </p:nvSpPr>
        <p:spPr bwMode="auto">
          <a:xfrm>
            <a:off x="1606550" y="3871913"/>
            <a:ext cx="19462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6</a:t>
            </a:r>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DCE </a:t>
            </a:r>
            <a:r>
              <a:rPr lang="zh-CN" altLang="en-US" sz="2000">
                <a:solidFill>
                  <a:srgbClr val="333399"/>
                </a:solidFill>
                <a:latin typeface="Arial" pitchFamily="34" charset="0"/>
                <a:ea typeface="黑体" pitchFamily="49" charset="-122"/>
              </a:rPr>
              <a:t>就绪</a:t>
            </a:r>
          </a:p>
        </p:txBody>
      </p:sp>
      <p:sp>
        <p:nvSpPr>
          <p:cNvPr id="111655" name="Rectangle 39"/>
          <p:cNvSpPr>
            <a:spLocks noChangeArrowheads="1"/>
          </p:cNvSpPr>
          <p:nvPr/>
        </p:nvSpPr>
        <p:spPr bwMode="auto">
          <a:xfrm>
            <a:off x="1606550" y="4168775"/>
            <a:ext cx="1592263"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7</a:t>
            </a:r>
            <a:r>
              <a:rPr lang="zh-CN" altLang="en-US" sz="2000">
                <a:solidFill>
                  <a:srgbClr val="333399"/>
                </a:solidFill>
                <a:latin typeface="Arial" pitchFamily="34" charset="0"/>
                <a:ea typeface="黑体" pitchFamily="49" charset="-122"/>
              </a:rPr>
              <a:t>）信号地</a:t>
            </a:r>
          </a:p>
        </p:txBody>
      </p:sp>
      <p:sp>
        <p:nvSpPr>
          <p:cNvPr id="111656" name="Rectangle 40"/>
          <p:cNvSpPr>
            <a:spLocks noChangeArrowheads="1"/>
          </p:cNvSpPr>
          <p:nvPr/>
        </p:nvSpPr>
        <p:spPr bwMode="auto">
          <a:xfrm>
            <a:off x="1504950" y="4468813"/>
            <a:ext cx="1846263"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8</a:t>
            </a:r>
            <a:r>
              <a:rPr lang="zh-CN" altLang="en-US" sz="2000">
                <a:solidFill>
                  <a:srgbClr val="333399"/>
                </a:solidFill>
                <a:latin typeface="Arial" pitchFamily="34" charset="0"/>
                <a:ea typeface="黑体" pitchFamily="49" charset="-122"/>
              </a:rPr>
              <a:t>）载波检测</a:t>
            </a:r>
          </a:p>
        </p:txBody>
      </p:sp>
      <p:sp>
        <p:nvSpPr>
          <p:cNvPr id="111657" name="Rectangle 41"/>
          <p:cNvSpPr>
            <a:spLocks noChangeArrowheads="1"/>
          </p:cNvSpPr>
          <p:nvPr/>
        </p:nvSpPr>
        <p:spPr bwMode="auto">
          <a:xfrm>
            <a:off x="1401763" y="4767263"/>
            <a:ext cx="2058987"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20</a:t>
            </a:r>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DTE </a:t>
            </a:r>
            <a:r>
              <a:rPr lang="zh-CN" altLang="en-US" sz="2000">
                <a:solidFill>
                  <a:srgbClr val="333399"/>
                </a:solidFill>
                <a:latin typeface="Arial" pitchFamily="34" charset="0"/>
                <a:ea typeface="黑体" pitchFamily="49" charset="-122"/>
              </a:rPr>
              <a:t>就绪</a:t>
            </a:r>
          </a:p>
        </p:txBody>
      </p:sp>
      <p:sp>
        <p:nvSpPr>
          <p:cNvPr id="111658" name="Rectangle 42"/>
          <p:cNvSpPr>
            <a:spLocks noChangeArrowheads="1"/>
          </p:cNvSpPr>
          <p:nvPr/>
        </p:nvSpPr>
        <p:spPr bwMode="auto">
          <a:xfrm>
            <a:off x="1298575" y="5064125"/>
            <a:ext cx="1987550" cy="395288"/>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22</a:t>
            </a:r>
            <a:r>
              <a:rPr lang="zh-CN" altLang="en-US" sz="2000">
                <a:solidFill>
                  <a:srgbClr val="333399"/>
                </a:solidFill>
                <a:latin typeface="Arial" pitchFamily="34" charset="0"/>
                <a:ea typeface="黑体" pitchFamily="49" charset="-122"/>
              </a:rPr>
              <a:t>）振铃指示</a:t>
            </a:r>
          </a:p>
        </p:txBody>
      </p:sp>
      <p:sp>
        <p:nvSpPr>
          <p:cNvPr id="111659" name="Rectangle 43"/>
          <p:cNvSpPr>
            <a:spLocks noChangeArrowheads="1"/>
          </p:cNvSpPr>
          <p:nvPr/>
        </p:nvSpPr>
        <p:spPr bwMode="auto">
          <a:xfrm>
            <a:off x="5745163" y="2357438"/>
            <a:ext cx="1592262" cy="3921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1</a:t>
            </a:r>
            <a:r>
              <a:rPr lang="zh-CN" altLang="en-US" sz="2000">
                <a:solidFill>
                  <a:srgbClr val="333399"/>
                </a:solidFill>
                <a:latin typeface="Arial" pitchFamily="34" charset="0"/>
                <a:ea typeface="黑体" pitchFamily="49" charset="-122"/>
              </a:rPr>
              <a:t>）保护地</a:t>
            </a:r>
          </a:p>
        </p:txBody>
      </p:sp>
      <p:sp>
        <p:nvSpPr>
          <p:cNvPr id="111660" name="Rectangle 44"/>
          <p:cNvSpPr>
            <a:spLocks noChangeArrowheads="1"/>
          </p:cNvSpPr>
          <p:nvPr/>
        </p:nvSpPr>
        <p:spPr bwMode="auto">
          <a:xfrm>
            <a:off x="5726113" y="2662238"/>
            <a:ext cx="1338262" cy="3921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2</a:t>
            </a:r>
            <a:r>
              <a:rPr lang="zh-CN" altLang="en-US" sz="2000">
                <a:solidFill>
                  <a:srgbClr val="333399"/>
                </a:solidFill>
                <a:latin typeface="Arial" pitchFamily="34" charset="0"/>
                <a:ea typeface="黑体" pitchFamily="49" charset="-122"/>
              </a:rPr>
              <a:t>）发送</a:t>
            </a:r>
          </a:p>
        </p:txBody>
      </p:sp>
      <p:sp>
        <p:nvSpPr>
          <p:cNvPr id="111661" name="Rectangle 45"/>
          <p:cNvSpPr>
            <a:spLocks noChangeArrowheads="1"/>
          </p:cNvSpPr>
          <p:nvPr/>
        </p:nvSpPr>
        <p:spPr bwMode="auto">
          <a:xfrm>
            <a:off x="5726113" y="2967038"/>
            <a:ext cx="1338262"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3</a:t>
            </a:r>
            <a:r>
              <a:rPr lang="zh-CN" altLang="en-US" sz="2000">
                <a:solidFill>
                  <a:srgbClr val="333399"/>
                </a:solidFill>
                <a:latin typeface="Arial" pitchFamily="34" charset="0"/>
                <a:ea typeface="黑体" pitchFamily="49" charset="-122"/>
              </a:rPr>
              <a:t>）接收</a:t>
            </a:r>
          </a:p>
        </p:txBody>
      </p:sp>
      <p:sp>
        <p:nvSpPr>
          <p:cNvPr id="111662" name="Rectangle 46"/>
          <p:cNvSpPr>
            <a:spLocks noChangeArrowheads="1"/>
          </p:cNvSpPr>
          <p:nvPr/>
        </p:nvSpPr>
        <p:spPr bwMode="auto">
          <a:xfrm>
            <a:off x="5416550" y="3268663"/>
            <a:ext cx="18446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4</a:t>
            </a:r>
            <a:r>
              <a:rPr lang="zh-CN" altLang="en-US" sz="2000">
                <a:solidFill>
                  <a:srgbClr val="333399"/>
                </a:solidFill>
                <a:latin typeface="Arial" pitchFamily="34" charset="0"/>
                <a:ea typeface="黑体" pitchFamily="49" charset="-122"/>
              </a:rPr>
              <a:t>）请求发送</a:t>
            </a:r>
          </a:p>
        </p:txBody>
      </p:sp>
      <p:sp>
        <p:nvSpPr>
          <p:cNvPr id="111663" name="Rectangle 47"/>
          <p:cNvSpPr>
            <a:spLocks noChangeArrowheads="1"/>
          </p:cNvSpPr>
          <p:nvPr/>
        </p:nvSpPr>
        <p:spPr bwMode="auto">
          <a:xfrm>
            <a:off x="5313363" y="3575050"/>
            <a:ext cx="1846262" cy="392113"/>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5</a:t>
            </a:r>
            <a:r>
              <a:rPr lang="zh-CN" altLang="en-US" sz="2000">
                <a:solidFill>
                  <a:srgbClr val="333399"/>
                </a:solidFill>
                <a:latin typeface="Arial" pitchFamily="34" charset="0"/>
                <a:ea typeface="黑体" pitchFamily="49" charset="-122"/>
              </a:rPr>
              <a:t>）允许发送</a:t>
            </a:r>
          </a:p>
        </p:txBody>
      </p:sp>
      <p:sp>
        <p:nvSpPr>
          <p:cNvPr id="111664" name="Rectangle 48"/>
          <p:cNvSpPr>
            <a:spLocks noChangeArrowheads="1"/>
          </p:cNvSpPr>
          <p:nvPr/>
        </p:nvSpPr>
        <p:spPr bwMode="auto">
          <a:xfrm>
            <a:off x="5211763" y="3876675"/>
            <a:ext cx="1947862"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6</a:t>
            </a:r>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DCE </a:t>
            </a:r>
            <a:r>
              <a:rPr lang="zh-CN" altLang="en-US" sz="2000">
                <a:solidFill>
                  <a:srgbClr val="333399"/>
                </a:solidFill>
                <a:latin typeface="Arial" pitchFamily="34" charset="0"/>
                <a:ea typeface="黑体" pitchFamily="49" charset="-122"/>
              </a:rPr>
              <a:t>就绪</a:t>
            </a:r>
          </a:p>
        </p:txBody>
      </p:sp>
      <p:sp>
        <p:nvSpPr>
          <p:cNvPr id="111665" name="Rectangle 49"/>
          <p:cNvSpPr>
            <a:spLocks noChangeArrowheads="1"/>
          </p:cNvSpPr>
          <p:nvPr/>
        </p:nvSpPr>
        <p:spPr bwMode="auto">
          <a:xfrm>
            <a:off x="5313363" y="4181475"/>
            <a:ext cx="1592262"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7</a:t>
            </a:r>
            <a:r>
              <a:rPr lang="zh-CN" altLang="en-US" sz="2000">
                <a:solidFill>
                  <a:srgbClr val="333399"/>
                </a:solidFill>
                <a:latin typeface="Arial" pitchFamily="34" charset="0"/>
                <a:ea typeface="黑体" pitchFamily="49" charset="-122"/>
              </a:rPr>
              <a:t>）信号地</a:t>
            </a:r>
          </a:p>
        </p:txBody>
      </p:sp>
      <p:sp>
        <p:nvSpPr>
          <p:cNvPr id="111666" name="Rectangle 50"/>
          <p:cNvSpPr>
            <a:spLocks noChangeArrowheads="1"/>
          </p:cNvSpPr>
          <p:nvPr/>
        </p:nvSpPr>
        <p:spPr bwMode="auto">
          <a:xfrm>
            <a:off x="5416550" y="4484688"/>
            <a:ext cx="1844675"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8</a:t>
            </a:r>
            <a:r>
              <a:rPr lang="zh-CN" altLang="en-US" sz="2000">
                <a:solidFill>
                  <a:srgbClr val="333399"/>
                </a:solidFill>
                <a:latin typeface="Arial" pitchFamily="34" charset="0"/>
                <a:ea typeface="黑体" pitchFamily="49" charset="-122"/>
              </a:rPr>
              <a:t>）载波检测</a:t>
            </a:r>
          </a:p>
        </p:txBody>
      </p:sp>
      <p:sp>
        <p:nvSpPr>
          <p:cNvPr id="111667" name="Rectangle 51"/>
          <p:cNvSpPr>
            <a:spLocks noChangeArrowheads="1"/>
          </p:cNvSpPr>
          <p:nvPr/>
        </p:nvSpPr>
        <p:spPr bwMode="auto">
          <a:xfrm>
            <a:off x="5313363" y="4789488"/>
            <a:ext cx="2057400"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20</a:t>
            </a:r>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DTE </a:t>
            </a:r>
            <a:r>
              <a:rPr lang="zh-CN" altLang="en-US" sz="2000">
                <a:solidFill>
                  <a:srgbClr val="333399"/>
                </a:solidFill>
                <a:latin typeface="Arial" pitchFamily="34" charset="0"/>
                <a:ea typeface="黑体" pitchFamily="49" charset="-122"/>
              </a:rPr>
              <a:t>就绪</a:t>
            </a:r>
          </a:p>
        </p:txBody>
      </p:sp>
      <p:sp>
        <p:nvSpPr>
          <p:cNvPr id="111668" name="Rectangle 52"/>
          <p:cNvSpPr>
            <a:spLocks noChangeArrowheads="1"/>
          </p:cNvSpPr>
          <p:nvPr/>
        </p:nvSpPr>
        <p:spPr bwMode="auto">
          <a:xfrm>
            <a:off x="5410200" y="5092700"/>
            <a:ext cx="1987550" cy="39370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2000">
                <a:solidFill>
                  <a:srgbClr val="333399"/>
                </a:solidFill>
                <a:latin typeface="Arial" pitchFamily="34" charset="0"/>
                <a:ea typeface="黑体" pitchFamily="49" charset="-122"/>
              </a:rPr>
              <a:t>（</a:t>
            </a:r>
            <a:r>
              <a:rPr lang="en-US" altLang="zh-CN" sz="2000">
                <a:solidFill>
                  <a:srgbClr val="333399"/>
                </a:solidFill>
                <a:latin typeface="Arial" pitchFamily="34" charset="0"/>
                <a:ea typeface="黑体" pitchFamily="49" charset="-122"/>
              </a:rPr>
              <a:t>22</a:t>
            </a:r>
            <a:r>
              <a:rPr lang="zh-CN" altLang="en-US" sz="2000">
                <a:solidFill>
                  <a:srgbClr val="333399"/>
                </a:solidFill>
                <a:latin typeface="Arial" pitchFamily="34" charset="0"/>
                <a:ea typeface="黑体" pitchFamily="49" charset="-122"/>
              </a:rPr>
              <a:t>）振铃指示</a:t>
            </a:r>
          </a:p>
        </p:txBody>
      </p:sp>
      <p:sp>
        <p:nvSpPr>
          <p:cNvPr id="111669" name="Oval 53"/>
          <p:cNvSpPr>
            <a:spLocks noChangeArrowheads="1"/>
          </p:cNvSpPr>
          <p:nvPr/>
        </p:nvSpPr>
        <p:spPr bwMode="auto">
          <a:xfrm>
            <a:off x="827088" y="2646363"/>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0" name="Oval 54"/>
          <p:cNvSpPr>
            <a:spLocks noChangeArrowheads="1"/>
          </p:cNvSpPr>
          <p:nvPr/>
        </p:nvSpPr>
        <p:spPr bwMode="auto">
          <a:xfrm>
            <a:off x="827088" y="2949575"/>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1" name="Oval 55"/>
          <p:cNvSpPr>
            <a:spLocks noChangeArrowheads="1"/>
          </p:cNvSpPr>
          <p:nvPr/>
        </p:nvSpPr>
        <p:spPr bwMode="auto">
          <a:xfrm>
            <a:off x="827088" y="3252788"/>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2" name="Oval 56"/>
          <p:cNvSpPr>
            <a:spLocks noChangeArrowheads="1"/>
          </p:cNvSpPr>
          <p:nvPr/>
        </p:nvSpPr>
        <p:spPr bwMode="auto">
          <a:xfrm>
            <a:off x="827088" y="3557588"/>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3" name="Oval 57"/>
          <p:cNvSpPr>
            <a:spLocks noChangeArrowheads="1"/>
          </p:cNvSpPr>
          <p:nvPr/>
        </p:nvSpPr>
        <p:spPr bwMode="auto">
          <a:xfrm>
            <a:off x="827088" y="3860800"/>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4" name="Oval 58"/>
          <p:cNvSpPr>
            <a:spLocks noChangeArrowheads="1"/>
          </p:cNvSpPr>
          <p:nvPr/>
        </p:nvSpPr>
        <p:spPr bwMode="auto">
          <a:xfrm>
            <a:off x="827088" y="4164013"/>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5" name="Oval 59"/>
          <p:cNvSpPr>
            <a:spLocks noChangeArrowheads="1"/>
          </p:cNvSpPr>
          <p:nvPr/>
        </p:nvSpPr>
        <p:spPr bwMode="auto">
          <a:xfrm>
            <a:off x="827088" y="4468813"/>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6" name="Oval 60"/>
          <p:cNvSpPr>
            <a:spLocks noChangeArrowheads="1"/>
          </p:cNvSpPr>
          <p:nvPr/>
        </p:nvSpPr>
        <p:spPr bwMode="auto">
          <a:xfrm>
            <a:off x="827088" y="4772025"/>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7" name="Oval 61"/>
          <p:cNvSpPr>
            <a:spLocks noChangeArrowheads="1"/>
          </p:cNvSpPr>
          <p:nvPr/>
        </p:nvSpPr>
        <p:spPr bwMode="auto">
          <a:xfrm>
            <a:off x="827088" y="5075238"/>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78" name="Oval 62"/>
          <p:cNvSpPr>
            <a:spLocks noChangeArrowheads="1"/>
          </p:cNvSpPr>
          <p:nvPr/>
        </p:nvSpPr>
        <p:spPr bwMode="auto">
          <a:xfrm>
            <a:off x="827088" y="5380038"/>
            <a:ext cx="73025" cy="73025"/>
          </a:xfrm>
          <a:prstGeom prst="ellipse">
            <a:avLst/>
          </a:prstGeom>
          <a:solidFill>
            <a:srgbClr val="333399"/>
          </a:solidFill>
          <a:ln w="9525">
            <a:solidFill>
              <a:srgbClr val="333399"/>
            </a:solidFill>
            <a:round/>
            <a:headEnd/>
            <a:tailEnd/>
          </a:ln>
        </p:spPr>
        <p:txBody>
          <a:bodyPr wrap="none" anchor="ctr"/>
          <a:lstStyle/>
          <a:p>
            <a:endParaRPr lang="zh-CN" altLang="en-US"/>
          </a:p>
        </p:txBody>
      </p:sp>
      <p:grpSp>
        <p:nvGrpSpPr>
          <p:cNvPr id="2" name="Group 63"/>
          <p:cNvGrpSpPr>
            <a:grpSpLocks/>
          </p:cNvGrpSpPr>
          <p:nvPr/>
        </p:nvGrpSpPr>
        <p:grpSpPr bwMode="auto">
          <a:xfrm>
            <a:off x="8101013" y="2646363"/>
            <a:ext cx="73025" cy="2806700"/>
            <a:chOff x="5103" y="1661"/>
            <a:chExt cx="46" cy="1768"/>
          </a:xfrm>
        </p:grpSpPr>
        <p:sp>
          <p:nvSpPr>
            <p:cNvPr id="111680" name="Oval 64"/>
            <p:cNvSpPr>
              <a:spLocks noChangeArrowheads="1"/>
            </p:cNvSpPr>
            <p:nvPr/>
          </p:nvSpPr>
          <p:spPr bwMode="auto">
            <a:xfrm>
              <a:off x="5103" y="1661"/>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1" name="Oval 65"/>
            <p:cNvSpPr>
              <a:spLocks noChangeArrowheads="1"/>
            </p:cNvSpPr>
            <p:nvPr/>
          </p:nvSpPr>
          <p:spPr bwMode="auto">
            <a:xfrm>
              <a:off x="5103" y="1852"/>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2" name="Oval 66"/>
            <p:cNvSpPr>
              <a:spLocks noChangeArrowheads="1"/>
            </p:cNvSpPr>
            <p:nvPr/>
          </p:nvSpPr>
          <p:spPr bwMode="auto">
            <a:xfrm>
              <a:off x="5103" y="2043"/>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3" name="Oval 67"/>
            <p:cNvSpPr>
              <a:spLocks noChangeArrowheads="1"/>
            </p:cNvSpPr>
            <p:nvPr/>
          </p:nvSpPr>
          <p:spPr bwMode="auto">
            <a:xfrm>
              <a:off x="5103" y="2235"/>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4" name="Oval 68"/>
            <p:cNvSpPr>
              <a:spLocks noChangeArrowheads="1"/>
            </p:cNvSpPr>
            <p:nvPr/>
          </p:nvSpPr>
          <p:spPr bwMode="auto">
            <a:xfrm>
              <a:off x="5103" y="2426"/>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5" name="Oval 69"/>
            <p:cNvSpPr>
              <a:spLocks noChangeArrowheads="1"/>
            </p:cNvSpPr>
            <p:nvPr/>
          </p:nvSpPr>
          <p:spPr bwMode="auto">
            <a:xfrm>
              <a:off x="5103" y="2617"/>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6" name="Oval 70"/>
            <p:cNvSpPr>
              <a:spLocks noChangeArrowheads="1"/>
            </p:cNvSpPr>
            <p:nvPr/>
          </p:nvSpPr>
          <p:spPr bwMode="auto">
            <a:xfrm>
              <a:off x="5103" y="2809"/>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7" name="Oval 71"/>
            <p:cNvSpPr>
              <a:spLocks noChangeArrowheads="1"/>
            </p:cNvSpPr>
            <p:nvPr/>
          </p:nvSpPr>
          <p:spPr bwMode="auto">
            <a:xfrm>
              <a:off x="5103" y="3000"/>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8" name="Oval 72"/>
            <p:cNvSpPr>
              <a:spLocks noChangeArrowheads="1"/>
            </p:cNvSpPr>
            <p:nvPr/>
          </p:nvSpPr>
          <p:spPr bwMode="auto">
            <a:xfrm>
              <a:off x="5103" y="3191"/>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sp>
          <p:nvSpPr>
            <p:cNvPr id="111689" name="Oval 73"/>
            <p:cNvSpPr>
              <a:spLocks noChangeArrowheads="1"/>
            </p:cNvSpPr>
            <p:nvPr/>
          </p:nvSpPr>
          <p:spPr bwMode="auto">
            <a:xfrm>
              <a:off x="5103" y="3383"/>
              <a:ext cx="46" cy="46"/>
            </a:xfrm>
            <a:prstGeom prst="ellipse">
              <a:avLst/>
            </a:prstGeom>
            <a:solidFill>
              <a:srgbClr val="333399"/>
            </a:solidFill>
            <a:ln w="9525">
              <a:solidFill>
                <a:srgbClr val="333399"/>
              </a:solidFill>
              <a:round/>
              <a:headEnd/>
              <a:tailEnd/>
            </a:ln>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虚拟</a:t>
            </a:r>
            <a:r>
              <a:rPr lang="en-US" altLang="zh-CN" dirty="0" smtClean="0"/>
              <a:t>modem</a:t>
            </a:r>
            <a:endParaRPr lang="zh-CN" altLang="en-US" dirty="0"/>
          </a:p>
        </p:txBody>
      </p:sp>
      <p:sp>
        <p:nvSpPr>
          <p:cNvPr id="3" name="内容占位符 2"/>
          <p:cNvSpPr>
            <a:spLocks noGrp="1"/>
          </p:cNvSpPr>
          <p:nvPr>
            <p:ph idx="1"/>
          </p:nvPr>
        </p:nvSpPr>
        <p:spPr/>
        <p:txBody>
          <a:bodyPr/>
          <a:lstStyle/>
          <a:p>
            <a:r>
              <a:rPr lang="zh-CN" altLang="en-US" dirty="0" smtClean="0">
                <a:ea typeface="宋体" pitchFamily="2" charset="-122"/>
              </a:rPr>
              <a:t>两个设备很近，以至于允许两个</a:t>
            </a:r>
            <a:r>
              <a:rPr lang="en-US" altLang="zh-CN" dirty="0" smtClean="0">
                <a:ea typeface="宋体" pitchFamily="2" charset="-122"/>
              </a:rPr>
              <a:t>DTE</a:t>
            </a:r>
            <a:r>
              <a:rPr lang="zh-CN" altLang="en-US" dirty="0" smtClean="0">
                <a:ea typeface="宋体" pitchFamily="2" charset="-122"/>
              </a:rPr>
              <a:t>之间彼此直接传送信号</a:t>
            </a:r>
            <a:endParaRPr lang="en-US" altLang="zh-CN" dirty="0" smtClean="0">
              <a:ea typeface="宋体" pitchFamily="2" charset="-122"/>
            </a:endParaRPr>
          </a:p>
          <a:p>
            <a:r>
              <a:rPr lang="zh-CN" altLang="en-US" dirty="0" smtClean="0">
                <a:ea typeface="宋体" pitchFamily="2" charset="-122"/>
              </a:rPr>
              <a:t>这种电路连接方式愚弄了这两台</a:t>
            </a:r>
            <a:r>
              <a:rPr lang="en-US" altLang="zh-CN" dirty="0" smtClean="0">
                <a:ea typeface="宋体" pitchFamily="2" charset="-122"/>
              </a:rPr>
              <a:t>DTE,</a:t>
            </a:r>
            <a:r>
              <a:rPr lang="zh-CN" altLang="en-US" dirty="0" smtClean="0">
                <a:ea typeface="宋体" pitchFamily="2" charset="-122"/>
              </a:rPr>
              <a:t>它们都以为自己正在与</a:t>
            </a:r>
            <a:r>
              <a:rPr lang="en-US" altLang="zh-CN" dirty="0" smtClean="0">
                <a:ea typeface="宋体" pitchFamily="2" charset="-122"/>
              </a:rPr>
              <a:t>MODEM</a:t>
            </a:r>
            <a:r>
              <a:rPr lang="zh-CN" altLang="en-US" dirty="0" smtClean="0">
                <a:ea typeface="宋体" pitchFamily="2" charset="-122"/>
              </a:rPr>
              <a:t>连接</a:t>
            </a:r>
            <a:endParaRPr lang="en-US" altLang="zh-CN" dirty="0" smtClean="0">
              <a:ea typeface="宋体" pitchFamily="2" charset="-122"/>
            </a:endParaRPr>
          </a:p>
          <a:p>
            <a:r>
              <a:rPr lang="zh-CN" altLang="en-US" dirty="0" smtClean="0">
                <a:ea typeface="宋体" pitchFamily="2" charset="-122"/>
              </a:rPr>
              <a:t>可用于故障检测</a:t>
            </a:r>
          </a:p>
          <a:p>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67544" y="476672"/>
            <a:ext cx="8388424" cy="911696"/>
          </a:xfrm>
        </p:spPr>
        <p:txBody>
          <a:bodyPr/>
          <a:lstStyle/>
          <a:p>
            <a:r>
              <a:rPr lang="zh-CN" altLang="en-US" sz="3500" dirty="0" smtClean="0">
                <a:ea typeface="宋体" pitchFamily="2" charset="-122"/>
              </a:rPr>
              <a:t>（</a:t>
            </a:r>
            <a:r>
              <a:rPr lang="en-US" altLang="zh-CN" sz="3500" dirty="0" smtClean="0">
                <a:ea typeface="宋体" pitchFamily="2" charset="-122"/>
              </a:rPr>
              <a:t>2</a:t>
            </a:r>
            <a:r>
              <a:rPr lang="zh-CN" altLang="en-US" sz="3500" dirty="0" smtClean="0">
                <a:ea typeface="宋体" pitchFamily="2" charset="-122"/>
              </a:rPr>
              <a:t>）</a:t>
            </a:r>
            <a:r>
              <a:rPr lang="en-US" altLang="zh-CN" sz="3500" dirty="0" smtClean="0">
                <a:ea typeface="宋体" pitchFamily="2" charset="-122"/>
              </a:rPr>
              <a:t>ISDN </a:t>
            </a:r>
            <a:r>
              <a:rPr lang="en-US" altLang="zh-CN" sz="3500" dirty="0">
                <a:ea typeface="宋体" pitchFamily="2" charset="-122"/>
              </a:rPr>
              <a:t>Physical Interface Diagram</a:t>
            </a:r>
            <a:endParaRPr lang="en-US" altLang="zh-CN" dirty="0">
              <a:ea typeface="宋体" pitchFamily="2" charset="-122"/>
            </a:endParaRPr>
          </a:p>
        </p:txBody>
      </p:sp>
      <p:pic>
        <p:nvPicPr>
          <p:cNvPr id="25605" name="Picture 5"/>
          <p:cNvPicPr>
            <a:picLocks noChangeAspect="1" noChangeArrowheads="1"/>
          </p:cNvPicPr>
          <p:nvPr/>
        </p:nvPicPr>
        <p:blipFill>
          <a:blip r:embed="rId2" cstate="print"/>
          <a:srcRect b="10883"/>
          <a:stretch>
            <a:fillRect/>
          </a:stretch>
        </p:blipFill>
        <p:spPr bwMode="auto">
          <a:xfrm>
            <a:off x="2143125" y="1400175"/>
            <a:ext cx="4857750" cy="5381625"/>
          </a:xfrm>
          <a:prstGeom prst="rect">
            <a:avLst/>
          </a:prstGeom>
          <a:noFill/>
          <a:ln w="9525">
            <a:noFill/>
            <a:miter lim="800000"/>
            <a:headEnd/>
            <a:tailEnd/>
          </a:ln>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a:ea typeface="宋体" pitchFamily="2" charset="-122"/>
              </a:rPr>
              <a:t>ISDN Physical Interface</a:t>
            </a:r>
          </a:p>
        </p:txBody>
      </p:sp>
      <p:sp>
        <p:nvSpPr>
          <p:cNvPr id="27651" name="Rectangle 3"/>
          <p:cNvSpPr>
            <a:spLocks noGrp="1" noChangeArrowheads="1"/>
          </p:cNvSpPr>
          <p:nvPr>
            <p:ph type="body" idx="1"/>
          </p:nvPr>
        </p:nvSpPr>
        <p:spPr/>
        <p:txBody>
          <a:bodyPr/>
          <a:lstStyle/>
          <a:p>
            <a:r>
              <a:rPr lang="en-US" altLang="zh-CN">
                <a:ea typeface="宋体" pitchFamily="2" charset="-122"/>
              </a:rPr>
              <a:t>Connection between terminal equipment (c.f. DTE) and network terminating equipment (c.f. DCE)</a:t>
            </a:r>
          </a:p>
          <a:p>
            <a:r>
              <a:rPr lang="en-US" altLang="zh-CN">
                <a:ea typeface="宋体" pitchFamily="2" charset="-122"/>
              </a:rPr>
              <a:t>ISO 8877</a:t>
            </a:r>
          </a:p>
          <a:p>
            <a:r>
              <a:rPr lang="en-US" altLang="zh-CN">
                <a:ea typeface="宋体" pitchFamily="2" charset="-122"/>
              </a:rPr>
              <a:t>Cables terminate in matching connectors with 8 contacts</a:t>
            </a:r>
            <a:r>
              <a:rPr lang="zh-CN" altLang="en-US">
                <a:ea typeface="宋体" pitchFamily="2" charset="-122"/>
              </a:rPr>
              <a:t>接点</a:t>
            </a:r>
          </a:p>
          <a:p>
            <a:r>
              <a:rPr lang="en-US" altLang="zh-CN">
                <a:ea typeface="宋体" pitchFamily="2" charset="-122"/>
              </a:rPr>
              <a:t>Transmit/receive carry both data and control</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zh-CN">
                <a:ea typeface="宋体" pitchFamily="2" charset="-122"/>
              </a:rPr>
              <a:t>ISDN Electrical Specification</a:t>
            </a:r>
          </a:p>
        </p:txBody>
      </p:sp>
      <p:sp>
        <p:nvSpPr>
          <p:cNvPr id="28675" name="Rectangle 3"/>
          <p:cNvSpPr>
            <a:spLocks noGrp="1" noChangeArrowheads="1"/>
          </p:cNvSpPr>
          <p:nvPr>
            <p:ph type="body" idx="1"/>
          </p:nvPr>
        </p:nvSpPr>
        <p:spPr>
          <a:xfrm>
            <a:off x="827584" y="1772816"/>
            <a:ext cx="7772400" cy="4114800"/>
          </a:xfrm>
        </p:spPr>
        <p:txBody>
          <a:bodyPr/>
          <a:lstStyle/>
          <a:p>
            <a:r>
              <a:rPr lang="en-US" altLang="zh-CN" sz="2400" dirty="0">
                <a:ea typeface="宋体" pitchFamily="2" charset="-122"/>
              </a:rPr>
              <a:t>Balanced transmission</a:t>
            </a:r>
            <a:r>
              <a:rPr lang="zh-CN" altLang="en-US" sz="2400" dirty="0">
                <a:ea typeface="宋体" pitchFamily="2" charset="-122"/>
              </a:rPr>
              <a:t>平衡传输</a:t>
            </a:r>
          </a:p>
          <a:p>
            <a:pPr lvl="1"/>
            <a:r>
              <a:rPr lang="en-US" altLang="zh-CN" sz="2000" dirty="0">
                <a:ea typeface="宋体" pitchFamily="2" charset="-122"/>
              </a:rPr>
              <a:t>Carried on two lines, e.g. twisted pair</a:t>
            </a:r>
          </a:p>
          <a:p>
            <a:pPr lvl="1"/>
            <a:r>
              <a:rPr lang="en-US" altLang="zh-CN" sz="2000" dirty="0">
                <a:ea typeface="宋体" pitchFamily="2" charset="-122"/>
              </a:rPr>
              <a:t>Signals as currents down one conductor and up the other</a:t>
            </a:r>
            <a:r>
              <a:rPr lang="zh-CN" altLang="en-US" sz="2000" dirty="0">
                <a:ea typeface="宋体" pitchFamily="2" charset="-122"/>
              </a:rPr>
              <a:t>信号以电流的形式经过一根导线,并从另一根导线返回,组成完整的环路</a:t>
            </a:r>
          </a:p>
          <a:p>
            <a:pPr lvl="1"/>
            <a:r>
              <a:rPr lang="en-US" altLang="zh-CN" sz="2000" dirty="0">
                <a:ea typeface="宋体" pitchFamily="2" charset="-122"/>
              </a:rPr>
              <a:t>Differential signaling</a:t>
            </a:r>
            <a:r>
              <a:rPr lang="zh-CN" altLang="en-US" sz="2000" dirty="0">
                <a:ea typeface="宋体" pitchFamily="2" charset="-122"/>
              </a:rPr>
              <a:t>差分信号传输</a:t>
            </a:r>
          </a:p>
          <a:p>
            <a:pPr lvl="1"/>
            <a:r>
              <a:rPr lang="en-US" altLang="zh-CN" sz="2000" dirty="0">
                <a:ea typeface="宋体" pitchFamily="2" charset="-122"/>
              </a:rPr>
              <a:t>Value depends on direction of voltage</a:t>
            </a:r>
            <a:r>
              <a:rPr lang="zh-CN" altLang="en-US" sz="2000" dirty="0">
                <a:ea typeface="宋体" pitchFamily="2" charset="-122"/>
              </a:rPr>
              <a:t>信号值取决于两根导线上的电压差值</a:t>
            </a:r>
          </a:p>
          <a:p>
            <a:pPr lvl="1"/>
            <a:r>
              <a:rPr lang="en-US" altLang="zh-CN" sz="2000" dirty="0">
                <a:ea typeface="宋体" pitchFamily="2" charset="-122"/>
              </a:rPr>
              <a:t>Tolerates more noise and generates less noise</a:t>
            </a:r>
          </a:p>
          <a:p>
            <a:pPr lvl="1"/>
            <a:r>
              <a:rPr lang="en-US" altLang="zh-CN" sz="2000" dirty="0">
                <a:ea typeface="宋体" pitchFamily="2" charset="-122"/>
              </a:rPr>
              <a:t>(Unbalanced, e.g. RS-232 uses single signal line and ground)</a:t>
            </a:r>
          </a:p>
          <a:p>
            <a:pPr lvl="1"/>
            <a:r>
              <a:rPr lang="en-US" altLang="zh-CN" sz="2000" dirty="0">
                <a:ea typeface="宋体" pitchFamily="2" charset="-122"/>
              </a:rPr>
              <a:t>Data encoding depends on data rate</a:t>
            </a:r>
          </a:p>
          <a:p>
            <a:pPr lvl="1"/>
            <a:r>
              <a:rPr lang="en-US" altLang="zh-CN" sz="2000" dirty="0">
                <a:ea typeface="宋体" pitchFamily="2" charset="-122"/>
              </a:rPr>
              <a:t>Basic rate 192kbps uses </a:t>
            </a:r>
            <a:r>
              <a:rPr lang="en-US" altLang="zh-CN" sz="2000" dirty="0" err="1">
                <a:ea typeface="宋体" pitchFamily="2" charset="-122"/>
              </a:rPr>
              <a:t>pseudoternary</a:t>
            </a:r>
            <a:r>
              <a:rPr lang="en-US" altLang="zh-CN" sz="2000" dirty="0">
                <a:ea typeface="宋体" pitchFamily="2" charset="-122"/>
              </a:rPr>
              <a:t> </a:t>
            </a:r>
          </a:p>
          <a:p>
            <a:pPr lvl="1"/>
            <a:r>
              <a:rPr lang="en-US" altLang="zh-CN" sz="2000" dirty="0">
                <a:ea typeface="宋体" pitchFamily="2" charset="-122"/>
              </a:rPr>
              <a:t>Primary rate(1.544mb/s) uses </a:t>
            </a:r>
            <a:r>
              <a:rPr lang="en-US" altLang="zh-CN" sz="2000" dirty="0">
                <a:solidFill>
                  <a:schemeClr val="accent1"/>
                </a:solidFill>
                <a:ea typeface="宋体" pitchFamily="2" charset="-122"/>
              </a:rPr>
              <a:t>alternative mark inversion</a:t>
            </a:r>
            <a:r>
              <a:rPr lang="en-US" altLang="zh-CN" sz="2000" dirty="0">
                <a:ea typeface="宋体" pitchFamily="2" charset="-122"/>
              </a:rPr>
              <a:t> (AMI) and B8ZS or HDB3(2.048mb/s)</a:t>
            </a:r>
          </a:p>
          <a:p>
            <a:pPr lvl="1"/>
            <a:endParaRPr lang="en-US" altLang="zh-CN" sz="2000" dirty="0">
              <a:ea typeface="宋体" pitchFamily="2" charset="-122"/>
            </a:endParaRPr>
          </a:p>
          <a:p>
            <a:pPr lvl="1"/>
            <a:endParaRPr lang="en-US" altLang="zh-CN" sz="2000" dirty="0">
              <a:ea typeface="宋体"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D:\p_ICND\graphics5_24_99\h6586.PCX"/>
          <p:cNvPicPr>
            <a:picLocks noChangeAspect="1" noChangeArrowheads="1"/>
          </p:cNvPicPr>
          <p:nvPr/>
        </p:nvPicPr>
        <p:blipFill>
          <a:blip r:embed="rId3" cstate="print"/>
          <a:srcRect/>
          <a:stretch>
            <a:fillRect/>
          </a:stretch>
        </p:blipFill>
        <p:spPr bwMode="auto">
          <a:xfrm>
            <a:off x="876300" y="2308225"/>
            <a:ext cx="7561263" cy="2984500"/>
          </a:xfrm>
          <a:prstGeom prst="rect">
            <a:avLst/>
          </a:prstGeom>
          <a:noFill/>
        </p:spPr>
      </p:pic>
      <p:sp>
        <p:nvSpPr>
          <p:cNvPr id="91139" name="Rectangle 3"/>
          <p:cNvSpPr>
            <a:spLocks noChangeArrowheads="1"/>
          </p:cNvSpPr>
          <p:nvPr/>
        </p:nvSpPr>
        <p:spPr bwMode="auto">
          <a:xfrm>
            <a:off x="5629275" y="2420938"/>
            <a:ext cx="2903538" cy="396875"/>
          </a:xfrm>
          <a:prstGeom prst="rect">
            <a:avLst/>
          </a:prstGeom>
          <a:noFill/>
          <a:ln w="38100">
            <a:noFill/>
            <a:miter lim="800000"/>
            <a:headEnd type="none" w="sm" len="sm"/>
            <a:tailEnd type="none" w="sm" len="sm"/>
          </a:ln>
          <a:effectLst/>
        </p:spPr>
        <p:txBody>
          <a:bodyPr wrap="none" anchor="ctr">
            <a:spAutoFit/>
          </a:bodyPr>
          <a:lstStyle/>
          <a:p>
            <a:pPr algn="ctr" eaLnBrk="0" hangingPunct="0"/>
            <a:r>
              <a:rPr kumimoji="0" lang="en-US" altLang="zh-CN" sz="2000" b="1">
                <a:latin typeface="Helvetica" pitchFamily="34" charset="0"/>
              </a:rPr>
              <a:t>2500 Router—rear view</a:t>
            </a:r>
          </a:p>
        </p:txBody>
      </p:sp>
      <p:sp>
        <p:nvSpPr>
          <p:cNvPr id="91140" name="Rectangle 4"/>
          <p:cNvSpPr>
            <a:spLocks noChangeArrowheads="1"/>
          </p:cNvSpPr>
          <p:nvPr/>
        </p:nvSpPr>
        <p:spPr bwMode="auto">
          <a:xfrm>
            <a:off x="1792288" y="5573713"/>
            <a:ext cx="5403850" cy="519112"/>
          </a:xfrm>
          <a:prstGeom prst="rect">
            <a:avLst/>
          </a:prstGeom>
          <a:noFill/>
          <a:ln w="38100">
            <a:noFill/>
            <a:miter lim="800000"/>
            <a:headEnd type="none" w="sm" len="sm"/>
            <a:tailEnd type="none" w="sm" len="sm"/>
          </a:ln>
          <a:effectLst/>
        </p:spPr>
        <p:txBody>
          <a:bodyPr anchor="ctr">
            <a:spAutoFit/>
          </a:bodyPr>
          <a:lstStyle/>
          <a:p>
            <a:pPr algn="ctr" eaLnBrk="0" hangingPunct="0"/>
            <a:r>
              <a:rPr kumimoji="0" lang="en-US" altLang="zh-CN" sz="2800" b="1">
                <a:latin typeface="Helvetica" pitchFamily="34" charset="0"/>
              </a:rPr>
              <a:t>Serial WAN ports can be fixed</a:t>
            </a:r>
          </a:p>
        </p:txBody>
      </p:sp>
      <p:sp>
        <p:nvSpPr>
          <p:cNvPr id="91141" name="Rectangle 5"/>
          <p:cNvSpPr>
            <a:spLocks noGrp="1" noChangeArrowheads="1"/>
          </p:cNvSpPr>
          <p:nvPr>
            <p:ph type="title" idx="4294967295"/>
          </p:nvPr>
        </p:nvSpPr>
        <p:spPr>
          <a:xfrm>
            <a:off x="1547664" y="533400"/>
            <a:ext cx="6624736" cy="846138"/>
          </a:xfrm>
        </p:spPr>
        <p:txBody>
          <a:bodyPr/>
          <a:lstStyle/>
          <a:p>
            <a:r>
              <a:rPr lang="zh-CN" altLang="en-US" dirty="0" smtClean="0"/>
              <a:t>（</a:t>
            </a:r>
            <a:r>
              <a:rPr lang="en-US" altLang="zh-CN" dirty="0" smtClean="0"/>
              <a:t>3</a:t>
            </a:r>
            <a:r>
              <a:rPr lang="zh-CN" altLang="en-US" dirty="0" smtClean="0"/>
              <a:t>）</a:t>
            </a:r>
            <a:r>
              <a:rPr lang="en-US" altLang="zh-CN" dirty="0" smtClean="0"/>
              <a:t>Fixed </a:t>
            </a:r>
            <a:r>
              <a:rPr lang="en-US" altLang="zh-CN" dirty="0"/>
              <a:t>Interfaces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C:\p_BCRAN\Hgraphics\h7185.pct"/>
          <p:cNvPicPr>
            <a:picLocks noChangeAspect="1" noChangeArrowheads="1"/>
          </p:cNvPicPr>
          <p:nvPr/>
        </p:nvPicPr>
        <p:blipFill>
          <a:blip r:embed="rId3" cstate="print"/>
          <a:srcRect/>
          <a:stretch>
            <a:fillRect/>
          </a:stretch>
        </p:blipFill>
        <p:spPr bwMode="auto">
          <a:xfrm flipV="1">
            <a:off x="1039813" y="2486025"/>
            <a:ext cx="6829425" cy="811213"/>
          </a:xfrm>
          <a:prstGeom prst="rect">
            <a:avLst/>
          </a:prstGeom>
          <a:noFill/>
        </p:spPr>
      </p:pic>
      <p:sp>
        <p:nvSpPr>
          <p:cNvPr id="93187" name="Rectangle 3"/>
          <p:cNvSpPr>
            <a:spLocks noChangeArrowheads="1"/>
          </p:cNvSpPr>
          <p:nvPr/>
        </p:nvSpPr>
        <p:spPr bwMode="auto">
          <a:xfrm>
            <a:off x="4794250" y="3551238"/>
            <a:ext cx="1871663" cy="261937"/>
          </a:xfrm>
          <a:prstGeom prst="rect">
            <a:avLst/>
          </a:prstGeom>
          <a:noFill/>
          <a:ln w="9525">
            <a:noFill/>
            <a:miter lim="800000"/>
            <a:headEnd/>
            <a:tailEnd/>
          </a:ln>
          <a:effectLst/>
        </p:spPr>
        <p:txBody>
          <a:bodyPr lIns="78553" tIns="39277" rIns="78553" bIns="39277">
            <a:spAutoFit/>
          </a:bodyPr>
          <a:lstStyle/>
          <a:p>
            <a:pPr defTabSz="577850" eaLnBrk="0" hangingPunct="0">
              <a:spcBef>
                <a:spcPct val="50000"/>
              </a:spcBef>
            </a:pPr>
            <a:r>
              <a:rPr kumimoji="0" lang="en-US" altLang="zh-CN" sz="1200" b="1">
                <a:latin typeface="Helvetica" pitchFamily="34" charset="0"/>
              </a:rPr>
              <a:t>Console</a:t>
            </a:r>
          </a:p>
        </p:txBody>
      </p:sp>
      <p:sp>
        <p:nvSpPr>
          <p:cNvPr id="93188" name="Rectangle 4"/>
          <p:cNvSpPr>
            <a:spLocks noChangeArrowheads="1"/>
          </p:cNvSpPr>
          <p:nvPr/>
        </p:nvSpPr>
        <p:spPr bwMode="auto">
          <a:xfrm>
            <a:off x="998538" y="2079625"/>
            <a:ext cx="3167062" cy="409575"/>
          </a:xfrm>
          <a:prstGeom prst="rect">
            <a:avLst/>
          </a:prstGeom>
          <a:noFill/>
          <a:ln w="9525">
            <a:noFill/>
            <a:miter lim="800000"/>
            <a:headEnd/>
            <a:tailEnd/>
          </a:ln>
          <a:effectLst/>
        </p:spPr>
        <p:txBody>
          <a:bodyPr lIns="103548" tIns="51774" rIns="103548" bIns="51774">
            <a:spAutoFit/>
          </a:bodyPr>
          <a:lstStyle/>
          <a:p>
            <a:pPr defTabSz="1028700" eaLnBrk="0" hangingPunct="0">
              <a:spcBef>
                <a:spcPct val="50000"/>
              </a:spcBef>
            </a:pPr>
            <a:r>
              <a:rPr kumimoji="0" lang="en-US" altLang="zh-CN" sz="2000" b="1">
                <a:latin typeface="Helvetica" pitchFamily="34" charset="0"/>
              </a:rPr>
              <a:t>1603 Router—rear view</a:t>
            </a:r>
          </a:p>
        </p:txBody>
      </p:sp>
      <p:sp>
        <p:nvSpPr>
          <p:cNvPr id="93189" name="Rectangle 5"/>
          <p:cNvSpPr>
            <a:spLocks noChangeArrowheads="1"/>
          </p:cNvSpPr>
          <p:nvPr/>
        </p:nvSpPr>
        <p:spPr bwMode="auto">
          <a:xfrm>
            <a:off x="2297113" y="3551238"/>
            <a:ext cx="1360487" cy="261937"/>
          </a:xfrm>
          <a:prstGeom prst="rect">
            <a:avLst/>
          </a:prstGeom>
          <a:noFill/>
          <a:ln w="9525">
            <a:noFill/>
            <a:miter lim="800000"/>
            <a:headEnd/>
            <a:tailEnd/>
          </a:ln>
          <a:effectLst/>
        </p:spPr>
        <p:txBody>
          <a:bodyPr lIns="78553" tIns="39277" rIns="78553" bIns="39277">
            <a:spAutoFit/>
          </a:bodyPr>
          <a:lstStyle/>
          <a:p>
            <a:pPr defTabSz="577850" eaLnBrk="0" hangingPunct="0">
              <a:spcBef>
                <a:spcPct val="50000"/>
              </a:spcBef>
            </a:pPr>
            <a:r>
              <a:rPr kumimoji="0" lang="en-US" altLang="zh-CN" sz="1200" b="1">
                <a:latin typeface="Helvetica" pitchFamily="34" charset="0"/>
              </a:rPr>
              <a:t>Ethernet AUI</a:t>
            </a:r>
          </a:p>
        </p:txBody>
      </p:sp>
      <p:pic>
        <p:nvPicPr>
          <p:cNvPr id="93190" name="Picture 6" descr="C:\p_BCRAN\Hgraphics\h7212.pct"/>
          <p:cNvPicPr>
            <a:picLocks noChangeAspect="1" noChangeArrowheads="1"/>
          </p:cNvPicPr>
          <p:nvPr/>
        </p:nvPicPr>
        <p:blipFill>
          <a:blip r:embed="rId4" cstate="print"/>
          <a:srcRect/>
          <a:stretch>
            <a:fillRect/>
          </a:stretch>
        </p:blipFill>
        <p:spPr bwMode="auto">
          <a:xfrm>
            <a:off x="5783263" y="2025650"/>
            <a:ext cx="2155825" cy="381000"/>
          </a:xfrm>
          <a:prstGeom prst="rect">
            <a:avLst/>
          </a:prstGeom>
          <a:noFill/>
        </p:spPr>
      </p:pic>
      <p:sp>
        <p:nvSpPr>
          <p:cNvPr id="93191" name="Rectangle 7"/>
          <p:cNvSpPr>
            <a:spLocks noChangeArrowheads="1"/>
          </p:cNvSpPr>
          <p:nvPr/>
        </p:nvSpPr>
        <p:spPr bwMode="auto">
          <a:xfrm>
            <a:off x="492125" y="3551238"/>
            <a:ext cx="1916113" cy="261937"/>
          </a:xfrm>
          <a:prstGeom prst="rect">
            <a:avLst/>
          </a:prstGeom>
          <a:noFill/>
          <a:ln w="9525">
            <a:noFill/>
            <a:miter lim="800000"/>
            <a:headEnd/>
            <a:tailEnd/>
          </a:ln>
          <a:effectLst/>
        </p:spPr>
        <p:txBody>
          <a:bodyPr lIns="78553" tIns="39277" rIns="78553" bIns="39277">
            <a:spAutoFit/>
          </a:bodyPr>
          <a:lstStyle/>
          <a:p>
            <a:pPr defTabSz="577850" eaLnBrk="0" hangingPunct="0">
              <a:spcBef>
                <a:spcPct val="50000"/>
              </a:spcBef>
            </a:pPr>
            <a:r>
              <a:rPr kumimoji="0" lang="en-US" altLang="zh-CN" sz="1200" b="1">
                <a:latin typeface="Helvetica" pitchFamily="34" charset="0"/>
              </a:rPr>
              <a:t>Ethernet 10BaseT</a:t>
            </a:r>
          </a:p>
        </p:txBody>
      </p:sp>
      <p:sp>
        <p:nvSpPr>
          <p:cNvPr id="93192" name="Rectangle 8"/>
          <p:cNvSpPr>
            <a:spLocks noChangeArrowheads="1"/>
          </p:cNvSpPr>
          <p:nvPr/>
        </p:nvSpPr>
        <p:spPr bwMode="auto">
          <a:xfrm>
            <a:off x="3546475" y="3551238"/>
            <a:ext cx="1360488" cy="261937"/>
          </a:xfrm>
          <a:prstGeom prst="rect">
            <a:avLst/>
          </a:prstGeom>
          <a:noFill/>
          <a:ln w="9525">
            <a:noFill/>
            <a:miter lim="800000"/>
            <a:headEnd/>
            <a:tailEnd/>
          </a:ln>
          <a:effectLst/>
        </p:spPr>
        <p:txBody>
          <a:bodyPr lIns="78553" tIns="39277" rIns="78553" bIns="39277">
            <a:spAutoFit/>
          </a:bodyPr>
          <a:lstStyle/>
          <a:p>
            <a:pPr defTabSz="577850" eaLnBrk="0" hangingPunct="0">
              <a:spcBef>
                <a:spcPct val="50000"/>
              </a:spcBef>
            </a:pPr>
            <a:r>
              <a:rPr kumimoji="0" lang="en-US" altLang="zh-CN" sz="1200" b="1">
                <a:latin typeface="Helvetica" pitchFamily="34" charset="0"/>
              </a:rPr>
              <a:t>ISDN BRI S/T</a:t>
            </a:r>
          </a:p>
        </p:txBody>
      </p:sp>
      <p:pic>
        <p:nvPicPr>
          <p:cNvPr id="93193" name="Picture 9" descr="D:\p_ICND\graphics5_24_99\h6551.PCX"/>
          <p:cNvPicPr>
            <a:picLocks noChangeAspect="1" noChangeArrowheads="1"/>
          </p:cNvPicPr>
          <p:nvPr/>
        </p:nvPicPr>
        <p:blipFill>
          <a:blip r:embed="rId5" cstate="print"/>
          <a:srcRect/>
          <a:stretch>
            <a:fillRect/>
          </a:stretch>
        </p:blipFill>
        <p:spPr bwMode="auto">
          <a:xfrm>
            <a:off x="955675" y="4073525"/>
            <a:ext cx="6791325" cy="2428875"/>
          </a:xfrm>
          <a:prstGeom prst="rect">
            <a:avLst/>
          </a:prstGeom>
          <a:noFill/>
        </p:spPr>
      </p:pic>
      <p:sp>
        <p:nvSpPr>
          <p:cNvPr id="93194" name="Rectangle 10"/>
          <p:cNvSpPr>
            <a:spLocks noChangeArrowheads="1"/>
          </p:cNvSpPr>
          <p:nvPr/>
        </p:nvSpPr>
        <p:spPr bwMode="auto">
          <a:xfrm>
            <a:off x="1974850" y="1573213"/>
            <a:ext cx="5133975" cy="444500"/>
          </a:xfrm>
          <a:prstGeom prst="rect">
            <a:avLst/>
          </a:prstGeom>
          <a:noFill/>
          <a:ln w="9525">
            <a:noFill/>
            <a:miter lim="800000"/>
            <a:headEnd/>
            <a:tailEnd/>
          </a:ln>
          <a:effectLst/>
        </p:spPr>
        <p:txBody>
          <a:bodyPr lIns="78553" tIns="39277" rIns="78553" bIns="39277">
            <a:spAutoFit/>
          </a:bodyPr>
          <a:lstStyle/>
          <a:p>
            <a:pPr defTabSz="577850" eaLnBrk="0" hangingPunct="0">
              <a:spcBef>
                <a:spcPct val="50000"/>
              </a:spcBef>
            </a:pPr>
            <a:r>
              <a:rPr kumimoji="0" lang="en-US" altLang="zh-CN" b="1">
                <a:latin typeface="Helvetica" pitchFamily="34" charset="0"/>
              </a:rPr>
              <a:t>Serial WAN ports can be modular</a:t>
            </a:r>
          </a:p>
        </p:txBody>
      </p:sp>
      <p:pic>
        <p:nvPicPr>
          <p:cNvPr id="93195" name="Picture 11" descr="D:\p_ICND\graphics5_24_99\h7256.PCX"/>
          <p:cNvPicPr>
            <a:picLocks noChangeAspect="1" noChangeArrowheads="1"/>
          </p:cNvPicPr>
          <p:nvPr/>
        </p:nvPicPr>
        <p:blipFill>
          <a:blip r:embed="rId6" cstate="print"/>
          <a:srcRect/>
          <a:stretch>
            <a:fillRect/>
          </a:stretch>
        </p:blipFill>
        <p:spPr bwMode="auto">
          <a:xfrm>
            <a:off x="5734050" y="3732213"/>
            <a:ext cx="3097213" cy="1085850"/>
          </a:xfrm>
          <a:prstGeom prst="rect">
            <a:avLst/>
          </a:prstGeom>
          <a:noFill/>
        </p:spPr>
      </p:pic>
      <p:sp>
        <p:nvSpPr>
          <p:cNvPr id="93196" name="Rectangle 12"/>
          <p:cNvSpPr>
            <a:spLocks noChangeArrowheads="1"/>
          </p:cNvSpPr>
          <p:nvPr/>
        </p:nvSpPr>
        <p:spPr bwMode="auto">
          <a:xfrm>
            <a:off x="127000" y="3927475"/>
            <a:ext cx="1863725" cy="654050"/>
          </a:xfrm>
          <a:prstGeom prst="rect">
            <a:avLst/>
          </a:prstGeom>
          <a:noFill/>
          <a:ln w="9525">
            <a:noFill/>
            <a:miter lim="800000"/>
            <a:headEnd/>
            <a:tailEnd/>
          </a:ln>
          <a:effectLst/>
        </p:spPr>
        <p:txBody>
          <a:bodyPr lIns="103548" tIns="51774" rIns="103548" bIns="51774">
            <a:spAutoFit/>
          </a:bodyPr>
          <a:lstStyle/>
          <a:p>
            <a:pPr defTabSz="1028700" eaLnBrk="0" hangingPunct="0">
              <a:spcBef>
                <a:spcPct val="50000"/>
              </a:spcBef>
            </a:pPr>
            <a:r>
              <a:rPr kumimoji="0" lang="en-US" altLang="zh-CN" sz="1800" b="1">
                <a:latin typeface="Helvetica" pitchFamily="34" charset="0"/>
              </a:rPr>
              <a:t>3640 Router—</a:t>
            </a:r>
            <a:br>
              <a:rPr kumimoji="0" lang="en-US" altLang="zh-CN" sz="1800" b="1">
                <a:latin typeface="Helvetica" pitchFamily="34" charset="0"/>
              </a:rPr>
            </a:br>
            <a:r>
              <a:rPr kumimoji="0" lang="en-US" altLang="zh-CN" sz="1800" b="1">
                <a:latin typeface="Helvetica" pitchFamily="34" charset="0"/>
              </a:rPr>
              <a:t>rear view</a:t>
            </a:r>
          </a:p>
        </p:txBody>
      </p:sp>
      <p:sp>
        <p:nvSpPr>
          <p:cNvPr id="93197" name="Line 13"/>
          <p:cNvSpPr>
            <a:spLocks noChangeShapeType="1"/>
          </p:cNvSpPr>
          <p:nvPr/>
        </p:nvSpPr>
        <p:spPr bwMode="auto">
          <a:xfrm flipV="1">
            <a:off x="5106988" y="4411663"/>
            <a:ext cx="692150" cy="671512"/>
          </a:xfrm>
          <a:prstGeom prst="line">
            <a:avLst/>
          </a:prstGeom>
          <a:noFill/>
          <a:ln w="28575">
            <a:solidFill>
              <a:schemeClr val="tx1"/>
            </a:solidFill>
            <a:round/>
            <a:headEnd type="triangle" w="med" len="med"/>
            <a:tailEnd/>
          </a:ln>
          <a:effectLst/>
        </p:spPr>
        <p:txBody>
          <a:bodyPr wrap="none" anchor="ctr"/>
          <a:lstStyle/>
          <a:p>
            <a:endParaRPr lang="zh-CN" altLang="en-US"/>
          </a:p>
        </p:txBody>
      </p:sp>
      <p:sp>
        <p:nvSpPr>
          <p:cNvPr id="93198" name="Rectangle 14"/>
          <p:cNvSpPr>
            <a:spLocks noGrp="1" noChangeArrowheads="1"/>
          </p:cNvSpPr>
          <p:nvPr>
            <p:ph type="title"/>
          </p:nvPr>
        </p:nvSpPr>
        <p:spPr>
          <a:xfrm>
            <a:off x="990600" y="381000"/>
            <a:ext cx="7793038" cy="838200"/>
          </a:xfrm>
          <a:noFill/>
          <a:ln/>
          <a:effectLst>
            <a:outerShdw dist="35921" dir="2700000" algn="ctr" rotWithShape="0">
              <a:schemeClr val="bg2"/>
            </a:outerShdw>
          </a:effectLst>
        </p:spPr>
        <p:txBody>
          <a:bodyPr lIns="82124" tIns="41061" rIns="82124" bIns="41061" anchor="ctr" anchorCtr="1"/>
          <a:lstStyle/>
          <a:p>
            <a:r>
              <a:rPr lang="en-US" altLang="zh-CN" dirty="0" smtClean="0"/>
              <a:t>(4) Modular </a:t>
            </a:r>
            <a:r>
              <a:rPr lang="en-US" altLang="zh-CN" dirty="0"/>
              <a:t>Interfaces</a:t>
            </a:r>
          </a:p>
        </p:txBody>
      </p:sp>
      <p:sp>
        <p:nvSpPr>
          <p:cNvPr id="93199" name="Text Box 15"/>
          <p:cNvSpPr txBox="1">
            <a:spLocks noChangeArrowheads="1"/>
          </p:cNvSpPr>
          <p:nvPr/>
        </p:nvSpPr>
        <p:spPr bwMode="auto">
          <a:xfrm>
            <a:off x="6472238" y="3486150"/>
            <a:ext cx="1627187" cy="366713"/>
          </a:xfrm>
          <a:prstGeom prst="rect">
            <a:avLst/>
          </a:prstGeom>
          <a:solidFill>
            <a:schemeClr val="bg1"/>
          </a:solidFill>
          <a:ln w="38100">
            <a:noFill/>
            <a:miter lim="800000"/>
            <a:headEnd type="none" w="sm" len="sm"/>
            <a:tailEnd type="none" w="sm" len="sm"/>
          </a:ln>
          <a:effectLst/>
        </p:spPr>
        <p:txBody>
          <a:bodyPr anchor="ctr">
            <a:spAutoFit/>
          </a:bodyPr>
          <a:lstStyle/>
          <a:p>
            <a:pPr algn="ctr" eaLnBrk="0" hangingPunct="0">
              <a:spcBef>
                <a:spcPct val="50000"/>
              </a:spcBef>
            </a:pPr>
            <a:r>
              <a:rPr kumimoji="0" lang="en-US" altLang="zh-CN" sz="1800" b="1">
                <a:latin typeface="Helvetica" pitchFamily="34" charset="0"/>
              </a:rPr>
              <a:t>Module</a:t>
            </a:r>
          </a:p>
        </p:txBody>
      </p:sp>
      <p:sp>
        <p:nvSpPr>
          <p:cNvPr id="93200" name="Text Box 16"/>
          <p:cNvSpPr txBox="1">
            <a:spLocks noChangeArrowheads="1"/>
          </p:cNvSpPr>
          <p:nvPr/>
        </p:nvSpPr>
        <p:spPr bwMode="auto">
          <a:xfrm>
            <a:off x="7586663" y="1406525"/>
            <a:ext cx="1341437" cy="915988"/>
          </a:xfrm>
          <a:prstGeom prst="rect">
            <a:avLst/>
          </a:prstGeom>
          <a:noFill/>
          <a:ln w="38100">
            <a:noFill/>
            <a:miter lim="800000"/>
            <a:headEnd type="none" w="sm" len="sm"/>
            <a:tailEnd type="none" w="sm" len="sm"/>
          </a:ln>
          <a:effectLst/>
        </p:spPr>
        <p:txBody>
          <a:bodyPr anchor="ctr">
            <a:spAutoFit/>
          </a:bodyPr>
          <a:lstStyle/>
          <a:p>
            <a:pPr algn="ctr" eaLnBrk="0" hangingPunct="0">
              <a:spcBef>
                <a:spcPct val="50000"/>
              </a:spcBef>
            </a:pPr>
            <a:r>
              <a:rPr kumimoji="0" lang="en-US" altLang="zh-CN" sz="1800" b="1">
                <a:latin typeface="Helvetica" pitchFamily="34" charset="0"/>
              </a:rPr>
              <a:t>WAN Interface Card</a:t>
            </a:r>
          </a:p>
        </p:txBody>
      </p:sp>
      <p:sp>
        <p:nvSpPr>
          <p:cNvPr id="93201" name="Line 17"/>
          <p:cNvSpPr>
            <a:spLocks noChangeShapeType="1"/>
          </p:cNvSpPr>
          <p:nvPr/>
        </p:nvSpPr>
        <p:spPr bwMode="auto">
          <a:xfrm>
            <a:off x="6600825" y="2352675"/>
            <a:ext cx="0" cy="390525"/>
          </a:xfrm>
          <a:prstGeom prst="line">
            <a:avLst/>
          </a:prstGeom>
          <a:noFill/>
          <a:ln w="38100">
            <a:solidFill>
              <a:schemeClr val="tx1"/>
            </a:solidFill>
            <a:round/>
            <a:headEnd type="none" w="sm" len="sm"/>
            <a:tailEnd type="triangle" w="sm" len="sm"/>
          </a:ln>
          <a:effectLst/>
        </p:spPr>
        <p:txBody>
          <a:bodyPr anchor="ctr">
            <a:spAutoFit/>
          </a:bodyPr>
          <a:lstStyle/>
          <a:p>
            <a:endParaRPr lang="zh-CN" altLang="en-US"/>
          </a:p>
        </p:txBody>
      </p:sp>
      <p:sp>
        <p:nvSpPr>
          <p:cNvPr id="93202" name="Line 18"/>
          <p:cNvSpPr>
            <a:spLocks noChangeShapeType="1"/>
          </p:cNvSpPr>
          <p:nvPr/>
        </p:nvSpPr>
        <p:spPr bwMode="auto">
          <a:xfrm flipH="1" flipV="1">
            <a:off x="5000625" y="3152775"/>
            <a:ext cx="0" cy="390525"/>
          </a:xfrm>
          <a:prstGeom prst="line">
            <a:avLst/>
          </a:prstGeom>
          <a:noFill/>
          <a:ln w="38100">
            <a:solidFill>
              <a:schemeClr val="tx1"/>
            </a:solidFill>
            <a:round/>
            <a:headEnd type="none" w="sm" len="sm"/>
            <a:tailEnd type="triangle" w="sm" len="sm"/>
          </a:ln>
          <a:effectLst/>
        </p:spPr>
        <p:txBody>
          <a:bodyPr anchor="ctr">
            <a:spAutoFit/>
          </a:bodyPr>
          <a:lstStyle/>
          <a:p>
            <a:endParaRPr lang="zh-CN" altLang="en-US"/>
          </a:p>
        </p:txBody>
      </p:sp>
      <p:sp>
        <p:nvSpPr>
          <p:cNvPr id="93203" name="Line 19"/>
          <p:cNvSpPr>
            <a:spLocks noChangeShapeType="1"/>
          </p:cNvSpPr>
          <p:nvPr/>
        </p:nvSpPr>
        <p:spPr bwMode="auto">
          <a:xfrm flipH="1" flipV="1">
            <a:off x="3695700" y="3162300"/>
            <a:ext cx="0" cy="390525"/>
          </a:xfrm>
          <a:prstGeom prst="line">
            <a:avLst/>
          </a:prstGeom>
          <a:noFill/>
          <a:ln w="38100">
            <a:solidFill>
              <a:schemeClr val="tx1"/>
            </a:solidFill>
            <a:round/>
            <a:headEnd type="none" w="sm" len="sm"/>
            <a:tailEnd type="triangle" w="sm" len="sm"/>
          </a:ln>
          <a:effectLst/>
        </p:spPr>
        <p:txBody>
          <a:bodyPr anchor="ctr">
            <a:spAutoFit/>
          </a:bodyPr>
          <a:lstStyle/>
          <a:p>
            <a:endParaRPr lang="zh-CN" altLang="en-US"/>
          </a:p>
        </p:txBody>
      </p:sp>
      <p:sp>
        <p:nvSpPr>
          <p:cNvPr id="93204" name="Line 20"/>
          <p:cNvSpPr>
            <a:spLocks noChangeShapeType="1"/>
          </p:cNvSpPr>
          <p:nvPr/>
        </p:nvSpPr>
        <p:spPr bwMode="auto">
          <a:xfrm flipH="1" flipV="1">
            <a:off x="2628900" y="3152775"/>
            <a:ext cx="0" cy="390525"/>
          </a:xfrm>
          <a:prstGeom prst="line">
            <a:avLst/>
          </a:prstGeom>
          <a:noFill/>
          <a:ln w="38100">
            <a:solidFill>
              <a:schemeClr val="tx1"/>
            </a:solidFill>
            <a:round/>
            <a:headEnd type="none" w="sm" len="sm"/>
            <a:tailEnd type="triangle" w="sm" len="sm"/>
          </a:ln>
          <a:effectLst/>
        </p:spPr>
        <p:txBody>
          <a:bodyPr anchor="ctr">
            <a:spAutoFit/>
          </a:bodyPr>
          <a:lstStyle/>
          <a:p>
            <a:endParaRPr lang="zh-CN" altLang="en-US"/>
          </a:p>
        </p:txBody>
      </p:sp>
      <p:sp>
        <p:nvSpPr>
          <p:cNvPr id="93205" name="Line 21"/>
          <p:cNvSpPr>
            <a:spLocks noChangeShapeType="1"/>
          </p:cNvSpPr>
          <p:nvPr/>
        </p:nvSpPr>
        <p:spPr bwMode="auto">
          <a:xfrm flipH="1" flipV="1">
            <a:off x="1562100" y="3152775"/>
            <a:ext cx="0" cy="390525"/>
          </a:xfrm>
          <a:prstGeom prst="line">
            <a:avLst/>
          </a:prstGeom>
          <a:noFill/>
          <a:ln w="38100">
            <a:solidFill>
              <a:schemeClr val="tx1"/>
            </a:solidFill>
            <a:round/>
            <a:headEnd type="none" w="sm" len="sm"/>
            <a:tailEnd type="triangle" w="sm" len="sm"/>
          </a:ln>
          <a:effectLst/>
        </p:spPr>
        <p:txBody>
          <a:bodyPr anchor="ctr">
            <a:spAutoFit/>
          </a:bodyPr>
          <a:lstStyle/>
          <a:p>
            <a:endParaRPr lang="zh-CN" altLang="en-US"/>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3925</TotalTime>
  <Words>7126</Words>
  <Application>Microsoft Office PowerPoint</Application>
  <PresentationFormat>全屏显示(4:3)</PresentationFormat>
  <Paragraphs>1208</Paragraphs>
  <Slides>106</Slides>
  <Notes>64</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106</vt:i4>
      </vt:variant>
    </vt:vector>
  </HeadingPairs>
  <TitlesOfParts>
    <vt:vector size="109" baseType="lpstr">
      <vt:lpstr>Blends</vt:lpstr>
      <vt:lpstr>公式</vt:lpstr>
      <vt:lpstr>位图图像</vt:lpstr>
      <vt:lpstr>第 3章  物理层</vt:lpstr>
      <vt:lpstr>1.  物理层的基本概念</vt:lpstr>
      <vt:lpstr>2.  数据通信的基础知识</vt:lpstr>
      <vt:lpstr>（1）基本概念</vt:lpstr>
      <vt:lpstr> 单向、双向通信</vt:lpstr>
      <vt:lpstr>基带(baseband)信号和 带通(band pass)信号 </vt:lpstr>
      <vt:lpstr>基本调制方法 </vt:lpstr>
      <vt:lpstr>基带数字信号的调制方法 </vt:lpstr>
      <vt:lpstr>正交振幅调制 QAM (Quadrature Amplitude Modulation) </vt:lpstr>
      <vt:lpstr>（2）信道的极限容量 </vt:lpstr>
      <vt:lpstr>数字信号通过实际的信道 </vt:lpstr>
      <vt:lpstr>信道能够通过的频率范围</vt:lpstr>
      <vt:lpstr>奈氏(Nyquist)准则 </vt:lpstr>
      <vt:lpstr>奈氏(Nyquist)准则 </vt:lpstr>
      <vt:lpstr>奈氏(Nyquist)准则 </vt:lpstr>
      <vt:lpstr>另一种形式的奈氏准则 </vt:lpstr>
      <vt:lpstr> 香农 公式 </vt:lpstr>
      <vt:lpstr>香农公式表明 </vt:lpstr>
      <vt:lpstr>请注意 </vt:lpstr>
      <vt:lpstr>奈氏准则和香农公式 在数据通信系统中的作用范围 </vt:lpstr>
      <vt:lpstr>（3）Asynchronous and Synchronous Transmission</vt:lpstr>
      <vt:lpstr>Asynchronous</vt:lpstr>
      <vt:lpstr>Asynchronous (diagram)</vt:lpstr>
      <vt:lpstr>Asynchronous - Behavior</vt:lpstr>
      <vt:lpstr>Synchronous - Bit Level</vt:lpstr>
      <vt:lpstr>Synchronous - Block Level</vt:lpstr>
      <vt:lpstr>Synchronous (diagram)</vt:lpstr>
      <vt:lpstr>3. 物理层下面的传输媒体</vt:lpstr>
      <vt:lpstr>（1） 导向传输媒体</vt:lpstr>
      <vt:lpstr>导向传输媒体——双绞线(1)</vt:lpstr>
      <vt:lpstr>导向传输媒体——双绞线(2)</vt:lpstr>
      <vt:lpstr>导向传输媒体——双绞线(3)</vt:lpstr>
      <vt:lpstr>导向传输媒体——双绞线(4)</vt:lpstr>
      <vt:lpstr>UTP Device</vt:lpstr>
      <vt:lpstr>Two Line  standard</vt:lpstr>
      <vt:lpstr>Straight-through   TIA/EIA T568B</vt:lpstr>
      <vt:lpstr>Crossover  TIA/EIA T568B</vt:lpstr>
      <vt:lpstr>导向传输媒体——同轴电缆(1)</vt:lpstr>
      <vt:lpstr>导向传输媒体——同轴电缆</vt:lpstr>
      <vt:lpstr>导向传输媒体——光纤</vt:lpstr>
      <vt:lpstr>光纤的工作原理</vt:lpstr>
      <vt:lpstr>多模光纤与单模光纤</vt:lpstr>
      <vt:lpstr>(2) 非导向传输媒体 </vt:lpstr>
      <vt:lpstr>非导向传输：无线电传输</vt:lpstr>
      <vt:lpstr>幻灯片 45</vt:lpstr>
      <vt:lpstr>幻灯片 46</vt:lpstr>
      <vt:lpstr>微波传输</vt:lpstr>
      <vt:lpstr>地面微波接力通信</vt:lpstr>
      <vt:lpstr>卫星通信</vt:lpstr>
      <vt:lpstr>幻灯片 50</vt:lpstr>
      <vt:lpstr>4. 信道复用技术</vt:lpstr>
      <vt:lpstr>(1) 频分复用 FDM (Frequency Division Multiplexing) </vt:lpstr>
      <vt:lpstr>(2) 时分复用TDM (Time Division Multiplexing) </vt:lpstr>
      <vt:lpstr>时分复用 </vt:lpstr>
      <vt:lpstr>时分复用 </vt:lpstr>
      <vt:lpstr>时分复用 </vt:lpstr>
      <vt:lpstr>时分复用 </vt:lpstr>
      <vt:lpstr>时分复用可能会造成 线路资源的浪费 </vt:lpstr>
      <vt:lpstr>统计时分复用 STDM (Statistic TDM)  </vt:lpstr>
      <vt:lpstr>(3) 波分复用 WDM(Wavelength Division Multiplexing)  </vt:lpstr>
      <vt:lpstr>(4) 码分复用 CDM(Code Division Multiplexing)  </vt:lpstr>
      <vt:lpstr>码片序列(chip sequence) </vt:lpstr>
      <vt:lpstr>CDMA 的重要特点</vt:lpstr>
      <vt:lpstr>码片序列的正交关系举例 </vt:lpstr>
      <vt:lpstr>正交关系的另一个重要特性 </vt:lpstr>
      <vt:lpstr>CDMA 的工作原理 </vt:lpstr>
      <vt:lpstr>5. 数字传输系统 (1)  脉码调制 PCM 体制 </vt:lpstr>
      <vt:lpstr>(2) 同步光纤网 SONET 和 同步数字系列 SDH </vt:lpstr>
      <vt:lpstr>同步光纤网 SONET</vt:lpstr>
      <vt:lpstr> 同步数字系列 SDH </vt:lpstr>
      <vt:lpstr>幻灯片 71</vt:lpstr>
      <vt:lpstr> 6. 宽带接入技术 (1) xDSL技术</vt:lpstr>
      <vt:lpstr>xDSL 的几种类型 </vt:lpstr>
      <vt:lpstr>ADSL 的极限传输距离</vt:lpstr>
      <vt:lpstr>ADSL 的特点</vt:lpstr>
      <vt:lpstr>DMT 技术</vt:lpstr>
      <vt:lpstr>DMT 技术的频谱分布 </vt:lpstr>
      <vt:lpstr>ADSL 的数据率</vt:lpstr>
      <vt:lpstr>ADSL 的组成 </vt:lpstr>
      <vt:lpstr>第二代 ADSL   ADSL2（G.992.3 和 G.992.4） ADSL2+（G.992.5）</vt:lpstr>
      <vt:lpstr>(2)  光纤同轴混合网 HFC (Hybrid Fiber Coax)</vt:lpstr>
      <vt:lpstr>HFC 的主要特点 </vt:lpstr>
      <vt:lpstr> HFC 网采用结点体系结构 </vt:lpstr>
      <vt:lpstr> HFC 网具有比 CATV 网更宽的频谱，且具有双向传输功能 </vt:lpstr>
      <vt:lpstr> 每个家庭要安装一个用户接口盒 </vt:lpstr>
      <vt:lpstr>电缆调制解调器(cable modem) </vt:lpstr>
      <vt:lpstr>HFC 网的最大优点 </vt:lpstr>
      <vt:lpstr>(3)  FTTx 技术 </vt:lpstr>
      <vt:lpstr>7. 物理层接口与标准举例 （1）  EIA-232-E 接口标准</vt:lpstr>
      <vt:lpstr>DTE 通过 DCE  与通信传输线路相连 </vt:lpstr>
      <vt:lpstr>EIA RS-232-C</vt:lpstr>
      <vt:lpstr>Characteristics of Interface</vt:lpstr>
      <vt:lpstr>Mechanical Specification</vt:lpstr>
      <vt:lpstr>Electrical Specification</vt:lpstr>
      <vt:lpstr>Functional Specification</vt:lpstr>
      <vt:lpstr>Procedural Specification</vt:lpstr>
      <vt:lpstr>Dial Up Operation (1)</vt:lpstr>
      <vt:lpstr>Dial Up Operation (2)</vt:lpstr>
      <vt:lpstr>Dial Up Operation (3)</vt:lpstr>
      <vt:lpstr>利用虚调制解调器 与两台计算机相连 </vt:lpstr>
      <vt:lpstr>虚拟modem</vt:lpstr>
      <vt:lpstr>（2）ISDN Physical Interface Diagram</vt:lpstr>
      <vt:lpstr>ISDN Physical Interface</vt:lpstr>
      <vt:lpstr>ISDN Electrical Specification</vt:lpstr>
      <vt:lpstr>（3）Fixed Interfaces</vt:lpstr>
      <vt:lpstr>(4) Modular Interfaces</vt:lpstr>
    </vt:vector>
  </TitlesOfParts>
  <Company>NICE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chenrui</cp:lastModifiedBy>
  <cp:revision>304</cp:revision>
  <dcterms:created xsi:type="dcterms:W3CDTF">2004-03-02T12:35:10Z</dcterms:created>
  <dcterms:modified xsi:type="dcterms:W3CDTF">2015-04-20T02:09:44Z</dcterms:modified>
</cp:coreProperties>
</file>